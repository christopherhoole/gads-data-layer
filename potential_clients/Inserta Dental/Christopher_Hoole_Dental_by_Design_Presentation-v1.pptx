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Christopher Hoole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194560"/>
            <a:ext cx="18288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B4D8"/>
                </a:solidFill>
                <a:latin typeface="Calibri"/>
              </a:defRPr>
            </a:pPr>
            <a:r>
              <a:t>Performance Marketing Specialist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C5D5"/>
                </a:solidFill>
                <a:latin typeface="Calibri"/>
              </a:defRPr>
            </a:pPr>
            <a:r>
              <a:t>Driving Patient Acquisition Through</a:t>
            </a:r>
            <a:br/>
            <a:r>
              <a:t>Data-Led Paid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Prepared for Dental by Design  |  Prodent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5A5A6"/>
                </a:solidFill>
                <a:latin typeface="Calibri"/>
              </a:defRPr>
            </a:pPr>
            <a:r>
              <a:t>christopherhoole.com  |  7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5A5A6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About 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2860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B4D8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Years in Paid Media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371600"/>
            <a:ext cx="22860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286000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554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B2A4A"/>
                </a:solidFill>
                <a:latin typeface="Calibri"/>
              </a:defRPr>
            </a:pPr>
            <a:r>
              <a:t>100+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Accounts Managed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371600"/>
            <a:ext cx="22860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0" y="1371600"/>
            <a:ext cx="228600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1554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B4D8"/>
                </a:solidFill>
                <a:latin typeface="Calibri"/>
              </a:defRPr>
            </a:pPr>
            <a:r>
              <a:t>£50M+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Total Spend Managed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371600"/>
            <a:ext cx="22860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1371600"/>
            <a:ext cx="2286000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1554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B2A4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ACT Optimization Levels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8346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Hands-on platform specialist</a:t>
            </a:r>
          </a:p>
          <a:p>
            <a:pPr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I work inside the platforms daily — not a strategist who delegates to juniors</a:t>
            </a:r>
          </a:p>
          <a:p>
            <a:pPr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Direct dental &amp; aesthetics PPC experience</a:t>
            </a:r>
          </a:p>
          <a:p>
            <a:pPr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Managed Google Ads for a cosmetic dental clinic and Medizen Aesthetics (medically-led cosmetic clinic)</a:t>
            </a:r>
          </a:p>
          <a:p>
            <a:pPr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Built ACT — my proprietary Google Ads optimization engine</a:t>
            </a:r>
          </a:p>
          <a:p>
            <a:pPr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30+ automated checks across Account, Campaign, Ad Group, Keyword, Ad, and Shopping levels</a:t>
            </a:r>
          </a:p>
          <a:p>
            <a:pPr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Notable clients include:</a:t>
            </a:r>
          </a:p>
          <a:p>
            <a:pPr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Lexus, Toyota, Virgin Media O2, Destinology, Select Property Group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5A5A6"/>
                </a:solidFill>
                <a:latin typeface="Calibri"/>
              </a:defRPr>
            </a:pPr>
            <a:r>
              <a:t>Christopher Hoole  |  christopherhoole.com  |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5A5A6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Relevant Experience — Dental &amp; Aesthetics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Direct experience in the markets that matter most for this role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02920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02920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Cosmetic Dental Clinic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A5A6"/>
                </a:solidFill>
                <a:latin typeface="Calibri"/>
              </a:defRPr>
            </a:pPr>
            <a:r>
              <a:t>via PodDigital Agency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Google Ads for a cosmetic dental practice</a:t>
            </a:r>
          </a:p>
          <a:p>
            <a:pPr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Patient enquiries: implants, veneers, cosmetic treatments</a:t>
            </a:r>
          </a:p>
          <a:p>
            <a:pPr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Competitive local market with high CPCs (£5-15+)</a:t>
            </a:r>
          </a:p>
          <a:p>
            <a:pPr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Full search campaign management &amp; optimization</a:t>
            </a:r>
          </a:p>
          <a:p>
            <a:pPr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Confidential — active agency client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554480"/>
            <a:ext cx="502920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554480"/>
            <a:ext cx="5029200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Medizen Aesthetics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A5A6"/>
                </a:solidFill>
                <a:latin typeface="Calibri"/>
              </a:defRPr>
            </a:pPr>
            <a:r>
              <a:t>Birmingham — medically-led cosmetic clinic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56032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Injectable treatments, laser procedures, aesthetic services</a:t>
            </a:r>
          </a:p>
          <a:p>
            <a:pPr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High-value patient leads in competitive B2C market</a:t>
            </a:r>
          </a:p>
          <a:p>
            <a:pPr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Search-led campaigns targeting treatment-specific intent</a:t>
            </a:r>
          </a:p>
          <a:p>
            <a:pPr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Focus on lead quality over volume</a:t>
            </a:r>
          </a:p>
          <a:p>
            <a:pPr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CPA reduction through audience &amp; landing page optimization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"I understand the dental and aesthetics patient journey — from search intent to enquiry</a:t>
            </a:r>
            <a:br/>
            <a:r>
              <a:t>to booking. I know what makes someone click and what makes them convert."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5A5A6"/>
                </a:solidFill>
                <a:latin typeface="Calibri"/>
              </a:defRPr>
            </a:pPr>
            <a:r>
              <a:t>Christopher Hoole  |  christopherhoole.com  |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5A5A6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Case Study — Account Audit &amp; Turnaround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A UK professional services business — methodology I would apply to your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5029200" cy="1463040"/>
          </a:xfrm>
          <a:prstGeom prst="rect">
            <a:avLst/>
          </a:prstGeom>
          <a:solidFill>
            <a:srgbClr val="F5F6FA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CPA increased 28% after agency change</a:t>
            </a:r>
          </a:p>
          <a:p>
            <a:pPr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Client frustrated with rising costs and falling lead quality</a:t>
            </a:r>
          </a:p>
          <a:p>
            <a:pPr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No visibility into what was going wrong</a:t>
            </a:r>
          </a:p>
          <a:p>
            <a:pPr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Budget: ~£1,500/month (similar scale to partner clinics)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Calibri"/>
              </a:defRPr>
            </a:pPr>
            <a:r>
              <a:t>WHAT I FOUND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749039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749039"/>
            <a:ext cx="246888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1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74C3C"/>
                </a:solidFill>
                <a:latin typeface="Calibri"/>
              </a:defRPr>
            </a:pPr>
            <a:r>
              <a:t>42.7%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8055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Budget Wasted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3749039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3749039"/>
            <a:ext cx="246888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393191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74C3C"/>
                </a:solidFill>
                <a:latin typeface="Calibri"/>
              </a:defRPr>
            </a:pPr>
            <a:r>
              <a:t>£7,836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48055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Wasted Spend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7492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No target CPA set — algorithm spending unchecked</a:t>
            </a:r>
          </a:p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Conversion tracking inflated — micro-conversions counted as leads</a:t>
            </a:r>
          </a:p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Quality Scores of 2-3 (out of 10) — paying 2-4x premium per click</a:t>
            </a:r>
          </a:p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Negative keyword gaps letting irrelevant traffic through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alibri"/>
              </a:defRPr>
            </a:pPr>
            <a:r>
              <a:t>MY RECOMMENDATIONS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783080"/>
            <a:ext cx="5029200" cy="1463040"/>
          </a:xfrm>
          <a:prstGeom prst="rect">
            <a:avLst/>
          </a:prstGeom>
          <a:solidFill>
            <a:srgbClr val="F5F6FA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874519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Campaign restructure by service type</a:t>
            </a:r>
          </a:p>
          <a:p>
            <a:pPr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Bid strategy fix: set proper target CPA</a:t>
            </a:r>
          </a:p>
          <a:p>
            <a:pPr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Negative keyword framework (9-list system)</a:t>
            </a:r>
          </a:p>
          <a:p>
            <a:pPr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Ad copy A/B testing programme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429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alibri"/>
              </a:defRPr>
            </a:pPr>
            <a:r>
              <a:t>PROJECTED RESULT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749039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749039"/>
            <a:ext cx="246888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93191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ECC71"/>
                </a:solidFill>
                <a:latin typeface="Calibri"/>
              </a:defRPr>
            </a:pPr>
            <a:r>
              <a:t>£20-25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48055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Target CPA (from £38)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3749039"/>
            <a:ext cx="22860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3749039"/>
            <a:ext cx="228600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393191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ECC71"/>
                </a:solidFill>
                <a:latin typeface="Calibri"/>
              </a:defRPr>
            </a:pPr>
            <a:r>
              <a:t>35-48%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44805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CPA Reduction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5074920"/>
            <a:ext cx="50292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51663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This is exactly the audit I would run</a:t>
            </a:r>
            <a:br/>
            <a:r>
              <a:t>on your account in week 1.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5A5A6"/>
                </a:solidFill>
                <a:latin typeface="Calibri"/>
              </a:defRPr>
            </a:pPr>
            <a:r>
              <a:t>Christopher Hoole  |  christopherhoole.com  | 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5A5A6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My Approach — Week 1 at Dental by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I don't wait 3 months to show results. Week 1 delivers measurable improvements.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9728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Days 1-2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Full Account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3474720" cy="3200400"/>
          </a:xfrm>
          <a:prstGeom prst="rect">
            <a:avLst/>
          </a:prstGeom>
          <a:solidFill>
            <a:srgbClr val="F5F6FA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Deep-dive into Google Ads &amp; Meta account structure</a:t>
            </a:r>
          </a:p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Audit bid strategies, conversion tracking, search terms</a:t>
            </a:r>
          </a:p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Analyse negative keywords, Quality Scores, ad copy</a:t>
            </a:r>
          </a:p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Benchmark current CPL, CPA, conversion rates per clinic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463040"/>
            <a:ext cx="109728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4813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Days 3-4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187451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Competitive Landscape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2286000"/>
            <a:ext cx="3474720" cy="3200400"/>
          </a:xfrm>
          <a:prstGeom prst="rect">
            <a:avLst/>
          </a:prstGeom>
          <a:solidFill>
            <a:srgbClr val="F5F6FA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19" y="242316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Research competitor bidding — keywords, ad copy, landing pages</a:t>
            </a:r>
          </a:p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Identify gaps and opportunities in the dental implant space</a:t>
            </a:r>
          </a:p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Map high-intent search terms competitors are targeting</a:t>
            </a:r>
          </a:p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Assess your USP positioning (integrated model, pricing advantage)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109728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4813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7451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Quick Wins Implementation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286000"/>
            <a:ext cx="3474720" cy="3200400"/>
          </a:xfrm>
          <a:prstGeom prst="rect">
            <a:avLst/>
          </a:prstGeom>
          <a:solidFill>
            <a:srgbClr val="F5F6FA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42316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Fix any conversion tracking issues found in audit</a:t>
            </a:r>
          </a:p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Add negative keywords to block wasted spend immediately</a:t>
            </a:r>
          </a:p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Adjust bid strategies with proper target CPA/ROAS guardrails</a:t>
            </a:r>
          </a:p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Pause underperforming campaigns or ad groups burning budget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7881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Deliverable: Full audit report with findings, quick wins, and 90-day roadmap — by end of week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5A5A6"/>
                </a:solidFill>
                <a:latin typeface="Calibri"/>
              </a:defRPr>
            </a:pPr>
            <a:r>
              <a:t>Christopher Hoole  |  christopherhoole.com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5A5A6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My Approach — Months 1-3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Targeting 20-30% CPL reduction within 90 days based on experience with similar accounts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4754880"/>
          </a:xfrm>
          <a:prstGeom prst="rect">
            <a:avLst/>
          </a:prstGeom>
          <a:solidFill>
            <a:srgbClr val="F5F6FA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474720" cy="6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Calibri"/>
              </a:defRPr>
            </a:pPr>
            <a:r>
              <a:t>Month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Foundation &amp; Restructure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Restructure campaigns by treatment type (implants, cosmetic, general)</a:t>
            </a:r>
          </a:p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A/B test ad copy — treatment-specific messaging angles</a:t>
            </a:r>
          </a:p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Implement ad schedule &amp; device bid adjustments based on data</a:t>
            </a:r>
          </a:p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Launch negative keyword framework (9 shared lists per account)</a:t>
            </a:r>
          </a:p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Set proper conversion tracking — count real leads 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371600"/>
            <a:ext cx="3474720" cy="4754880"/>
          </a:xfrm>
          <a:prstGeom prst="rect">
            <a:avLst/>
          </a:prstGeom>
          <a:solidFill>
            <a:srgbClr val="F5F6FA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371600"/>
            <a:ext cx="3474720" cy="63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19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  <a:latin typeface="Calibri"/>
              </a:defRPr>
            </a:pPr>
            <a:r>
              <a:t>Month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Optimise &amp; Expand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22860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Landing page analysis &amp; conversion rate optimization</a:t>
            </a:r>
          </a:p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Refine audience targeting on Meta (lookalikes, remarketing)</a:t>
            </a:r>
          </a:p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Expand keyword coverage from search term mining insights</a:t>
            </a:r>
          </a:p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Quality Score improvement programme (ad relevance + landing pages)</a:t>
            </a:r>
          </a:p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Begin multi-clinic rollout — adapt messaging per practice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3474720" cy="4754880"/>
          </a:xfrm>
          <a:prstGeom prst="rect">
            <a:avLst/>
          </a:prstGeom>
          <a:solidFill>
            <a:srgbClr val="F5F6FA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474720" cy="63500"/>
          </a:xfrm>
          <a:prstGeom prst="rect">
            <a:avLst/>
          </a:prstGeom>
          <a:solidFill>
            <a:srgbClr val="00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8BA8"/>
                </a:solidFill>
                <a:latin typeface="Calibri"/>
              </a:defRPr>
            </a:pPr>
            <a:r>
              <a:t>Month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Scale &amp; Benchmark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2860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Scale winning campaigns — increase budget on best performers</a:t>
            </a:r>
          </a:p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Cut underperformers — reallocate spend to proven winners</a:t>
            </a:r>
          </a:p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Establish performance benchmarks per clinic (CPL, CVR, CPA)</a:t>
            </a:r>
          </a:p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Full reporting framework — transparent, data-driven, actionable</a:t>
            </a:r>
          </a:p>
          <a:p>
            <a:pPr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Strategic roadmap for months 4-6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5A5A6"/>
                </a:solidFill>
                <a:latin typeface="Calibri"/>
              </a:defRPr>
            </a:pPr>
            <a:r>
              <a:t>Christopher Hoole  |  christopherhoole.com  |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5A5A6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Understanding Your 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The dental implant PPC landscape — and how your model gives you an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Calibri"/>
              </a:defRPr>
            </a:pPr>
            <a:r>
              <a:t>COMPETITIVE DYNAMICS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303520" cy="914400"/>
          </a:xfrm>
          <a:prstGeom prst="rect">
            <a:avLst/>
          </a:prstGeom>
          <a:solidFill>
            <a:srgbClr val="F5F6FA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2A4A"/>
                </a:solidFill>
                <a:latin typeface="Calibri"/>
              </a:rPr>
              <a:t>High CPCs:  </a:t>
            </a:r>
            <a:r>
              <a:rPr sz="1100">
                <a:solidFill>
                  <a:srgbClr val="2C3E50"/>
                </a:solidFill>
                <a:latin typeface="Calibri"/>
              </a:rPr>
              <a:t>Dental implant keywords command £5-15+ per click in London. Every wasted click is expensive. Precision targeting and negative keyword management are critical.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5351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2A4A"/>
                </a:solidFill>
                <a:latin typeface="Calibri"/>
              </a:rPr>
              <a:t>Long Decision Cycle:  </a:t>
            </a:r>
            <a:r>
              <a:rPr sz="1100">
                <a:solidFill>
                  <a:srgbClr val="2C3E50"/>
                </a:solidFill>
                <a:latin typeface="Calibri"/>
              </a:rPr>
              <a:t>Patients research extensively before committing to implants (£1,695-£15,990+). Ad copy and landing pages must build trust at every touchpoint.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5303520" cy="914400"/>
          </a:xfrm>
          <a:prstGeom prst="rect">
            <a:avLst/>
          </a:prstGeom>
          <a:solidFill>
            <a:srgbClr val="F5F6FA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0507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2A4A"/>
                </a:solidFill>
                <a:latin typeface="Calibri"/>
              </a:rPr>
              <a:t>Lead Quality &gt; Volume:  </a:t>
            </a:r>
            <a:r>
              <a:rPr sz="1100">
                <a:solidFill>
                  <a:srgbClr val="2C3E50"/>
                </a:solidFill>
                <a:latin typeface="Calibri"/>
              </a:rPr>
              <a:t>100 low-quality enquiries cost more than 20 high-intent patients. Campaign structure must filter intent, not just generate clicks.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983479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56631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2A4A"/>
                </a:solidFill>
                <a:latin typeface="Calibri"/>
              </a:rPr>
              <a:t>Local Competition:  </a:t>
            </a:r>
            <a:r>
              <a:rPr sz="1100">
                <a:solidFill>
                  <a:srgbClr val="2C3E50"/>
                </a:solidFill>
                <a:latin typeface="Calibri"/>
              </a:rPr>
              <a:t>Harley Street clinics, NHS alternatives, Turkey dental tourism — your messaging must differentiate clearly.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463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alibri"/>
              </a:defRPr>
            </a:pPr>
            <a:r>
              <a:t>YOUR COMPETITIVE ADVANTAGE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828800"/>
            <a:ext cx="4846320" cy="4206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01168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B4D8"/>
                </a:solidFill>
                <a:latin typeface="Calibri"/>
              </a:rPr>
              <a:t>✦  Integrated Model  —  </a:t>
            </a:r>
            <a:r>
              <a:rPr sz="1100">
                <a:solidFill>
                  <a:srgbClr val="FFFFFF"/>
                </a:solidFill>
                <a:latin typeface="Calibri"/>
              </a:rPr>
              <a:t>Clinic + Lab + Manufacturer = control over quality AND pricing. No other competitor in London can say this.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78892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B4D8"/>
                </a:solidFill>
                <a:latin typeface="Calibri"/>
              </a:rPr>
              <a:t>✦  "Up to 60% Less"  —  </a:t>
            </a:r>
            <a:r>
              <a:rPr sz="1100">
                <a:solidFill>
                  <a:srgbClr val="FFFFFF"/>
                </a:solidFill>
                <a:latin typeface="Calibri"/>
              </a:rPr>
              <a:t>This is a powerful ad copy hook. Price-sensitive patients searching for implants will click — and your quality keeps them.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56616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B4D8"/>
                </a:solidFill>
                <a:latin typeface="Calibri"/>
              </a:rPr>
              <a:t>✦  Vivo Bridge — 48 Hours  —  </a:t>
            </a:r>
            <a:r>
              <a:rPr sz="1100">
                <a:solidFill>
                  <a:srgbClr val="FFFFFF"/>
                </a:solidFill>
                <a:latin typeface="Calibri"/>
              </a:rPr>
              <a:t>"Permanent teeth in 48 hours" is an incredible USP for ad copy. Speed + quality + price = unbeatable value proposition.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34340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B4D8"/>
                </a:solidFill>
                <a:latin typeface="Calibri"/>
              </a:rPr>
              <a:t>✦  4.8★ / 399+ Reviews  —  </a:t>
            </a:r>
            <a:r>
              <a:rPr sz="1100">
                <a:solidFill>
                  <a:srgbClr val="FFFFFF"/>
                </a:solidFill>
                <a:latin typeface="Calibri"/>
              </a:rPr>
              <a:t>Social proof in ad extensions and landing pages dramatically improves CTR and conversion rates.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12064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B4D8"/>
                </a:solidFill>
                <a:latin typeface="Calibri"/>
              </a:rPr>
              <a:t>✦  Multi-Clinic Network  —  </a:t>
            </a:r>
            <a:r>
              <a:rPr sz="1100">
                <a:solidFill>
                  <a:srgbClr val="FFFFFF"/>
                </a:solidFill>
                <a:latin typeface="Calibri"/>
              </a:rPr>
              <a:t>Scale advantage — learnings from Dental by Design can be applied across partner clinics nationwide.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5A5A6"/>
                </a:solidFill>
                <a:latin typeface="Calibri"/>
              </a:defRPr>
            </a:pPr>
            <a:r>
              <a:t>Christopher Hoole  |  christopherhoole.com  |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5A5A6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Multi-Clinic Campaign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How I would structure campaigns for Dental by Design + partner clinics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Calibri"/>
              </a:defRPr>
            </a:pPr>
            <a:r>
              <a:t>CAMPAIGN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303520" cy="777240"/>
          </a:xfrm>
          <a:prstGeom prst="rect">
            <a:avLst/>
          </a:prstGeom>
          <a:solidFill>
            <a:srgbClr val="F5F6FA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Separate campaigns per clinic — each gets tailored messaging, budgets, and targeting for their local market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9748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Treatment-level ad groups — Implants, Cosmetic, General, Emergency — matching search intent precisely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5303520" cy="777240"/>
          </a:xfrm>
          <a:prstGeom prst="rect">
            <a:avLst/>
          </a:prstGeom>
          <a:solidFill>
            <a:srgbClr val="F5F6FA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1188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Shared negative keyword lists — 9 standardised lists (by word count + match type) applied across all clinics. Blocked irrelevant traffic benefits every clinic instantly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43484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Centralised reporting with clinic-level breakdown — one dashboard showing performance across the entire network, drillable to individual clinics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03520"/>
            <a:ext cx="5303520" cy="777240"/>
          </a:xfrm>
          <a:prstGeom prst="rect">
            <a:avLst/>
          </a:prstGeom>
          <a:solidFill>
            <a:srgbClr val="F5F6FA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▸  Budget allocation based on performance — best-performing clinics earn more budget. Underperformers get optimised before scaling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463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THE NETWORK EFFECT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1828800"/>
            <a:ext cx="4846320" cy="2286000"/>
          </a:xfrm>
          <a:prstGeom prst="rect">
            <a:avLst/>
          </a:prstGeom>
          <a:solidFill>
            <a:srgbClr val="F5F6FA"/>
          </a:solidFill>
          <a:ln w="12700">
            <a:solidFill>
              <a:srgbClr val="EB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1965960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t>Each clinic gets individual attention,</a:t>
            </a:r>
          </a:p>
          <a:p>
            <a:pPr>
              <a:spcAft>
                <a:spcPts val="600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t>but benefits from the collective data.</a:t>
            </a:r>
          </a:p>
          <a:p>
            <a:pPr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When one clinic discovers a winning ad copy angle, keyword, or negative keyword — it gets rolled out across the network.</a:t>
            </a:r>
          </a:p>
          <a:p>
            <a:pPr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This is exactly how I would use ACT's account-level budget allocation: performance-based distribution ensuring budget flows to the clinics generating the best patient enquiries.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97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Calibri"/>
              </a:defRPr>
            </a:pPr>
            <a:r>
              <a:t>INDICATIVE MULTI-CLINIC KPIs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4617720"/>
            <a:ext cx="4846320" cy="1463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470916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9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Flagship (Dental by Design):</a:t>
            </a:r>
          </a:p>
          <a:p>
            <a:pPr>
              <a:spcAft>
                <a:spcPts val="439"/>
              </a:spcAft>
              <a:defRPr sz="1200" b="0">
                <a:solidFill>
                  <a:srgbClr val="BBC5D5"/>
                </a:solidFill>
                <a:latin typeface="Calibri"/>
              </a:defRPr>
            </a:pPr>
            <a:r>
              <a:t>  Benchmark CPL, then target 20-30% reduction within 90 days</a:t>
            </a:r>
          </a:p>
          <a:p>
            <a:pPr>
              <a:spcAft>
                <a:spcPts val="43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39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Partner Clinics:</a:t>
            </a:r>
          </a:p>
          <a:p>
            <a:pPr>
              <a:spcAft>
                <a:spcPts val="439"/>
              </a:spcAft>
              <a:defRPr sz="1200" b="0">
                <a:solidFill>
                  <a:srgbClr val="BBC5D5"/>
                </a:solidFill>
                <a:latin typeface="Calibri"/>
              </a:defRPr>
            </a:pPr>
            <a:r>
              <a:t>  Establish individual baselines → shared learnings → consistent improvement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5A5A6"/>
                </a:solidFill>
                <a:latin typeface="Calibri"/>
              </a:defRPr>
            </a:pPr>
            <a:r>
              <a:t>Christopher Hoole  |  christopherhoole.com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5A5A6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ACT — My Competitive Edge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A proprietary Google Ads optimization engine I built from the ground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Calibri"/>
              </a:defRPr>
            </a:pPr>
            <a:r>
              <a:t>WHAT ACT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30+ automated optimization checks running overnight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Covers 6 levels: Account, Campaign, Ad Group, Keyword, Ad, Shopping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7 bid strategy rule sets (Manual CPC, tCPA, tROAS, Max Conv, Max Clicks, PMax, Shopping)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Automated negative keyword management — words auto-sorted into 9 standardised lists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Morning review dashboard — shows exactly what needs attention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43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Human-in-the-loop: every action is logged, explainable, and reversible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937760"/>
            <a:ext cx="50292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29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"I don't just manage campaigns — I've built</a:t>
            </a:r>
            <a:br/>
            <a:r>
              <a:t>a system that continuously optimises them.</a:t>
            </a:r>
            <a:br/>
            <a:r>
              <a:t>Your campaigns are being refined 24/7,</a:t>
            </a:r>
            <a:br/>
            <a:r>
              <a:t>not just when I log in."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  <a:latin typeface="Calibri"/>
              </a:defRPr>
            </a:pPr>
            <a:r>
              <a:t>ACT MORNING REVIEW DASHBOARD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783080"/>
            <a:ext cx="5212080" cy="4343400"/>
          </a:xfrm>
          <a:prstGeom prst="rect">
            <a:avLst/>
          </a:prstGeom>
          <a:solidFill>
            <a:srgbClr val="EBEDF2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v6-light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74519"/>
            <a:ext cx="5029200" cy="41605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5A5A6"/>
                </a:solidFill>
                <a:latin typeface="Calibri"/>
              </a:defRPr>
            </a:pPr>
            <a:r>
              <a:t>Christopher Hoole  |  christopherhoole.com  |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5A5A6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Why 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53312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B2A4A"/>
                </a:solidFill>
                <a:latin typeface="Calibri"/>
              </a:rPr>
              <a:t>Hands-On Specialist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  <a:latin typeface="Calibri"/>
              </a:defRPr>
            </a:pPr>
            <a:r>
              <a:t>You get direct access to the person making decisions and executing changes. I work inside the platforms daily — no juniors, no delegation, no layers.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359152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B2A4A"/>
                </a:solidFill>
                <a:latin typeface="Calibri"/>
              </a:rPr>
              <a:t>Direct Dental &amp; Aesthetics Experience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  <a:latin typeface="Calibri"/>
              </a:defRPr>
            </a:pPr>
            <a:r>
              <a:t>I've managed PPC for cosmetic dental clinics and aesthetic practices. I understand patient decision cycles, high CPCs, and the difference between a click and a booking.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364992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B2A4A"/>
                </a:solidFill>
                <a:latin typeface="Calibri"/>
              </a:rPr>
              <a:t>Proprietary Optimization Platform (ACT)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  <a:latin typeface="Calibri"/>
              </a:defRPr>
            </a:pPr>
            <a:r>
              <a:t>No other candidate has built their own Google Ads optimization engine. ACT automates repetitive optimization so I can focus on strategy and growth.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370832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97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B2A4A"/>
                </a:solidFill>
                <a:latin typeface="Calibri"/>
              </a:rPr>
              <a:t>Data-Driven Methodology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  <a:latin typeface="Calibri"/>
              </a:defRPr>
            </a:pPr>
            <a:r>
              <a:t>Every recommendation is backed by data. My audit process (waste analysis → structure review → restructure plan) has been proven with real clients and real results.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5376672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B2A4A"/>
                </a:solidFill>
                <a:latin typeface="Calibri"/>
              </a:rPr>
              <a:t>Results-Focused Commercial Thinking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  <a:latin typeface="Calibri"/>
              </a:defRPr>
            </a:pPr>
            <a:r>
              <a:t>I measure success by patient enquiries and bookings, not impressions and clicks. Your integrated model (clinic + lab + manufacturer) is a competitive advantage I know how to leverage in campaigns.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5A5A6"/>
                </a:solidFill>
                <a:latin typeface="Calibri"/>
              </a:defRPr>
            </a:pPr>
            <a:r>
              <a:t>Christopher Hoole  |  christopherhoole.com  |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5A5A6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18288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228600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3591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Grant me access to your Google Ads and Meta accounts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329184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3649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I'll deliver a full audit report within the first week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429768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43708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You'll see measurable improvements within 30 days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5212080"/>
            <a:ext cx="36576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52303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Ready to start immediately.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943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chris@christopherhoole.com   |   christopherhoole.com   |   +44 7999 500 184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5A5A6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