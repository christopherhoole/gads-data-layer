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2486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DRIVING PATIENT
ACQUISITION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285F4"/>
                </a:solidFill>
                <a:latin typeface="Calibri"/>
              </a:rPr>
              <a:t>Dental by Design  |  Prodent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1A1A1A"/>
                </a:solidFill>
                <a:latin typeface="Calibri"/>
              </a:rPr>
              <a:t>Christopher Hoole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Specialist  |  April 2026</a:t>
            </a:r>
          </a:p>
          <a:p>
            <a:r>
              <a:rPr sz="1100" b="0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292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047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Performance Marketing Specialist  |  Interview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640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Specialist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0058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34A853"/>
                </a:solidFill>
                <a:latin typeface="Calibri"/>
              </a:rPr>
              <a:t>Dental &amp; Aesthetics PPC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 managing campaigns for dental clinics and cosmetic practices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Google 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100+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Accounts Managed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£50M+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About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christopherhoole.com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 Paid Media (Since 2009)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1097280"/>
            <a:ext cx="54864" cy="96012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Accounts Managed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9728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£50M+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Total Spend Managed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09728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09728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188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6 Levels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ACT Optimization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Key Credentials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Hands-on platform specialist — I work inside Google Ads and Meta daily. Not a strategist who delegates to juniors.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Direct dental &amp; aesthetics PPC experience — managed campaigns for a cosmetic dental clinic and Medizen Aesthetics (medically-led cosmetic clinic, Birmingham).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Built ACT (Ads Control Tower) — a proprietary Google Ads optimization engine with 30+ automated checks across Account, Campaign, Ad Group, Keyword, Ad, and Shopping levels.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Notable clients: Lexus, Toyota, Virgin Media O2, Destinology, SixStarHolidays, Select Property Group.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Managed budgets from £5,000 to £400,000 per month across competitive B2C markets.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Key results: 63% CPA reduction at Destinology (£120 to £45). Grew B2B leads from 0 to 2,000/month at Virgin Media O2.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not a strategy-only profile. Every role I've held has been hands-on, in-platform, accountable for results.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Relevant Experience — Dental &amp; Aesthetics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Direct experience in the same market dynamics as Dental by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Competitive B2C Lead Gen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5303520" cy="2286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54864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Cosmetic Dental Clinic (via PodDigital)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Google Ads for a cosmetic dental practice — implants, veneers, cosmetic treatments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Generated patient enquiries in a competitive local market with high CPCs (£5-15+)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Full search campaign management, bid strategy optimization, negative keyword framework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Confidential — active agency client (can discuss approach and results in conversation)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80160"/>
            <a:ext cx="5303520" cy="2286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54864" cy="2286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371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Medizen Aesthetics (Birmingham)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Medically-led cosmetic clinic — injectable treatments, laser procedures, aesthetic services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High-value patient leads in a competitive B2C market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Search-led campaigns targeting treatment-specific intent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Focus on lead quality over volume — CPA reduction through audience and landing page optimization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7490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Why This Matters for Dental by Design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114800"/>
            <a:ext cx="3474720" cy="14630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54864" cy="1463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Patient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Search intent → ad click → landing page → enquiry form → booking. I know what makes someone click and what makes them convert.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114800"/>
            <a:ext cx="3474720" cy="1463040"/>
          </a:xfrm>
          <a:prstGeom prst="rect">
            <a:avLst/>
          </a:prstGeom>
          <a:solidFill>
            <a:srgbClr val="FC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114800"/>
            <a:ext cx="54864" cy="1463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Cost Dynamics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4805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High CPCs (£5-15+), long decision cycle, price-sensitive patients, quality vs cost trade-offs. Every wasted click is expensive.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4114800"/>
            <a:ext cx="3474720" cy="146304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4114800"/>
            <a:ext cx="54864" cy="1463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4206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Same Success Metrics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8056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Patient enquiries that convert to bookings — not clicks, not impressions. Lead quality matters more than volume.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Case Study — Account Audit &amp; Turnaround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UK professional services business — the methodology I would apply to your account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Anonymised 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1887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188720"/>
            <a:ext cx="73152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234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EA4335"/>
                </a:solidFill>
                <a:latin typeface="Calibri"/>
              </a:rPr>
              <a:t>42.7%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of budget wasted — £7,836 of £18,338 total spend identified as waste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3035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73152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2344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4A853"/>
                </a:solidFill>
                <a:latin typeface="Calibri"/>
              </a:rPr>
              <a:t>£20-25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Target CPA achieved (down from £38) — a 35-48% reduction in cost per lead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48640" y="2834640"/>
          <a:ext cx="5486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 Found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No target CPA set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Algorithm spending unchecked — CPA peaked at £65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Conversion tracking inflated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Micro-conversions counted as leads — misleading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Quality Scores of 2-3 / 10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Paying 2-4x premium on every click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Irrelevant traffic consuming 42.7% of budget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Auto-apply recommendations 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Google making unsupervised bid strategy changes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217920" y="28346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I Recommended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546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Campaign restructure by service type — tighter ad groups for better Quality Scores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 proper target CPA — gave the algorithm a cost guardrail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Negative keyword framework — 9 organised lists (phrase + exact match)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 copy A/B testing — 3 RSA variants testing different messaging angles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Disabled auto-apply — stopped Google making unsupervised changes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5074920"/>
            <a:ext cx="5303520" cy="96012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51206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This is exactly the audit I would run on your Google Ads and Meta accounts in week 1. Same methodology, same rigour, same focus on measurable results.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My Approach — Week 1 at Dental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I don't wait 3 months to show results. Week 1 delivers measurable improvements.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First 5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1280160" cy="32004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1-2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Full Account Audit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057400"/>
            <a:ext cx="3474720" cy="29260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057400"/>
            <a:ext cx="54864" cy="29260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9456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Deep-dive into Google Ads + Meta account structure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Audit bid strategies, conversion tracking, search terms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Analyse negative keywords, Quality Scores, ad copy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Benchmark CPL, CPA, conversion rates per clinic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280160"/>
            <a:ext cx="1280160" cy="32004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Days 3-4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Competitive Landscape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057400"/>
            <a:ext cx="3474720" cy="29260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057400"/>
            <a:ext cx="54864" cy="2926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219456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Research competitor bidding — keywords, ad copy, landing pages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Identify gaps in the dental implant keyword space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Map high-intent search terms competitors are targeting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Assess USP positioning (integrated model, pricing advantage)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19" y="1280160"/>
            <a:ext cx="1280160" cy="3200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9" y="12984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Quick Wins — Live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2057400"/>
            <a:ext cx="3474720" cy="292608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2057400"/>
            <a:ext cx="54864" cy="2926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9" y="2194560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issues found in audit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Add negative keywords to block wasted spend immediately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Set proper target CPA / ROAS guardrails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Pause underperforming campaigns or ad groups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Deliverable: Full audit report with findings, quick wins, and 90-day roadmap — by end of week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Months 1-3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Targeting 20-30% CPL reduction within 90 days based on experience with similar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90-Day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280160"/>
            <a:ext cx="3474720" cy="4572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280160"/>
            <a:ext cx="54864" cy="4572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Month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Foundation &amp; Restructure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Restructure campaigns by treatment type (implants, cosmetic, general, emergency)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A/B test ad copy — treatment-specific messaging angles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Implement ad schedule + device bid adjustments based on data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Launch negative keyword framework (9 shared lists per account)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Fix conversion tracking — count real patient leads only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280160"/>
            <a:ext cx="3474720" cy="4572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280160"/>
            <a:ext cx="54864" cy="45720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Month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Optimise &amp;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05740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Landing page analysis + conversion rate optimization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Refine audience targeting on Meta (lookalikes, remarketing)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Expand keyword coverage from search term mining insights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Quality Score improvement (ad relevance + landing page experience)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Begin multi-clinic rollout — adapt messaging per practice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1280160"/>
            <a:ext cx="3474720" cy="4572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280160"/>
            <a:ext cx="54864" cy="4572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417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Month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1645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7E"/>
                </a:solidFill>
                <a:latin typeface="Calibri"/>
              </a:rPr>
              <a:t>Scale &amp; Benchmark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9" y="2057400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Scale winning campaigns — increase budget on best performers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Cut underperformers — reallocate spend to proven winners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Establish performance benchmarks per clinic (CPL, CVR, CPA)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Full transparent reporting framework — monthly reports for each clinic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A1A1A"/>
                </a:solidFill>
                <a:latin typeface="Calibri"/>
              </a:rPr>
              <a:t>Strategic roadmap for months 4-6 based on Q1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Understanding Your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The dental implant PPC landscape — and how your integrated model gives you an 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Market Analysis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23444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Market Factor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Implication for Campaign Management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CPCs £5-15+ per click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Every wasted click is expensive. Precision targeting and negative keywords are critical.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Long patient decision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Patients research extensively before committing to implants (£1,695-£15,990+). Remarketing is essential.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Lead quality &gt; volume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100 low-quality enquiries cost more than 20 high-intent patients. Structure must filter intent.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Intense local competition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Harley Street clinics, NHS alternatives, dental tourism. Messaging must differentiate.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Price sensitivity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Patients compare costs. Your pricing advantage must be prominent in ad copy and landing pages.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1792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Your Competitive 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08760"/>
            <a:ext cx="5303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508760"/>
            <a:ext cx="54864" cy="685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8191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Integrated Model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Clinic + Lab + Manufacturer = control over quality AND pricing. No other London competitor can match this.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5303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4864" cy="685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35915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  <a:latin typeface="Calibri"/>
              </a:rPr>
              <a:t>"Up to 60% Less"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A powerful ad copy hook. Price-sensitive patients will click — and your quality keeps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063239"/>
            <a:ext cx="5303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063239"/>
            <a:ext cx="54864" cy="685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36391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A4335"/>
                </a:solidFill>
                <a:latin typeface="Calibri"/>
              </a:rPr>
              <a:t>Vivo Bridge — 48hrs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"Permanent teeth in 48 hours" is an incredible USP. Speed + quality + price = unbeatable.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840479"/>
            <a:ext cx="5303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840479"/>
            <a:ext cx="54864" cy="685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913631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BBC05"/>
                </a:solidFill>
                <a:latin typeface="Calibri"/>
              </a:rPr>
              <a:t>4.8★ / 399+ Reviews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Social proof in ad extensions and landing pages dramatically improves CTR and conversion rates.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17720"/>
            <a:ext cx="53035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617720"/>
            <a:ext cx="54864" cy="685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690872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A853"/>
                </a:solidFill>
                <a:latin typeface="Calibri"/>
              </a:rPr>
              <a:t>Multi-Clinic Network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Scale advantage — learnings from Dental by Design benefit every partner clinic nationwide.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94960"/>
            <a:ext cx="10634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I would leverage your integrated model in every ad, every landing page, and every campaign. It's your strongest differentiator in a crowded market.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Multi-Clinic Campaign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How I would structure campaigns for Dental by Design + your partner clinics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Network Strategy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234440"/>
          <a:ext cx="5486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A23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Campaign structure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Separate campaigns per clinic — tailored messaging, budgets, and targeting for each local market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Ad group 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Treatment-level groups (Implants, Cosmetic, General, Emergency) — matching search intent precisely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Negative keywords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 shared lists by word count + match type. One blocked term benefits every clinic instantly.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Reporting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Centralised dashboard with clinic-level breakdown — one view of the entire 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Budget allocation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Performance-based — best-performing clinics earn more budget. Underperformers get optimised first.</a:t>
                      </a:r>
                    </a:p>
                  </a:txBody>
                  <a:tcPr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217920" y="1234440"/>
            <a:ext cx="5303520" cy="155448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4864" cy="15544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The Network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Each clinic gets individual attention, but benefits from the collective data. When one clinic discovers a winning ad copy angle, keyword, or negative keyword — it gets rolled out across the entire network.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971800"/>
            <a:ext cx="5303520" cy="1188720"/>
          </a:xfrm>
          <a:prstGeom prst="rect">
            <a:avLst/>
          </a:prstGeom>
          <a:solidFill>
            <a:srgbClr val="E6F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971800"/>
            <a:ext cx="54864" cy="11887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063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Shared Learnings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375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Dental by Design generates the most data — it will be the testing ground. Proven strategies then scale to partner clinics with localised messaging.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Indicative KPI Targets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720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54864" cy="96012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20-30%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CPL Reduction (90 days)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5720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4572000"/>
            <a:ext cx="54864" cy="9601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Baseline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Clinic Benchmarks (Month 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572000"/>
            <a:ext cx="34747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572000"/>
            <a:ext cx="54864" cy="96012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BBC05"/>
                </a:solidFill>
                <a:latin typeface="Calibri"/>
              </a:rPr>
              <a:t>Weekly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Reporting Cadence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ACT — My Competitive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A4335"/>
                </a:solidFill>
                <a:latin typeface="Calibri"/>
              </a:rPr>
              <a:t>A proprietary Google Ads optimization engine I built from the ground up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Proprietary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What ACT Does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00200"/>
            <a:ext cx="53035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00200"/>
            <a:ext cx="54864" cy="4754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6733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30+ automated checks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running overnight across all campaign elements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54864" cy="4754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2219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6 optimization levels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Account, Campaign, Ad Group, Keyword, Ad, Shopping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97480"/>
            <a:ext cx="53035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697480"/>
            <a:ext cx="54864" cy="47548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7706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7 bid strategy rule sets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Manual CPC, tCPA, tROAS, Max Conv, Max Clicks, PMax, Shopping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4612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246120"/>
            <a:ext cx="54864" cy="47548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3192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Negative keyword engine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Auto-sorts into 9 standardised lists by word count + match 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94760"/>
            <a:ext cx="5303520" cy="475488"/>
          </a:xfrm>
          <a:prstGeom prst="rect">
            <a:avLst/>
          </a:prstGeom>
          <a:solidFill>
            <a:srgbClr val="F5F6F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94760"/>
            <a:ext cx="54864" cy="47548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679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Morning review dashboard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Shows exactly what needs attention — nothing gets missed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343400"/>
            <a:ext cx="53035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43400"/>
            <a:ext cx="54864" cy="47548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1655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Human-in-the-loop  —  </a:t>
            </a:r>
            <a:r>
              <a:rPr sz="1100" b="0">
                <a:solidFill>
                  <a:srgbClr val="1A1A1A"/>
                </a:solidFill>
                <a:latin typeface="Calibri"/>
              </a:rPr>
              <a:t>Every action logged, explainable, and reversible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983480"/>
            <a:ext cx="5303520" cy="10058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292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"I don't just manage campaigns — I've built a system that continuously optimises them. Your campaigns are being refined 24/7, not just when I log in. No other candidate has this."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ACT Morning Review Dashboard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1600200"/>
            <a:ext cx="5303520" cy="4389120"/>
          </a:xfrm>
          <a:prstGeom prst="rect">
            <a:avLst/>
          </a:prstGeom>
          <a:solidFill>
            <a:srgbClr val="F5F6F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v6-light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91640"/>
            <a:ext cx="5120640" cy="420624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ac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237E"/>
                </a:solidFill>
                <a:latin typeface="Calibri"/>
              </a:rPr>
              <a:t>Why Me</a:t>
            </a:r>
          </a:p>
        </p:txBody>
      </p:sp>
      <p:sp>
        <p:nvSpPr>
          <p:cNvPr id="7" name="Rectangle 6"/>
          <p:cNvSpPr/>
          <p:nvPr/>
        </p:nvSpPr>
        <p:spPr>
          <a:xfrm>
            <a:off x="8348472" y="274320"/>
            <a:ext cx="32918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912" y="29260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285F4"/>
                </a:solidFill>
                <a:latin typeface="Calibri"/>
              </a:rPr>
              <a:t>Summary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09728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126187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Hands-On Specialist
</a:t>
            </a:r>
            <a:r>
              <a:rPr sz="1100" b="0">
                <a:solidFill>
                  <a:srgbClr val="1A1A1A"/>
                </a:solidFill>
                <a:latin typeface="Calibri"/>
              </a:rPr>
              <a:t>You get direct access to the person making decisions and executing changes. I work inside the platforms daily — no juniors, no delegation, no layers.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10312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54864" cy="8686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267712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19456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Direct Dental &amp; Aesthetics Experience
</a:t>
            </a:r>
            <a:r>
              <a:rPr sz="1100" b="0">
                <a:solidFill>
                  <a:srgbClr val="1A1A1A"/>
                </a:solidFill>
                <a:latin typeface="Calibri"/>
              </a:rPr>
              <a:t>I've managed PPC for cosmetic dental clinics and aesthetic practices. I understand patient decision cycles, high CPCs, and the difference between a click and a booking.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54864" cy="8686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273552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2004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Proprietary Optimization Platform
</a:t>
            </a:r>
            <a:r>
              <a:rPr sz="1100" b="0">
                <a:solidFill>
                  <a:srgbClr val="1A1A1A"/>
                </a:solidFill>
                <a:latin typeface="Calibri"/>
              </a:rPr>
              <a:t>No other candidate has built their own Google Ads optimization engine. ACT automates repetitive optimization so I can focus on strategy and growth for your clinics.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114800"/>
            <a:ext cx="54864" cy="8686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279392"/>
            <a:ext cx="411480" cy="4114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Proven Audit Methodology
</a:t>
            </a:r>
            <a:r>
              <a:rPr sz="1100" b="0">
                <a:solidFill>
                  <a:srgbClr val="1A1A1A"/>
                </a:solidFill>
                <a:latin typeface="Calibri"/>
              </a:rPr>
              <a:t>My audit process (waste analysis → structure review → restructure plan) has been proven with real clients. 42.7% waste identified, CPA reduced by 35-48%.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5120640"/>
            <a:ext cx="54864" cy="86868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285232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2120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Results-Focused Commercial Thinking
</a:t>
            </a:r>
            <a:r>
              <a:rPr sz="1100" b="0">
                <a:solidFill>
                  <a:srgbClr val="1A1A1A"/>
                </a:solidFill>
                <a:latin typeface="Calibri"/>
              </a:rPr>
              <a:t>I measure success by patient enquiries and bookings, not impressions and clicks. Your integrated model is a competitive advantage I know how to leverage.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6327648"/>
            <a:ext cx="2770632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19272" y="6327648"/>
            <a:ext cx="2770632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9048" y="6327648"/>
            <a:ext cx="2770632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6327648"/>
            <a:ext cx="2770632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00800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Christopher Hoole  |  christopherhoole.com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A23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47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7695" y="0"/>
            <a:ext cx="3047695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5390" y="0"/>
            <a:ext cx="3047695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3085" y="0"/>
            <a:ext cx="3047695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94360" cy="594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12801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A237E"/>
                </a:solidFill>
                <a:latin typeface="Calibri"/>
              </a:rPr>
              <a:t>NEXT STEPS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54864" cy="914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2578608"/>
            <a:ext cx="411480" cy="4114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Grant me access to your Google Ads and Meta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Read-only access is all I need to run the full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3630168"/>
            <a:ext cx="411480" cy="4114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53872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I'll deliver a full audit report within the first 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Waste analysis, structure review, and restructure plan — same methodology as the case study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80560"/>
            <a:ext cx="50292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480560"/>
            <a:ext cx="54864" cy="9144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681728"/>
            <a:ext cx="411480" cy="4114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59028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7E"/>
                </a:solidFill>
                <a:latin typeface="Calibri"/>
              </a:rPr>
              <a:t>You'll see measurable improvements within 30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Quick wins in week 1, structured optimization in months 1-3, benchmarks by month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57200"/>
            <a:ext cx="53949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57200"/>
            <a:ext cx="73152" cy="22860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548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237E"/>
                </a:solidFill>
                <a:latin typeface="Calibri"/>
              </a:rPr>
              <a:t>Ready to Start Immediately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9144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285F4"/>
                </a:solidFill>
                <a:latin typeface="Calibri"/>
              </a:rPr>
              <a:t>Christopher Hoole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164592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chris@christopherhoole.com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4285F4"/>
                </a:solidFill>
                <a:latin typeface="Calibri"/>
              </a:rPr>
              <a:t>christopherhoole.com</a:t>
            </a:r>
          </a:p>
          <a:p>
            <a:r>
              <a:rPr sz="1400" b="0">
                <a:solidFill>
                  <a:srgbClr val="1A1A1A"/>
                </a:solidFill>
                <a:latin typeface="Calibri"/>
              </a:rPr>
              <a:t>+44 7999 500 184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54864" cy="10515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285F4"/>
                </a:solidFill>
                <a:latin typeface="Calibri"/>
              </a:rPr>
              <a:t>16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Hands-On Experience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4152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4152" y="2926080"/>
            <a:ext cx="54864" cy="10515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4A853"/>
                </a:solidFill>
                <a:latin typeface="Calibri"/>
              </a:rPr>
              <a:t>Dental PPC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Direct Experience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39528" y="2926080"/>
            <a:ext cx="1673352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939528" y="2926080"/>
            <a:ext cx="54864" cy="10515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6688" y="3035808"/>
            <a:ext cx="1444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A4335"/>
                </a:solidFill>
                <a:latin typeface="Calibri"/>
              </a:rPr>
              <a:t>ACT Engine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347472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Proprietary Platform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206240"/>
            <a:ext cx="5394960" cy="10972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25196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237E"/>
                </a:solidFill>
                <a:latin typeface="Calibri"/>
              </a:rPr>
              <a:t>"I don't just manage campaigns. I've built a system to continuously optimise them. I have direct dental PPC experience. And I'm ready to start immediately."
— Christopher Hoole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400800"/>
            <a:ext cx="3047695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047695" y="6400800"/>
            <a:ext cx="3047695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5390" y="6400800"/>
            <a:ext cx="3047695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3085" y="6400800"/>
            <a:ext cx="3047695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