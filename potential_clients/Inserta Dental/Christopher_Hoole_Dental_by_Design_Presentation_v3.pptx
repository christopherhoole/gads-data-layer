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280160"/>
            <a:ext cx="5248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237E"/>
                </a:solidFill>
                <a:latin typeface="Calibri"/>
              </a:rPr>
              <a:t>DRIVING PATIENT
ACQUISITION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285F4"/>
                </a:solidFill>
                <a:latin typeface="Calibri"/>
              </a:rPr>
              <a:t>Dental by Design  |  Prodent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Christopher Hoole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Google Ads Specialist  |  April 2026</a:t>
            </a:r>
          </a:p>
          <a:p>
            <a:r>
              <a:rPr sz="1100" b="0">
                <a:solidFill>
                  <a:srgbClr val="4285F4"/>
                </a:solidFill>
                <a:latin typeface="Calibri"/>
              </a:rPr>
              <a:t>christopherhoole.com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292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04748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Performance Marketing Specialist  |  Interview Presentation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640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  <a:latin typeface="Calibri"/>
              </a:rPr>
              <a:t>Specialist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0058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34A853"/>
                </a:solidFill>
                <a:latin typeface="Calibri"/>
              </a:rPr>
              <a:t>Dental &amp; Aesthetics PPC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Direct experience managing campaigns for dental clinics and cosmetic practices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16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Hands-On Google Ads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74152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4152" y="2926080"/>
            <a:ext cx="54864" cy="105156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100+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Accounts Managed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39528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39528" y="2926080"/>
            <a:ext cx="54864" cy="10515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£50M+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76688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Total Spend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3047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47695" y="6400800"/>
            <a:ext cx="3047695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95390" y="6400800"/>
            <a:ext cx="3047695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085" y="6400800"/>
            <a:ext cx="3047695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About Me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christopherhoole.com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16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 Paid Media (Since 2009)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097280"/>
            <a:ext cx="54864" cy="9601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100+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Accounts Managed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097280"/>
            <a:ext cx="54864" cy="96012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£50M+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Total Spend Managed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097280"/>
            <a:ext cx="54864" cy="9601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6 Levels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ACT Optimization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Key Credentials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743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Hands-on platform specialist — I work inside Google Ads and Meta daily. Not a strategist who delegates.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Direct dental &amp; aesthetics PPC experience — cosmetic dental clinic (via PodDigital) and Medizen Aesthetics.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Built ACT (Ads Control Tower) — a proprietary optimization engine. 30+ automated checks across 6 levels.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394960"/>
            <a:ext cx="10634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This is not a strategy-only profile. Every role I've held has been hands-on, in-platform, accountable for results.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Relevant Experience — Dental &amp; Aesthetics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Direct experience in the same market dynamics as Dental by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Competitive B2C Lead Gen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280160"/>
            <a:ext cx="5303520" cy="2286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280160"/>
            <a:ext cx="54864" cy="2286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Cosmetic Dental Clinic (via PodDigital)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6916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Google Ads for a cosmetic dental practice — implants, veneers, cosmetic treatments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Generated patient enquiries in a competitive local market with high CPCs (£5-15+)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Full search campaign management, bid strategy optimization, negative keyword framework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Confidential — active agency client (can discuss approach and results in conversation)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303520" cy="2286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4864" cy="2286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Medizen Aesthetics (Birmingham)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6916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Medically-led cosmetic clinic — injectable treatments, laser procedures, aesthetic services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High-value patient leads in a competitive B2C market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Search-led campaigns targeting treatment-specific intent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Focus on lead quality over volume — CPA reduction through audience and landing page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490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Why This Matters for Dental by 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14800"/>
            <a:ext cx="3474720" cy="14630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114800"/>
            <a:ext cx="54864" cy="14630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Same Patient Journey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805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Search intent → ad click → landing page → enquiry → booking. I know what converts.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4114800"/>
            <a:ext cx="3474720" cy="146304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4114800"/>
            <a:ext cx="54864" cy="14630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Same Cost Dynamics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4805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High CPCs (£5-15+), long decision cycle, price-sensitive patients. Every wasted click is expensive.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4114800"/>
            <a:ext cx="3474720" cy="146304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4114800"/>
            <a:ext cx="54864" cy="1463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Same Success Metrics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4805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Patient enquiries that convert to bookings — not clicks or impressions. Quality over volume.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Case Study — Account Audit &amp; Turnaround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A UK professional services business — the methodology I would apply to your account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Anonymised 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8872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88720"/>
            <a:ext cx="73152" cy="13716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234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EA4335"/>
                </a:solidFill>
                <a:latin typeface="Calibri"/>
              </a:rPr>
              <a:t>42.7%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of budget wasted — £7,836 of £18,338 total spend identified as waste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73152" cy="13716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234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34A853"/>
                </a:solidFill>
                <a:latin typeface="Calibri"/>
              </a:rPr>
              <a:t>£20-25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Target CPA achieved (down from £38) — a 35-48% reduction in cost per lead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283464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 Found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No target CPA set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Algorithm spending unchecked — CPA peaked at £65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Conversion tracking inflated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Micro-conversions counted as leads — misleading bidding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Quality Scores of 2-3 / 10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Paying 2-4x premium on every click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217920" y="2834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What I Recommended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004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Set proper target CPA — gave the algorithm a cost guardrail it never had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Negative keyword framework — 9 organised lists blocking wasted spend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Campaign restructure by service type — tighter ad groups, better Quality Scores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74920"/>
            <a:ext cx="11091672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20640"/>
            <a:ext cx="10634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This is exactly the audit I would run on your Google Ads and Meta accounts in week 1. Same methodology, same rigour, same focus on measurable results.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My Approach — Week 1 at Dental by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First 5 Days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188720"/>
            <a:ext cx="1280160" cy="3200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07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Days 1-2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Full Account Audit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65960"/>
            <a:ext cx="3474720" cy="2286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965960"/>
            <a:ext cx="54864" cy="2286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3154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Deep-dive into Google Ads + Meta account structure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Audit bid strategies, conversion tracking, Quality Scores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Benchmark CPL, CPA, conversion rates per clinic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1188720"/>
            <a:ext cx="1280160" cy="3200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1207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Days 3-4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1600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Competitive Landscape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1965960"/>
            <a:ext cx="3474720" cy="2286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79" y="1965960"/>
            <a:ext cx="54864" cy="2286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2103120"/>
            <a:ext cx="3154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Research competitor bidding — keywords, ad copy, landing pages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Identify gaps in the dental implant keyword space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Assess your USP positioning vs competitors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19" y="1188720"/>
            <a:ext cx="1280160" cy="320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1207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1600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Quick Wins — Live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19" y="1965960"/>
            <a:ext cx="3474720" cy="2286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19" y="1965960"/>
            <a:ext cx="54864" cy="2286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9" y="2103120"/>
            <a:ext cx="3154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Fix conversion tracking issues found in audit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Add negative keywords to block wasted spend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Set proper target CPA / ROAS guardrails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663440"/>
            <a:ext cx="11091672" cy="118872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709160"/>
            <a:ext cx="10634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237E"/>
                </a:solidFill>
                <a:latin typeface="Calibri"/>
              </a:rPr>
              <a:t>Deliverable: Full audit report by end of week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66360"/>
            <a:ext cx="10634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Findings, quick wins implemented, and a 90-day optimization roadmap — delivered before you've finished onboarding with any other candidate.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Months 1-3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90-Day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914400"/>
            <a:ext cx="73152" cy="914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932688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34A853"/>
                </a:solidFill>
                <a:latin typeface="Calibri"/>
              </a:rPr>
              <a:t>20-30% CPL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051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Within 90 days, based on experience with similar dental and aesthetics accounts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03120"/>
            <a:ext cx="3474720" cy="3749039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103120"/>
            <a:ext cx="54864" cy="3749039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2402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Month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Foundation &amp; Restructure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80360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Restructure campaigns by treatment type (implants, cosmetic, general)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Launch negative keyword framework — 9 shared lists per account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Fix conversion tracking — count real patient leads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2103120"/>
            <a:ext cx="3474720" cy="3749039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79" y="2103120"/>
            <a:ext cx="54864" cy="3749039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22402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5"/>
                </a:solidFill>
                <a:latin typeface="Calibri"/>
              </a:rPr>
              <a:t>Month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Optimise &amp; Expand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2880360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Landing page analysis + conversion rate optimization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Expand keyword coverage from search term mining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Begin multi-clinic rollout — adapt messaging per practice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19" y="2103120"/>
            <a:ext cx="3474720" cy="3749039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19" y="2103120"/>
            <a:ext cx="54864" cy="3749039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9" y="22402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  <a:latin typeface="Calibri"/>
              </a:rPr>
              <a:t>Month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Scale &amp; Benchmark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9" y="2880360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Scale winners, cut underperformers — performance-based budget allocation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Establish benchmarks per clinic (CPL, CVR, CPA)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Full reporting framework + strategic roadmap for months 4-6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Your Competitive Advantage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How your integrated model creates a significant PPC advantage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Market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88720"/>
            <a:ext cx="54864" cy="8229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2984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A853"/>
                </a:solidFill>
                <a:latin typeface="Calibri"/>
              </a:rPr>
              <a:t>Integrated Model  —  </a:t>
            </a:r>
            <a:r>
              <a:rPr sz="1200" b="0">
                <a:solidFill>
                  <a:srgbClr val="1A1A1A"/>
                </a:solidFill>
                <a:latin typeface="Calibri"/>
              </a:rPr>
              <a:t>Clinic + Lab + Manufacturer — control over quality AND pricing. No other London competitor can match this.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148840"/>
            <a:ext cx="54864" cy="8229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2585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285F4"/>
                </a:solidFill>
                <a:latin typeface="Calibri"/>
              </a:rPr>
              <a:t>"Up to 60% Less"  —  </a:t>
            </a:r>
            <a:r>
              <a:rPr sz="1200" b="0">
                <a:solidFill>
                  <a:srgbClr val="1A1A1A"/>
                </a:solidFill>
                <a:latin typeface="Calibri"/>
              </a:rPr>
              <a:t>A powerful ad copy hook for price-sensitive patients. They click for the price, they stay for the quality.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108960"/>
            <a:ext cx="54864" cy="8229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21868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A4335"/>
                </a:solidFill>
                <a:latin typeface="Calibri"/>
              </a:rPr>
              <a:t>Vivo Bridge — 48 Hours  —  </a:t>
            </a:r>
            <a:r>
              <a:rPr sz="1200" b="0">
                <a:solidFill>
                  <a:srgbClr val="1A1A1A"/>
                </a:solidFill>
                <a:latin typeface="Calibri"/>
              </a:rPr>
              <a:t>"Permanent teeth in 48 hours" is an incredible USP. Speed + quality + price = unbeatable value proposition.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6908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069080"/>
            <a:ext cx="54864" cy="82296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178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C05"/>
                </a:solidFill>
                <a:latin typeface="Calibri"/>
              </a:rPr>
              <a:t>4.8★ Rating / 399+ Reviews  —  </a:t>
            </a:r>
            <a:r>
              <a:rPr sz="1200" b="0">
                <a:solidFill>
                  <a:srgbClr val="1A1A1A"/>
                </a:solidFill>
                <a:latin typeface="Calibri"/>
              </a:rPr>
              <a:t>Social proof in ad extensions and landing pages dramatically improves click-through and conversion rates.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029200"/>
            <a:ext cx="54864" cy="8229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1389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A853"/>
                </a:solidFill>
                <a:latin typeface="Calibri"/>
              </a:rPr>
              <a:t>Multi-Clinic Network  —  </a:t>
            </a:r>
            <a:r>
              <a:rPr sz="1200" b="0">
                <a:solidFill>
                  <a:srgbClr val="1A1A1A"/>
                </a:solidFill>
                <a:latin typeface="Calibri"/>
              </a:rPr>
              <a:t>Scale advantage — every insight from Dental by Design benefits your partner clinics nationwide.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32120"/>
            <a:ext cx="11091672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I would leverage every one of these advantages in your ad copy, landing pages, and campaign structure.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Multi-Clinic Campaign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How I would structure campaigns for Dental by Design + your partner clinics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Network Strategy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23444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Element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Campaign structure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Separate campaigns per clinic — tailored messaging, budgets, targeting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Ad group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Treatment-level groups (Implants, Cosmetic, General, Emergency)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Negative keywords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 shared lists by word count + match type. One block benefits all clinics.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Centralised dashboard with clinic-level breakdown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Budget allocation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Performance-based — best clinics earn more budget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217920" y="1234440"/>
            <a:ext cx="5303520" cy="1554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4864" cy="15544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25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The Network Effect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002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Each clinic gets individual attention, but benefits from the collective data. When one clinic discovers a winning angle — it gets rolled out across the network.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971800"/>
            <a:ext cx="5303520" cy="118872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971800"/>
            <a:ext cx="54864" cy="1188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0632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Shared Learnings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3375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Dental by Design generates the most data — it becomes the testing ground. Proven strategies then scale to partner clinics.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06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Indicative KPI Targets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72000"/>
            <a:ext cx="3474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572000"/>
            <a:ext cx="54864" cy="9601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63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20-30%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20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CPL Reduction (90 days)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572000"/>
            <a:ext cx="3474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4572000"/>
            <a:ext cx="54864" cy="960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4663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Baseline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120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Clinic Benchmarks (Month 3)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4572000"/>
            <a:ext cx="3474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4572000"/>
            <a:ext cx="54864" cy="96012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4663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Weekly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120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Reporting Cadence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ACT — My Competitive 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A proprietary Google Ads optimization engine I built from the ground up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Proprietary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What ACT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00200"/>
            <a:ext cx="530352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00200"/>
            <a:ext cx="54864" cy="47548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733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30+ automated checks  —  </a:t>
            </a:r>
            <a:r>
              <a:rPr sz="1100" b="0">
                <a:solidFill>
                  <a:srgbClr val="1A1A1A"/>
                </a:solidFill>
                <a:latin typeface="Calibri"/>
              </a:rPr>
              <a:t>running overnight across all campaign elements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48840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48840"/>
            <a:ext cx="54864" cy="47548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2219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6 optimization levels  —  </a:t>
            </a:r>
            <a:r>
              <a:rPr sz="1100" b="0">
                <a:solidFill>
                  <a:srgbClr val="1A1A1A"/>
                </a:solidFill>
                <a:latin typeface="Calibri"/>
              </a:rPr>
              <a:t>Account, Campaign, Ad Group, Keyword, Ad, Shopping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97480"/>
            <a:ext cx="530352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697480"/>
            <a:ext cx="54864" cy="47548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7706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7 bid strategy rule sets  —  </a:t>
            </a:r>
            <a:r>
              <a:rPr sz="1100" b="0">
                <a:solidFill>
                  <a:srgbClr val="1A1A1A"/>
                </a:solidFill>
                <a:latin typeface="Calibri"/>
              </a:rPr>
              <a:t>Manual CPC, tCPA, tROAS, Max Conv, Max Clicks, PMax, Shopping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46120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246120"/>
            <a:ext cx="54864" cy="47548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3192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Negative keyword engine  —  </a:t>
            </a:r>
            <a:r>
              <a:rPr sz="1100" b="0">
                <a:solidFill>
                  <a:srgbClr val="1A1A1A"/>
                </a:solidFill>
                <a:latin typeface="Calibri"/>
              </a:rPr>
              <a:t>Auto-sorts into 9 standardised lists by word count + match type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94760"/>
            <a:ext cx="530352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794760"/>
            <a:ext cx="54864" cy="47548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679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Morning review dashboard  —  </a:t>
            </a:r>
            <a:r>
              <a:rPr sz="1100" b="0">
                <a:solidFill>
                  <a:srgbClr val="1A1A1A"/>
                </a:solidFill>
                <a:latin typeface="Calibri"/>
              </a:rPr>
              <a:t>Shows exactly what needs attention — nothing gets missed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343400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343400"/>
            <a:ext cx="54864" cy="47548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4165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Human-in-the-loop  —  </a:t>
            </a:r>
            <a:r>
              <a:rPr sz="1100" b="0">
                <a:solidFill>
                  <a:srgbClr val="1A1A1A"/>
                </a:solidFill>
                <a:latin typeface="Calibri"/>
              </a:rPr>
              <a:t>Every action logged, explainable, and reversible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983480"/>
            <a:ext cx="5303520" cy="100584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0292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"I don't just manage campaigns — I've built a system that continuously optimises them. Your campaigns are being refined 24/7, not just when I log in."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ACT Morning Review Dashboard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1600200"/>
            <a:ext cx="5303520" cy="4389120"/>
          </a:xfrm>
          <a:prstGeom prst="rect">
            <a:avLst/>
          </a:prstGeom>
          <a:solidFill>
            <a:srgbClr val="F5F6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v6-light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91640"/>
            <a:ext cx="5120640" cy="420624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ac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Why Me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1064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097280"/>
            <a:ext cx="54864" cy="8686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1261872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29844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Hands-On Specialist  —  </a:t>
            </a:r>
            <a:r>
              <a:rPr sz="1200" b="0">
                <a:solidFill>
                  <a:srgbClr val="1A1A1A"/>
                </a:solidFill>
                <a:latin typeface="Calibri"/>
              </a:rPr>
              <a:t>Direct access to the person making decisions. No juniors, no delegation.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03120"/>
            <a:ext cx="11064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103120"/>
            <a:ext cx="54864" cy="8686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2267712"/>
            <a:ext cx="411480" cy="4114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30428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Direct Dental &amp; Aesthetics PPC Experience  —  </a:t>
            </a:r>
            <a:r>
              <a:rPr sz="1200" b="0">
                <a:solidFill>
                  <a:srgbClr val="1A1A1A"/>
                </a:solidFill>
                <a:latin typeface="Calibri"/>
              </a:rPr>
              <a:t>I've managed campaigns for cosmetic dental clinics and aesthetic practices.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08960"/>
            <a:ext cx="11064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54864" cy="8686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3273552"/>
            <a:ext cx="411480" cy="41148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Proprietary Optimization Platform (ACT)  —  </a:t>
            </a:r>
            <a:r>
              <a:rPr sz="1200" b="0">
                <a:solidFill>
                  <a:srgbClr val="1A1A1A"/>
                </a:solidFill>
                <a:latin typeface="Calibri"/>
              </a:rPr>
              <a:t>No other candidate has built their own Google Ads optimization engine.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14800"/>
            <a:ext cx="11064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14800"/>
            <a:ext cx="54864" cy="86868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4279392"/>
            <a:ext cx="411480" cy="4114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31596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Proven Audit Methodology  —  </a:t>
            </a:r>
            <a:r>
              <a:rPr sz="1200" b="0">
                <a:solidFill>
                  <a:srgbClr val="1A1A1A"/>
                </a:solidFill>
                <a:latin typeface="Calibri"/>
              </a:rPr>
              <a:t>42.7% waste identified, CPA reduced by 35-48%. Same process I'd run on your account.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20640"/>
            <a:ext cx="11064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120640"/>
            <a:ext cx="54864" cy="8686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5285232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2180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Results-Focused Commercial Thinking  —  </a:t>
            </a:r>
            <a:r>
              <a:rPr sz="1200" b="0">
                <a:solidFill>
                  <a:srgbClr val="1A1A1A"/>
                </a:solidFill>
                <a:latin typeface="Calibri"/>
              </a:rPr>
              <a:t>I measure success by patient bookings, not clicks. Your integrated model is an advantage I know how to use.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280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237E"/>
                </a:solidFill>
                <a:latin typeface="Calibri"/>
              </a:rPr>
              <a:t>NEXT 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54864" cy="914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578608"/>
            <a:ext cx="411480" cy="4114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Grant me access to your Google Ads and Meta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834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Read-only access is all I need to run the full audit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2900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29000"/>
            <a:ext cx="54864" cy="914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3630168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3872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I'll deliver a full audit report within the first week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86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Waste analysis, structure review, and restructure plan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8056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480560"/>
            <a:ext cx="54864" cy="914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4681728"/>
            <a:ext cx="411480" cy="41148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59028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You'll see measurable improvements within 30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9377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Quick wins in week 1, structured optimization months 1-3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48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  <a:latin typeface="Calibri"/>
              </a:rPr>
              <a:t>Ready to Start Immediately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9144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4285F4"/>
                </a:solidFill>
                <a:latin typeface="Calibri"/>
              </a:rPr>
              <a:t>Christopher Hoole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16459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4285F4"/>
                </a:solidFill>
                <a:latin typeface="Calibri"/>
              </a:rPr>
              <a:t>chris@christopherhoole.com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285F4"/>
                </a:solidFill>
                <a:latin typeface="Calibri"/>
              </a:rPr>
              <a:t>christopherhoole.com</a:t>
            </a:r>
          </a:p>
          <a:p>
            <a:r>
              <a:rPr sz="1400" b="0">
                <a:solidFill>
                  <a:srgbClr val="1A1A1A"/>
                </a:solidFill>
                <a:latin typeface="Calibri"/>
              </a:rPr>
              <a:t>+44 7999 500 184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16 Years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Hands-On Experience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4152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74152" y="2926080"/>
            <a:ext cx="54864" cy="10515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1312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Dental PPC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Direct Experience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39528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39528" y="2926080"/>
            <a:ext cx="54864" cy="10515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76688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ACT Engine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6688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Proprietary Platform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206240"/>
            <a:ext cx="5394960" cy="10972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42519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"I don't just manage campaigns. I've built a system to continuously optimise them. I have direct dental PPC experience. And I'm ready to start immediately."
— Christopher Hoole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00800"/>
            <a:ext cx="3047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047695" y="6400800"/>
            <a:ext cx="3047695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95390" y="6400800"/>
            <a:ext cx="3047695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3085" y="6400800"/>
            <a:ext cx="3047695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