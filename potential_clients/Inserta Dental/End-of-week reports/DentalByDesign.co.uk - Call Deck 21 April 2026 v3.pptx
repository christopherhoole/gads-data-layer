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 rot="5400000">
            <a:off x="4733640" y="2171520"/>
            <a:ext cx="5850000" cy="20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 rot="5400000">
            <a:off x="542880" y="189000"/>
            <a:ext cx="5850000" cy="601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6C6E6B-4D41-4E1A-91C8-48760BFC561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6A888E-9DBF-4AA6-AC82-F5BEB08C69F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15A6B1-C770-46C1-A711-17532E4A283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C69052-CB09-413E-9F68-ABD5A816F43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BA0A28-ED35-48C1-9D80-5997F39AA40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8C69AB-69E0-47B6-835F-62C0940E6DB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3A4DE4-58A1-4217-A08C-2B0E6E74415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58C435-8F04-4FC3-A8FF-19EFCE07B55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45E6627-87C8-42C5-888D-9985DA2CFB9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DBFBD8-2CC6-4267-BE8A-C9288E79F49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 rot="5400000">
            <a:off x="2310480" y="-251640"/>
            <a:ext cx="4524480" cy="822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7721C9-5BCF-4805-9E5C-9957F227700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21;p2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22;p2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23;p2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24;p2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25;p2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Highlights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26;p2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27;p2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Since 14 April · 8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28;p2"/>
          <p:cNvSpPr/>
          <p:nvPr/>
        </p:nvSpPr>
        <p:spPr>
          <a:xfrm>
            <a:off x="54864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29;p2"/>
          <p:cNvSpPr/>
          <p:nvPr/>
        </p:nvSpPr>
        <p:spPr>
          <a:xfrm>
            <a:off x="548640" y="1097280"/>
            <a:ext cx="53280" cy="9586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30;p2"/>
          <p:cNvSpPr/>
          <p:nvPr/>
        </p:nvSpPr>
        <p:spPr>
          <a:xfrm>
            <a:off x="73152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£12.3k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31;p2"/>
          <p:cNvSpPr/>
          <p:nvPr/>
        </p:nvSpPr>
        <p:spPr>
          <a:xfrm>
            <a:off x="731520" y="1645920"/>
            <a:ext cx="2284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Spend (14-21 Apr)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32;p2"/>
          <p:cNvSpPr/>
          <p:nvPr/>
        </p:nvSpPr>
        <p:spPr>
          <a:xfrm>
            <a:off x="338328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33;p2"/>
          <p:cNvSpPr/>
          <p:nvPr/>
        </p:nvSpPr>
        <p:spPr>
          <a:xfrm>
            <a:off x="3383280" y="1097280"/>
            <a:ext cx="53280" cy="9586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34;p2"/>
          <p:cNvSpPr/>
          <p:nvPr/>
        </p:nvSpPr>
        <p:spPr>
          <a:xfrm>
            <a:off x="356616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5,000+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35;p2"/>
          <p:cNvSpPr/>
          <p:nvPr/>
        </p:nvSpPr>
        <p:spPr>
          <a:xfrm>
            <a:off x="3566160" y="1645920"/>
            <a:ext cx="2284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Structured negatives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36;p2"/>
          <p:cNvSpPr/>
          <p:nvPr/>
        </p:nvSpPr>
        <p:spPr>
          <a:xfrm>
            <a:off x="621792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37;p2"/>
          <p:cNvSpPr/>
          <p:nvPr/>
        </p:nvSpPr>
        <p:spPr>
          <a:xfrm>
            <a:off x="6217920" y="1097280"/>
            <a:ext cx="53280" cy="9586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38;p2"/>
          <p:cNvSpPr/>
          <p:nvPr/>
        </p:nvSpPr>
        <p:spPr>
          <a:xfrm>
            <a:off x="640080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−62%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39;p2"/>
          <p:cNvSpPr/>
          <p:nvPr/>
        </p:nvSpPr>
        <p:spPr>
          <a:xfrm>
            <a:off x="6400800" y="1645920"/>
            <a:ext cx="2284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PMax CPA day-1 drop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40;p2"/>
          <p:cNvSpPr/>
          <p:nvPr/>
        </p:nvSpPr>
        <p:spPr>
          <a:xfrm>
            <a:off x="905256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41;p2"/>
          <p:cNvSpPr/>
          <p:nvPr/>
        </p:nvSpPr>
        <p:spPr>
          <a:xfrm>
            <a:off x="9052560" y="1097280"/>
            <a:ext cx="53280" cy="9586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42;p2"/>
          <p:cNvSpPr/>
          <p:nvPr/>
        </p:nvSpPr>
        <p:spPr>
          <a:xfrm>
            <a:off x="923544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−49%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43;p2"/>
          <p:cNvSpPr/>
          <p:nvPr/>
        </p:nvSpPr>
        <p:spPr>
          <a:xfrm>
            <a:off x="9235440" y="1645920"/>
            <a:ext cx="2284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Brand CPC drop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44;p2"/>
          <p:cNvSpPr/>
          <p:nvPr/>
        </p:nvSpPr>
        <p:spPr>
          <a:xfrm>
            <a:off x="548640" y="2377440"/>
            <a:ext cx="5484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Two Big Headlines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45;p2"/>
          <p:cNvSpPr/>
          <p:nvPr/>
        </p:nvSpPr>
        <p:spPr>
          <a:xfrm>
            <a:off x="640080" y="2743200"/>
            <a:ext cx="105141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A1A1A"/>
              </a:buClr>
              <a:buFont typeface="OpenSymbol"/>
              <a:buAutoNum type="arabicParenR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CPA is trending in the right direction — PMax dropped from £67 → £25 within 24h of the bid strategy flip (Max Conv Value → Target CPA). CPA did rise again after the strategy adjustment, but now Is trending in theright direction.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Font typeface="OpenSymbol"/>
              <a:buAutoNum type="arabicParenR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CPA and CPC is now significantly reduced.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Font typeface="OpenSymbol"/>
              <a:buAutoNum type="arabicParenR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Freebie &amp; NHS-seeker traffic has been cut off — 5,000+ structured negatives live, 95 more pushed today. Volume of converts is lower by design, lead quality is rising as junk is blocked at auction source.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Font typeface="OpenSymbol"/>
              <a:buAutoNum type="arabicParenR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Reporting caveat: primary-conversion CPA numbers are not fully trusted until the tracking audit completes this week. All-conversion CPL (£24.98 blended) includes verified phone + offline leads.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6;p2"/>
          <p:cNvSpPr/>
          <p:nvPr/>
        </p:nvSpPr>
        <p:spPr>
          <a:xfrm>
            <a:off x="548640" y="5040000"/>
            <a:ext cx="11090160" cy="9478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47;p2"/>
          <p:cNvSpPr/>
          <p:nvPr/>
        </p:nvSpPr>
        <p:spPr>
          <a:xfrm>
            <a:off x="777240" y="5149800"/>
            <a:ext cx="1063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foundation. Week 2 is execution.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Tracking audit, search-term completion, PMax rebuild and landing pages all queued this week. Bespoke LP designs will be with you by Friday for sign-off.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48;p2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49;p2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50;p2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51;p2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53;p2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54;p2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159;p3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60;p3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61;p3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62;p3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63;p3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We Delivered — Week 1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64;p3"/>
          <p:cNvSpPr/>
          <p:nvPr/>
        </p:nvSpPr>
        <p:spPr>
          <a:xfrm>
            <a:off x="548640" y="777240"/>
            <a:ext cx="822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14 – 21 April · 8 calendar days · 40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5;p3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66;p3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68;p3"/>
          <p:cNvSpPr/>
          <p:nvPr/>
        </p:nvSpPr>
        <p:spPr>
          <a:xfrm>
            <a:off x="540000" y="1109880"/>
            <a:ext cx="5887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Major Achievements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70;p3"/>
          <p:cNvSpPr/>
          <p:nvPr/>
        </p:nvSpPr>
        <p:spPr>
          <a:xfrm>
            <a:off x="5727600" y="3960000"/>
            <a:ext cx="5883840" cy="20743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71;p3"/>
          <p:cNvSpPr/>
          <p:nvPr/>
        </p:nvSpPr>
        <p:spPr>
          <a:xfrm>
            <a:off x="5727600" y="3960000"/>
            <a:ext cx="46800" cy="20743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400" tIns="45000" rIns="234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72;p3"/>
          <p:cNvSpPr/>
          <p:nvPr/>
        </p:nvSpPr>
        <p:spPr>
          <a:xfrm>
            <a:off x="5929200" y="4107960"/>
            <a:ext cx="55612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73;p3"/>
          <p:cNvSpPr/>
          <p:nvPr/>
        </p:nvSpPr>
        <p:spPr>
          <a:xfrm>
            <a:off x="5929200" y="4382280"/>
            <a:ext cx="556128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Structured negatives live: 5,000+  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RSAs written: 75 (1,125 headlines, 300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ad groups built: 25  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Keywords added: 537  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Geo targets live: 810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42-cell ad schedule deployed across 3 campaigns 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Negatives pushed today: 95 – over 500 in total.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74;p3"/>
          <p:cNvSpPr/>
          <p:nvPr/>
        </p:nvSpPr>
        <p:spPr>
          <a:xfrm>
            <a:off x="548640" y="3976560"/>
            <a:ext cx="4609800" cy="20577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75;p3"/>
          <p:cNvSpPr/>
          <p:nvPr/>
        </p:nvSpPr>
        <p:spPr>
          <a:xfrm>
            <a:off x="548640" y="3976560"/>
            <a:ext cx="60120" cy="20577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240" tIns="45000" rIns="302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76;p3"/>
          <p:cNvSpPr/>
          <p:nvPr/>
        </p:nvSpPr>
        <p:spPr>
          <a:xfrm>
            <a:off x="720000" y="4046040"/>
            <a:ext cx="3747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Working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77;p3"/>
          <p:cNvSpPr/>
          <p:nvPr/>
        </p:nvSpPr>
        <p:spPr>
          <a:xfrm>
            <a:off x="609840" y="4320000"/>
            <a:ext cx="440280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is trending in the right direction — down from £67 to £25 within 24h of bid change, then increased, now is decreasing in the right direction.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quality is up now that freebie &amp; NHS seekers are blocked at auction source.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printing - 100% impression share, £1.61 CPC, £11.29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Search still needs work — tracking audit + bespoke LPs are this week's focus.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78;p3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79;p3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80;p3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81;p3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183;p3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84;p3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52"/>
          <p:cNvSpPr/>
          <p:nvPr/>
        </p:nvSpPr>
        <p:spPr>
          <a:xfrm>
            <a:off x="552600" y="1476360"/>
            <a:ext cx="11029680" cy="21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PMax bid strategy flipped (Max Conv Value → Target CPA £60) — CPA −62% day-1, then increased, now is decreasing in the right direction.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Brand rebuilt end-to-end: Target IS 100% + £1.50 max CPC cap — CPC −49%, CPA trending down.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Dental Implants Intent rebuilt: 25 new ad groups, 537 keywords, 75 RSAs (1,125 headlines)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Negative keyword structure: 2,192 loose → 5,000+ organised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Deep audit unblocked 173 self-blocked terms (zirconia £9,990–15,990 premium, "same day teeth" USP, Hammersmith catchment)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266-postcode Greater London geo master list replaces loose 25-mile radius (was stretching to Reading/Romford)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Google auto-apply recommendations disabled account-wide — no more silent strategy reversals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Website USP audit delivered; 2 live policy/accuracy risks flagged (free consult messaging, 25+ yrs claim)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95 further wasted queries pushed as negatives today — Services, but not advertised - invisalign, veneers, whitening, bonding, bridges, crowns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380;p10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381;p10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382;p10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383;p10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384;p10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You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385;p10"/>
          <p:cNvSpPr/>
          <p:nvPr/>
        </p:nvSpPr>
        <p:spPr>
          <a:xfrm>
            <a:off x="548640" y="777240"/>
            <a:ext cx="822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Two clarifications to sharpen strategy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386;p10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387;p10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388;p10"/>
          <p:cNvSpPr/>
          <p:nvPr/>
        </p:nvSpPr>
        <p:spPr>
          <a:xfrm>
            <a:off x="548640" y="1097280"/>
            <a:ext cx="530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392;p10"/>
          <p:cNvSpPr/>
          <p:nvPr/>
        </p:nvSpPr>
        <p:spPr>
          <a:xfrm>
            <a:off x="548640" y="4541040"/>
            <a:ext cx="5302080" cy="164448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393;p10"/>
          <p:cNvSpPr/>
          <p:nvPr/>
        </p:nvSpPr>
        <p:spPr>
          <a:xfrm>
            <a:off x="548640" y="4541040"/>
            <a:ext cx="53640" cy="1644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394;p10"/>
          <p:cNvSpPr/>
          <p:nvPr/>
        </p:nvSpPr>
        <p:spPr>
          <a:xfrm>
            <a:off x="777240" y="4632480"/>
            <a:ext cx="49363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Steps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395;p10"/>
          <p:cNvSpPr/>
          <p:nvPr/>
        </p:nvSpPr>
        <p:spPr>
          <a:xfrm>
            <a:off x="777240" y="4906800"/>
            <a:ext cx="493632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Today's call covers these 2 questions + any of yours.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2 plan locks in after this call — see next slide for priorities.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396;p10"/>
          <p:cNvSpPr/>
          <p:nvPr/>
        </p:nvSpPr>
        <p:spPr>
          <a:xfrm>
            <a:off x="6217920" y="4541040"/>
            <a:ext cx="5393520" cy="164448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397;p10"/>
          <p:cNvSpPr/>
          <p:nvPr/>
        </p:nvSpPr>
        <p:spPr>
          <a:xfrm>
            <a:off x="6217920" y="4541040"/>
            <a:ext cx="53640" cy="1644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398;p10"/>
          <p:cNvSpPr/>
          <p:nvPr/>
        </p:nvSpPr>
        <p:spPr>
          <a:xfrm>
            <a:off x="6446520" y="4632480"/>
            <a:ext cx="5027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399;p10"/>
          <p:cNvSpPr/>
          <p:nvPr/>
        </p:nvSpPr>
        <p:spPr>
          <a:xfrm>
            <a:off x="6446520" y="4906800"/>
            <a:ext cx="50277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bridge question unlocks potential new service traffic we're currently blocking.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A1A1A"/>
              </a:buClr>
              <a:buSzPct val="45000"/>
              <a:buFont typeface="Wingdings" charset="2"/>
              <a:buChar char="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quality feedback tells us if negatives are working as intended — or over-blocking.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400;p10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401;p10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402;p10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403;p10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405;p10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406;p10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40"/>
          <p:cNvSpPr/>
          <p:nvPr/>
        </p:nvSpPr>
        <p:spPr>
          <a:xfrm>
            <a:off x="619200" y="1476360"/>
            <a:ext cx="11048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400" b="1" u="none" strike="noStrike">
                <a:solidFill>
                  <a:srgbClr val="EA4335"/>
                </a:solidFill>
                <a:effectLst/>
                <a:uFillTx/>
                <a:latin typeface="Calibri"/>
              </a:rPr>
              <a:t>1.  Bridges — what's the difference between a standard dental bridge and a Vivo bridge?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41"/>
          <p:cNvSpPr/>
          <p:nvPr/>
        </p:nvSpPr>
        <p:spPr>
          <a:xfrm>
            <a:off x="809640" y="1857240"/>
            <a:ext cx="108583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2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We're currently blocking all "bridge" search terms as out-of-scope. If Vivo bridges are a service you want to advertise, we split them out from generic bridge negatives and open targeted traffic.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42"/>
          <p:cNvSpPr/>
          <p:nvPr/>
        </p:nvSpPr>
        <p:spPr>
          <a:xfrm>
            <a:off x="619200" y="2762280"/>
            <a:ext cx="11048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400" b="1" u="none" strike="noStrike">
                <a:solidFill>
                  <a:srgbClr val="EA4335"/>
                </a:solidFill>
                <a:effectLst/>
                <a:uFillTx/>
                <a:latin typeface="Calibri"/>
              </a:rPr>
              <a:t>2.  Lead quality since negatives rolled out — what are you seeing from your side?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43"/>
          <p:cNvSpPr/>
          <p:nvPr/>
        </p:nvSpPr>
        <p:spPr>
          <a:xfrm>
            <a:off x="809640" y="3143160"/>
            <a:ext cx="108583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2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Volume will be lower by design (we've blocked freebie + NHS seekers). Early signal on consultation show-rate, treatment value, or close rate from your team?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411;p11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412;p11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413;p11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414;p11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415;p11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This Week's Priorities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416;p11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417;p11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2 · Execution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418;p11"/>
          <p:cNvSpPr/>
          <p:nvPr/>
        </p:nvSpPr>
        <p:spPr>
          <a:xfrm>
            <a:off x="548640" y="1097280"/>
            <a:ext cx="3473280" cy="4184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419;p11"/>
          <p:cNvSpPr/>
          <p:nvPr/>
        </p:nvSpPr>
        <p:spPr>
          <a:xfrm>
            <a:off x="548640" y="1097280"/>
            <a:ext cx="53640" cy="4184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420;p11"/>
          <p:cNvSpPr/>
          <p:nvPr/>
        </p:nvSpPr>
        <p:spPr>
          <a:xfrm>
            <a:off x="731520" y="1234440"/>
            <a:ext cx="3107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Finish Search Term Project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421;p11"/>
          <p:cNvSpPr/>
          <p:nvPr/>
        </p:nvSpPr>
        <p:spPr>
          <a:xfrm>
            <a:off x="720000" y="1645920"/>
            <a:ext cx="3238920" cy="25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Push remaining automated negatives (Leak-exact 71, Leak-phrase 55, Outside area 5, plus manual review of ~166 ambiguous). Complete Pass 3 phrase-suggestion rollout for ongoing protection.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422;p11"/>
          <p:cNvSpPr/>
          <p:nvPr/>
        </p:nvSpPr>
        <p:spPr>
          <a:xfrm>
            <a:off x="4297680" y="1097280"/>
            <a:ext cx="3473280" cy="4184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423;p11"/>
          <p:cNvSpPr/>
          <p:nvPr/>
        </p:nvSpPr>
        <p:spPr>
          <a:xfrm>
            <a:off x="4297680" y="1097280"/>
            <a:ext cx="53640" cy="4184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424;p11"/>
          <p:cNvSpPr/>
          <p:nvPr/>
        </p:nvSpPr>
        <p:spPr>
          <a:xfrm>
            <a:off x="4480560" y="1234440"/>
            <a:ext cx="3107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2.  Rebuild &amp; Improve PMax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425;p11"/>
          <p:cNvSpPr/>
          <p:nvPr/>
        </p:nvSpPr>
        <p:spPr>
          <a:xfrm>
            <a:off x="4480560" y="1645920"/>
            <a:ext cx="3107520" cy="25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Review asset group performance, tune audience signals, audit shopping feed integration, optimise creative mix. Target: sustain the CPA drop and drive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426;p11"/>
          <p:cNvSpPr/>
          <p:nvPr/>
        </p:nvSpPr>
        <p:spPr>
          <a:xfrm>
            <a:off x="8046720" y="1097280"/>
            <a:ext cx="3564720" cy="4184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427;p11"/>
          <p:cNvSpPr/>
          <p:nvPr/>
        </p:nvSpPr>
        <p:spPr>
          <a:xfrm>
            <a:off x="8046720" y="1097280"/>
            <a:ext cx="53640" cy="4184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428;p11"/>
          <p:cNvSpPr/>
          <p:nvPr/>
        </p:nvSpPr>
        <p:spPr>
          <a:xfrm>
            <a:off x="8229600" y="1234440"/>
            <a:ext cx="3198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3.  Full Tracking &amp; LP Work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429;p11"/>
          <p:cNvSpPr/>
          <p:nvPr/>
        </p:nvSpPr>
        <p:spPr>
          <a:xfrm>
            <a:off x="8229600" y="1645920"/>
            <a:ext cx="3198960" cy="16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End-to-end tracking audit (form submits, phone, offline leads). Then bespoke LP designs for all Implant services — with you by Friday for sign-off. LP build follows tracking.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430;p11"/>
          <p:cNvSpPr/>
          <p:nvPr/>
        </p:nvSpPr>
        <p:spPr>
          <a:xfrm>
            <a:off x="548640" y="5760000"/>
            <a:ext cx="11062800" cy="4424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431;p11"/>
          <p:cNvSpPr/>
          <p:nvPr/>
        </p:nvSpPr>
        <p:spPr>
          <a:xfrm>
            <a:off x="741240" y="5739840"/>
            <a:ext cx="10605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Sequence matters: search-term cleanup → PMax optimisation → tracking audit → LP designs for sign-off → LP build.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LPs come AFTER the structural work. You'll have LP designs for sign-off by Friday.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432;p11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433;p11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434;p11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435;p11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Google Shape;437;p11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438;p11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cp:lastPrinted>2026-04-21T14:56:54Z</cp:lastPrinted>
  <dcterms:modified xsi:type="dcterms:W3CDTF">2026-04-21T15:00:19Z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