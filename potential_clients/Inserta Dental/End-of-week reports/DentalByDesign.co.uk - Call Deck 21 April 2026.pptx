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_TITLE_AND_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 rot="5400000">
            <a:off x="4733640" y="2171520"/>
            <a:ext cx="5850000" cy="205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 rot="5400000">
            <a:off x="542880" y="189000"/>
            <a:ext cx="5850000" cy="6018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900E140-2A15-42EC-883D-1002D9500D8A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B9D9B2A-0B25-4A96-8E43-978CAF50CF3E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OBJEC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4E60532-412A-428C-9EF1-465C64233E71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0D866FEA-FDC8-4662-BE7E-D78947ABB189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_OBJEC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064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808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556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PlaceHolder 6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5773D27-C82E-40BE-BB84-A62D4A2110CF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WO_OBJECTS_WITH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70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808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556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3012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3012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6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7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8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208C6F8E-62F0-48E0-994D-89F89EB7792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971B902-B862-44AD-AEFA-48ECC652E3AC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BJECT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92500" lnSpcReduction="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43164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40644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808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556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556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5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9B7A4677-C26D-4896-A8AB-E222092221D6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_WITH_CAPTION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 fontScale="25000" lnSpcReduction="19999"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2286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2286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2286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2286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2286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778C1F20-CE4F-4F6A-85AF-D2137D3C149B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ACBF11A5-3F24-4DD4-91F4-AAD550FCA180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00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00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VERTICAL_TEX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GB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 rot="5400000">
            <a:off x="2310480" y="-251640"/>
            <a:ext cx="4524480" cy="8228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57200" indent="-343080" algn="l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914400" lvl="1" indent="-343080" algn="l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371600" lvl="2" indent="-343080" algn="l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28800" lvl="3" indent="-343080" algn="l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0" lvl="4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43200" lvl="5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200400" lvl="6" indent="-343080" algn="l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GB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GB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52AEAFE4-190C-41F3-97A2-D9AEB4EE4204}" type="slidenum">
              <a:rPr lang="en-US" sz="1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&lt;number&gt;</a:t>
            </a:fld>
            <a:endParaRPr lang="en-GB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121;p2"/>
          <p:cNvSpPr/>
          <p:nvPr/>
        </p:nvSpPr>
        <p:spPr>
          <a:xfrm>
            <a:off x="0" y="0"/>
            <a:ext cx="3046320" cy="53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Google Shape;122;p2"/>
          <p:cNvSpPr/>
          <p:nvPr/>
        </p:nvSpPr>
        <p:spPr>
          <a:xfrm>
            <a:off x="3047760" y="0"/>
            <a:ext cx="3046320" cy="53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Google Shape;123;p2"/>
          <p:cNvSpPr/>
          <p:nvPr/>
        </p:nvSpPr>
        <p:spPr>
          <a:xfrm>
            <a:off x="6095520" y="0"/>
            <a:ext cx="3046320" cy="53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Google Shape;124;p2"/>
          <p:cNvSpPr/>
          <p:nvPr/>
        </p:nvSpPr>
        <p:spPr>
          <a:xfrm>
            <a:off x="9142920" y="0"/>
            <a:ext cx="3046320" cy="53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Google Shape;125;p2"/>
          <p:cNvSpPr/>
          <p:nvPr/>
        </p:nvSpPr>
        <p:spPr>
          <a:xfrm>
            <a:off x="548640" y="274320"/>
            <a:ext cx="6399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Week 1 Highlights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Google Shape;126;p2"/>
          <p:cNvSpPr/>
          <p:nvPr/>
        </p:nvSpPr>
        <p:spPr>
          <a:xfrm>
            <a:off x="8348400" y="274320"/>
            <a:ext cx="3290400" cy="41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Google Shape;127;p2"/>
          <p:cNvSpPr/>
          <p:nvPr/>
        </p:nvSpPr>
        <p:spPr>
          <a:xfrm>
            <a:off x="8439840" y="292680"/>
            <a:ext cx="3107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Since 14 April · 8 days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Google Shape;128;p2"/>
          <p:cNvSpPr/>
          <p:nvPr/>
        </p:nvSpPr>
        <p:spPr>
          <a:xfrm>
            <a:off x="548640" y="1097280"/>
            <a:ext cx="2558880" cy="95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Google Shape;129;p2"/>
          <p:cNvSpPr/>
          <p:nvPr/>
        </p:nvSpPr>
        <p:spPr>
          <a:xfrm>
            <a:off x="548640" y="1097280"/>
            <a:ext cx="53280" cy="9586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6640" tIns="45000" rIns="2664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Google Shape;130;p2"/>
          <p:cNvSpPr/>
          <p:nvPr/>
        </p:nvSpPr>
        <p:spPr>
          <a:xfrm>
            <a:off x="731520" y="1188720"/>
            <a:ext cx="22845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£12.3k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Google Shape;131;p2"/>
          <p:cNvSpPr/>
          <p:nvPr/>
        </p:nvSpPr>
        <p:spPr>
          <a:xfrm>
            <a:off x="731520" y="1645920"/>
            <a:ext cx="2284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Spend (14-21 Apr)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Google Shape;132;p2"/>
          <p:cNvSpPr/>
          <p:nvPr/>
        </p:nvSpPr>
        <p:spPr>
          <a:xfrm>
            <a:off x="3383280" y="1097280"/>
            <a:ext cx="2558880" cy="95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Google Shape;133;p2"/>
          <p:cNvSpPr/>
          <p:nvPr/>
        </p:nvSpPr>
        <p:spPr>
          <a:xfrm>
            <a:off x="3383280" y="1097280"/>
            <a:ext cx="53280" cy="9586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6640" tIns="45000" rIns="2664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Google Shape;134;p2"/>
          <p:cNvSpPr/>
          <p:nvPr/>
        </p:nvSpPr>
        <p:spPr>
          <a:xfrm>
            <a:off x="3566160" y="1188720"/>
            <a:ext cx="22845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5,000+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Google Shape;135;p2"/>
          <p:cNvSpPr/>
          <p:nvPr/>
        </p:nvSpPr>
        <p:spPr>
          <a:xfrm>
            <a:off x="3566160" y="1645920"/>
            <a:ext cx="228456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Structured negatives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Google Shape;136;p2"/>
          <p:cNvSpPr/>
          <p:nvPr/>
        </p:nvSpPr>
        <p:spPr>
          <a:xfrm>
            <a:off x="6217920" y="1097280"/>
            <a:ext cx="2558880" cy="95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Google Shape;137;p2"/>
          <p:cNvSpPr/>
          <p:nvPr/>
        </p:nvSpPr>
        <p:spPr>
          <a:xfrm>
            <a:off x="6217920" y="1097280"/>
            <a:ext cx="53280" cy="9586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6640" tIns="45000" rIns="2664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Google Shape;138;p2"/>
          <p:cNvSpPr/>
          <p:nvPr/>
        </p:nvSpPr>
        <p:spPr>
          <a:xfrm>
            <a:off x="6400800" y="1188720"/>
            <a:ext cx="22845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−62%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Google Shape;139;p2"/>
          <p:cNvSpPr/>
          <p:nvPr/>
        </p:nvSpPr>
        <p:spPr>
          <a:xfrm>
            <a:off x="6400800" y="1645920"/>
            <a:ext cx="228456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PMax CPA day-1 drop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Google Shape;140;p2"/>
          <p:cNvSpPr/>
          <p:nvPr/>
        </p:nvSpPr>
        <p:spPr>
          <a:xfrm>
            <a:off x="9052560" y="1097280"/>
            <a:ext cx="2558880" cy="9586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Google Shape;141;p2"/>
          <p:cNvSpPr/>
          <p:nvPr/>
        </p:nvSpPr>
        <p:spPr>
          <a:xfrm>
            <a:off x="9052560" y="1097280"/>
            <a:ext cx="53280" cy="9586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6640" tIns="45000" rIns="2664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Google Shape;142;p2"/>
          <p:cNvSpPr/>
          <p:nvPr/>
        </p:nvSpPr>
        <p:spPr>
          <a:xfrm>
            <a:off x="9235440" y="1188720"/>
            <a:ext cx="22845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−49%</a:t>
            </a:r>
            <a:endParaRPr lang="en-GB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Google Shape;143;p2"/>
          <p:cNvSpPr/>
          <p:nvPr/>
        </p:nvSpPr>
        <p:spPr>
          <a:xfrm>
            <a:off x="9235440" y="1645920"/>
            <a:ext cx="22845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Calibri"/>
              </a:rPr>
              <a:t>Brand CPC drop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Google Shape;144;p2"/>
          <p:cNvSpPr/>
          <p:nvPr/>
        </p:nvSpPr>
        <p:spPr>
          <a:xfrm>
            <a:off x="548640" y="2377440"/>
            <a:ext cx="5484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Two Big Headlines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Google Shape;145;p2"/>
          <p:cNvSpPr/>
          <p:nvPr/>
        </p:nvSpPr>
        <p:spPr>
          <a:xfrm>
            <a:off x="640080" y="2743200"/>
            <a:ext cx="1051416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1.  CPA is trending in the right direction — PMax dropped from £67 → £25 within 24h of the bid strategy flip, it  (Max Conv Value → Target CPA). Brand CPA is now £11.29 (was £60+ pre-engagement).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2.  Freebie &amp; NHS-seeker traffic has been cut off — 5,000+ structured negatives live, 95 more pushed today. Volume of converts is lower by design, lead quality is rising as junk is blocked at auction source.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Reporting caveat: primary-conversion CPA numbers are not fully trusted until the tracking audit completes this week. All-conversion CPL (£29.50 blended) includes verified phone + offline leads.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Google Shape;146;p2"/>
          <p:cNvSpPr/>
          <p:nvPr/>
        </p:nvSpPr>
        <p:spPr>
          <a:xfrm>
            <a:off x="548640" y="5040000"/>
            <a:ext cx="11090160" cy="94788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Google Shape;147;p2"/>
          <p:cNvSpPr/>
          <p:nvPr/>
        </p:nvSpPr>
        <p:spPr>
          <a:xfrm>
            <a:off x="777240" y="5149800"/>
            <a:ext cx="106329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spAutoFit/>
          </a:bodyPr>
          <a:p>
            <a:pPr>
              <a:lnSpc>
                <a:spcPct val="100000"/>
              </a:lnSpc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Week 1 was foundation. Week 2 is execution.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Arial"/>
              </a:rPr>
              <a:t>Tracking audit, search-term completion, PMax rebuild and landing pages all queued this week. Bespoke LP designs will be with you by Friday for sign-off.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Google Shape;148;p2"/>
          <p:cNvSpPr/>
          <p:nvPr/>
        </p:nvSpPr>
        <p:spPr>
          <a:xfrm>
            <a:off x="548640" y="6327720"/>
            <a:ext cx="2769120" cy="259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149;p2"/>
          <p:cNvSpPr/>
          <p:nvPr/>
        </p:nvSpPr>
        <p:spPr>
          <a:xfrm>
            <a:off x="3319200" y="6327720"/>
            <a:ext cx="2769120" cy="259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Google Shape;150;p2"/>
          <p:cNvSpPr/>
          <p:nvPr/>
        </p:nvSpPr>
        <p:spPr>
          <a:xfrm>
            <a:off x="6099120" y="6327720"/>
            <a:ext cx="2769120" cy="2592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Google Shape;151;p2"/>
          <p:cNvSpPr/>
          <p:nvPr/>
        </p:nvSpPr>
        <p:spPr>
          <a:xfrm>
            <a:off x="8869680" y="6327720"/>
            <a:ext cx="2769120" cy="259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92" name="Google Shape;152;p2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Google Shape;153;p2"/>
          <p:cNvSpPr/>
          <p:nvPr/>
        </p:nvSpPr>
        <p:spPr>
          <a:xfrm>
            <a:off x="822960" y="6400800"/>
            <a:ext cx="5484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Google Shape;154;p2"/>
          <p:cNvSpPr/>
          <p:nvPr/>
        </p:nvSpPr>
        <p:spPr>
          <a:xfrm>
            <a:off x="11183040" y="640080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1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159;p3"/>
          <p:cNvSpPr/>
          <p:nvPr/>
        </p:nvSpPr>
        <p:spPr>
          <a:xfrm>
            <a:off x="0" y="0"/>
            <a:ext cx="3046320" cy="53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Google Shape;160;p3"/>
          <p:cNvSpPr/>
          <p:nvPr/>
        </p:nvSpPr>
        <p:spPr>
          <a:xfrm>
            <a:off x="3047760" y="0"/>
            <a:ext cx="3046320" cy="53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Google Shape;161;p3"/>
          <p:cNvSpPr/>
          <p:nvPr/>
        </p:nvSpPr>
        <p:spPr>
          <a:xfrm>
            <a:off x="6095520" y="0"/>
            <a:ext cx="3046320" cy="53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Google Shape;162;p3"/>
          <p:cNvSpPr/>
          <p:nvPr/>
        </p:nvSpPr>
        <p:spPr>
          <a:xfrm>
            <a:off x="9142920" y="0"/>
            <a:ext cx="3046320" cy="53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Google Shape;163;p3"/>
          <p:cNvSpPr/>
          <p:nvPr/>
        </p:nvSpPr>
        <p:spPr>
          <a:xfrm>
            <a:off x="548640" y="274320"/>
            <a:ext cx="6399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What We Delivered — Week 1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Google Shape;164;p3"/>
          <p:cNvSpPr/>
          <p:nvPr/>
        </p:nvSpPr>
        <p:spPr>
          <a:xfrm>
            <a:off x="548640" y="777240"/>
            <a:ext cx="822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14 – 21 April · 8 calendar days · ~40 hours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Google Shape;165;p3"/>
          <p:cNvSpPr/>
          <p:nvPr/>
        </p:nvSpPr>
        <p:spPr>
          <a:xfrm>
            <a:off x="8348400" y="274320"/>
            <a:ext cx="3290400" cy="41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Google Shape;166;p3"/>
          <p:cNvSpPr/>
          <p:nvPr/>
        </p:nvSpPr>
        <p:spPr>
          <a:xfrm>
            <a:off x="8439840" y="292680"/>
            <a:ext cx="3107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Foundation Week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Google Shape;168;p3"/>
          <p:cNvSpPr/>
          <p:nvPr/>
        </p:nvSpPr>
        <p:spPr>
          <a:xfrm>
            <a:off x="540000" y="1109880"/>
            <a:ext cx="588744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Major Achievements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4" name="Google Shape;169;p3"/>
          <p:cNvGraphicFramePr/>
          <p:nvPr/>
        </p:nvGraphicFramePr>
        <p:xfrm>
          <a:off x="540000" y="1417320"/>
          <a:ext cx="11074680" cy="2378160"/>
        </p:xfrm>
        <a:graphic>
          <a:graphicData uri="http://schemas.openxmlformats.org/drawingml/2006/table">
            <a:tbl>
              <a:tblPr/>
              <a:tblGrid>
                <a:gridCol w="1487160"/>
                <a:gridCol w="2237040"/>
                <a:gridCol w="3948120"/>
                <a:gridCol w="3402720"/>
              </a:tblGrid>
              <a:tr h="33048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Day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Focus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Output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Impact</a:t>
                      </a:r>
                      <a:endParaRPr lang="en-GB" sz="12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Tue 14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Negatives Overhaul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2,192 → ~4,000+ across 11 lists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~£63k waste blocked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Wed 15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Account-Wide Reset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Brand · PMax tCPA £60 · DII tCPA £75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Controllable bid targets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Thu 16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DII Rebuild (Part 1)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20 AGs · 537 keywords · 60 RSAs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Patient-intent structure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5119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Fri 17 Apr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Audit + Completion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173 DBD-blockers removed · AG21-25 built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2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Campaign 25/25 complete</a:t>
                      </a:r>
                      <a:endParaRPr lang="en-GB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5" name="Google Shape;170;p3"/>
          <p:cNvSpPr/>
          <p:nvPr/>
        </p:nvSpPr>
        <p:spPr>
          <a:xfrm>
            <a:off x="5727600" y="4160520"/>
            <a:ext cx="5883840" cy="187380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Google Shape;171;p3"/>
          <p:cNvSpPr/>
          <p:nvPr/>
        </p:nvSpPr>
        <p:spPr>
          <a:xfrm>
            <a:off x="5727600" y="4160520"/>
            <a:ext cx="46800" cy="187380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3400" tIns="45000" rIns="234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Google Shape;172;p3"/>
          <p:cNvSpPr/>
          <p:nvPr/>
        </p:nvSpPr>
        <p:spPr>
          <a:xfrm>
            <a:off x="5929200" y="4251960"/>
            <a:ext cx="556128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Running Totals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Google Shape;173;p3"/>
          <p:cNvSpPr/>
          <p:nvPr/>
        </p:nvSpPr>
        <p:spPr>
          <a:xfrm>
            <a:off x="5929200" y="4526280"/>
            <a:ext cx="5561280" cy="86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Structured negatives live: 5,000+   ·   RSAs written: 75 (1,125 headlines, 300 descriptions)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New ad groups built: 25   ·   Keywords added: 537   ·   Geo targets live: 810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42-cell ad schedule deployed across 3 campaigns   ·   Negatives pushed today: 95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Google Shape;174;p3"/>
          <p:cNvSpPr/>
          <p:nvPr/>
        </p:nvSpPr>
        <p:spPr>
          <a:xfrm>
            <a:off x="548640" y="3976560"/>
            <a:ext cx="4609800" cy="2057760"/>
          </a:xfrm>
          <a:prstGeom prst="rect">
            <a:avLst/>
          </a:prstGeom>
          <a:solidFill>
            <a:srgbClr val="E6F4EA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Google Shape;175;p3"/>
          <p:cNvSpPr/>
          <p:nvPr/>
        </p:nvSpPr>
        <p:spPr>
          <a:xfrm>
            <a:off x="548640" y="3976560"/>
            <a:ext cx="60120" cy="205776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30240" tIns="45000" rIns="3024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Google Shape;176;p3"/>
          <p:cNvSpPr/>
          <p:nvPr/>
        </p:nvSpPr>
        <p:spPr>
          <a:xfrm>
            <a:off x="720000" y="4046040"/>
            <a:ext cx="374760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What's Working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Google Shape;177;p3"/>
          <p:cNvSpPr/>
          <p:nvPr/>
        </p:nvSpPr>
        <p:spPr>
          <a:xfrm>
            <a:off x="609840" y="4320000"/>
            <a:ext cx="4402800" cy="163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PMax CPA is trending in the right direction — down from £67 to £25 within 24h of bid change.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Lead quality is up now that freebie &amp; NHS seekers are blocked at auction source.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Brand is printing — 100% impression share, £1.61 CPC, £11.29 CPA.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Search still needs work — tracking audit + bespoke LPs are this week's focus.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Google Shape;178;p3"/>
          <p:cNvSpPr/>
          <p:nvPr/>
        </p:nvSpPr>
        <p:spPr>
          <a:xfrm>
            <a:off x="548640" y="6327720"/>
            <a:ext cx="2769120" cy="259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Google Shape;179;p3"/>
          <p:cNvSpPr/>
          <p:nvPr/>
        </p:nvSpPr>
        <p:spPr>
          <a:xfrm>
            <a:off x="3319200" y="6327720"/>
            <a:ext cx="2769120" cy="259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Google Shape;180;p3"/>
          <p:cNvSpPr/>
          <p:nvPr/>
        </p:nvSpPr>
        <p:spPr>
          <a:xfrm>
            <a:off x="6099120" y="6327720"/>
            <a:ext cx="2769120" cy="2592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Google Shape;181;p3"/>
          <p:cNvSpPr/>
          <p:nvPr/>
        </p:nvSpPr>
        <p:spPr>
          <a:xfrm>
            <a:off x="8869680" y="6327720"/>
            <a:ext cx="2769120" cy="259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Google Shape;182;p3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Google Shape;183;p3"/>
          <p:cNvSpPr/>
          <p:nvPr/>
        </p:nvSpPr>
        <p:spPr>
          <a:xfrm>
            <a:off x="822960" y="6400800"/>
            <a:ext cx="5484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Google Shape;184;p3"/>
          <p:cNvSpPr/>
          <p:nvPr/>
        </p:nvSpPr>
        <p:spPr>
          <a:xfrm>
            <a:off x="11183040" y="640080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2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152"/>
          <p:cNvSpPr/>
          <p:nvPr/>
        </p:nvSpPr>
        <p:spPr>
          <a:xfrm>
            <a:off x="552600" y="1447920"/>
            <a:ext cx="11029680" cy="247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tIns="79920" rIns="11988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PMax bid strategy flipped (Max Conv Value → Target CPA £60) — CPA −62% day-1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Brand rebuilt end-to-end: Target IS 90% + £1.50 max CPC cap — CPC −49%, CPA £11.29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Dental Implants Intent rebuilt: 25 new ad groups, 537 keywords, 75 RSAs (1,125 headlines)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Negative keyword structure: 2,192 loose → 5,000+ organised across 11 shared lists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Deep audit unblocked 173 self-blocked terms (zirconia £9,990–15,990 premium, "same day teeth" USP, Hammersmith catchment)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266-postcode Greater London geo master list replaces loose 25-mile radius (was stretching to Reading/Romford)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Google auto-apply recommendations disabled account-wide — no more silent strategy reversals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Website USP audit delivered; 2 live policy/accuracy risks flagged (free consult messaging, 25+ yrs claim)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•  95 further wasted queries pushed as negatives today — invisalign, veneers, whitening, bonding, bridges, crowns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380;p10"/>
          <p:cNvSpPr/>
          <p:nvPr/>
        </p:nvSpPr>
        <p:spPr>
          <a:xfrm>
            <a:off x="0" y="0"/>
            <a:ext cx="3046320" cy="53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Google Shape;381;p10"/>
          <p:cNvSpPr/>
          <p:nvPr/>
        </p:nvSpPr>
        <p:spPr>
          <a:xfrm>
            <a:off x="3047760" y="0"/>
            <a:ext cx="3046320" cy="53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Google Shape;382;p10"/>
          <p:cNvSpPr/>
          <p:nvPr/>
        </p:nvSpPr>
        <p:spPr>
          <a:xfrm>
            <a:off x="6095520" y="0"/>
            <a:ext cx="3046320" cy="53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Google Shape;383;p10"/>
          <p:cNvSpPr/>
          <p:nvPr/>
        </p:nvSpPr>
        <p:spPr>
          <a:xfrm>
            <a:off x="9142920" y="0"/>
            <a:ext cx="3046320" cy="53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Google Shape;384;p10"/>
          <p:cNvSpPr/>
          <p:nvPr/>
        </p:nvSpPr>
        <p:spPr>
          <a:xfrm>
            <a:off x="548640" y="274320"/>
            <a:ext cx="6399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Questions for You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Google Shape;385;p10"/>
          <p:cNvSpPr/>
          <p:nvPr/>
        </p:nvSpPr>
        <p:spPr>
          <a:xfrm>
            <a:off x="548640" y="777240"/>
            <a:ext cx="822816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Two clarifications to sharpen strategy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Google Shape;386;p10"/>
          <p:cNvSpPr/>
          <p:nvPr/>
        </p:nvSpPr>
        <p:spPr>
          <a:xfrm>
            <a:off x="8348400" y="274320"/>
            <a:ext cx="3290400" cy="41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Google Shape;387;p10"/>
          <p:cNvSpPr/>
          <p:nvPr/>
        </p:nvSpPr>
        <p:spPr>
          <a:xfrm>
            <a:off x="8439840" y="292680"/>
            <a:ext cx="3107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Your Input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Google Shape;388;p10"/>
          <p:cNvSpPr/>
          <p:nvPr/>
        </p:nvSpPr>
        <p:spPr>
          <a:xfrm>
            <a:off x="548640" y="1097280"/>
            <a:ext cx="5302080" cy="27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Questions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30" name="Google Shape;389;p10"/>
          <p:cNvGraphicFramePr/>
          <p:nvPr/>
        </p:nvGraphicFramePr>
        <p:xfrm>
          <a:off x="603720" y="1417320"/>
          <a:ext cx="11095920" cy="2698920"/>
        </p:xfrm>
        <a:graphic>
          <a:graphicData uri="http://schemas.openxmlformats.org/drawingml/2006/table">
            <a:tbl>
              <a:tblPr/>
              <a:tblGrid>
                <a:gridCol w="2861640"/>
                <a:gridCol w="5709240"/>
                <a:gridCol w="2525400"/>
              </a:tblGrid>
              <a:tr h="27000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Question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Calibri"/>
                        </a:rPr>
                        <a:t>Why It Matters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Answer Needed By</a:t>
                      </a:r>
                      <a:endParaRPr lang="en-GB" sz="10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38160">
                      <a:solidFill>
                        <a:srgbClr val="FFFFFF"/>
                      </a:solidFill>
                      <a:prstDash val="solid"/>
                    </a:lnB>
                    <a:solidFill>
                      <a:srgbClr val="1A237E"/>
                    </a:solidFill>
                  </a:tcPr>
                </a:tc>
              </a:tr>
              <a:tr h="60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What is your target monthly ad spend?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Weekly spend fluctuated £8k-£17k over 8 weeks. Target budget drives bid and budget decisions.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60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What is your target weekly ad spend?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Weekly consistency drives campaign pacing. Current daily budgets sum to ~£14k/week but actual is ~£8.5k.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32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Is there a hard monthly ceiling?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Prevents overspend and informs daily budget caps across 3 campaigns.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Mon 20 Apr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  <a:tr h="606960"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Priority service: single or double arch?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Higher-margin service should carry higher bid caps and budget share.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 anchor="t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GB" sz="1000" b="0" u="none" strike="noStrike">
                          <a:solidFill>
                            <a:srgbClr val="1A1A1A"/>
                          </a:solidFill>
                          <a:effectLst/>
                          <a:uFillTx/>
                          <a:latin typeface="Calibri"/>
                          <a:ea typeface="Arial"/>
                        </a:rPr>
                        <a:t>1 week</a:t>
                      </a:r>
                      <a:endParaRPr lang="en-GB" sz="10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1440" marR="91440" marT="45720" marB="4572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</a:tr>
            </a:tbl>
          </a:graphicData>
        </a:graphic>
      </p:graphicFrame>
      <p:sp>
        <p:nvSpPr>
          <p:cNvPr id="131" name="Google Shape;392;p10"/>
          <p:cNvSpPr/>
          <p:nvPr/>
        </p:nvSpPr>
        <p:spPr>
          <a:xfrm>
            <a:off x="548640" y="4541040"/>
            <a:ext cx="5302080" cy="1644480"/>
          </a:xfrm>
          <a:prstGeom prst="rect">
            <a:avLst/>
          </a:prstGeom>
          <a:solidFill>
            <a:srgbClr val="E8F0FE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Google Shape;393;p10"/>
          <p:cNvSpPr/>
          <p:nvPr/>
        </p:nvSpPr>
        <p:spPr>
          <a:xfrm>
            <a:off x="548640" y="4541040"/>
            <a:ext cx="53640" cy="16444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Google Shape;394;p10"/>
          <p:cNvSpPr/>
          <p:nvPr/>
        </p:nvSpPr>
        <p:spPr>
          <a:xfrm>
            <a:off x="777240" y="4632480"/>
            <a:ext cx="493632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Next Steps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Google Shape;395;p10"/>
          <p:cNvSpPr/>
          <p:nvPr/>
        </p:nvSpPr>
        <p:spPr>
          <a:xfrm>
            <a:off x="777240" y="4906800"/>
            <a:ext cx="4936320" cy="10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Today's call covers these 2 questions + any of yours.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Week 2 plan locks in after this call — see next slide for priorities.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396;p10"/>
          <p:cNvSpPr/>
          <p:nvPr/>
        </p:nvSpPr>
        <p:spPr>
          <a:xfrm>
            <a:off x="6217920" y="4541040"/>
            <a:ext cx="5393520" cy="1644480"/>
          </a:xfrm>
          <a:prstGeom prst="rect">
            <a:avLst/>
          </a:prstGeom>
          <a:solidFill>
            <a:srgbClr val="FCE8E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397;p10"/>
          <p:cNvSpPr/>
          <p:nvPr/>
        </p:nvSpPr>
        <p:spPr>
          <a:xfrm>
            <a:off x="6217920" y="4541040"/>
            <a:ext cx="53640" cy="16444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Google Shape;398;p10"/>
          <p:cNvSpPr/>
          <p:nvPr/>
        </p:nvSpPr>
        <p:spPr>
          <a:xfrm>
            <a:off x="6446520" y="4632480"/>
            <a:ext cx="5027760" cy="306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Why These Matter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Google Shape;399;p10"/>
          <p:cNvSpPr/>
          <p:nvPr/>
        </p:nvSpPr>
        <p:spPr>
          <a:xfrm>
            <a:off x="6446520" y="4906800"/>
            <a:ext cx="5027760" cy="105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The bridge question unlocks potential new service traffic we're currently blocking.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GB" sz="1100" b="0" u="none" strike="noStrike">
                <a:solidFill>
                  <a:srgbClr val="1A1A1A"/>
                </a:solidFill>
                <a:effectLst/>
                <a:uFillTx/>
                <a:latin typeface="Calibri"/>
                <a:ea typeface="Arial"/>
              </a:rPr>
              <a:t>Lead quality feedback tells us if negatives are working as intended — or over-blocking.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Google Shape;400;p10"/>
          <p:cNvSpPr/>
          <p:nvPr/>
        </p:nvSpPr>
        <p:spPr>
          <a:xfrm>
            <a:off x="548640" y="6327720"/>
            <a:ext cx="2769120" cy="259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Google Shape;401;p10"/>
          <p:cNvSpPr/>
          <p:nvPr/>
        </p:nvSpPr>
        <p:spPr>
          <a:xfrm>
            <a:off x="3319200" y="6327720"/>
            <a:ext cx="2769120" cy="259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1" name="Google Shape;402;p10"/>
          <p:cNvSpPr/>
          <p:nvPr/>
        </p:nvSpPr>
        <p:spPr>
          <a:xfrm>
            <a:off x="6099120" y="6327720"/>
            <a:ext cx="2769120" cy="2592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Google Shape;403;p10"/>
          <p:cNvSpPr/>
          <p:nvPr/>
        </p:nvSpPr>
        <p:spPr>
          <a:xfrm>
            <a:off x="8869680" y="6327720"/>
            <a:ext cx="2769120" cy="259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3" name="Google Shape;404;p10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Google Shape;405;p10"/>
          <p:cNvSpPr/>
          <p:nvPr/>
        </p:nvSpPr>
        <p:spPr>
          <a:xfrm>
            <a:off x="822960" y="6400800"/>
            <a:ext cx="5484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Google Shape;406;p10"/>
          <p:cNvSpPr/>
          <p:nvPr/>
        </p:nvSpPr>
        <p:spPr>
          <a:xfrm>
            <a:off x="11183040" y="640080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3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340"/>
          <p:cNvSpPr/>
          <p:nvPr/>
        </p:nvSpPr>
        <p:spPr>
          <a:xfrm>
            <a:off x="619200" y="1447920"/>
            <a:ext cx="11048760" cy="285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tIns="79920" rIns="11988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GB" sz="1400" b="1" u="none" strike="noStrike">
                <a:solidFill>
                  <a:srgbClr val="EA4335"/>
                </a:solidFill>
                <a:effectLst/>
                <a:uFillTx/>
                <a:latin typeface="Calibri"/>
              </a:rPr>
              <a:t>1.  Bridges — what's the difference between a standard dental bridge and a Vivo bridge?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341"/>
          <p:cNvSpPr/>
          <p:nvPr/>
        </p:nvSpPr>
        <p:spPr>
          <a:xfrm>
            <a:off x="619200" y="1771560"/>
            <a:ext cx="11048760" cy="57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tIns="79920" rIns="11988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     We're currently blocking all "bridge" search terms as out-of-scope. If Vivo bridges are a service you want to advertise, we split them out from generic bridge negatives and open targeted traffic.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342"/>
          <p:cNvSpPr/>
          <p:nvPr/>
        </p:nvSpPr>
        <p:spPr>
          <a:xfrm>
            <a:off x="619200" y="2571840"/>
            <a:ext cx="11048760" cy="28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tIns="79920" rIns="11988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GB" sz="1400" b="1" u="none" strike="noStrike">
                <a:solidFill>
                  <a:srgbClr val="EA4335"/>
                </a:solidFill>
                <a:effectLst/>
                <a:uFillTx/>
                <a:latin typeface="Calibri"/>
              </a:rPr>
              <a:t>2.  Lead quality since negatives rolled out — what are you seeing from your side?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Box 343"/>
          <p:cNvSpPr/>
          <p:nvPr/>
        </p:nvSpPr>
        <p:spPr>
          <a:xfrm>
            <a:off x="619200" y="2895480"/>
            <a:ext cx="11048760" cy="761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119880" tIns="79920" rIns="119880" bIns="45000" anchor="t">
            <a:spAutoFit/>
          </a:bodyPr>
          <a:p>
            <a:pPr>
              <a:lnSpc>
                <a:spcPct val="100000"/>
              </a:lnSpc>
              <a:spcAft>
                <a:spcPts val="400"/>
              </a:spcAft>
            </a:pPr>
            <a:r>
              <a:rPr lang="en-GB" sz="1100" b="0" u="none" strike="noStrike">
                <a:solidFill>
                  <a:srgbClr val="1A3E72"/>
                </a:solidFill>
                <a:effectLst/>
                <a:uFillTx/>
                <a:latin typeface="Calibri"/>
              </a:rPr>
              <a:t>     Volume will be lower by design (we've blocked freebie + NHS seekers). Early signal on consultation show-rate, treatment value, or close rate from your team?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411;p11"/>
          <p:cNvSpPr/>
          <p:nvPr/>
        </p:nvSpPr>
        <p:spPr>
          <a:xfrm>
            <a:off x="0" y="0"/>
            <a:ext cx="3046320" cy="53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Google Shape;412;p11"/>
          <p:cNvSpPr/>
          <p:nvPr/>
        </p:nvSpPr>
        <p:spPr>
          <a:xfrm>
            <a:off x="3047760" y="0"/>
            <a:ext cx="3046320" cy="53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Google Shape;413;p11"/>
          <p:cNvSpPr/>
          <p:nvPr/>
        </p:nvSpPr>
        <p:spPr>
          <a:xfrm>
            <a:off x="6095520" y="0"/>
            <a:ext cx="3046320" cy="53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Google Shape;414;p11"/>
          <p:cNvSpPr/>
          <p:nvPr/>
        </p:nvSpPr>
        <p:spPr>
          <a:xfrm>
            <a:off x="9142920" y="0"/>
            <a:ext cx="3046320" cy="5328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26640" rIns="90000" bIns="2664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4" name="Google Shape;415;p11"/>
          <p:cNvSpPr/>
          <p:nvPr/>
        </p:nvSpPr>
        <p:spPr>
          <a:xfrm>
            <a:off x="548640" y="274320"/>
            <a:ext cx="6399360" cy="455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This Week's Priorities</a:t>
            </a:r>
            <a:endParaRPr lang="en-GB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Google Shape;416;p11"/>
          <p:cNvSpPr/>
          <p:nvPr/>
        </p:nvSpPr>
        <p:spPr>
          <a:xfrm>
            <a:off x="8348400" y="274320"/>
            <a:ext cx="3290400" cy="41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Google Shape;417;p11"/>
          <p:cNvSpPr/>
          <p:nvPr/>
        </p:nvSpPr>
        <p:spPr>
          <a:xfrm>
            <a:off x="8439840" y="292680"/>
            <a:ext cx="310752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Week 2 · Execution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Google Shape;418;p11"/>
          <p:cNvSpPr/>
          <p:nvPr/>
        </p:nvSpPr>
        <p:spPr>
          <a:xfrm>
            <a:off x="548640" y="1097280"/>
            <a:ext cx="3473280" cy="4184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Google Shape;419;p11"/>
          <p:cNvSpPr/>
          <p:nvPr/>
        </p:nvSpPr>
        <p:spPr>
          <a:xfrm>
            <a:off x="548640" y="1097280"/>
            <a:ext cx="53640" cy="418428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Google Shape;420;p11"/>
          <p:cNvSpPr/>
          <p:nvPr/>
        </p:nvSpPr>
        <p:spPr>
          <a:xfrm>
            <a:off x="731520" y="1234440"/>
            <a:ext cx="31075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EA4335"/>
                </a:solidFill>
                <a:effectLst/>
                <a:uFillTx/>
                <a:latin typeface="Calibri"/>
                <a:ea typeface="Calibri"/>
              </a:rPr>
              <a:t>1.  Finish Search Term Project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Google Shape;421;p11"/>
          <p:cNvSpPr/>
          <p:nvPr/>
        </p:nvSpPr>
        <p:spPr>
          <a:xfrm>
            <a:off x="720000" y="1645920"/>
            <a:ext cx="3238920" cy="25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Push remaining automated negatives (Leak-exact 71, Leak-phrase 55, Outside area 5, plus manual review of ~166 ambiguous). Complete Pass 3 phrase-suggestion rollout for ongoing protection.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Google Shape;422;p11"/>
          <p:cNvSpPr/>
          <p:nvPr/>
        </p:nvSpPr>
        <p:spPr>
          <a:xfrm>
            <a:off x="4297680" y="1097280"/>
            <a:ext cx="3473280" cy="4184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Google Shape;423;p11"/>
          <p:cNvSpPr/>
          <p:nvPr/>
        </p:nvSpPr>
        <p:spPr>
          <a:xfrm>
            <a:off x="4297680" y="1097280"/>
            <a:ext cx="53640" cy="418428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Google Shape;424;p11"/>
          <p:cNvSpPr/>
          <p:nvPr/>
        </p:nvSpPr>
        <p:spPr>
          <a:xfrm>
            <a:off x="4480560" y="1234440"/>
            <a:ext cx="310752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FBBC05"/>
                </a:solidFill>
                <a:effectLst/>
                <a:uFillTx/>
                <a:latin typeface="Calibri"/>
                <a:ea typeface="Calibri"/>
              </a:rPr>
              <a:t>2.  Rebuild &amp; Improve PMax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Google Shape;425;p11"/>
          <p:cNvSpPr/>
          <p:nvPr/>
        </p:nvSpPr>
        <p:spPr>
          <a:xfrm>
            <a:off x="4480560" y="1645920"/>
            <a:ext cx="3107520" cy="2594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Review asset group performance, tune audience signals, audit shopping feed integration, optimise creative mix. Target: sustain the CPA drop and drive volume.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Google Shape;426;p11"/>
          <p:cNvSpPr/>
          <p:nvPr/>
        </p:nvSpPr>
        <p:spPr>
          <a:xfrm>
            <a:off x="8046720" y="1097280"/>
            <a:ext cx="3564720" cy="41842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Google Shape;427;p11"/>
          <p:cNvSpPr/>
          <p:nvPr/>
        </p:nvSpPr>
        <p:spPr>
          <a:xfrm>
            <a:off x="8046720" y="1097280"/>
            <a:ext cx="53640" cy="418428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27000" tIns="45000" rIns="27000" bIns="4500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Google Shape;428;p11"/>
          <p:cNvSpPr/>
          <p:nvPr/>
        </p:nvSpPr>
        <p:spPr>
          <a:xfrm>
            <a:off x="8229600" y="1234440"/>
            <a:ext cx="319896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trike="noStrike">
                <a:solidFill>
                  <a:srgbClr val="4285F4"/>
                </a:solidFill>
                <a:effectLst/>
                <a:uFillTx/>
                <a:latin typeface="Calibri"/>
                <a:ea typeface="Calibri"/>
              </a:rPr>
              <a:t>3.  Full Tracking &amp; LP Work</a:t>
            </a:r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429;p11"/>
          <p:cNvSpPr/>
          <p:nvPr/>
        </p:nvSpPr>
        <p:spPr>
          <a:xfrm>
            <a:off x="8229600" y="1645920"/>
            <a:ext cx="3198960" cy="163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>
              <a:lnSpc>
                <a:spcPct val="115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GB" sz="11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Arial"/>
              </a:rPr>
              <a:t>End-to-end tracking audit (form submits, phone, offline leads). Then bespoke LP designs for all Implant services — with you by Friday for sign-off. LP build follows tracking.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Google Shape;430;p11"/>
          <p:cNvSpPr/>
          <p:nvPr/>
        </p:nvSpPr>
        <p:spPr>
          <a:xfrm>
            <a:off x="548640" y="5760000"/>
            <a:ext cx="11062800" cy="442440"/>
          </a:xfrm>
          <a:prstGeom prst="rect">
            <a:avLst/>
          </a:prstGeom>
          <a:solidFill>
            <a:srgbClr val="E8F0FE"/>
          </a:solidFill>
          <a:ln w="12700">
            <a:solidFill>
              <a:srgbClr val="4285F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Google Shape;431;p11"/>
          <p:cNvSpPr/>
          <p:nvPr/>
        </p:nvSpPr>
        <p:spPr>
          <a:xfrm>
            <a:off x="741240" y="5811840"/>
            <a:ext cx="10605600" cy="2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Sequence matters: search-term cleanup → PMax optimisation → tracking audit → LP designs for sign-off → LP build.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US" sz="12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LPs come AFTER the structural work. You'll have LP designs for sign-off by Friday.</a:t>
            </a:r>
            <a:endParaRPr lang="en-GB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Google Shape;432;p11"/>
          <p:cNvSpPr/>
          <p:nvPr/>
        </p:nvSpPr>
        <p:spPr>
          <a:xfrm>
            <a:off x="548640" y="6327720"/>
            <a:ext cx="2769120" cy="25920"/>
          </a:xfrm>
          <a:prstGeom prst="rect">
            <a:avLst/>
          </a:prstGeom>
          <a:solidFill>
            <a:srgbClr val="4285F4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Google Shape;433;p11"/>
          <p:cNvSpPr/>
          <p:nvPr/>
        </p:nvSpPr>
        <p:spPr>
          <a:xfrm>
            <a:off x="3319200" y="6327720"/>
            <a:ext cx="2769120" cy="25920"/>
          </a:xfrm>
          <a:prstGeom prst="rect">
            <a:avLst/>
          </a:prstGeom>
          <a:solidFill>
            <a:srgbClr val="EA433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Google Shape;434;p11"/>
          <p:cNvSpPr/>
          <p:nvPr/>
        </p:nvSpPr>
        <p:spPr>
          <a:xfrm>
            <a:off x="6099120" y="6327720"/>
            <a:ext cx="2769120" cy="25920"/>
          </a:xfrm>
          <a:prstGeom prst="rect">
            <a:avLst/>
          </a:prstGeom>
          <a:solidFill>
            <a:srgbClr val="FBBC05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Google Shape;435;p11"/>
          <p:cNvSpPr/>
          <p:nvPr/>
        </p:nvSpPr>
        <p:spPr>
          <a:xfrm>
            <a:off x="8869680" y="6327720"/>
            <a:ext cx="2769120" cy="25920"/>
          </a:xfrm>
          <a:prstGeom prst="rect">
            <a:avLst/>
          </a:prstGeom>
          <a:solidFill>
            <a:srgbClr val="34A853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tIns="12960" rIns="90000" bIns="12960" anchor="ctr">
            <a:noAutofit/>
          </a:bodyPr>
          <a:p>
            <a:endParaRPr lang="en-GB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5" name="Google Shape;436;p11" descr="act_logo_official.png"/>
          <p:cNvPicPr/>
          <p:nvPr/>
        </p:nvPicPr>
        <p:blipFill>
          <a:blip r:embed="rId1"/>
          <a:stretch/>
        </p:blipFill>
        <p:spPr>
          <a:xfrm>
            <a:off x="548640" y="640080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Google Shape;437;p11"/>
          <p:cNvSpPr/>
          <p:nvPr/>
        </p:nvSpPr>
        <p:spPr>
          <a:xfrm>
            <a:off x="822960" y="6400800"/>
            <a:ext cx="54849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Christopher Hoole  |  christopherhoole.com  |  Confidential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438;p11"/>
          <p:cNvSpPr/>
          <p:nvPr/>
        </p:nvSpPr>
        <p:spPr>
          <a:xfrm>
            <a:off x="11183040" y="6400800"/>
            <a:ext cx="455760" cy="22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r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1A237E"/>
                </a:solidFill>
                <a:effectLst/>
                <a:uFillTx/>
                <a:latin typeface="Calibri"/>
                <a:ea typeface="Calibri"/>
              </a:rPr>
              <a:t>4</a:t>
            </a:r>
            <a:endParaRPr lang="en-GB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Application>LibreOffice/26.2.2.2$Windows_X86_64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/>
  <dc:language>en-GB</dc:language>
  <cp:lastModifiedBy/>
  <cp:lastPrinted>2026-04-21T14:43:30Z</cp:lastPrinted>
  <dcterms:modified xsi:type="dcterms:W3CDTF">2026-04-21T15:48:53Z</dcterms:modified>
  <cp:revision>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