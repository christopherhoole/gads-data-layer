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4952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4952" y="0"/>
            <a:ext cx="3044952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3044952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0"/>
            <a:ext cx="3044952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3044952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4952" y="6400800"/>
            <a:ext cx="3044952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9048" y="6400800"/>
            <a:ext cx="3044952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0" y="6400800"/>
            <a:ext cx="3044952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1280160"/>
            <a:ext cx="5248656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A237E"/>
                </a:solidFill>
                <a:latin typeface="Calibri"/>
              </a:rPr>
              <a:t>Maximising Bookings on Current Spend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285F4"/>
                </a:solidFill>
                <a:latin typeface="Calibri"/>
              </a:rPr>
              <a:t>Dental by Design  |  Prodent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Christopher Hoole</a:t>
            </a:r>
          </a:p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Google Ads Specialist  |  May 2026</a:t>
            </a:r>
          </a:p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christopherhoole.com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285F4"/>
                </a:solidFill>
                <a:latin typeface="Calibri"/>
              </a:rPr>
              <a:t>Data: 5 Jan - 26 Apr 2026  |  16 weeks analysed  |  Paid Search excl Bing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48640"/>
            <a:ext cx="49377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The headline finding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914400"/>
            <a:ext cx="493776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34A853"/>
                </a:solidFill>
                <a:latin typeface="Calibri"/>
              </a:rPr>
              <a:t>5.5x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64592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Higher booking rate when leads are called within 15 minutes vs waiting 12+ hours.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Callback speed is the single biggest lever on conversion.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926080"/>
            <a:ext cx="73152" cy="10515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035808"/>
            <a:ext cx="14447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28.2%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474720"/>
            <a:ext cx="14447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Book rate when called within 15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74152" y="2926080"/>
            <a:ext cx="73152" cy="105156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3035808"/>
            <a:ext cx="14447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5.1%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3474720"/>
            <a:ext cx="14447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Book rate when waiting 12+ hours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39528" y="2926080"/>
            <a:ext cx="73152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76688" y="3035808"/>
            <a:ext cx="14447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57%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6688" y="3474720"/>
            <a:ext cx="14447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Of GAds spend buys leads in dead zones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160520"/>
            <a:ext cx="539496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160520"/>
            <a:ext cx="73152" cy="17830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251960"/>
            <a:ext cx="49377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Projected 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572000"/>
            <a:ext cx="493776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34A853"/>
                </a:solidFill>
                <a:latin typeface="Calibri"/>
              </a:rPr>
              <a:t>+25-40%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303520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More bookings on the same monthly spend by shifting GAds to in-hours and adopting an SDR + Closer split.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4952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4952" y="0"/>
            <a:ext cx="3044952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3044952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0"/>
            <a:ext cx="3044952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3044952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4952" y="6400800"/>
            <a:ext cx="3044952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9048" y="6400800"/>
            <a:ext cx="3044952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0" y="6400800"/>
            <a:ext cx="3044952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64808"/>
            <a:ext cx="320040" cy="320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A1A1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237E"/>
                </a:solidFill>
                <a:latin typeface="Calibri"/>
              </a:rPr>
              <a:t>15-minute call response delivers 5.5x the bookings of a 12+h wait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Paid Search excl Bing  |  Jan 5 – Apr 26 2026  |  16 weeks  |  3,297 leads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417320"/>
            <a:ext cx="1280160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1417320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Bucket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1417320"/>
            <a:ext cx="1005840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19" y="1417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Leads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1417320"/>
            <a:ext cx="1097280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1417320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% of total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1417320"/>
            <a:ext cx="1005840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1417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Booked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1417320"/>
            <a:ext cx="1097280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1417320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Book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1691640"/>
            <a:ext cx="1280160" cy="27432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1691640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0-15m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1691640"/>
            <a:ext cx="1005840" cy="27432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74519" y="1691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393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1691640"/>
            <a:ext cx="1097280" cy="27432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1691640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11.9%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1691640"/>
            <a:ext cx="1005840" cy="27432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77639" y="1691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111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691640"/>
            <a:ext cx="1097280" cy="27432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3480" y="1691640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28.2%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1965960"/>
            <a:ext cx="128016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1965960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15-30m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0" y="1965960"/>
            <a:ext cx="100584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74519" y="1965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176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40" y="1965960"/>
            <a:ext cx="109728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80360" y="1965960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5.3%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0" y="1965960"/>
            <a:ext cx="100584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77639" y="1965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37760" y="1965960"/>
            <a:ext cx="109728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83480" y="1965960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21.0%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2240280"/>
            <a:ext cx="12801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2240280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30-60m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0" y="2240280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74519" y="22402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162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34640" y="2240280"/>
            <a:ext cx="1097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80360" y="2240280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4.9%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31920" y="2240280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77639" y="22402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37760" y="2240280"/>
            <a:ext cx="1097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83480" y="2240280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17.3%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2514600"/>
            <a:ext cx="128016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2514600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1-3h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28800" y="2514600"/>
            <a:ext cx="100584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874519" y="25146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227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34640" y="2514600"/>
            <a:ext cx="109728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80360" y="2514600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6.9%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31920" y="2514600"/>
            <a:ext cx="100584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77639" y="25146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37760" y="2514600"/>
            <a:ext cx="109728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83480" y="2514600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14.5%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2788920"/>
            <a:ext cx="12801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4360" y="2788920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3-6h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0" y="2788920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74519" y="27889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834640" y="2788920"/>
            <a:ext cx="1097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880360" y="2788920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6.1%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31920" y="2788920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77639" y="27889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37760" y="2788920"/>
            <a:ext cx="1097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83480" y="2788920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9.0%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3063239"/>
            <a:ext cx="128016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" y="3063239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6-12h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28800" y="3063239"/>
            <a:ext cx="100584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74519" y="306323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268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834640" y="3063239"/>
            <a:ext cx="109728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880360" y="3063239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8.1%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31920" y="3063239"/>
            <a:ext cx="100584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977639" y="306323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37760" y="3063239"/>
            <a:ext cx="109728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983480" y="3063239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3.7%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8640" y="3337560"/>
            <a:ext cx="1280160" cy="27432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3337560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12+h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28800" y="3337560"/>
            <a:ext cx="1005840" cy="27432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874519" y="33375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1,864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834640" y="3337560"/>
            <a:ext cx="1097280" cy="27432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880360" y="3337560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56.5%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931920" y="3337560"/>
            <a:ext cx="1005840" cy="27432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977639" y="33375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95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937760" y="3337560"/>
            <a:ext cx="1097280" cy="27432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983480" y="3337560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5.1%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0" y="3611880"/>
            <a:ext cx="128016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94360" y="3611880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Never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828800" y="3611880"/>
            <a:ext cx="100584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874519" y="36118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7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34640" y="3611880"/>
            <a:ext cx="109728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880360" y="3611880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0.2%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931920" y="3611880"/>
            <a:ext cx="100584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977639" y="36118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937760" y="3611880"/>
            <a:ext cx="109728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983480" y="3611880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0.0%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48640" y="3886200"/>
            <a:ext cx="1280160" cy="27432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94360" y="3886200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TOTAL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828800" y="3886200"/>
            <a:ext cx="1005840" cy="27432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874519" y="3886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3,297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834640" y="3886200"/>
            <a:ext cx="1097280" cy="27432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880360" y="3886200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100%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931920" y="3886200"/>
            <a:ext cx="1005840" cy="27432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977639" y="3886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332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937760" y="3886200"/>
            <a:ext cx="1097280" cy="27432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983480" y="3886200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10.1%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583680" y="1417320"/>
            <a:ext cx="50292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583680" y="1417320"/>
            <a:ext cx="73152" cy="1463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766560" y="1508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The gold standard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766560" y="1874519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Leads called within 15 minutes book at 28.2% — that is the conversion ceiling.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583680" y="3017520"/>
            <a:ext cx="50292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583680" y="3017520"/>
            <a:ext cx="73152" cy="146304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766560" y="3108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The reality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766560" y="347472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Only 11.9% of leads currently get the gold-standard treatment.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583680" y="4617720"/>
            <a:ext cx="50292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583680" y="4617720"/>
            <a:ext cx="73152" cy="14630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766560" y="4709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The lost majority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766560" y="507492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56.5% of leads wait 12+ hours and book at just 5.1% — a 5.5x conversion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4952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4952" y="0"/>
            <a:ext cx="3044952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3044952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0"/>
            <a:ext cx="3044952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3044952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4952" y="6400800"/>
            <a:ext cx="3044952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9048" y="6400800"/>
            <a:ext cx="3044952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0" y="6400800"/>
            <a:ext cx="3044952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64808"/>
            <a:ext cx="320040" cy="320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237E"/>
                </a:solidFill>
                <a:latin typeface="Calibri"/>
              </a:rPr>
              <a:t>Booking rate tracks team capacity — when 1 agent is overloaded, conversion collapses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Paid Search excl Bing  |  week-by-week  |  16 weeks  |  3,297 leads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417320"/>
            <a:ext cx="777240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14173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week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1417320"/>
            <a:ext cx="502920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14173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leads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1417320"/>
            <a:ext cx="640080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4519" y="1417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% 0-30m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1417320"/>
            <a:ext cx="731520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1417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% 30m-3h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1417320"/>
            <a:ext cx="594360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14173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% 3h+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1417320"/>
            <a:ext cx="640080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1417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book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1417320"/>
            <a:ext cx="2194560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14173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Active agents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1417320"/>
            <a:ext cx="5029200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14173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1645920"/>
            <a:ext cx="777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16459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Jan 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25880" y="1645920"/>
            <a:ext cx="50292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1645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200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0" y="1645920"/>
            <a:ext cx="6400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74519" y="16459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15.5%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80" y="1645920"/>
            <a:ext cx="73152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14600" y="16459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8.0%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1645920"/>
            <a:ext cx="5943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46120" y="1645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76.5%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94760" y="1645920"/>
            <a:ext cx="6400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0" y="16459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17.5%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34840" y="1645920"/>
            <a:ext cx="21945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60" y="16459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feria(17), patrycja(13), livi(3), tommaso(2)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9400" y="1645920"/>
            <a:ext cx="50292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16459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4 agents → highest book of period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1874519"/>
            <a:ext cx="77724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1874519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Jan 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25880" y="1874519"/>
            <a:ext cx="50292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71600" y="1874519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281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0" y="1874519"/>
            <a:ext cx="64008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74519" y="1874519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20.6%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68880" y="1874519"/>
            <a:ext cx="73152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14600" y="1874519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17.8%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0" y="1874519"/>
            <a:ext cx="59436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46120" y="1874519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61.6%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94760" y="1874519"/>
            <a:ext cx="64008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0" y="1874519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8.9%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34840" y="1874519"/>
            <a:ext cx="219456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80560" y="1874519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feria(18), patrycja(7)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9400" y="1874519"/>
            <a:ext cx="502920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1874519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Decent speed but only 2 agents on heavy volume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2103120"/>
            <a:ext cx="777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4360" y="21031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Jan 19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25880" y="2103120"/>
            <a:ext cx="50292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371600" y="21031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349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0" y="2103120"/>
            <a:ext cx="6400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74519" y="21031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9.5%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468880" y="2103120"/>
            <a:ext cx="73152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14600" y="21031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18.1%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0" y="2103120"/>
            <a:ext cx="5943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46120" y="21031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72.5%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94760" y="2103120"/>
            <a:ext cx="6400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840480" y="21031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8.3%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34840" y="2103120"/>
            <a:ext cx="21945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80560" y="21031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patrycja(20), feria(4), livi(2)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29400" y="2103120"/>
            <a:ext cx="50292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21031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High volume + slow speed → book drops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" y="2331720"/>
            <a:ext cx="77724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4360" y="23317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Jan 26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25880" y="2331720"/>
            <a:ext cx="50292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371600" y="23317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358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828800" y="2331720"/>
            <a:ext cx="64008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874519" y="23317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4.7%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468880" y="2331720"/>
            <a:ext cx="73152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514600" y="2331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3.1%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0" y="2331720"/>
            <a:ext cx="59436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46120" y="23317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92.2%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94760" y="2331720"/>
            <a:ext cx="64008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840480" y="23317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4.5%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434840" y="2331720"/>
            <a:ext cx="219456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480560" y="23317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patrycja(6), feria(4), livi(1)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629400" y="2331720"/>
            <a:ext cx="502920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675120" y="23317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92% in 3h+ — full overload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0" y="2560320"/>
            <a:ext cx="777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94360" y="25603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Feb 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25880" y="2560320"/>
            <a:ext cx="50292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371600" y="25603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139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828800" y="2560320"/>
            <a:ext cx="6400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874519" y="2560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15.8%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468880" y="2560320"/>
            <a:ext cx="73152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514600" y="2560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12.9%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200400" y="2560320"/>
            <a:ext cx="5943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246120" y="25603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71.2%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794760" y="2560320"/>
            <a:ext cx="6400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840480" y="2560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15.1%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434840" y="2560320"/>
            <a:ext cx="21945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480560" y="25603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feria(19), patrycja(2)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29400" y="2560320"/>
            <a:ext cx="50292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75120" y="25603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Low volume — feria carries it solo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48640" y="2788920"/>
            <a:ext cx="77724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94360" y="27889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Feb 9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325880" y="2788920"/>
            <a:ext cx="50292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371600" y="2788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158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828800" y="2788920"/>
            <a:ext cx="64008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874519" y="27889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26.6%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468880" y="2788920"/>
            <a:ext cx="73152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514600" y="27889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10.1%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200400" y="2788920"/>
            <a:ext cx="59436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246120" y="2788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63.3%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794760" y="2788920"/>
            <a:ext cx="64008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840480" y="27889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10.1%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434840" y="2788920"/>
            <a:ext cx="219456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480560" y="27889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feria(11), patrycja(5)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29400" y="2788920"/>
            <a:ext cx="502920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675120" y="27889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Fast speed, 2 agents — mid book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48640" y="3017520"/>
            <a:ext cx="777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94360" y="3017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Feb 16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325880" y="3017520"/>
            <a:ext cx="50292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371600" y="30175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213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828800" y="3017520"/>
            <a:ext cx="6400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874519" y="3017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19.7%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468880" y="3017520"/>
            <a:ext cx="73152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514600" y="30175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15.0%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200400" y="3017520"/>
            <a:ext cx="5943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246120" y="3017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65.3%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794760" y="3017520"/>
            <a:ext cx="6400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840480" y="3017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12.7%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434840" y="3017520"/>
            <a:ext cx="21945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480560" y="30175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feria(20), patrycja(4), angelica(2), livi(1)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629400" y="3017520"/>
            <a:ext cx="50292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675120" y="30175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4 agents active — book holds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48640" y="3246120"/>
            <a:ext cx="77724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94360" y="32461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Feb 23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325880" y="3246120"/>
            <a:ext cx="50292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371600" y="32461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229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828800" y="3246120"/>
            <a:ext cx="64008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874519" y="32461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39.3%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468880" y="3246120"/>
            <a:ext cx="73152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514600" y="32461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12.7%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200400" y="3246120"/>
            <a:ext cx="59436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246120" y="32461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48.0%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794760" y="3246120"/>
            <a:ext cx="64008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840480" y="32461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12.2%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434840" y="3246120"/>
            <a:ext cx="219456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480560" y="32461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feria(18), angelica(7), patrycja(3)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629400" y="3246120"/>
            <a:ext cx="502920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675120" y="32461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Best speed of any week (39% in 0-30m)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48640" y="3474720"/>
            <a:ext cx="777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94360" y="34747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Mar 2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325880" y="3474720"/>
            <a:ext cx="50292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371600" y="34747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200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828800" y="3474720"/>
            <a:ext cx="6400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874519" y="34747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14.0%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468880" y="3474720"/>
            <a:ext cx="73152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514600" y="3474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8.0%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200400" y="3474720"/>
            <a:ext cx="5943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246120" y="34747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78.0%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794760" y="3474720"/>
            <a:ext cx="6400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840480" y="34747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13.5%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434840" y="3474720"/>
            <a:ext cx="21945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480560" y="34747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feria(13), patrycja(13), livi(1)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629400" y="3474720"/>
            <a:ext cx="50292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675120" y="34747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Slow speed but 2 senior agents kept book up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548640" y="3703320"/>
            <a:ext cx="77724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594360" y="37033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Mar 9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325880" y="3703320"/>
            <a:ext cx="50292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371600" y="37033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149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828800" y="3703320"/>
            <a:ext cx="64008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874519" y="3703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25.5%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468880" y="3703320"/>
            <a:ext cx="73152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514600" y="3703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12.8%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200400" y="3703320"/>
            <a:ext cx="59436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3246120" y="37033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61.7%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794760" y="3703320"/>
            <a:ext cx="64008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3840480" y="3703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18.1%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4434840" y="3703320"/>
            <a:ext cx="219456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4480560" y="37033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feria(18), patrycja(7), livi(2)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629400" y="3703320"/>
            <a:ext cx="502920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675120" y="37033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Best book % — 3 agents + manageable volume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548640" y="3931920"/>
            <a:ext cx="777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594360" y="39319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Mar 16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325880" y="3931920"/>
            <a:ext cx="50292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371600" y="3931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127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828800" y="3931920"/>
            <a:ext cx="6400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874519" y="39319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25.2%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468880" y="3931920"/>
            <a:ext cx="73152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514600" y="39319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15.0%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3200400" y="3931920"/>
            <a:ext cx="5943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3246120" y="3931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59.8%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3794760" y="3931920"/>
            <a:ext cx="6400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3840480" y="39319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11.0%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4434840" y="3931920"/>
            <a:ext cx="21945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4480560" y="39319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feria(14)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629400" y="3931920"/>
            <a:ext cx="50292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675120" y="39319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feria solo but low volume = manageable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548640" y="4160520"/>
            <a:ext cx="77724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94360" y="4160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Mar 23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325880" y="4160520"/>
            <a:ext cx="50292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371600" y="41605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240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828800" y="4160520"/>
            <a:ext cx="64008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874519" y="4160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10.0%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468880" y="4160520"/>
            <a:ext cx="73152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2514600" y="41605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12.1%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3200400" y="4160520"/>
            <a:ext cx="59436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3246120" y="4160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77.9%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794760" y="4160520"/>
            <a:ext cx="64008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3840480" y="4160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4.6%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434840" y="4160520"/>
            <a:ext cx="219456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480560" y="41605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feria(11)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629400" y="4160520"/>
            <a:ext cx="502920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675120" y="41605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feria alone vs 240 leads → bottleneck proven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548640" y="4389120"/>
            <a:ext cx="777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594360" y="43891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Mar 30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325880" y="4389120"/>
            <a:ext cx="50292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371600" y="43891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124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1828800" y="4389120"/>
            <a:ext cx="6400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874519" y="43891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19.4%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468880" y="4389120"/>
            <a:ext cx="73152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514600" y="43891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12.9%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3200400" y="4389120"/>
            <a:ext cx="5943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3246120" y="43891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67.7%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3794760" y="4389120"/>
            <a:ext cx="6400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3840480" y="43891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11.3%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4434840" y="4389120"/>
            <a:ext cx="21945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4480560" y="43891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feria(12), livi(1), patrycja(1)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629400" y="4389120"/>
            <a:ext cx="50292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6675120" y="43891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Low volume + 3 agents → book holds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548640" y="4617720"/>
            <a:ext cx="77724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594360" y="46177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Apr 6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1325880" y="4617720"/>
            <a:ext cx="50292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371600" y="46177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134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828800" y="4617720"/>
            <a:ext cx="64008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874519" y="46177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18.7%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2468880" y="4617720"/>
            <a:ext cx="73152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2514600" y="4617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15.7%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3200400" y="4617720"/>
            <a:ext cx="59436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3246120" y="46177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65.7%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3794760" y="4617720"/>
            <a:ext cx="64008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3840480" y="46177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11.2%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4434840" y="4617720"/>
            <a:ext cx="219456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4480560" y="46177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feria(13), patrycja(1), livi(1)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629400" y="4617720"/>
            <a:ext cx="5029200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6675120" y="46177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Last "normal" week — low volume + 3 agents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548640" y="4846320"/>
            <a:ext cx="77724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594360" y="48463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Apr 13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325880" y="4846320"/>
            <a:ext cx="50292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371600" y="48463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176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1828800" y="4846320"/>
            <a:ext cx="64008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1874519" y="4846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11.4%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2468880" y="4846320"/>
            <a:ext cx="73152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2514600" y="4846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5.7%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3200400" y="4846320"/>
            <a:ext cx="59436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3246120" y="48463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83.0%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3794760" y="4846320"/>
            <a:ext cx="64008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3840480" y="4846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6.8%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4434840" y="4846320"/>
            <a:ext cx="219456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4480560" y="48463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feria(11), birsu(1)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6629400" y="4846320"/>
            <a:ext cx="502920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6675120" y="48463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birsu starts, 83% slip to 3h+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48640" y="5074920"/>
            <a:ext cx="77724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594360" y="50749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Apr 20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1325880" y="5074920"/>
            <a:ext cx="50292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1371600" y="5074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220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1828800" y="5074920"/>
            <a:ext cx="64008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874519" y="50749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19.5%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2468880" y="5074920"/>
            <a:ext cx="73152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2514600" y="50749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10.9%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3200400" y="5074920"/>
            <a:ext cx="59436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3246120" y="5074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69.5%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3794760" y="5074920"/>
            <a:ext cx="64008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3840480" y="50749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6.8%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4434840" y="5074920"/>
            <a:ext cx="219456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4480560" y="50749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feria(7), birsu(5), livi(2), patrycja(1)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6629400" y="5074920"/>
            <a:ext cx="5029200" cy="2286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6675120" y="50749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Calibri"/>
              </a:rPr>
              <a:t>birsu takes 33% of bookings, book stays low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548640" y="5577840"/>
            <a:ext cx="36118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548640" y="5577840"/>
            <a:ext cx="73152" cy="7772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685800" y="5623559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Single-agent weeks crash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85800" y="5897879"/>
            <a:ext cx="342900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Mar 23: feria alone vs 240 leads → 4.6% book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4206240" y="5577840"/>
            <a:ext cx="36118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4206240" y="5577840"/>
            <a:ext cx="73152" cy="7772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4343400" y="5623559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2+ agents holds book rate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4343400" y="5897879"/>
            <a:ext cx="342900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Mar 2, Mar 9, Feb 16 all 13-18% book even with slower speed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7863840" y="5577840"/>
            <a:ext cx="36118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863840" y="5577840"/>
            <a:ext cx="73152" cy="77724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8001000" y="5623559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April reset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8001000" y="5897879"/>
            <a:ext cx="342900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birsu ramping but team output not lifting → training / handover gap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4952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4952" y="0"/>
            <a:ext cx="3044952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3044952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0"/>
            <a:ext cx="3044952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3044952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4952" y="6400800"/>
            <a:ext cx="3044952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9048" y="6400800"/>
            <a:ext cx="3044952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0" y="6400800"/>
            <a:ext cx="3044952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64808"/>
            <a:ext cx="320040" cy="320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237E"/>
                </a:solidFill>
                <a:latin typeface="Calibri"/>
              </a:rPr>
              <a:t>Outbound calling load doubled in 6 weeks — team did not grow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Last 7 weeks  |  GAds (Paid Search excl Bing) + Paid Social — both need outbound calls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417320"/>
            <a:ext cx="777240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1417320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1417320"/>
            <a:ext cx="1005840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14173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GAds leads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1417320"/>
            <a:ext cx="1005840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39" y="14173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GAds book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1417320"/>
            <a:ext cx="1325880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79" y="1417320"/>
            <a:ext cx="12344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Paid Social leads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417320"/>
            <a:ext cx="1097280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59" y="1417320"/>
            <a:ext cx="10058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Social book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1417320"/>
            <a:ext cx="1280160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1417320"/>
            <a:ext cx="118871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Outbound queue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79" y="1417320"/>
            <a:ext cx="1920240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599" y="14173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Active agents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1737360"/>
            <a:ext cx="7772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1737360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Mar 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25880" y="173736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17373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149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31720" y="173736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39" y="17373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18.1%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7560" y="1737360"/>
            <a:ext cx="13258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79" y="1737360"/>
            <a:ext cx="12344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173736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59" y="1737360"/>
            <a:ext cx="10058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0.0%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173736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6440" y="1737360"/>
            <a:ext cx="118871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164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40879" y="1737360"/>
            <a:ext cx="19202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6599" y="17373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2057400"/>
            <a:ext cx="77724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2057400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Mar 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25880" y="2057400"/>
            <a:ext cx="100584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0" y="20574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127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31720" y="2057400"/>
            <a:ext cx="100584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77439" y="20574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11.0%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37560" y="2057400"/>
            <a:ext cx="132588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83279" y="2057400"/>
            <a:ext cx="12344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63440" y="2057400"/>
            <a:ext cx="109728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09159" y="2057400"/>
            <a:ext cx="10058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7.1%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720" y="2057400"/>
            <a:ext cx="128016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06440" y="2057400"/>
            <a:ext cx="118871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155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40879" y="2057400"/>
            <a:ext cx="192024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86599" y="20574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2377439"/>
            <a:ext cx="77724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2377439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Mar 23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25880" y="2377439"/>
            <a:ext cx="100584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71600" y="237743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240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31720" y="2377439"/>
            <a:ext cx="100584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77439" y="237743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4.6%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37560" y="2377439"/>
            <a:ext cx="132588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83279" y="2377439"/>
            <a:ext cx="12344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83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63440" y="2377439"/>
            <a:ext cx="109728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09159" y="2377439"/>
            <a:ext cx="10058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4.8%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60720" y="2377439"/>
            <a:ext cx="128016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06440" y="2377439"/>
            <a:ext cx="118871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323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40879" y="2377439"/>
            <a:ext cx="192024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86599" y="237743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2697480"/>
            <a:ext cx="77724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4360" y="2697480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Mar 30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25880" y="2697480"/>
            <a:ext cx="100584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71600" y="26974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124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331720" y="2697480"/>
            <a:ext cx="100584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77439" y="26974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11.3%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337560" y="2697480"/>
            <a:ext cx="132588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383279" y="2697480"/>
            <a:ext cx="12344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107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63440" y="2697480"/>
            <a:ext cx="109728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709159" y="2697480"/>
            <a:ext cx="10058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1.9%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760720" y="2697480"/>
            <a:ext cx="128016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806440" y="2697480"/>
            <a:ext cx="118871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231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40879" y="2697480"/>
            <a:ext cx="192024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086599" y="26974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8640" y="3017520"/>
            <a:ext cx="7772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3017520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Apr 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25880" y="301752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371600" y="3017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134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331720" y="301752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377439" y="3017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11.2%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337560" y="3017520"/>
            <a:ext cx="13258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383279" y="3017520"/>
            <a:ext cx="12344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131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663440" y="301752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709159" y="3017520"/>
            <a:ext cx="10058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0.8%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60720" y="301752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806440" y="3017520"/>
            <a:ext cx="118871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265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040879" y="3017520"/>
            <a:ext cx="19202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086599" y="30175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48640" y="3337559"/>
            <a:ext cx="77724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94360" y="3337559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Apr 13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325880" y="3337559"/>
            <a:ext cx="100584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371600" y="333755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176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331720" y="3337559"/>
            <a:ext cx="100584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377439" y="333755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6.8%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337560" y="3337559"/>
            <a:ext cx="132588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383279" y="3337559"/>
            <a:ext cx="12344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136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63440" y="3337559"/>
            <a:ext cx="109728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09159" y="3337559"/>
            <a:ext cx="10058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0.7%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60720" y="3337559"/>
            <a:ext cx="128016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806440" y="3337559"/>
            <a:ext cx="118871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312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040879" y="3337559"/>
            <a:ext cx="192024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086599" y="333755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 (birsu new)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48640" y="3657600"/>
            <a:ext cx="77724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94360" y="3657600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Apr 20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325880" y="3657600"/>
            <a:ext cx="100584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371600" y="36576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220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331720" y="3657600"/>
            <a:ext cx="100584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377439" y="36576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6.8%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337560" y="3657600"/>
            <a:ext cx="132588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383279" y="3657600"/>
            <a:ext cx="12344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148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63440" y="3657600"/>
            <a:ext cx="109728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709159" y="3657600"/>
            <a:ext cx="10058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1.4%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760720" y="3657600"/>
            <a:ext cx="128016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806440" y="3657600"/>
            <a:ext cx="118871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368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040879" y="3657600"/>
            <a:ext cx="192024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086599" y="36576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4 (birsu ramp)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098280" y="141732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098280" y="1417320"/>
            <a:ext cx="73152" cy="16459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235440" y="1508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Paid Social scaled 6x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235440" y="178308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From ~25/wk in Jan-Mar to 148/wk by Apr 20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098280" y="315468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9098280" y="3154680"/>
            <a:ext cx="73152" cy="16459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235440" y="3246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Outbound queue +125%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235440" y="352044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~165/wk in early Mar → 368/wk by Apr 20 (2.2x in 6 weeks)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098280" y="489204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098280" y="4892040"/>
            <a:ext cx="73152" cy="1645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235440" y="4983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Same 1-4 agents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235440" y="525780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Owning all of it: outbound calls + inbound Metro + closing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4952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4952" y="0"/>
            <a:ext cx="3044952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3044952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0"/>
            <a:ext cx="3044952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3044952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4952" y="6400800"/>
            <a:ext cx="3044952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9048" y="6400800"/>
            <a:ext cx="3044952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0" y="6400800"/>
            <a:ext cx="3044952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64808"/>
            <a:ext cx="320040" cy="320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A1A1A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237E"/>
                </a:solidFill>
                <a:latin typeface="Calibri"/>
              </a:rPr>
              <a:t>When leads land matters as much as how fast they are called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Paid Search excl Bing  |  16 weeks  |  3,297 leads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417320"/>
            <a:ext cx="1691640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141732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Bucket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1417320"/>
            <a:ext cx="822960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14173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Leads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1417320"/>
            <a:ext cx="914400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14173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% of total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7639" y="1417320"/>
            <a:ext cx="822960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59" y="14173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Booked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1417320"/>
            <a:ext cx="868680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141732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Book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1417320"/>
            <a:ext cx="868680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141732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% 0-30m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1417320"/>
            <a:ext cx="1005840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14173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Avg 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1737360"/>
            <a:ext cx="1691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173736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Mon-Fri 00-08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1737360"/>
            <a:ext cx="822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17373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40" y="1737360"/>
            <a:ext cx="914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0" y="17373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9.9%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77639" y="1737360"/>
            <a:ext cx="822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59" y="17373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00600" y="1737360"/>
            <a:ext cx="868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173736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6.5%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1737360"/>
            <a:ext cx="868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173736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0.0%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173736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17373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16h 24m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2057400"/>
            <a:ext cx="169164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205740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Mon-Fri 08-12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40280" y="2057400"/>
            <a:ext cx="82296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0" y="20574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474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2057400"/>
            <a:ext cx="91440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205740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14.4%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77639" y="2057400"/>
            <a:ext cx="82296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23359" y="20574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73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00600" y="2057400"/>
            <a:ext cx="86868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0" y="205740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15.4%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0" y="2057400"/>
            <a:ext cx="86868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15000" y="205740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27.2%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37960" y="2057400"/>
            <a:ext cx="100584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0" y="20574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9h 18m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2377439"/>
            <a:ext cx="169164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2377439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Mon-Fri 12-14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40280" y="2377439"/>
            <a:ext cx="82296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0" y="2377439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287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63240" y="2377439"/>
            <a:ext cx="91440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108960" y="2377439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8.7%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77639" y="2377439"/>
            <a:ext cx="82296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23359" y="2377439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53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00600" y="2377439"/>
            <a:ext cx="86868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46320" y="2377439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18.5%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0" y="2377439"/>
            <a:ext cx="86868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15000" y="2377439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40.8%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7960" y="2377439"/>
            <a:ext cx="100584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83680" y="237743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9h 24m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2697480"/>
            <a:ext cx="169164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4360" y="269748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Mon-Fri 14-18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40280" y="2697480"/>
            <a:ext cx="82296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286000" y="26974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655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063240" y="2697480"/>
            <a:ext cx="91440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108960" y="269748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19.9%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77639" y="2697480"/>
            <a:ext cx="82296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23359" y="26974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98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00600" y="2697480"/>
            <a:ext cx="86868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846320" y="269748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15.0%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0" y="2697480"/>
            <a:ext cx="86868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15000" y="269748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40.2%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537960" y="2697480"/>
            <a:ext cx="100584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83680" y="26974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10h 42m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8640" y="3017520"/>
            <a:ext cx="1691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301752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Mon-Fri 18-20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40280" y="3017520"/>
            <a:ext cx="822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286000" y="30175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269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063240" y="3017520"/>
            <a:ext cx="914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108960" y="3017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8.2%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977639" y="3017520"/>
            <a:ext cx="822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023359" y="30175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800600" y="3017520"/>
            <a:ext cx="868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846320" y="301752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7.1%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669280" y="3017520"/>
            <a:ext cx="868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715000" y="301752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7.4%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537960" y="301752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583680" y="3017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20h 06m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48640" y="3337559"/>
            <a:ext cx="169164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94360" y="3337559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Mon-Fri 20-24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240280" y="3337559"/>
            <a:ext cx="82296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286000" y="3337559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488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063240" y="3337559"/>
            <a:ext cx="91440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108960" y="3337559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14.8%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77639" y="3337559"/>
            <a:ext cx="82296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023359" y="3337559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800600" y="3337559"/>
            <a:ext cx="86868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846320" y="3337559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5.3%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69280" y="3337559"/>
            <a:ext cx="86868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15000" y="3337559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0.0%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537960" y="3337559"/>
            <a:ext cx="100584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583680" y="333755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20h 42m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48640" y="3657600"/>
            <a:ext cx="169164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94360" y="365760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Weekend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240280" y="3657600"/>
            <a:ext cx="82296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286000" y="36576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799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063240" y="3657600"/>
            <a:ext cx="91440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108960" y="365760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24.2%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977639" y="3657600"/>
            <a:ext cx="82296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023359" y="36576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42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800600" y="3657600"/>
            <a:ext cx="86868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846320" y="365760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5.3%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69280" y="3657600"/>
            <a:ext cx="86868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715000" y="365760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5.0%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537960" y="3657600"/>
            <a:ext cx="1005840" cy="32004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83680" y="36576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27h 42m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3 factors driving the recent collapse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818120" y="1874519"/>
            <a:ext cx="38404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818120" y="1874519"/>
            <a:ext cx="73152" cy="1097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955280" y="1920239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1. When leads land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955280" y="2240279"/>
            <a:ext cx="3566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We control this via GAds ad scheduling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818120" y="3108960"/>
            <a:ext cx="38404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818120" y="3108960"/>
            <a:ext cx="73152" cy="10972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955280" y="3154679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2. How fast leads are called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955280" y="3474720"/>
            <a:ext cx="3566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Team capacity + structure (SDR role)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818120" y="4343400"/>
            <a:ext cx="38404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818120" y="4343400"/>
            <a:ext cx="73152" cy="10972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955280" y="43891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3. Agent capacity vs lead volume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955280" y="4709160"/>
            <a:ext cx="3566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Team structure (SDR + Closer split)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48640" y="5532120"/>
            <a:ext cx="69951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8640" y="5532120"/>
            <a:ext cx="73152" cy="7772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85800" y="55778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Working hours leads book at 15-18%. Out-of-hours leads book at 5-7%.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85800" y="58978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57% of all GAds spend currently buys leads landing in dead zones (eve, night, weekend).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4952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4952" y="0"/>
            <a:ext cx="3044952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3044952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0"/>
            <a:ext cx="3044952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3044952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4952" y="6400800"/>
            <a:ext cx="3044952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9048" y="6400800"/>
            <a:ext cx="3044952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0" y="6400800"/>
            <a:ext cx="3044952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64808"/>
            <a:ext cx="320040" cy="320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A1A1A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237E"/>
                </a:solidFill>
                <a:latin typeface="Calibri"/>
              </a:rPr>
              <a:t>Quick win — concentrate GAds spend in Mon-Fri 8am-6pm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Phase 1 — fully within our control, deploy this week, no team changes needed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417320"/>
            <a:ext cx="2194560" cy="310896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141732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Time bucket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417320"/>
            <a:ext cx="1097280" cy="310896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1417320"/>
            <a:ext cx="10058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1417320"/>
            <a:ext cx="1280160" cy="310896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1417320"/>
            <a:ext cx="11887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Proposed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1417320"/>
            <a:ext cx="1097280" cy="310896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59" y="1417320"/>
            <a:ext cx="10058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Book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1728216"/>
            <a:ext cx="21945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1728216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Mon-Fri 00-08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1728216"/>
            <a:ext cx="10972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1728216"/>
            <a:ext cx="10058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9.9%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0" y="1728216"/>
            <a:ext cx="1280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200" y="1728216"/>
            <a:ext cx="11887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minimal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1728216"/>
            <a:ext cx="10972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66359" y="1728216"/>
            <a:ext cx="10058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6.5%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2039112"/>
            <a:ext cx="2194560" cy="310896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2039112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Mon-Fri 08-12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2039112"/>
            <a:ext cx="1097280" cy="310896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88920" y="2039112"/>
            <a:ext cx="10058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14.4%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2039112"/>
            <a:ext cx="1280160" cy="310896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86200" y="2039112"/>
            <a:ext cx="11887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maintain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0" y="2039112"/>
            <a:ext cx="1097280" cy="310896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66359" y="2039112"/>
            <a:ext cx="10058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15.4%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2350008"/>
            <a:ext cx="2194560" cy="310896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2350008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Mon-Fri 12-14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0" y="2350008"/>
            <a:ext cx="1097280" cy="310896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88920" y="2350008"/>
            <a:ext cx="10058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8.7%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0" y="2350008"/>
            <a:ext cx="1280160" cy="310896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86200" y="2350008"/>
            <a:ext cx="11887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maintain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0" y="2350008"/>
            <a:ext cx="1097280" cy="310896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66359" y="2350008"/>
            <a:ext cx="10058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18.5%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2660904"/>
            <a:ext cx="2194560" cy="310896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2660904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Mon-Fri 14-18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0" y="2660904"/>
            <a:ext cx="1097280" cy="310896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88920" y="2660904"/>
            <a:ext cx="10058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19.9%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0" y="2660904"/>
            <a:ext cx="1280160" cy="310896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86200" y="2660904"/>
            <a:ext cx="11887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maintain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660904"/>
            <a:ext cx="1097280" cy="310896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66359" y="2660904"/>
            <a:ext cx="10058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15.0%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2971800"/>
            <a:ext cx="21945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297180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Mon-Fri 18-20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0" y="2971800"/>
            <a:ext cx="10972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88920" y="2971800"/>
            <a:ext cx="10058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8.2%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80" y="2971800"/>
            <a:ext cx="1280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86200" y="2971800"/>
            <a:ext cx="11887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reduce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20640" y="2971800"/>
            <a:ext cx="10972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66359" y="2971800"/>
            <a:ext cx="10058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7.1%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3282696"/>
            <a:ext cx="2194560" cy="31089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4360" y="3282696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Mon-Fri 20-24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0" y="3282696"/>
            <a:ext cx="1097280" cy="31089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88920" y="3282696"/>
            <a:ext cx="10058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14.8%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282696"/>
            <a:ext cx="1280160" cy="31089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886200" y="3282696"/>
            <a:ext cx="11887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minimal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20640" y="3282696"/>
            <a:ext cx="1097280" cy="31089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66359" y="3282696"/>
            <a:ext cx="10058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5.3%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3593592"/>
            <a:ext cx="21945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4360" y="3593592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Weekend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593592"/>
            <a:ext cx="10972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88920" y="3593592"/>
            <a:ext cx="10058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24.2%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840480" y="3593592"/>
            <a:ext cx="1280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886200" y="3593592"/>
            <a:ext cx="11887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minimal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120640" y="3593592"/>
            <a:ext cx="10972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66359" y="3593592"/>
            <a:ext cx="10058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5.3%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" y="4114800"/>
            <a:ext cx="5669279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48640" y="4114800"/>
            <a:ext cx="73152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1520" y="4206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Result of shift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448056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57% of spend in dead zones → ~10%. ~85% of spend lands in the 15-18% book-rate window.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83680" y="14173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What we will do (this week)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83680" y="1828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Heavily reduce GAds bids/budget outside Mon-Fri 08-18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83680" y="2157984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Concentrate spend in the proven 15.8% book window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83680" y="24871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Outside that window: minimal (brand-defence only) or pause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83680" y="3017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83680" y="3429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57% of GAds spend buys leads in dead zones → 5.7% book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83680" y="3758184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Mon-Fri 08-18 leads book at 15.8% — nearly 3x better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83680" y="40873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Fully within our control — no team or process changes needed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8640" y="5349240"/>
            <a:ext cx="566927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48640" y="5349240"/>
            <a:ext cx="73152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31520" y="54406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Expected outcome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1520" y="571500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+25-40% more bookings on the same monthly spend. 2-4 week feedback loop.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583680" y="5349240"/>
            <a:ext cx="49377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583680" y="5349240"/>
            <a:ext cx="73152" cy="9601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766560" y="54406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Owner &amp; next step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766560" y="571500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Chris (Google Ads). Deploy this week, monitor weekly.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4952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4952" y="0"/>
            <a:ext cx="3044952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3044952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0"/>
            <a:ext cx="3044952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3044952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4952" y="6400800"/>
            <a:ext cx="3044952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9048" y="6400800"/>
            <a:ext cx="3044952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0" y="6400800"/>
            <a:ext cx="3044952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64808"/>
            <a:ext cx="320040" cy="320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A1A1A"/>
                </a:solidFill>
                <a:latin typeface="Calibr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237E"/>
                </a:solidFill>
                <a:latin typeface="Calibri"/>
              </a:rPr>
              <a:t>The structural fix — split sales into Lead Hunter (SDR) + Closer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Phase 2 — implement once Phase 1 data confirms the in-hours capacity ceiling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417320"/>
            <a:ext cx="39319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417320"/>
            <a:ext cx="73152" cy="2194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15087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SDR — Lead Hunter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874519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  <a:latin typeface="Calibri"/>
              </a:rPr>
              <a:t>1 dedicated 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19456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Sole job: dial new leads within 15 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487168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Qualifies — fit, treatment, timeline, 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779775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Captures basics + warm-transfers live to Closer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072383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Does NOT close the booking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1999" y="1417320"/>
            <a:ext cx="30175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1999" y="1417320"/>
            <a:ext cx="73152" cy="219456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39" y="150876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A237E"/>
                </a:solidFill>
                <a:latin typeface="Calibri"/>
              </a:rPr>
              <a:t>Warm transfer (live)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39" y="19202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BBC05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39" y="260604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SDR briefs Closer in real time while lead is on the phone — Closer starts mid-conversation.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1417320"/>
            <a:ext cx="39319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80960" y="1417320"/>
            <a:ext cx="73152" cy="2194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15087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Closer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1874519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4A853"/>
                </a:solidFill>
                <a:latin typeface="Calibri"/>
              </a:rPr>
              <a:t>Senior agents (e.g. feria, patrycja)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219456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Takes warm handoffs — already qualified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2487168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Owns the booking and the close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2779775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Also works booked-back appointments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3072383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Does NOT dial cold leads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8404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Why this works (and why warm transfer beats callback)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Speed-to-lead is the highest-leverage variable but does not require closer skill — split the work to match the strengths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58114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Lead is already on the phone — no risk of missing the second call. Closer starts primed, not from scratch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9103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Industry data: warm transfers convert 2-3x higher than scheduled callbacks. Standard practice in insurance, mortgage, dental, aesthetics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349240"/>
            <a:ext cx="5532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349240"/>
            <a:ext cx="73152" cy="10058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44068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Phasing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715000"/>
            <a:ext cx="5166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Phase 1 (Slide 6) deploys this week. The capacity ceiling it surfaces is the trigger for Phase 2.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5349240"/>
            <a:ext cx="5440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72200" y="5349240"/>
            <a:ext cx="73152" cy="10058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544068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Decision needed (Tommaso / Giulio)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571500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In-principle agreement to consider the split if Phase 1 data confirms the capacity ceiling.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