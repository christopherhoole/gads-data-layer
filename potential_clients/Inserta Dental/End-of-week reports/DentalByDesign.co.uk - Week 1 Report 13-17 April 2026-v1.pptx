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Brand Avg CPC (£)</c:v>
                </c:pt>
              </c:strCache>
            </c:strRef>
          </c:tx>
          <c:spPr>
            <a:ln w="31750">
              <a:solidFill>
                <a:srgbClr val="4285F4"/>
              </a:solidFill>
            </a:ln>
          </c:spPr>
          <c:marker>
            <c:symbol val="circle"/>
            <c:size val="7"/>
            <c:spPr>
              <a:solidFill>
                <a:srgbClr val="4285F4"/>
              </a:solidFill>
              <a:ln>
                <a:solidFill>
                  <a:srgbClr val="4285F4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23 Feb</c:v>
                </c:pt>
                <c:pt idx="1">
                  <c:v>2 Mar</c:v>
                </c:pt>
                <c:pt idx="2">
                  <c:v>9 Mar</c:v>
                </c:pt>
                <c:pt idx="3">
                  <c:v>16 Mar</c:v>
                </c:pt>
                <c:pt idx="4">
                  <c:v>23 Mar</c:v>
                </c:pt>
                <c:pt idx="5">
                  <c:v>30 Mar</c:v>
                </c:pt>
                <c:pt idx="6">
                  <c:v>6 Apr</c:v>
                </c:pt>
                <c:pt idx="7">
                  <c:v>13 Apr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3.09</c:v>
                </c:pt>
                <c:pt idx="1">
                  <c:v>2.41</c:v>
                </c:pt>
                <c:pt idx="2">
                  <c:v>3.49</c:v>
                </c:pt>
                <c:pt idx="3">
                  <c:v>4.0</c:v>
                </c:pt>
                <c:pt idx="4">
                  <c:v>3.24</c:v>
                </c:pt>
                <c:pt idx="5">
                  <c:v>2.31</c:v>
                </c:pt>
                <c:pt idx="6">
                  <c:v>2.9</c:v>
                </c:pt>
                <c:pt idx="7">
                  <c:v>2.16</c:v>
                </c:pt>
              </c:numCache>
            </c:numRef>
          </c:val>
          <c:smooth val="0"/>
        </c:ser>
        <c:dLbls>
          <c:numFmt formatCode="&quot;£&quot;0.00" sourceLinked="0"/>
          <c:txPr>
            <a:bodyPr/>
            <a:lstStyle/>
            <a:p>
              <a:pPr>
                <a:defRPr sz="900">
                  <a:solidFill>
                    <a:srgbClr val="1A1A1A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Daily PMax CPA (£)</c:v>
                </c:pt>
              </c:strCache>
            </c:strRef>
          </c:tx>
          <c:dPt>
            <c:idx val="0"/>
            <c:spPr>
              <a:solidFill>
                <a:srgbClr val="EA4335"/>
              </a:solidFill>
              <a:ln>
                <a:noFill/>
              </a:ln>
            </c:spPr>
          </c:dPt>
          <c:dPt>
            <c:idx val="1"/>
            <c:spPr>
              <a:solidFill>
                <a:srgbClr val="FBBC05"/>
              </a:solidFill>
              <a:ln>
                <a:noFill/>
              </a:ln>
            </c:spPr>
          </c:dPt>
          <c:dPt>
            <c:idx val="2"/>
            <c:spPr>
              <a:solidFill>
                <a:srgbClr val="34A853"/>
              </a:solidFill>
              <a:ln>
                <a:noFill/>
              </a:ln>
            </c:spPr>
          </c:dPt>
          <c:dPt>
            <c:idx val="3"/>
            <c:spPr>
              <a:solidFill>
                <a:srgbClr val="34A853"/>
              </a:solidFill>
              <a:ln>
                <a:noFill/>
              </a:ln>
            </c:spPr>
          </c:dPt>
          <c:dPt>
            <c:idx val="4"/>
            <c:spPr>
              <a:solidFill>
                <a:srgbClr val="34A853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Mon 13</c:v>
                </c:pt>
                <c:pt idx="1">
                  <c:v>Tue 14</c:v>
                </c:pt>
                <c:pt idx="2">
                  <c:v>Wed 15</c:v>
                </c:pt>
                <c:pt idx="3">
                  <c:v>Thu 16</c:v>
                </c:pt>
                <c:pt idx="4">
                  <c:v>Fri 17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118.68</c:v>
                </c:pt>
                <c:pt idx="1">
                  <c:v>55.85</c:v>
                </c:pt>
                <c:pt idx="2">
                  <c:v>25.18</c:v>
                </c:pt>
                <c:pt idx="3">
                  <c:v>76.29</c:v>
                </c:pt>
                <c:pt idx="4">
                  <c:v>79.22</c:v>
                </c:pt>
              </c:numCache>
            </c:numRef>
          </c:val>
        </c:ser>
        <c:dLbls>
          <c:numFmt formatCode="&quot;£&quot;0" sourceLinked="0"/>
          <c:txPr>
            <a:bodyPr/>
            <a:lstStyle/>
            <a:p>
              <a:pPr>
                <a:defRPr sz="1000" b="1">
                  <a:solidFill>
                    <a:srgbClr val="1A1A1A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A237E"/>
                </a:solidFill>
                <a:latin typeface="Calibri"/>
              </a:rPr>
              <a:t>Weekly spend (£)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Weekly spend (£)</c:v>
                </c:pt>
              </c:strCache>
            </c:strRef>
          </c:tx>
          <c:spPr>
            <a:ln w="31750">
              <a:solidFill>
                <a:srgbClr val="4285F4"/>
              </a:solidFill>
            </a:ln>
          </c:spPr>
          <c:marker>
            <c:symbol val="circle"/>
            <c:size val="6"/>
            <c:spPr>
              <a:solidFill>
                <a:srgbClr val="4285F4"/>
              </a:solidFill>
              <a:ln>
                <a:solidFill>
                  <a:srgbClr val="4285F4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23 Feb</c:v>
                </c:pt>
                <c:pt idx="1">
                  <c:v>2 Mar</c:v>
                </c:pt>
                <c:pt idx="2">
                  <c:v>9 Mar</c:v>
                </c:pt>
                <c:pt idx="3">
                  <c:v>16 Mar</c:v>
                </c:pt>
                <c:pt idx="4">
                  <c:v>23 Mar</c:v>
                </c:pt>
                <c:pt idx="5">
                  <c:v>30 Mar</c:v>
                </c:pt>
                <c:pt idx="6">
                  <c:v>6 Apr</c:v>
                </c:pt>
                <c:pt idx="7">
                  <c:v>13 Apr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17568</c:v>
                </c:pt>
                <c:pt idx="1">
                  <c:v>14856</c:v>
                </c:pt>
                <c:pt idx="2">
                  <c:v>8393</c:v>
                </c:pt>
                <c:pt idx="3">
                  <c:v>13318</c:v>
                </c:pt>
                <c:pt idx="4">
                  <c:v>11558</c:v>
                </c:pt>
                <c:pt idx="5">
                  <c:v>9997</c:v>
                </c:pt>
                <c:pt idx="6">
                  <c:v>10291</c:v>
                </c:pt>
                <c:pt idx="7">
                  <c:v>8462</c:v>
                </c:pt>
              </c:numCache>
            </c:numRef>
          </c:val>
          <c:smooth val="0"/>
        </c:ser>
        <c:dLbls>
          <c:numFmt formatCode="&quot;£&quot;#,##0" sourceLinked="0"/>
          <c:txPr>
            <a:bodyPr/>
            <a:lstStyle/>
            <a:p>
              <a:pPr>
                <a:defRPr sz="900">
                  <a:solidFill>
                    <a:srgbClr val="1A1A1A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A237E"/>
                </a:solidFill>
                <a:latin typeface="Calibri"/>
              </a:rPr>
              <a:t>Weekly all conversions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Weekly all conversions</c:v>
                </c:pt>
              </c:strCache>
            </c:strRef>
          </c:tx>
          <c:spPr>
            <a:ln w="31750">
              <a:solidFill>
                <a:srgbClr val="34A853"/>
              </a:solidFill>
            </a:ln>
          </c:spPr>
          <c:marker>
            <c:symbol val="circle"/>
            <c:size val="6"/>
            <c:spPr>
              <a:solidFill>
                <a:srgbClr val="34A853"/>
              </a:solidFill>
              <a:ln>
                <a:solidFill>
                  <a:srgbClr val="34A853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23 Feb</c:v>
                </c:pt>
                <c:pt idx="1">
                  <c:v>2 Mar</c:v>
                </c:pt>
                <c:pt idx="2">
                  <c:v>9 Mar</c:v>
                </c:pt>
                <c:pt idx="3">
                  <c:v>16 Mar</c:v>
                </c:pt>
                <c:pt idx="4">
                  <c:v>23 Mar</c:v>
                </c:pt>
                <c:pt idx="5">
                  <c:v>30 Mar</c:v>
                </c:pt>
                <c:pt idx="6">
                  <c:v>6 Apr</c:v>
                </c:pt>
                <c:pt idx="7">
                  <c:v>13 Apr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519</c:v>
                </c:pt>
                <c:pt idx="1">
                  <c:v>630</c:v>
                </c:pt>
                <c:pt idx="2">
                  <c:v>420</c:v>
                </c:pt>
                <c:pt idx="3">
                  <c:v>605</c:v>
                </c:pt>
                <c:pt idx="4">
                  <c:v>441</c:v>
                </c:pt>
                <c:pt idx="5">
                  <c:v>555</c:v>
                </c:pt>
                <c:pt idx="6">
                  <c:v>425</c:v>
                </c:pt>
                <c:pt idx="7">
                  <c:v>231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A1A1A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1A237E"/>
                </a:solidFill>
                <a:latin typeface="Calibri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Ad groups (was 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54864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1A237E"/>
                </a:solidFill>
                <a:latin typeface="Calibri"/>
              </a:rPr>
              <a:t>~675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2344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New keywords added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1A237E"/>
                </a:solidFill>
                <a:latin typeface="Calibri"/>
              </a:rPr>
              <a:t>Week 1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 i="0">
                <a:solidFill>
                  <a:srgbClr val="4285F4"/>
                </a:solidFill>
                <a:latin typeface="Calibri"/>
              </a:rPr>
              <a:t>13–17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1A237E"/>
                </a:solidFill>
                <a:latin typeface="Calibri"/>
              </a:rPr>
              <a:t>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920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New RSAs written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20624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1A237E"/>
                </a:solidFill>
                <a:latin typeface="Calibri"/>
              </a:rPr>
              <a:t>~5,000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8920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Structured negatives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89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Dental by Design  |  Prodent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63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Christopher Hoole  ·  Google Ads Specialist  ·  christopherhoole.com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Data: 13–17 April 2026</a:t>
            </a:r>
          </a:p>
        </p:txBody>
      </p:sp>
      <p:pic>
        <p:nvPicPr>
          <p:cNvPr id="15" name="Picture 14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237E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285F4"/>
                </a:solidFill>
                <a:latin typeface="Calibri"/>
              </a:rPr>
              <a:t>Week 1: 13–17 April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Structural reset across three live campaigns; early signal positive on Brand and PMax.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26357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A237E"/>
                </a:solidFill>
                <a:latin typeface="Calibri"/>
              </a:rPr>
              <a:t>£8,462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26357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Week 1 spend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5838" y="1645920"/>
            <a:ext cx="26357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34A853"/>
                </a:solidFill>
                <a:latin typeface="Calibri"/>
              </a:rPr>
              <a:t>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75838" y="2331720"/>
            <a:ext cx="26357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Dengro Offline Leads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4476" y="1645920"/>
            <a:ext cx="26357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34A853"/>
                </a:solidFill>
                <a:latin typeface="Calibri"/>
              </a:rPr>
              <a:t>101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4476" y="2331720"/>
            <a:ext cx="26357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Primary conversions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3114" y="1645920"/>
            <a:ext cx="26357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A237E"/>
                </a:solidFill>
                <a:latin typeface="Calibri"/>
              </a:rPr>
              <a:t>£97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3114" y="2331720"/>
            <a:ext cx="26357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Cost per lead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00400"/>
            <a:ext cx="3611880" cy="457200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Brand: CPC at 8-week 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3200400"/>
            <a:ext cx="3611880" cy="457200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PMax: CPA improving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200400"/>
            <a:ext cx="3611880" cy="457200"/>
          </a:xfrm>
          <a:prstGeom prst="round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DII: Learning phase (rebuild)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4285F4"/>
                </a:solidFill>
                <a:latin typeface="Calibri"/>
              </a:rPr>
              <a:t>Core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51960"/>
            <a:ext cx="11247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Week 1 was structural. Three live campaigns moved off Max Conversion Value bidding onto controllable targets. Around 5,000 structured negatives replaced 2,192 unstructured broad-match entries, and the Dental Implants Intent campaign was rebuilt from 4 legacy ad groups into 25 intent-grouped ad groups. Early signal is positive — Brand CPC is at its 8-week low and PMax CPA improved week-on-week — but DII needs a further week of stabilisation and Monday's end-to-end tracking audit is the gate to any CPA-based decisions from here.</a:t>
            </a:r>
          </a:p>
        </p:txBody>
      </p:sp>
      <p:pic>
        <p:nvPicPr>
          <p:cNvPr id="18" name="Picture 17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92240"/>
            <a:ext cx="274320" cy="274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58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237E"/>
                </a:solidFill>
                <a:latin typeface="Calibri"/>
              </a:rPr>
              <a:t>Work Delivered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285F4"/>
                </a:solidFill>
                <a:latin typeface="Calibri"/>
              </a:rPr>
              <a:t>Tue 14 → Fri 17 April (4 working days post-signing)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935099" y="1783080"/>
            <a:ext cx="8318755" cy="0"/>
          </a:xfrm>
          <a:prstGeom prst="line">
            <a:avLst/>
          </a:prstGeom>
          <a:ln w="3175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770507" y="1618488"/>
            <a:ext cx="329184" cy="329184"/>
          </a:xfrm>
          <a:prstGeom prst="ellipse">
            <a:avLst/>
          </a:prstGeom>
          <a:solidFill>
            <a:srgbClr val="4285F4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24071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237E"/>
                </a:solidFill>
                <a:latin typeface="Calibri"/>
              </a:rPr>
              <a:t>Tue 14 Apr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24071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4285F4"/>
                </a:solidFill>
                <a:latin typeface="Calibri"/>
              </a:rPr>
              <a:t>Negatives Overhaul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2407158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2,192 unstructured negatives → ~4,000+ structured across 11 shared lists (grew to ~5,000 by Fri). ~£63k of 60-day waste blocked at auction source.</a:t>
            </a:r>
          </a:p>
        </p:txBody>
      </p:sp>
      <p:sp>
        <p:nvSpPr>
          <p:cNvPr id="9" name="Oval 8"/>
          <p:cNvSpPr/>
          <p:nvPr/>
        </p:nvSpPr>
        <p:spPr>
          <a:xfrm>
            <a:off x="4543425" y="1618488"/>
            <a:ext cx="329184" cy="329184"/>
          </a:xfrm>
          <a:prstGeom prst="ellipse">
            <a:avLst/>
          </a:prstGeom>
          <a:solidFill>
            <a:srgbClr val="4285F4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4438" y="1051560"/>
            <a:ext cx="24071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237E"/>
                </a:solidFill>
                <a:latin typeface="Calibri"/>
              </a:rPr>
              <a:t>Wed 15 Apr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4438" y="2148840"/>
            <a:ext cx="24071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4285F4"/>
                </a:solidFill>
                <a:latin typeface="Calibri"/>
              </a:rPr>
              <a:t>Account-Wide Reset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4438" y="2560320"/>
            <a:ext cx="2407158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Brand rebuilt (tIS 90% / £1.50 CPC cap). Auto-apply disabled. PMax → Target CPA £60. DII → Target CPA £75. 270-postcode geo + 42-cell schedule rolled to all 3 campaigns. 10 new RSAs.</a:t>
            </a:r>
          </a:p>
        </p:txBody>
      </p:sp>
      <p:sp>
        <p:nvSpPr>
          <p:cNvPr id="13" name="Oval 12"/>
          <p:cNvSpPr/>
          <p:nvPr/>
        </p:nvSpPr>
        <p:spPr>
          <a:xfrm>
            <a:off x="7316343" y="1618488"/>
            <a:ext cx="329184" cy="329184"/>
          </a:xfrm>
          <a:prstGeom prst="ellipse">
            <a:avLst/>
          </a:prstGeom>
          <a:solidFill>
            <a:srgbClr val="4285F4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7356" y="1051560"/>
            <a:ext cx="24071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237E"/>
                </a:solidFill>
                <a:latin typeface="Calibri"/>
              </a:rPr>
              <a:t>Thu 16 Apr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2148840"/>
            <a:ext cx="24071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4285F4"/>
                </a:solidFill>
                <a:latin typeface="Calibri"/>
              </a:rPr>
              <a:t>DII Rebuild (Part 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7356" y="2560320"/>
            <a:ext cx="2407158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20 new ad groups built on Dental Implants Intent. 537 keywords, 60 RSAs. 4 legacy ad groups paused. Website USP audit. 18 questions sent to Giulio + Tommaso.</a:t>
            </a:r>
          </a:p>
        </p:txBody>
      </p:sp>
      <p:sp>
        <p:nvSpPr>
          <p:cNvPr id="17" name="Oval 16"/>
          <p:cNvSpPr/>
          <p:nvPr/>
        </p:nvSpPr>
        <p:spPr>
          <a:xfrm>
            <a:off x="10089261" y="1618488"/>
            <a:ext cx="329184" cy="329184"/>
          </a:xfrm>
          <a:prstGeom prst="ellipse">
            <a:avLst/>
          </a:prstGeom>
          <a:solidFill>
            <a:srgbClr val="4285F4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0274" y="1051560"/>
            <a:ext cx="24071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237E"/>
                </a:solidFill>
                <a:latin typeface="Calibri"/>
              </a:rPr>
              <a:t>Fri 17 Apr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0274" y="2148840"/>
            <a:ext cx="24071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4285F4"/>
                </a:solidFill>
                <a:latin typeface="Calibri"/>
              </a:rPr>
              <a:t>Audit + Completion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0274" y="2560320"/>
            <a:ext cx="2407158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173 DBD-blocking negatives removed (zirconia, same-day teeth, Hammersmith, crowns). AG21-25 built — DII now 25/25 complete. Ad Strength audit across 63 RSAs. Client replies received.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978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285F4"/>
                </a:solidFill>
                <a:latin typeface="Calibri"/>
              </a:rPr>
              <a:t>Key Finding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Three campaigns moved from Max Conversion Value bidding (optimising toward the arbitrary £300 booking value) onto Target CPA / Target Impression Share — putting real cost control in place for the first time.</a:t>
            </a:r>
          </a:p>
        </p:txBody>
      </p:sp>
      <p:pic>
        <p:nvPicPr>
          <p:cNvPr id="23" name="Picture 22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92240"/>
            <a:ext cx="274320" cy="274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858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237E"/>
                </a:solidFill>
                <a:latin typeface="Calibri"/>
              </a:rPr>
              <a:t>Brand Campaign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285F4"/>
                </a:solidFill>
                <a:latin typeface="Calibri"/>
              </a:rPr>
              <a:t>Week 1: 13–17 April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Bid strategy rebuilt Wednesday 15 April — Target Impression Share 90% / Max CPC £1.50.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26357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A237E"/>
                </a:solidFill>
                <a:latin typeface="Calibri"/>
              </a:rPr>
              <a:t>£280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6357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Week spend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5838" y="1600200"/>
            <a:ext cx="26357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34A853"/>
                </a:solidFill>
                <a:latin typeface="Calibri"/>
              </a:rPr>
              <a:t>12.0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75838" y="2286000"/>
            <a:ext cx="26357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Primary conv.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4476" y="1600200"/>
            <a:ext cx="26357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34A853"/>
                </a:solidFill>
                <a:latin typeface="Calibri"/>
              </a:rPr>
              <a:t>£23.39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4476" y="2286000"/>
            <a:ext cx="26357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Cost / conv.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3114" y="1600200"/>
            <a:ext cx="26357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34A853"/>
                </a:solidFill>
                <a:latin typeface="Calibri"/>
              </a:rPr>
              <a:t>£2.16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3114" y="2286000"/>
            <a:ext cx="26357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Avg CPC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3114" y="2560320"/>
            <a:ext cx="26357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Lowest of 8 weeks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3337560"/>
          <a:ext cx="713232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863840" y="3337560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285F4"/>
                </a:solidFill>
                <a:latin typeface="Calibri"/>
              </a:rPr>
              <a:t>Key Finding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611880"/>
            <a:ext cx="3886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Brand CPC is at its lowest of 8 tracked weeks. The £1.50 Max CPC cap is biting without suppressing volume — impression share held at 92%+ and conversion volume tracked with spend.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846320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285F4"/>
                </a:solidFill>
                <a:latin typeface="Calibri"/>
              </a:rPr>
              <a:t>Recommendation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5120640"/>
            <a:ext cx="3886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Hold the £1.50 cap through Week 2. Evaluate lowering toward £1.20 once the 14-day bid-strategy learning phase completes.</a:t>
            </a:r>
          </a:p>
        </p:txBody>
      </p:sp>
      <p:pic>
        <p:nvPicPr>
          <p:cNvPr id="19" name="Picture 18" descr="act_logo_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492240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858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237E"/>
                </a:solidFill>
                <a:latin typeface="Calibri"/>
              </a:rPr>
              <a:t>Performance Max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285F4"/>
                </a:solidFill>
                <a:latin typeface="Calibri"/>
              </a:rPr>
              <a:t>Week 1: 13–17 April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Bid strategy switched Wed 15 April — Max Conversion Value (tROAS) → Target CPA £60.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26357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A237E"/>
                </a:solidFill>
                <a:latin typeface="Calibri"/>
              </a:rPr>
              <a:t>£5,960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6357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Week spend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5838" y="1600200"/>
            <a:ext cx="26357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A237E"/>
                </a:solidFill>
                <a:latin typeface="Calibri"/>
              </a:rPr>
              <a:t>81.5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75838" y="2286000"/>
            <a:ext cx="26357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Primary conv.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4476" y="1600200"/>
            <a:ext cx="26357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34A853"/>
                </a:solidFill>
                <a:latin typeface="Calibri"/>
              </a:rPr>
              <a:t>£73.13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4476" y="2286000"/>
            <a:ext cx="26357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Cost / conv.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4476" y="2560320"/>
            <a:ext cx="26357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Down from £85.86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3114" y="1600200"/>
            <a:ext cx="26357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A237E"/>
                </a:solidFill>
                <a:latin typeface="Calibri"/>
              </a:rPr>
              <a:t>48,349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3114" y="2286000"/>
            <a:ext cx="26357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Impressions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3337560"/>
          <a:ext cx="713232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5" name="Connector 14"/>
          <p:cNvCxnSpPr/>
          <p:nvPr/>
        </p:nvCxnSpPr>
        <p:spPr>
          <a:xfrm>
            <a:off x="4023360" y="3520440"/>
            <a:ext cx="0" cy="2697480"/>
          </a:xfrm>
          <a:prstGeom prst="line">
            <a:avLst/>
          </a:prstGeom>
          <a:ln w="19050">
            <a:solidFill>
              <a:srgbClr val="1A237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468880" y="617220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1">
                <a:solidFill>
                  <a:srgbClr val="1A237E"/>
                </a:solidFill>
                <a:latin typeface="Calibri"/>
              </a:rPr>
              <a:t>Target CPA £60 applied Wed 15 Apr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337560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285F4"/>
                </a:solidFill>
                <a:latin typeface="Calibri"/>
              </a:rPr>
              <a:t>Key Finding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611880"/>
            <a:ext cx="3886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CPA improved week-on-week despite the mid-week bid-strategy switch and a persistent "asset groups limited by policy" flag restricting reach. Wednesday's £25 CPA shows the ceiling potential once policy constraints are cleared.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937760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BBC05"/>
                </a:solidFill>
                <a:latin typeface="Calibri"/>
              </a:rPr>
              <a:t>Flagged for Week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212080"/>
            <a:ext cx="3886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Rebuild PMax asset groups with policy-safe copy aligned to Giulio's verified claims (no "99.12%", no "Save 60%", no "Top 10 Europe"). Scheduled Wed 22 April.</a:t>
            </a:r>
          </a:p>
        </p:txBody>
      </p:sp>
      <p:pic>
        <p:nvPicPr>
          <p:cNvPr id="21" name="Picture 20" descr="act_logo_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492240"/>
            <a:ext cx="274320" cy="274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858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237E"/>
                </a:solidFill>
                <a:latin typeface="Calibri"/>
              </a:rPr>
              <a:t>Dental Implants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285F4"/>
                </a:solidFill>
                <a:latin typeface="Calibri"/>
              </a:rPr>
              <a:t>Week 1: 13–17 April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Campaign fully rebuilt Thu–Fri. Entered learning phase Wed PM; meaningful signal needs 5–7 days.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26357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A237E"/>
                </a:solidFill>
                <a:latin typeface="Calibri"/>
              </a:rPr>
              <a:t>£2,222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6357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Week spend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5838" y="1600200"/>
            <a:ext cx="26357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A237E"/>
                </a:solidFill>
                <a:latin typeface="Calibr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75838" y="2286000"/>
            <a:ext cx="26357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Ad groups (was 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4476" y="1600200"/>
            <a:ext cx="26357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A237E"/>
                </a:solidFill>
                <a:latin typeface="Calibri"/>
              </a:rPr>
              <a:t>~675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4476" y="2286000"/>
            <a:ext cx="26357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Keywords (was 27)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3114" y="1600200"/>
            <a:ext cx="26357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A237E"/>
                </a:solidFill>
                <a:latin typeface="Calibri"/>
              </a:rPr>
              <a:t>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3114" y="2286000"/>
            <a:ext cx="26357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RSAs (was 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46120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Calibri"/>
              </a:rPr>
              <a:t>Structural rebuild — before / 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30752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Ad groups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0" y="3657600"/>
            <a:ext cx="15327" cy="18288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40280" y="3648456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3858768"/>
            <a:ext cx="95794" cy="2286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36074" y="385876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285F4"/>
                </a:solidFill>
                <a:latin typeface="Calibri"/>
              </a:rPr>
              <a:t>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61104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Keywords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4187952"/>
            <a:ext cx="103457" cy="18288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40280" y="417880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94560" y="4389120"/>
            <a:ext cx="2586445" cy="2286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6725" y="438912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285F4"/>
                </a:solidFill>
                <a:latin typeface="Calibri"/>
              </a:rPr>
              <a:t>675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791456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RSAs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0" y="4718304"/>
            <a:ext cx="22990" cy="18288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40280" y="470916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94560" y="4919472"/>
            <a:ext cx="287382" cy="2286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27662" y="4919472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285F4"/>
                </a:solidFill>
                <a:latin typeface="Calibri"/>
              </a:rPr>
              <a:t>75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321808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Headlines written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523951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5449824"/>
            <a:ext cx="4023360" cy="2286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5449824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285F4"/>
                </a:solidFill>
                <a:latin typeface="Calibri"/>
              </a:rPr>
              <a:t>1,050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94560" y="5870448"/>
            <a:ext cx="164592" cy="10972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23160" y="58247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Before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08960" y="5870448"/>
            <a:ext cx="164592" cy="10972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37560" y="58247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285F4"/>
                </a:solidFill>
                <a:latin typeface="Calibri"/>
              </a:rPr>
              <a:t>After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3337560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285F4"/>
                </a:solidFill>
                <a:latin typeface="Calibri"/>
              </a:rPr>
              <a:t>Key Finding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3611880"/>
            <a:ext cx="3886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The campaign entered learning Wed PM after a full structural rebuild. The five days of data (2.5 on the new structure) show a high nominal CPA — expected noise, not signal. All 27 legacy keywords are covered by the new 25-ad-group structure.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83480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285F4"/>
                </a:solidFill>
                <a:latin typeface="Calibri"/>
              </a:rPr>
              <a:t>Recommendation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5257800"/>
            <a:ext cx="3886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Hold the new structure untouched through Wed 22 April. Ad Strength audit on AG22-25 resumes Tuesday once Google clears the new ads from Pending review.</a:t>
            </a:r>
          </a:p>
        </p:txBody>
      </p:sp>
      <p:pic>
        <p:nvPicPr>
          <p:cNvPr id="41" name="Picture 40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92240"/>
            <a:ext cx="274320" cy="2743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858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237E"/>
                </a:solidFill>
                <a:latin typeface="Calibri"/>
              </a:rPr>
              <a:t>The Numbers That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285F4"/>
                </a:solidFill>
                <a:latin typeface="Calibri"/>
              </a:rPr>
              <a:t>Business-level outcomes —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Full end-to-end tracking audit scheduled Mon 20 April — the gate to all CPA-based decisions.</a:t>
            </a:r>
          </a:p>
        </p:txBody>
      </p:sp>
      <p:sp>
        <p:nvSpPr>
          <p:cNvPr id="5" name="Chevron 4"/>
          <p:cNvSpPr/>
          <p:nvPr/>
        </p:nvSpPr>
        <p:spPr>
          <a:xfrm>
            <a:off x="512064" y="1737360"/>
            <a:ext cx="2139696" cy="1371600"/>
          </a:xfrm>
          <a:prstGeom prst="chevron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32004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£8,462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Spend</a:t>
            </a:r>
          </a:p>
        </p:txBody>
      </p:sp>
      <p:sp>
        <p:nvSpPr>
          <p:cNvPr id="6" name="Chevron 5"/>
          <p:cNvSpPr/>
          <p:nvPr/>
        </p:nvSpPr>
        <p:spPr>
          <a:xfrm>
            <a:off x="2761488" y="1737360"/>
            <a:ext cx="2139696" cy="1371600"/>
          </a:xfrm>
          <a:prstGeom prst="chevron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32004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2,339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Clicks</a:t>
            </a:r>
          </a:p>
        </p:txBody>
      </p:sp>
      <p:sp>
        <p:nvSpPr>
          <p:cNvPr id="7" name="Chevron 6"/>
          <p:cNvSpPr/>
          <p:nvPr/>
        </p:nvSpPr>
        <p:spPr>
          <a:xfrm>
            <a:off x="5010912" y="1737360"/>
            <a:ext cx="2139696" cy="1371600"/>
          </a:xfrm>
          <a:prstGeom prst="chevron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32004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87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Dengro Leads</a:t>
            </a:r>
          </a:p>
        </p:txBody>
      </p:sp>
      <p:sp>
        <p:nvSpPr>
          <p:cNvPr id="8" name="Chevron 7"/>
          <p:cNvSpPr/>
          <p:nvPr/>
        </p:nvSpPr>
        <p:spPr>
          <a:xfrm>
            <a:off x="7260336" y="1737360"/>
            <a:ext cx="2139696" cy="1371600"/>
          </a:xfrm>
          <a:prstGeom prst="chevron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32004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[audit]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Bookings</a:t>
            </a:r>
          </a:p>
        </p:txBody>
      </p:sp>
      <p:sp>
        <p:nvSpPr>
          <p:cNvPr id="9" name="Chevron 8"/>
          <p:cNvSpPr/>
          <p:nvPr/>
        </p:nvSpPr>
        <p:spPr>
          <a:xfrm>
            <a:off x="9509760" y="1737360"/>
            <a:ext cx="2139696" cy="1371600"/>
          </a:xfrm>
          <a:prstGeom prst="chevron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32004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7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Purchases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Dengro Offline Booking fired 0 times in this week's conversion export. Monday's tracking audit will confirm whether this is a reporting gap or a genuine zero-booking week. No CPA-based decisions will be drawn before the audit closes.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Calibri"/>
              </a:rPr>
              <a:t>Dengro Offline Leads — by campaign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389120"/>
          <a:ext cx="112471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Campaign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Spend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Dengro Leads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Spend per Lead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Performance 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£5,960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78.5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£75.92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Dental Implants Intent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£2,222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6.5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£341.83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Brand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£280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£140.24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3" name="Picture 12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92240"/>
            <a:ext cx="274320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237E"/>
                </a:solidFill>
                <a:latin typeface="Calibri"/>
              </a:rPr>
              <a:t>8-Week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285F4"/>
                </a:solidFill>
                <a:latin typeface="Calibri"/>
              </a:rPr>
              <a:t>23 February – 17 April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Account trajectory into Week 1. The engagement began 14 April (Week 8 on these charts).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56235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263640" y="1920240"/>
          <a:ext cx="562356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989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285F4"/>
                </a:solidFill>
                <a:latin typeface="Calibri"/>
              </a:rPr>
              <a:t>Key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63640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Spend is down 52% vs 8-week peak as wasted impressions are removed at auction source. Conversion volume fell proportionally during structural disruption — efficiency (cost per lead) is the metric to watch from Week 3 onward, once the rebuild stabilises.</a:t>
            </a:r>
          </a:p>
        </p:txBody>
      </p:sp>
      <p:pic>
        <p:nvPicPr>
          <p:cNvPr id="9" name="Picture 8" descr="act_logo_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6492240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237E"/>
                </a:solidFill>
                <a:latin typeface="Calibri"/>
              </a:rPr>
              <a:t>Client Clarifications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285F4"/>
                </a:solidFill>
                <a:latin typeface="Calibri"/>
              </a:rPr>
              <a:t>Giulio's replies — Fri 17 April 16:47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5303520"/>
              </a:tblGrid>
              <a:tr h="493776">
                <a:tc>
                  <a:txBody>
                    <a:bodyPr lIns="109728" rIns="109728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Giulio confirmed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Action taken / scheduled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93776">
                <a:tc>
                  <a:txBody>
                    <a:bodyPr lIns="109728" rIns="109728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Consultation: Free + £25 booking deposit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Update ad copy to "Free Consultation (£25 booking deposit)" — W2 Mon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lIns="109728" rIns="109728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"25+ years expertise" = team-wide across dental field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09728" rIns="109728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Keep as-is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93776">
                <a:tc>
                  <a:txBody>
                    <a:bodyPr lIns="109728" rIns="109728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"99.12% success rate" — estimate, not tracked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Remove from all ads — W2 Tue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lIns="109728" rIns="109728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"Save 60%" — estimate, no source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09728" rIns="109728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Remove — W2 Tue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93776">
                <a:tc>
                  <a:txBody>
                    <a:bodyPr lIns="109728" rIns="109728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"Top 10 Implant Provider in Europe" — self-claim, not an award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Reword as a factual descriptor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lIns="109728" rIns="109728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"Best Implant Clinic 2024" — clinic was a finalist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09728" rIns="109728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Reword to "2024 Finalist"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93776">
                <a:tc>
                  <a:txBody>
                    <a:bodyPr lIns="109728" rIns="109728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Lead → Booking: 13%  ·  Booking → Treatment: 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Use in CPA / cost-per-booking modelling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lIns="109728" rIns="109728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~10,000 patients  ·  20,000+ implants placed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109728" rIns="109728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Replace outdated "2,500+ patients" claim with verified figures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93776">
                <a:tc>
                  <a:txBody>
                    <a:bodyPr lIns="109728" rIns="109728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Advertising focus: dental implants only (single + double arches)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Scope confirmed — cosmetic / general deferred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92240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237E"/>
                </a:solidFill>
                <a:latin typeface="Calibri"/>
              </a:rPr>
              <a:t>Week 2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285F4"/>
                </a:solidFill>
                <a:latin typeface="Calibri"/>
              </a:rPr>
              <a:t>20 – 24 April 2026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00200"/>
          <a:ext cx="1124712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743200"/>
                <a:gridCol w="7040880"/>
              </a:tblGrid>
              <a:tr h="784860">
                <a:tc>
                  <a:txBody>
                    <a:bodyPr lIns="109728" rIns="109728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Focus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Expected output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784860">
                <a:tc>
                  <a:txBody>
                    <a:bodyPr wrap="square" lIns="109728" rIns="109728" tIns="73152" bIns="73152"/>
                    <a:lstStyle/>
                    <a:p>
                      <a:r>
                        <a:rPr sz="1200" b="1">
                          <a:solidFill>
                            <a:srgbClr val="1A237E"/>
                          </a:solidFill>
                          <a:latin typeface="Calibri"/>
                        </a:rPr>
                        <a:t>Mon 20 Apr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r>
                        <a:rPr sz="1200" b="1">
                          <a:solidFill>
                            <a:srgbClr val="4285F4"/>
                          </a:solidFill>
                          <a:latin typeface="Calibri"/>
                        </a:rPr>
                        <a:t>Conversion Tracking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End-to-end verification on all Search campaign landing pages. Confirmation that Lead / Booking / Purchase fire reliably — the gate to all CPA analysis going forward.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 wrap="square" lIns="109728" rIns="109728" tIns="73152" bIns="73152"/>
                    <a:lstStyle/>
                    <a:p>
                      <a:r>
                        <a:rPr sz="1200" b="1">
                          <a:solidFill>
                            <a:srgbClr val="1A237E"/>
                          </a:solidFill>
                          <a:latin typeface="Calibri"/>
                        </a:rPr>
                        <a:t>Tue 21 Apr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r>
                        <a:rPr sz="1200" b="1">
                          <a:solidFill>
                            <a:srgbClr val="4285F4"/>
                          </a:solidFill>
                          <a:latin typeface="Calibri"/>
                        </a:rPr>
                        <a:t>Claim Corrections + Ad Strength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Remove "99.12%" and "Save 60%" from all ads. Reword Top 10 / Best Clinic claims per Giulio's replies. AG22-25 Ad Strength audit once Google clears Pending. Second pass on AG1-21.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84860">
                <a:tc>
                  <a:txBody>
                    <a:bodyPr wrap="square" lIns="109728" rIns="109728" tIns="73152" bIns="73152"/>
                    <a:lstStyle/>
                    <a:p>
                      <a:r>
                        <a:rPr sz="1200" b="1">
                          <a:solidFill>
                            <a:srgbClr val="1A237E"/>
                          </a:solidFill>
                          <a:latin typeface="Calibri"/>
                        </a:rPr>
                        <a:t>Wed 22 Apr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r>
                        <a:rPr sz="1200" b="1">
                          <a:solidFill>
                            <a:srgbClr val="4285F4"/>
                          </a:solidFill>
                          <a:latin typeface="Calibri"/>
                        </a:rPr>
                        <a:t>PMax Rebuild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New asset groups with policy-safe copy aligned to Giulio's verified claims. Target: clear the "asset groups limited by policy" flag that has restricted reach since engagement started.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 wrap="square" lIns="109728" rIns="109728" tIns="73152" bIns="73152"/>
                    <a:lstStyle/>
                    <a:p>
                      <a:r>
                        <a:rPr sz="1200" b="1">
                          <a:solidFill>
                            <a:srgbClr val="1A237E"/>
                          </a:solidFill>
                          <a:latin typeface="Calibri"/>
                        </a:rPr>
                        <a:t>Thu 23 Apr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r>
                        <a:rPr sz="1200" b="1">
                          <a:solidFill>
                            <a:srgbClr val="4285F4"/>
                          </a:solidFill>
                          <a:latin typeface="Calibri"/>
                        </a:rPr>
                        <a:t>Ad Extensions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Sitelinks, callouts, and structured snippets deployed across all 3 live campaigns. First time the account has had a complete extensions suite.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84860">
                <a:tc>
                  <a:txBody>
                    <a:bodyPr wrap="square" lIns="109728" rIns="109728" tIns="73152" bIns="73152"/>
                    <a:lstStyle/>
                    <a:p>
                      <a:r>
                        <a:rPr sz="1200" b="1">
                          <a:solidFill>
                            <a:srgbClr val="1A237E"/>
                          </a:solidFill>
                          <a:latin typeface="Calibri"/>
                        </a:rPr>
                        <a:t>Fri 24 Apr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r>
                        <a:rPr sz="1200" b="1">
                          <a:solidFill>
                            <a:srgbClr val="4285F4"/>
                          </a:solidFill>
                          <a:latin typeface="Calibri"/>
                        </a:rPr>
                        <a:t>Week 2 Performance Review +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7-day comparison vs Week 1. Signal emerging on Brand (mature) and PMax (settling). DII still in learning but trajectory visible. Week 2 report delivered EoD.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92240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 i="0">
                <a:solidFill>
                  <a:srgbClr val="1A237E"/>
                </a:solidFill>
                <a:latin typeface="Calibri"/>
              </a:rP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4285F4"/>
                </a:solidFill>
                <a:latin typeface="Calibri"/>
              </a:rPr>
              <a:t>Happy to walk through any section of this report or align on Week 2 priorities over a call.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1A237E"/>
                </a:solidFill>
                <a:latin typeface="Calibri"/>
              </a:rPr>
              <a:t>Christopher Hoole  ·  Google Ads Specialist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666666"/>
                </a:solidFill>
                <a:latin typeface="Calibri"/>
              </a:rPr>
              <a:t>christopherhoole.com   ·   chrishoole101@gmail.com   ·   +44 7451 252857</a:t>
            </a:r>
          </a:p>
        </p:txBody>
      </p:sp>
      <p:pic>
        <p:nvPicPr>
          <p:cNvPr id="6" name="Picture 5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12648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