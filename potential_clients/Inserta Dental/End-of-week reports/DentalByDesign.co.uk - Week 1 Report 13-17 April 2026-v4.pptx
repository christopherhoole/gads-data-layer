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57B4CA-F214-4119-AC33-EC7D61E3182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4B406B6-8677-40DD-AE27-470DD832C8B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597BD1-6B04-424C-B2B1-A010DA67537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B0DE3D-4DAF-4B5A-8CAB-6EC2117FE74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8EC011-1156-4A2C-BF15-5337983001C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D29125-8F0D-43BC-AE55-5E4A14AC526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1161F71-1551-4894-B04B-7BF65073F52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F84051-C216-4CC9-B24D-2F19BBFEDD0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C48A91-339F-45DC-A2F8-83ACF3C394C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A744B1-D2E7-46CD-A517-C6C3323A680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9AF71D-4D43-4FFC-B584-A5560B049A1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4;p1"/>
          <p:cNvSpPr/>
          <p:nvPr/>
        </p:nvSpPr>
        <p:spPr>
          <a:xfrm>
            <a:off x="0" y="0"/>
            <a:ext cx="3047400" cy="637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5;p1"/>
          <p:cNvSpPr/>
          <p:nvPr/>
        </p:nvSpPr>
        <p:spPr>
          <a:xfrm>
            <a:off x="3047760" y="0"/>
            <a:ext cx="3047400" cy="637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"/>
          <p:cNvSpPr/>
          <p:nvPr/>
        </p:nvSpPr>
        <p:spPr>
          <a:xfrm>
            <a:off x="6095520" y="0"/>
            <a:ext cx="3047400" cy="637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"/>
          <p:cNvSpPr/>
          <p:nvPr/>
        </p:nvSpPr>
        <p:spPr>
          <a:xfrm>
            <a:off x="9142920" y="0"/>
            <a:ext cx="3047400" cy="637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1"/>
          <p:cNvSpPr/>
          <p:nvPr/>
        </p:nvSpPr>
        <p:spPr>
          <a:xfrm>
            <a:off x="0" y="64080"/>
            <a:ext cx="109440" cy="67935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Google Shape;89;p1" descr="act_logo_official.png"/>
          <p:cNvPicPr/>
          <p:nvPr/>
        </p:nvPicPr>
        <p:blipFill>
          <a:blip r:embed="rId1"/>
          <a:stretch/>
        </p:blipFill>
        <p:spPr>
          <a:xfrm>
            <a:off x="548640" y="45720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90;p1"/>
          <p:cNvSpPr/>
          <p:nvPr/>
        </p:nvSpPr>
        <p:spPr>
          <a:xfrm>
            <a:off x="548640" y="1280160"/>
            <a:ext cx="5248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Report</a:t>
            </a:r>
            <a:br>
              <a:rPr sz="4400"/>
            </a:b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"/>
          <p:cNvSpPr/>
          <p:nvPr/>
        </p:nvSpPr>
        <p:spPr>
          <a:xfrm>
            <a:off x="548640" y="3017520"/>
            <a:ext cx="2285640" cy="45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"/>
          <p:cNvSpPr/>
          <p:nvPr/>
        </p:nvSpPr>
        <p:spPr>
          <a:xfrm>
            <a:off x="548640" y="324612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Dental by Design  |  Prodent Group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3;p1"/>
          <p:cNvSpPr/>
          <p:nvPr/>
        </p:nvSpPr>
        <p:spPr>
          <a:xfrm>
            <a:off x="548640" y="3931920"/>
            <a:ext cx="5028840" cy="6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Christopher Hoole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Google Ads Specialist  |  April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christopherhoole.com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4;p1"/>
          <p:cNvSpPr/>
          <p:nvPr/>
        </p:nvSpPr>
        <p:spPr>
          <a:xfrm>
            <a:off x="548640" y="5029200"/>
            <a:ext cx="411444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5;p1"/>
          <p:cNvSpPr/>
          <p:nvPr/>
        </p:nvSpPr>
        <p:spPr>
          <a:xfrm>
            <a:off x="640080" y="504756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Data: Monday 13 – Friday 17 April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6;p1"/>
          <p:cNvSpPr/>
          <p:nvPr/>
        </p:nvSpPr>
        <p:spPr>
          <a:xfrm>
            <a:off x="6217920" y="457200"/>
            <a:ext cx="539460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97;p1"/>
          <p:cNvSpPr/>
          <p:nvPr/>
        </p:nvSpPr>
        <p:spPr>
          <a:xfrm>
            <a:off x="6217920" y="457200"/>
            <a:ext cx="72720" cy="2285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6360" rIns="36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98;p1"/>
          <p:cNvSpPr/>
          <p:nvPr/>
        </p:nvSpPr>
        <p:spPr>
          <a:xfrm>
            <a:off x="6492240" y="54864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Brand Avg CPC Trend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99;p1"/>
          <p:cNvSpPr/>
          <p:nvPr/>
        </p:nvSpPr>
        <p:spPr>
          <a:xfrm>
            <a:off x="6492240" y="914400"/>
            <a:ext cx="493740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£3.18 → £1.61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0;p1"/>
          <p:cNvSpPr/>
          <p:nvPr/>
        </p:nvSpPr>
        <p:spPr>
          <a:xfrm>
            <a:off x="6492240" y="1645920"/>
            <a:ext cx="493740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−49% week-on-week · lowest of 8 tracked weeks · impression share 92%+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1;p1"/>
          <p:cNvSpPr/>
          <p:nvPr/>
        </p:nvSpPr>
        <p:spPr>
          <a:xfrm>
            <a:off x="6217920" y="2926080"/>
            <a:ext cx="16729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;p1"/>
          <p:cNvSpPr/>
          <p:nvPr/>
        </p:nvSpPr>
        <p:spPr>
          <a:xfrm>
            <a:off x="6217920" y="2926080"/>
            <a:ext cx="54360" cy="10512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3;p1"/>
          <p:cNvSpPr/>
          <p:nvPr/>
        </p:nvSpPr>
        <p:spPr>
          <a:xfrm>
            <a:off x="6355080" y="3035880"/>
            <a:ext cx="144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~675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4;p1"/>
          <p:cNvSpPr/>
          <p:nvPr/>
        </p:nvSpPr>
        <p:spPr>
          <a:xfrm>
            <a:off x="6355080" y="3474720"/>
            <a:ext cx="144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New Keywords Added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5;p1"/>
          <p:cNvSpPr/>
          <p:nvPr/>
        </p:nvSpPr>
        <p:spPr>
          <a:xfrm>
            <a:off x="8074080" y="2926080"/>
            <a:ext cx="16729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6;p1"/>
          <p:cNvSpPr/>
          <p:nvPr/>
        </p:nvSpPr>
        <p:spPr>
          <a:xfrm>
            <a:off x="8074080" y="2926080"/>
            <a:ext cx="54360" cy="10512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7;p1"/>
          <p:cNvSpPr/>
          <p:nvPr/>
        </p:nvSpPr>
        <p:spPr>
          <a:xfrm>
            <a:off x="8211240" y="3035880"/>
            <a:ext cx="144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8;p1"/>
          <p:cNvSpPr/>
          <p:nvPr/>
        </p:nvSpPr>
        <p:spPr>
          <a:xfrm>
            <a:off x="8211240" y="3474720"/>
            <a:ext cx="144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DII Ad Groups (was 4)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9;p1"/>
          <p:cNvSpPr/>
          <p:nvPr/>
        </p:nvSpPr>
        <p:spPr>
          <a:xfrm>
            <a:off x="9939600" y="2926080"/>
            <a:ext cx="16729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0;p1"/>
          <p:cNvSpPr/>
          <p:nvPr/>
        </p:nvSpPr>
        <p:spPr>
          <a:xfrm>
            <a:off x="9939600" y="2926080"/>
            <a:ext cx="54360" cy="10512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1;p1"/>
          <p:cNvSpPr/>
          <p:nvPr/>
        </p:nvSpPr>
        <p:spPr>
          <a:xfrm>
            <a:off x="10076760" y="3035880"/>
            <a:ext cx="144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75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12;p1"/>
          <p:cNvSpPr/>
          <p:nvPr/>
        </p:nvSpPr>
        <p:spPr>
          <a:xfrm>
            <a:off x="10076760" y="3474720"/>
            <a:ext cx="144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New RSAs Written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13;p1"/>
          <p:cNvSpPr/>
          <p:nvPr/>
        </p:nvSpPr>
        <p:spPr>
          <a:xfrm>
            <a:off x="0" y="6400800"/>
            <a:ext cx="3047400" cy="36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4;p1"/>
          <p:cNvSpPr/>
          <p:nvPr/>
        </p:nvSpPr>
        <p:spPr>
          <a:xfrm>
            <a:off x="3047760" y="6400800"/>
            <a:ext cx="3047400" cy="36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5;p1"/>
          <p:cNvSpPr/>
          <p:nvPr/>
        </p:nvSpPr>
        <p:spPr>
          <a:xfrm>
            <a:off x="6095520" y="6400800"/>
            <a:ext cx="3047400" cy="36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6;p1"/>
          <p:cNvSpPr/>
          <p:nvPr/>
        </p:nvSpPr>
        <p:spPr>
          <a:xfrm>
            <a:off x="9142920" y="6400800"/>
            <a:ext cx="3047400" cy="36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21;p2"/>
          <p:cNvSpPr/>
          <p:nvPr/>
        </p:nvSpPr>
        <p:spPr>
          <a:xfrm>
            <a:off x="0" y="0"/>
            <a:ext cx="3047400" cy="54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2;p2"/>
          <p:cNvSpPr/>
          <p:nvPr/>
        </p:nvSpPr>
        <p:spPr>
          <a:xfrm>
            <a:off x="3047760" y="0"/>
            <a:ext cx="3047400" cy="54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3;p2"/>
          <p:cNvSpPr/>
          <p:nvPr/>
        </p:nvSpPr>
        <p:spPr>
          <a:xfrm>
            <a:off x="6095520" y="0"/>
            <a:ext cx="3047400" cy="54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4;p2"/>
          <p:cNvSpPr/>
          <p:nvPr/>
        </p:nvSpPr>
        <p:spPr>
          <a:xfrm>
            <a:off x="9142920" y="0"/>
            <a:ext cx="3047400" cy="54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5;p2"/>
          <p:cNvSpPr/>
          <p:nvPr/>
        </p:nvSpPr>
        <p:spPr>
          <a:xfrm>
            <a:off x="548640" y="2743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Executive Summary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6;p2"/>
          <p:cNvSpPr/>
          <p:nvPr/>
        </p:nvSpPr>
        <p:spPr>
          <a:xfrm>
            <a:off x="8348400" y="274320"/>
            <a:ext cx="329148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7;p2"/>
          <p:cNvSpPr/>
          <p:nvPr/>
        </p:nvSpPr>
        <p:spPr>
          <a:xfrm>
            <a:off x="8439840" y="292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Week 1 · 13-17 Apr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8;p2"/>
          <p:cNvSpPr/>
          <p:nvPr/>
        </p:nvSpPr>
        <p:spPr>
          <a:xfrm>
            <a:off x="548640" y="1097280"/>
            <a:ext cx="2559960" cy="959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9;p2"/>
          <p:cNvSpPr/>
          <p:nvPr/>
        </p:nvSpPr>
        <p:spPr>
          <a:xfrm>
            <a:off x="548640" y="1097280"/>
            <a:ext cx="54360" cy="9597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30;p2"/>
          <p:cNvSpPr/>
          <p:nvPr/>
        </p:nvSpPr>
        <p:spPr>
          <a:xfrm>
            <a:off x="731520" y="11887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£8,462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1;p2"/>
          <p:cNvSpPr/>
          <p:nvPr/>
        </p:nvSpPr>
        <p:spPr>
          <a:xfrm>
            <a:off x="731520" y="1645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 1 Spend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2;p2"/>
          <p:cNvSpPr/>
          <p:nvPr/>
        </p:nvSpPr>
        <p:spPr>
          <a:xfrm>
            <a:off x="3383280" y="1097280"/>
            <a:ext cx="2559960" cy="959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33;p2"/>
          <p:cNvSpPr/>
          <p:nvPr/>
        </p:nvSpPr>
        <p:spPr>
          <a:xfrm>
            <a:off x="3383280" y="1097280"/>
            <a:ext cx="54360" cy="9597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4;p2"/>
          <p:cNvSpPr/>
          <p:nvPr/>
        </p:nvSpPr>
        <p:spPr>
          <a:xfrm>
            <a:off x="3566160" y="11887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87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5;p2"/>
          <p:cNvSpPr/>
          <p:nvPr/>
        </p:nvSpPr>
        <p:spPr>
          <a:xfrm>
            <a:off x="3566160" y="1645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Dengro Offline Leads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6;p2"/>
          <p:cNvSpPr/>
          <p:nvPr/>
        </p:nvSpPr>
        <p:spPr>
          <a:xfrm>
            <a:off x="6217920" y="1097280"/>
            <a:ext cx="2559960" cy="959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7;p2"/>
          <p:cNvSpPr/>
          <p:nvPr/>
        </p:nvSpPr>
        <p:spPr>
          <a:xfrm>
            <a:off x="6217920" y="1097280"/>
            <a:ext cx="54360" cy="9597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8;p2"/>
          <p:cNvSpPr/>
          <p:nvPr/>
        </p:nvSpPr>
        <p:spPr>
          <a:xfrm>
            <a:off x="6400800" y="11887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101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9;p2"/>
          <p:cNvSpPr/>
          <p:nvPr/>
        </p:nvSpPr>
        <p:spPr>
          <a:xfrm>
            <a:off x="6400800" y="1645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Primary Conversions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40;p2"/>
          <p:cNvSpPr/>
          <p:nvPr/>
        </p:nvSpPr>
        <p:spPr>
          <a:xfrm>
            <a:off x="9052560" y="1097280"/>
            <a:ext cx="2559960" cy="959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1;p2"/>
          <p:cNvSpPr/>
          <p:nvPr/>
        </p:nvSpPr>
        <p:spPr>
          <a:xfrm>
            <a:off x="9052560" y="1097280"/>
            <a:ext cx="54360" cy="9597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42;p2"/>
          <p:cNvSpPr/>
          <p:nvPr/>
        </p:nvSpPr>
        <p:spPr>
          <a:xfrm>
            <a:off x="9235440" y="11887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£97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43;p2"/>
          <p:cNvSpPr/>
          <p:nvPr/>
        </p:nvSpPr>
        <p:spPr>
          <a:xfrm>
            <a:off x="9235440" y="1645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Cost per Lead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4;p2"/>
          <p:cNvSpPr/>
          <p:nvPr/>
        </p:nvSpPr>
        <p:spPr>
          <a:xfrm>
            <a:off x="548640" y="23774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Wins This Week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5;p2"/>
          <p:cNvSpPr/>
          <p:nvPr/>
        </p:nvSpPr>
        <p:spPr>
          <a:xfrm>
            <a:off x="640080" y="2743200"/>
            <a:ext cx="10515240" cy="16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304920">
              <a:lnSpc>
                <a:spcPct val="150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CPC at 8-week low: £2.16 vs March avg £3.29 (−35%). £1.50 Max CPC cap is biting without suppressing volume.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CPA improved week-on-week: £73 vs £85.86 prior week, despite persistent asset-group policy restrictions.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DII entered learning phase after full rebuild: 25 new ad groups, ~675 keywords, 75 RSAs. Clean read expected Week 2-3.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5,000+ structured negatives replaced 2,192 unstructured broad-match entries across 11 shared lists.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Giulio replied Fri 17 Apr with answers — compliance actions captured and scheduled for Week 2.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6;p2"/>
          <p:cNvSpPr/>
          <p:nvPr/>
        </p:nvSpPr>
        <p:spPr>
          <a:xfrm>
            <a:off x="548640" y="5349240"/>
            <a:ext cx="11091240" cy="63972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7;p2"/>
          <p:cNvSpPr/>
          <p:nvPr/>
        </p:nvSpPr>
        <p:spPr>
          <a:xfrm>
            <a:off x="777240" y="5394960"/>
            <a:ext cx="1063404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1 was structural. Three live campaigns moved off Max Conversion Value bidding onto controllable targets. Early signal is positive — but DII needs a further week of stabilisation and Monday's end-to-end tracking audit is the gate to any CPA-based decisions from here.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8;p2"/>
          <p:cNvSpPr/>
          <p:nvPr/>
        </p:nvSpPr>
        <p:spPr>
          <a:xfrm>
            <a:off x="548640" y="6327720"/>
            <a:ext cx="2770200" cy="27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9;p2"/>
          <p:cNvSpPr/>
          <p:nvPr/>
        </p:nvSpPr>
        <p:spPr>
          <a:xfrm>
            <a:off x="3319200" y="6327720"/>
            <a:ext cx="2770200" cy="27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0;p2"/>
          <p:cNvSpPr/>
          <p:nvPr/>
        </p:nvSpPr>
        <p:spPr>
          <a:xfrm>
            <a:off x="6099120" y="6327720"/>
            <a:ext cx="2770200" cy="27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51;p2"/>
          <p:cNvSpPr/>
          <p:nvPr/>
        </p:nvSpPr>
        <p:spPr>
          <a:xfrm>
            <a:off x="8869680" y="6327720"/>
            <a:ext cx="2770200" cy="27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152;p2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Google Shape;153;p2"/>
          <p:cNvSpPr/>
          <p:nvPr/>
        </p:nvSpPr>
        <p:spPr>
          <a:xfrm>
            <a:off x="822960" y="64008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54;p2"/>
          <p:cNvSpPr/>
          <p:nvPr/>
        </p:nvSpPr>
        <p:spPr>
          <a:xfrm>
            <a:off x="11183040" y="64008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59;p3"/>
          <p:cNvSpPr/>
          <p:nvPr/>
        </p:nvSpPr>
        <p:spPr>
          <a:xfrm>
            <a:off x="0" y="0"/>
            <a:ext cx="3047400" cy="54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60;p3"/>
          <p:cNvSpPr/>
          <p:nvPr/>
        </p:nvSpPr>
        <p:spPr>
          <a:xfrm>
            <a:off x="3047760" y="0"/>
            <a:ext cx="3047400" cy="54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61;p3"/>
          <p:cNvSpPr/>
          <p:nvPr/>
        </p:nvSpPr>
        <p:spPr>
          <a:xfrm>
            <a:off x="6095520" y="0"/>
            <a:ext cx="3047400" cy="54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2;p3"/>
          <p:cNvSpPr/>
          <p:nvPr/>
        </p:nvSpPr>
        <p:spPr>
          <a:xfrm>
            <a:off x="9142920" y="0"/>
            <a:ext cx="3047400" cy="54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3;p3"/>
          <p:cNvSpPr/>
          <p:nvPr/>
        </p:nvSpPr>
        <p:spPr>
          <a:xfrm>
            <a:off x="548640" y="2743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Work Delivered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4;p3"/>
          <p:cNvSpPr/>
          <p:nvPr/>
        </p:nvSpPr>
        <p:spPr>
          <a:xfrm>
            <a:off x="548640" y="777240"/>
            <a:ext cx="8229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Tue 14 → Fri 17 April · 4 working days post-signing · ~20 hours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65;p3"/>
          <p:cNvSpPr/>
          <p:nvPr/>
        </p:nvSpPr>
        <p:spPr>
          <a:xfrm>
            <a:off x="8348400" y="274320"/>
            <a:ext cx="329148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66;p3"/>
          <p:cNvSpPr/>
          <p:nvPr/>
        </p:nvSpPr>
        <p:spPr>
          <a:xfrm>
            <a:off x="8439840" y="292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Foundation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68;p3"/>
          <p:cNvSpPr/>
          <p:nvPr/>
        </p:nvSpPr>
        <p:spPr>
          <a:xfrm>
            <a:off x="5724360" y="1097280"/>
            <a:ext cx="58885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Day-by-Day Activity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Google Shape;169;p3"/>
          <p:cNvGraphicFramePr/>
          <p:nvPr/>
        </p:nvGraphicFramePr>
        <p:xfrm>
          <a:off x="5727600" y="1417320"/>
          <a:ext cx="5888160" cy="3474000"/>
        </p:xfrm>
        <a:graphic>
          <a:graphicData uri="http://schemas.openxmlformats.org/drawingml/2006/table">
            <a:tbl>
              <a:tblPr/>
              <a:tblGrid>
                <a:gridCol w="2270520"/>
                <a:gridCol w="1004760"/>
                <a:gridCol w="803880"/>
                <a:gridCol w="1808640"/>
              </a:tblGrid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Focus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Output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Impact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Negatives Overhaul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2,192 → ~4,000+ across 11 lists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~£63k waste blocked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Account-Wide Reset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 · PMax tCPA £60 · DII tCPA £75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 bid targets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DII Rebuild (Part 1)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20 AGs · 537 keywords · 60 RSAs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Fri 17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Audit + Completion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173 DBD-blockers removed · AG21-25 built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25/25 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70;p3"/>
          <p:cNvSpPr/>
          <p:nvPr/>
        </p:nvSpPr>
        <p:spPr>
          <a:xfrm>
            <a:off x="5727600" y="4160520"/>
            <a:ext cx="5884920" cy="187488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71;p3"/>
          <p:cNvSpPr/>
          <p:nvPr/>
        </p:nvSpPr>
        <p:spPr>
          <a:xfrm>
            <a:off x="5727600" y="4160520"/>
            <a:ext cx="47880" cy="18748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4120" rIns="241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72;p3"/>
          <p:cNvSpPr/>
          <p:nvPr/>
        </p:nvSpPr>
        <p:spPr>
          <a:xfrm>
            <a:off x="5929200" y="4251960"/>
            <a:ext cx="5562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Running Totals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3;p3"/>
          <p:cNvSpPr/>
          <p:nvPr/>
        </p:nvSpPr>
        <p:spPr>
          <a:xfrm>
            <a:off x="5929200" y="4526280"/>
            <a:ext cx="5562360" cy="12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298440">
              <a:lnSpc>
                <a:spcPct val="100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Positive keywords added: ~675 across 25 ad groups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New RSAs written: 75 (1,050 headlines, 280 descriptions)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Negatives: ~5,000 structured across 11 shared lists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Geo targets: 270 London postcodes rolled out to all 3 active campaigns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74;p3"/>
          <p:cNvSpPr/>
          <p:nvPr/>
        </p:nvSpPr>
        <p:spPr>
          <a:xfrm>
            <a:off x="548640" y="4572000"/>
            <a:ext cx="4610880" cy="146340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75;p3"/>
          <p:cNvSpPr/>
          <p:nvPr/>
        </p:nvSpPr>
        <p:spPr>
          <a:xfrm>
            <a:off x="548640" y="4572000"/>
            <a:ext cx="61200" cy="14634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0600" rIns="306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76;p3"/>
          <p:cNvSpPr/>
          <p:nvPr/>
        </p:nvSpPr>
        <p:spPr>
          <a:xfrm>
            <a:off x="777240" y="466344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77;p3"/>
          <p:cNvSpPr/>
          <p:nvPr/>
        </p:nvSpPr>
        <p:spPr>
          <a:xfrm>
            <a:off x="777240" y="4937760"/>
            <a:ext cx="4236480" cy="93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298440">
              <a:lnSpc>
                <a:spcPct val="100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All 3 live campaigns moved from Max Conversion Value to Target CPA / Target Impression Share.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Auto-apply recommendations disabled — no more silent keyword removals.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Zero NHS/free-seeker junk in PMax search terms post-switch — negatives are working.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Asset groups in PMax flagged 'limited by policy' — full rebuild scheduled Wed 22 Apr.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78;p3"/>
          <p:cNvSpPr/>
          <p:nvPr/>
        </p:nvSpPr>
        <p:spPr>
          <a:xfrm>
            <a:off x="548640" y="6327720"/>
            <a:ext cx="2770200" cy="27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79;p3"/>
          <p:cNvSpPr/>
          <p:nvPr/>
        </p:nvSpPr>
        <p:spPr>
          <a:xfrm>
            <a:off x="3319200" y="6327720"/>
            <a:ext cx="2770200" cy="27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80;p3"/>
          <p:cNvSpPr/>
          <p:nvPr/>
        </p:nvSpPr>
        <p:spPr>
          <a:xfrm>
            <a:off x="6099120" y="6327720"/>
            <a:ext cx="2770200" cy="27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81;p3"/>
          <p:cNvSpPr/>
          <p:nvPr/>
        </p:nvSpPr>
        <p:spPr>
          <a:xfrm>
            <a:off x="8869680" y="6327720"/>
            <a:ext cx="2770200" cy="27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Google Shape;182;p3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Google Shape;183;p3"/>
          <p:cNvSpPr/>
          <p:nvPr/>
        </p:nvSpPr>
        <p:spPr>
          <a:xfrm>
            <a:off x="822960" y="64008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84;p3"/>
          <p:cNvSpPr/>
          <p:nvPr/>
        </p:nvSpPr>
        <p:spPr>
          <a:xfrm>
            <a:off x="11183040" y="64008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89;p4"/>
          <p:cNvSpPr/>
          <p:nvPr/>
        </p:nvSpPr>
        <p:spPr>
          <a:xfrm>
            <a:off x="0" y="0"/>
            <a:ext cx="3047400" cy="54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90;p4"/>
          <p:cNvSpPr/>
          <p:nvPr/>
        </p:nvSpPr>
        <p:spPr>
          <a:xfrm>
            <a:off x="3047760" y="0"/>
            <a:ext cx="3047400" cy="54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91;p4"/>
          <p:cNvSpPr/>
          <p:nvPr/>
        </p:nvSpPr>
        <p:spPr>
          <a:xfrm>
            <a:off x="6095520" y="0"/>
            <a:ext cx="3047400" cy="54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92;p4"/>
          <p:cNvSpPr/>
          <p:nvPr/>
        </p:nvSpPr>
        <p:spPr>
          <a:xfrm>
            <a:off x="9142920" y="0"/>
            <a:ext cx="3047400" cy="54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93;p4"/>
          <p:cNvSpPr/>
          <p:nvPr/>
        </p:nvSpPr>
        <p:spPr>
          <a:xfrm>
            <a:off x="548640" y="2743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Brand Campaign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94;p4"/>
          <p:cNvSpPr/>
          <p:nvPr/>
        </p:nvSpPr>
        <p:spPr>
          <a:xfrm>
            <a:off x="548640" y="777240"/>
            <a:ext cx="8229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CPC at 8-week low · £1.50 Max CPC cap is working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95;p4"/>
          <p:cNvSpPr/>
          <p:nvPr/>
        </p:nvSpPr>
        <p:spPr>
          <a:xfrm>
            <a:off x="8348400" y="274320"/>
            <a:ext cx="329148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96;p4"/>
          <p:cNvSpPr/>
          <p:nvPr/>
        </p:nvSpPr>
        <p:spPr>
          <a:xfrm>
            <a:off x="8439840" y="292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97;p4"/>
          <p:cNvSpPr/>
          <p:nvPr/>
        </p:nvSpPr>
        <p:spPr>
          <a:xfrm>
            <a:off x="548640" y="109728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Performance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2" name="Google Shape;198;p4"/>
          <p:cNvGraphicFramePr/>
          <p:nvPr/>
        </p:nvGraphicFramePr>
        <p:xfrm>
          <a:off x="548640" y="1417320"/>
          <a:ext cx="5303160" cy="1645560"/>
        </p:xfrm>
        <a:graphic>
          <a:graphicData uri="http://schemas.openxmlformats.org/drawingml/2006/table">
            <a:tbl>
              <a:tblPr/>
              <a:tblGrid>
                <a:gridCol w="1978200"/>
                <a:gridCol w="1638360"/>
                <a:gridCol w="886320"/>
                <a:gridCol w="800280"/>
              </a:tblGrid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1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 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 spend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£298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−6%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Flat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Cost / conv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£23.39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£24.89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−6%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99;p4"/>
          <p:cNvSpPr/>
          <p:nvPr/>
        </p:nvSpPr>
        <p:spPr>
          <a:xfrm>
            <a:off x="548640" y="3291840"/>
            <a:ext cx="5303160" cy="24685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00;p4"/>
          <p:cNvSpPr/>
          <p:nvPr/>
        </p:nvSpPr>
        <p:spPr>
          <a:xfrm>
            <a:off x="548640" y="3291840"/>
            <a:ext cx="54360" cy="24685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01;p4"/>
          <p:cNvSpPr/>
          <p:nvPr/>
        </p:nvSpPr>
        <p:spPr>
          <a:xfrm>
            <a:off x="777240" y="33832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02;p4"/>
          <p:cNvSpPr/>
          <p:nvPr/>
        </p:nvSpPr>
        <p:spPr>
          <a:xfrm>
            <a:off x="777240" y="3657600"/>
            <a:ext cx="4937400" cy="161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CPC is at its lowest of 8 tracked weeks: £2.16 vs March avg £3.29 (−35%).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£1.50 Max CPC cap (set Wed 15 Apr) is biting without suppressing volume.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Impression share held at 92%+ and conversion volume tracked with spend.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This is the strongest signal of Week 1.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03;p4"/>
          <p:cNvSpPr/>
          <p:nvPr/>
        </p:nvSpPr>
        <p:spPr>
          <a:xfrm>
            <a:off x="6217920" y="1097280"/>
            <a:ext cx="5303160" cy="191988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04;p4"/>
          <p:cNvSpPr/>
          <p:nvPr/>
        </p:nvSpPr>
        <p:spPr>
          <a:xfrm>
            <a:off x="6217920" y="1097280"/>
            <a:ext cx="54360" cy="19198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05;p4"/>
          <p:cNvSpPr/>
          <p:nvPr/>
        </p:nvSpPr>
        <p:spPr>
          <a:xfrm>
            <a:off x="6446520" y="11887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Bid Strategy Applied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6;p4"/>
          <p:cNvSpPr/>
          <p:nvPr/>
        </p:nvSpPr>
        <p:spPr>
          <a:xfrm>
            <a:off x="6446520" y="1463040"/>
            <a:ext cx="493740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457200" indent="-298440">
              <a:lnSpc>
                <a:spcPct val="100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From: Max Conversion Value (tROAS 10%) — inflating brand CPCs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To: Target Impression Share 90% · Max CPC £1.50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Goal: eliminate runaway bidding on brand traffic, lock in the brand position at controlled cost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Result: CPC dropped from £3.18 (prior 30d) to £1.61 (first 36 hours) to £2.16 (week avg)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07;p4"/>
          <p:cNvSpPr/>
          <p:nvPr/>
        </p:nvSpPr>
        <p:spPr>
          <a:xfrm>
            <a:off x="6217920" y="3291840"/>
            <a:ext cx="5303160" cy="246852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08;p4"/>
          <p:cNvSpPr/>
          <p:nvPr/>
        </p:nvSpPr>
        <p:spPr>
          <a:xfrm>
            <a:off x="6217920" y="3291840"/>
            <a:ext cx="54360" cy="24685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09;p4"/>
          <p:cNvSpPr/>
          <p:nvPr/>
        </p:nvSpPr>
        <p:spPr>
          <a:xfrm>
            <a:off x="6446520" y="33832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Next Week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10;p4"/>
          <p:cNvSpPr/>
          <p:nvPr/>
        </p:nvSpPr>
        <p:spPr>
          <a:xfrm>
            <a:off x="6446520" y="3657600"/>
            <a:ext cx="4937400" cy="17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£1.50 cap through Week 2. Let the bid strategy complete its 14-day learning phase.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Evaluate lowering toward £1.20 once CPC has stabilised at or below £1.50.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is mature territory — small incremental CPC reductions compound into meaningful monthly savings.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11;p4"/>
          <p:cNvSpPr/>
          <p:nvPr/>
        </p:nvSpPr>
        <p:spPr>
          <a:xfrm>
            <a:off x="548640" y="6327720"/>
            <a:ext cx="2770200" cy="27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12;p4"/>
          <p:cNvSpPr/>
          <p:nvPr/>
        </p:nvSpPr>
        <p:spPr>
          <a:xfrm>
            <a:off x="3319200" y="6327720"/>
            <a:ext cx="2770200" cy="27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13;p4"/>
          <p:cNvSpPr/>
          <p:nvPr/>
        </p:nvSpPr>
        <p:spPr>
          <a:xfrm>
            <a:off x="6099120" y="6327720"/>
            <a:ext cx="2770200" cy="27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14;p4"/>
          <p:cNvSpPr/>
          <p:nvPr/>
        </p:nvSpPr>
        <p:spPr>
          <a:xfrm>
            <a:off x="8869680" y="6327720"/>
            <a:ext cx="2770200" cy="27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Google Shape;215;p4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Google Shape;216;p4"/>
          <p:cNvSpPr/>
          <p:nvPr/>
        </p:nvSpPr>
        <p:spPr>
          <a:xfrm>
            <a:off x="822960" y="64008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17;p4"/>
          <p:cNvSpPr/>
          <p:nvPr/>
        </p:nvSpPr>
        <p:spPr>
          <a:xfrm>
            <a:off x="11183040" y="64008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222;p5"/>
          <p:cNvSpPr/>
          <p:nvPr/>
        </p:nvSpPr>
        <p:spPr>
          <a:xfrm>
            <a:off x="0" y="0"/>
            <a:ext cx="3047400" cy="54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23;p5"/>
          <p:cNvSpPr/>
          <p:nvPr/>
        </p:nvSpPr>
        <p:spPr>
          <a:xfrm>
            <a:off x="3047760" y="0"/>
            <a:ext cx="3047400" cy="54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24;p5"/>
          <p:cNvSpPr/>
          <p:nvPr/>
        </p:nvSpPr>
        <p:spPr>
          <a:xfrm>
            <a:off x="6095520" y="0"/>
            <a:ext cx="3047400" cy="54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25;p5"/>
          <p:cNvSpPr/>
          <p:nvPr/>
        </p:nvSpPr>
        <p:spPr>
          <a:xfrm>
            <a:off x="9142920" y="0"/>
            <a:ext cx="3047400" cy="54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26;p5"/>
          <p:cNvSpPr/>
          <p:nvPr/>
        </p:nvSpPr>
        <p:spPr>
          <a:xfrm>
            <a:off x="548640" y="2743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Performance Max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27;p5"/>
          <p:cNvSpPr/>
          <p:nvPr/>
        </p:nvSpPr>
        <p:spPr>
          <a:xfrm>
            <a:off x="548640" y="777240"/>
            <a:ext cx="8229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CPA improved week-on-week despite policy restrictions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28;p5"/>
          <p:cNvSpPr/>
          <p:nvPr/>
        </p:nvSpPr>
        <p:spPr>
          <a:xfrm>
            <a:off x="8348400" y="274320"/>
            <a:ext cx="329148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29;p5"/>
          <p:cNvSpPr/>
          <p:nvPr/>
        </p:nvSpPr>
        <p:spPr>
          <a:xfrm>
            <a:off x="8439840" y="292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31;p5"/>
          <p:cNvSpPr/>
          <p:nvPr/>
        </p:nvSpPr>
        <p:spPr>
          <a:xfrm>
            <a:off x="8046720" y="1005840"/>
            <a:ext cx="3931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Daily CPA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Google Shape;232;p5"/>
          <p:cNvGraphicFramePr/>
          <p:nvPr/>
        </p:nvGraphicFramePr>
        <p:xfrm>
          <a:off x="8046720" y="1325880"/>
          <a:ext cx="3200040" cy="2286000"/>
        </p:xfrm>
        <a:graphic>
          <a:graphicData uri="http://schemas.openxmlformats.org/drawingml/2006/table">
            <a:tbl>
              <a:tblPr/>
              <a:tblGrid>
                <a:gridCol w="1096920"/>
                <a:gridCol w="731520"/>
                <a:gridCol w="731520"/>
                <a:gridCol w="63972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CPA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£2,017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£119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£558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£402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£1,792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233;p5"/>
          <p:cNvSpPr/>
          <p:nvPr/>
        </p:nvSpPr>
        <p:spPr>
          <a:xfrm>
            <a:off x="548640" y="3931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 Changed &amp; What's Next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34;p5"/>
          <p:cNvSpPr/>
          <p:nvPr/>
        </p:nvSpPr>
        <p:spPr>
          <a:xfrm>
            <a:off x="548640" y="4251960"/>
            <a:ext cx="3474360" cy="15541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35;p5"/>
          <p:cNvSpPr/>
          <p:nvPr/>
        </p:nvSpPr>
        <p:spPr>
          <a:xfrm>
            <a:off x="548640" y="4251960"/>
            <a:ext cx="54360" cy="15541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36;p5"/>
          <p:cNvSpPr/>
          <p:nvPr/>
        </p:nvSpPr>
        <p:spPr>
          <a:xfrm>
            <a:off x="777240" y="43434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Bid Strategy Switch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37;p5"/>
          <p:cNvSpPr/>
          <p:nvPr/>
        </p:nvSpPr>
        <p:spPr>
          <a:xfrm>
            <a:off x="777240" y="461772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From: Max Conversion Value (tROAS 80%)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To: Target CPA £60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Drove campaign to optimise for LEAD VOLUME at controllable cost, not arbitrary £300 booking values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Wed 15 Apr: first full day under new strategy delivered £25 CPA — best single day in the account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38;p5"/>
          <p:cNvSpPr/>
          <p:nvPr/>
        </p:nvSpPr>
        <p:spPr>
          <a:xfrm>
            <a:off x="4297680" y="4251960"/>
            <a:ext cx="3474360" cy="1554120"/>
          </a:xfrm>
          <a:prstGeom prst="rect">
            <a:avLst/>
          </a:prstGeom>
          <a:solidFill>
            <a:srgbClr val="F5F6F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39;p5"/>
          <p:cNvSpPr/>
          <p:nvPr/>
        </p:nvSpPr>
        <p:spPr>
          <a:xfrm>
            <a:off x="4297680" y="4251960"/>
            <a:ext cx="54360" cy="15541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40;p5"/>
          <p:cNvSpPr/>
          <p:nvPr/>
        </p:nvSpPr>
        <p:spPr>
          <a:xfrm>
            <a:off x="4526280" y="43434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Flagged for Week 2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41;p5"/>
          <p:cNvSpPr/>
          <p:nvPr/>
        </p:nvSpPr>
        <p:spPr>
          <a:xfrm>
            <a:off x="4526280" y="461772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Google still reports 'most asset groups limited by policy'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This restricts PMax reach — it's not running at full potential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Full asset rebuild scheduled Wed 22 April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Stripping unverified claims: '99.12% success', 'Save 60%', 'Top 10 Europe'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Replacing with policy-safe copy aligned to Giulio's verified claims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42;p5"/>
          <p:cNvSpPr/>
          <p:nvPr/>
        </p:nvSpPr>
        <p:spPr>
          <a:xfrm>
            <a:off x="8046720" y="4251960"/>
            <a:ext cx="3565800" cy="155412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43;p5"/>
          <p:cNvSpPr/>
          <p:nvPr/>
        </p:nvSpPr>
        <p:spPr>
          <a:xfrm>
            <a:off x="8046720" y="4251960"/>
            <a:ext cx="54360" cy="15541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44;p5"/>
          <p:cNvSpPr/>
          <p:nvPr/>
        </p:nvSpPr>
        <p:spPr>
          <a:xfrm>
            <a:off x="8275320" y="43434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Recommendation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45;p5"/>
          <p:cNvSpPr/>
          <p:nvPr/>
        </p:nvSpPr>
        <p:spPr>
          <a:xfrm>
            <a:off x="8275320" y="4617720"/>
            <a:ext cx="3200040" cy="93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new bid strategy untouched — let Google complete its 7-day learning cycle.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asset rebuild addresses the policy flag next week.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Expected upside: lifting policy limits typically unlocks 2-3× reach at the same CPA.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46;p5"/>
          <p:cNvSpPr/>
          <p:nvPr/>
        </p:nvSpPr>
        <p:spPr>
          <a:xfrm>
            <a:off x="548640" y="6327720"/>
            <a:ext cx="2770200" cy="27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47;p5"/>
          <p:cNvSpPr/>
          <p:nvPr/>
        </p:nvSpPr>
        <p:spPr>
          <a:xfrm>
            <a:off x="3319200" y="6327720"/>
            <a:ext cx="2770200" cy="27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48;p5"/>
          <p:cNvSpPr/>
          <p:nvPr/>
        </p:nvSpPr>
        <p:spPr>
          <a:xfrm>
            <a:off x="6099120" y="6327720"/>
            <a:ext cx="2770200" cy="27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49;p5"/>
          <p:cNvSpPr/>
          <p:nvPr/>
        </p:nvSpPr>
        <p:spPr>
          <a:xfrm>
            <a:off x="8869680" y="6327720"/>
            <a:ext cx="2770200" cy="27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" name="Google Shape;250;p5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Google Shape;251;p5"/>
          <p:cNvSpPr/>
          <p:nvPr/>
        </p:nvSpPr>
        <p:spPr>
          <a:xfrm>
            <a:off x="822960" y="64008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52;p5"/>
          <p:cNvSpPr/>
          <p:nvPr/>
        </p:nvSpPr>
        <p:spPr>
          <a:xfrm>
            <a:off x="11183040" y="64008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57;p6"/>
          <p:cNvSpPr/>
          <p:nvPr/>
        </p:nvSpPr>
        <p:spPr>
          <a:xfrm>
            <a:off x="0" y="0"/>
            <a:ext cx="3047400" cy="54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58;p6"/>
          <p:cNvSpPr/>
          <p:nvPr/>
        </p:nvSpPr>
        <p:spPr>
          <a:xfrm>
            <a:off x="3047760" y="0"/>
            <a:ext cx="3047400" cy="54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59;p6"/>
          <p:cNvSpPr/>
          <p:nvPr/>
        </p:nvSpPr>
        <p:spPr>
          <a:xfrm>
            <a:off x="6095520" y="0"/>
            <a:ext cx="3047400" cy="54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60;p6"/>
          <p:cNvSpPr/>
          <p:nvPr/>
        </p:nvSpPr>
        <p:spPr>
          <a:xfrm>
            <a:off x="9142920" y="0"/>
            <a:ext cx="3047400" cy="54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61;p6"/>
          <p:cNvSpPr/>
          <p:nvPr/>
        </p:nvSpPr>
        <p:spPr>
          <a:xfrm>
            <a:off x="548640" y="2743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Dental Implants Intent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62;p6"/>
          <p:cNvSpPr/>
          <p:nvPr/>
        </p:nvSpPr>
        <p:spPr>
          <a:xfrm>
            <a:off x="548640" y="777240"/>
            <a:ext cx="8229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Fully rebuilt Thu–Fri · 4 ad groups → 25 · entered learning phase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63;p6"/>
          <p:cNvSpPr/>
          <p:nvPr/>
        </p:nvSpPr>
        <p:spPr>
          <a:xfrm>
            <a:off x="8348400" y="274320"/>
            <a:ext cx="329148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64;p6"/>
          <p:cNvSpPr/>
          <p:nvPr/>
        </p:nvSpPr>
        <p:spPr>
          <a:xfrm>
            <a:off x="8439840" y="292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Rebuild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Google Shape;265;p6"/>
          <p:cNvGraphicFramePr/>
          <p:nvPr/>
        </p:nvGraphicFramePr>
        <p:xfrm>
          <a:off x="548640" y="1188720"/>
          <a:ext cx="7589160" cy="5267880"/>
        </p:xfrm>
        <a:graphic>
          <a:graphicData uri="http://schemas.openxmlformats.org/drawingml/2006/table">
            <a:tbl>
              <a:tblPr/>
              <a:tblGrid>
                <a:gridCol w="2011320"/>
                <a:gridCol w="2286000"/>
                <a:gridCol w="1096920"/>
                <a:gridCol w="731520"/>
                <a:gridCol w="731520"/>
                <a:gridCol w="731520"/>
              </a:tblGrid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Before (legacy)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After (new)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Impact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Status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Ad groups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 (paused)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25 live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+525%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grouped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Keywords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~675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+2,400%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Phrase + exact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RSAs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(Poor-rated)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+1,150%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Keyword-aligned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Headlines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~90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1,050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+1,067%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Unique, keyword-rich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Descriptions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~24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+1,067%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75-86 chars (QS safe)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Legacy AG CPA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£99+ avg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Paused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Eliminated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Waste removed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Done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Bid strategy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Max Conv Value (tROAS)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Target CPA £75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Lead-focused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Geo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25-mile radius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270 London postcodes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M25 targeting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4-tier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Rolled out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Schedule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Always on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42-cell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Hourly analysis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Reporting ready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Live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 phase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n/a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 1 of 14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In progress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7-14 days to stabilise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Monitor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9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status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Scaling with waste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 - clean base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Foundation set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 2-3 read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On track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66;p6"/>
          <p:cNvSpPr/>
          <p:nvPr/>
        </p:nvSpPr>
        <p:spPr>
          <a:xfrm>
            <a:off x="548640" y="4846320"/>
            <a:ext cx="5303160" cy="10969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67;p6"/>
          <p:cNvSpPr/>
          <p:nvPr/>
        </p:nvSpPr>
        <p:spPr>
          <a:xfrm>
            <a:off x="548640" y="4846320"/>
            <a:ext cx="54360" cy="1096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68;p6"/>
          <p:cNvSpPr/>
          <p:nvPr/>
        </p:nvSpPr>
        <p:spPr>
          <a:xfrm>
            <a:off x="777240" y="49377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69;p6"/>
          <p:cNvSpPr/>
          <p:nvPr/>
        </p:nvSpPr>
        <p:spPr>
          <a:xfrm>
            <a:off x="777240" y="5212080"/>
            <a:ext cx="493740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DII campaign was fully restructured mid-week (Tue → Fri).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1 CPA blends 1 day of the old structure with 4 days of Google's learning phase — expected noise, not signal.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Google requires 14-21 days to rebalance bids against the new structure.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First clean performance read: Week 2-3.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70;p6"/>
          <p:cNvSpPr/>
          <p:nvPr/>
        </p:nvSpPr>
        <p:spPr>
          <a:xfrm>
            <a:off x="6217920" y="4846320"/>
            <a:ext cx="5394600" cy="109692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71;p6"/>
          <p:cNvSpPr/>
          <p:nvPr/>
        </p:nvSpPr>
        <p:spPr>
          <a:xfrm>
            <a:off x="6217920" y="4846320"/>
            <a:ext cx="54360" cy="1096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72;p6"/>
          <p:cNvSpPr/>
          <p:nvPr/>
        </p:nvSpPr>
        <p:spPr>
          <a:xfrm>
            <a:off x="6446520" y="49377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Recommendation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73;p6"/>
          <p:cNvSpPr/>
          <p:nvPr/>
        </p:nvSpPr>
        <p:spPr>
          <a:xfrm>
            <a:off x="6446520" y="5212080"/>
            <a:ext cx="502884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new structure untouched through Wed 22 April.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Ad Strength audit on AG22-25 resumes Tuesday once Google clears the new ads from Pending review.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Second pass on AG1-21 to push remaining RSAs toward Excellent.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74;p6"/>
          <p:cNvSpPr/>
          <p:nvPr/>
        </p:nvSpPr>
        <p:spPr>
          <a:xfrm>
            <a:off x="548640" y="6327720"/>
            <a:ext cx="2770200" cy="27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75;p6"/>
          <p:cNvSpPr/>
          <p:nvPr/>
        </p:nvSpPr>
        <p:spPr>
          <a:xfrm>
            <a:off x="3319200" y="6327720"/>
            <a:ext cx="2770200" cy="27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76;p6"/>
          <p:cNvSpPr/>
          <p:nvPr/>
        </p:nvSpPr>
        <p:spPr>
          <a:xfrm>
            <a:off x="6099120" y="6327720"/>
            <a:ext cx="2770200" cy="27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77;p6"/>
          <p:cNvSpPr/>
          <p:nvPr/>
        </p:nvSpPr>
        <p:spPr>
          <a:xfrm>
            <a:off x="8869680" y="6327720"/>
            <a:ext cx="2770200" cy="27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Google Shape;278;p6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Google Shape;279;p6"/>
          <p:cNvSpPr/>
          <p:nvPr/>
        </p:nvSpPr>
        <p:spPr>
          <a:xfrm>
            <a:off x="822960" y="64008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80;p6"/>
          <p:cNvSpPr/>
          <p:nvPr/>
        </p:nvSpPr>
        <p:spPr>
          <a:xfrm>
            <a:off x="11183040" y="64008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85;p7"/>
          <p:cNvSpPr/>
          <p:nvPr/>
        </p:nvSpPr>
        <p:spPr>
          <a:xfrm>
            <a:off x="0" y="0"/>
            <a:ext cx="3047400" cy="54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86;p7"/>
          <p:cNvSpPr/>
          <p:nvPr/>
        </p:nvSpPr>
        <p:spPr>
          <a:xfrm>
            <a:off x="3047760" y="0"/>
            <a:ext cx="3047400" cy="54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87;p7"/>
          <p:cNvSpPr/>
          <p:nvPr/>
        </p:nvSpPr>
        <p:spPr>
          <a:xfrm>
            <a:off x="6095520" y="0"/>
            <a:ext cx="3047400" cy="54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88;p7"/>
          <p:cNvSpPr/>
          <p:nvPr/>
        </p:nvSpPr>
        <p:spPr>
          <a:xfrm>
            <a:off x="9142920" y="0"/>
            <a:ext cx="3047400" cy="54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89;p7"/>
          <p:cNvSpPr/>
          <p:nvPr/>
        </p:nvSpPr>
        <p:spPr>
          <a:xfrm>
            <a:off x="548640" y="2743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The Numbers That Matter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90;p7"/>
          <p:cNvSpPr/>
          <p:nvPr/>
        </p:nvSpPr>
        <p:spPr>
          <a:xfrm>
            <a:off x="548640" y="777240"/>
            <a:ext cx="8229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Business outcomes — what the account delivered this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91;p7"/>
          <p:cNvSpPr/>
          <p:nvPr/>
        </p:nvSpPr>
        <p:spPr>
          <a:xfrm>
            <a:off x="8348400" y="274320"/>
            <a:ext cx="329148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92;p7"/>
          <p:cNvSpPr/>
          <p:nvPr/>
        </p:nvSpPr>
        <p:spPr>
          <a:xfrm>
            <a:off x="8439840" y="292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Business Outcomes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94;p7"/>
          <p:cNvSpPr/>
          <p:nvPr/>
        </p:nvSpPr>
        <p:spPr>
          <a:xfrm>
            <a:off x="6766560" y="1166040"/>
            <a:ext cx="48459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at a Glance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5" name="Google Shape;295;p7"/>
          <p:cNvGraphicFramePr/>
          <p:nvPr/>
        </p:nvGraphicFramePr>
        <p:xfrm>
          <a:off x="6766560" y="1486080"/>
          <a:ext cx="4845960" cy="2050200"/>
        </p:xfrm>
        <a:graphic>
          <a:graphicData uri="http://schemas.openxmlformats.org/drawingml/2006/table">
            <a:tbl>
              <a:tblPr/>
              <a:tblGrid>
                <a:gridCol w="1188720"/>
                <a:gridCol w="822600"/>
                <a:gridCol w="822600"/>
                <a:gridCol w="822600"/>
                <a:gridCol w="1188720"/>
              </a:tblGrid>
              <a:tr h="436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1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 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Status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Total Spend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−18%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Trimmed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Dengro Offline Leads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—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—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Tracking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Primary Conversions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−25%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96;p7"/>
          <p:cNvSpPr/>
          <p:nvPr/>
        </p:nvSpPr>
        <p:spPr>
          <a:xfrm>
            <a:off x="6766560" y="4389120"/>
            <a:ext cx="4845960" cy="10591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97;p7"/>
          <p:cNvSpPr/>
          <p:nvPr/>
        </p:nvSpPr>
        <p:spPr>
          <a:xfrm>
            <a:off x="6766560" y="4389120"/>
            <a:ext cx="54720" cy="10591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98;p7"/>
          <p:cNvSpPr/>
          <p:nvPr/>
        </p:nvSpPr>
        <p:spPr>
          <a:xfrm>
            <a:off x="6995160" y="4480560"/>
            <a:ext cx="4480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Signal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99;p7"/>
          <p:cNvSpPr/>
          <p:nvPr/>
        </p:nvSpPr>
        <p:spPr>
          <a:xfrm>
            <a:off x="6995160" y="4754880"/>
            <a:ext cx="448020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87 Dengro Offline Leads generated this week across 3 active campaigns.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Performance Max delivered 90% of qualified leads (78.5 of 87).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Dengro Offline Booking fired 0 times — tracking gap flagged for Monday's audit.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No CPA-based decisions will be drawn before the audit closes.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00;p7"/>
          <p:cNvSpPr/>
          <p:nvPr/>
        </p:nvSpPr>
        <p:spPr>
          <a:xfrm>
            <a:off x="548640" y="4114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Conversion Breakdown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1" name="Google Shape;301;p7"/>
          <p:cNvGraphicFramePr/>
          <p:nvPr/>
        </p:nvGraphicFramePr>
        <p:xfrm>
          <a:off x="548640" y="4389120"/>
          <a:ext cx="5486040" cy="2854800"/>
        </p:xfrm>
        <a:graphic>
          <a:graphicData uri="http://schemas.openxmlformats.org/drawingml/2006/table">
            <a:tbl>
              <a:tblPr/>
              <a:tblGrid>
                <a:gridCol w="2286000"/>
                <a:gridCol w="365400"/>
                <a:gridCol w="822600"/>
                <a:gridCol w="639720"/>
                <a:gridCol w="1371600"/>
              </a:tblGrid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Dengro Leads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Cost/Lead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Performance Max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£5,960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81.5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78.5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£75.92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Dental Implants Intent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£2,222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£341.83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£140.24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TOTAL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87.0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£97.27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[molar replacement cost]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£159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£40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Below average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302;p7"/>
          <p:cNvSpPr/>
          <p:nvPr/>
        </p:nvSpPr>
        <p:spPr>
          <a:xfrm>
            <a:off x="548640" y="5989320"/>
            <a:ext cx="1106388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Dengro Offline Booking fired 0 times in Week 1. Monday's tracking audit will confirm whether this is a reporting gap or a genuine zero-booking week.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03;p7"/>
          <p:cNvSpPr/>
          <p:nvPr/>
        </p:nvSpPr>
        <p:spPr>
          <a:xfrm>
            <a:off x="548640" y="6327720"/>
            <a:ext cx="2770200" cy="27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04;p7"/>
          <p:cNvSpPr/>
          <p:nvPr/>
        </p:nvSpPr>
        <p:spPr>
          <a:xfrm>
            <a:off x="3319200" y="6327720"/>
            <a:ext cx="2770200" cy="27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05;p7"/>
          <p:cNvSpPr/>
          <p:nvPr/>
        </p:nvSpPr>
        <p:spPr>
          <a:xfrm>
            <a:off x="6099120" y="6327720"/>
            <a:ext cx="2770200" cy="27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06;p7"/>
          <p:cNvSpPr/>
          <p:nvPr/>
        </p:nvSpPr>
        <p:spPr>
          <a:xfrm>
            <a:off x="8869680" y="6327720"/>
            <a:ext cx="2770200" cy="27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Google Shape;307;p7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308;p7"/>
          <p:cNvSpPr/>
          <p:nvPr/>
        </p:nvSpPr>
        <p:spPr>
          <a:xfrm>
            <a:off x="822960" y="64008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09;p7"/>
          <p:cNvSpPr/>
          <p:nvPr/>
        </p:nvSpPr>
        <p:spPr>
          <a:xfrm>
            <a:off x="11183040" y="64008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314;p8"/>
          <p:cNvSpPr/>
          <p:nvPr/>
        </p:nvSpPr>
        <p:spPr>
          <a:xfrm>
            <a:off x="0" y="0"/>
            <a:ext cx="3047400" cy="54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15;p8"/>
          <p:cNvSpPr/>
          <p:nvPr/>
        </p:nvSpPr>
        <p:spPr>
          <a:xfrm>
            <a:off x="3047760" y="0"/>
            <a:ext cx="3047400" cy="54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16;p8"/>
          <p:cNvSpPr/>
          <p:nvPr/>
        </p:nvSpPr>
        <p:spPr>
          <a:xfrm>
            <a:off x="6095520" y="0"/>
            <a:ext cx="3047400" cy="54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17;p8"/>
          <p:cNvSpPr/>
          <p:nvPr/>
        </p:nvSpPr>
        <p:spPr>
          <a:xfrm>
            <a:off x="9142920" y="0"/>
            <a:ext cx="3047400" cy="54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18;p8"/>
          <p:cNvSpPr/>
          <p:nvPr/>
        </p:nvSpPr>
        <p:spPr>
          <a:xfrm>
            <a:off x="548640" y="2743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8-Week Context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19;p8"/>
          <p:cNvSpPr/>
          <p:nvPr/>
        </p:nvSpPr>
        <p:spPr>
          <a:xfrm>
            <a:off x="548640" y="777240"/>
            <a:ext cx="8229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Weekly performance trend · 23 Feb – 17 April 2026 · spend, conversions, CPA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20;p8"/>
          <p:cNvSpPr/>
          <p:nvPr/>
        </p:nvSpPr>
        <p:spPr>
          <a:xfrm>
            <a:off x="8348400" y="274320"/>
            <a:ext cx="329148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21;p8"/>
          <p:cNvSpPr/>
          <p:nvPr/>
        </p:nvSpPr>
        <p:spPr>
          <a:xfrm>
            <a:off x="8439840" y="292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8-Week Trend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23;p8"/>
          <p:cNvSpPr/>
          <p:nvPr/>
        </p:nvSpPr>
        <p:spPr>
          <a:xfrm>
            <a:off x="5852160" y="1097280"/>
            <a:ext cx="5760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Weekly Performance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9" name="Google Shape;324;p8"/>
          <p:cNvGraphicFramePr/>
          <p:nvPr/>
        </p:nvGraphicFramePr>
        <p:xfrm>
          <a:off x="5852160" y="1417320"/>
          <a:ext cx="5760360" cy="3747240"/>
        </p:xfrm>
        <a:graphic>
          <a:graphicData uri="http://schemas.openxmlformats.org/drawingml/2006/table">
            <a:tbl>
              <a:tblPr/>
              <a:tblGrid>
                <a:gridCol w="1175400"/>
                <a:gridCol w="822600"/>
                <a:gridCol w="822600"/>
                <a:gridCol w="2939040"/>
              </a:tblGrid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CPA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 Feb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£17,568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237.5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£14,856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189.6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9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£8,393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120.3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16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£13,318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137.7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£11,558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239.2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£48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30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£9,997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148.4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£67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134.1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30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£9,997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148.4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£67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134.1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04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70" name="Google Shape;325;p8"/>
          <p:cNvSpPr/>
          <p:nvPr/>
        </p:nvSpPr>
        <p:spPr>
          <a:xfrm>
            <a:off x="5852160" y="3474720"/>
            <a:ext cx="5760360" cy="10663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26;p8"/>
          <p:cNvSpPr/>
          <p:nvPr/>
        </p:nvSpPr>
        <p:spPr>
          <a:xfrm>
            <a:off x="5852160" y="3474720"/>
            <a:ext cx="47160" cy="10663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27;p8"/>
          <p:cNvSpPr/>
          <p:nvPr/>
        </p:nvSpPr>
        <p:spPr>
          <a:xfrm>
            <a:off x="6049440" y="3514680"/>
            <a:ext cx="54446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Observation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28;p8"/>
          <p:cNvSpPr/>
          <p:nvPr/>
        </p:nvSpPr>
        <p:spPr>
          <a:xfrm>
            <a:off x="6049440" y="3840480"/>
            <a:ext cx="544464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Weekly spend fluctuated dramatically: £17.5k peak (23 Feb) → £8.4k (Week 1). A 52% range in 8 weeks.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CPA swung from £48 (best week) to £97 (worst week) — highly volatile before our engagement.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Additional weeks: 30 Mar £9,997/£67 CPA · 6 Apr £10,291/£77 CPA · 13 Apr £8,462/£84 CPA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1 (13 Apr) reflects 5 days of structural disruption: new bid strategies, rebuilt campaigns, changing keyword base.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29;p8"/>
          <p:cNvSpPr/>
          <p:nvPr/>
        </p:nvSpPr>
        <p:spPr>
          <a:xfrm>
            <a:off x="548640" y="4769640"/>
            <a:ext cx="5028840" cy="1371240"/>
          </a:xfrm>
          <a:prstGeom prst="rect">
            <a:avLst/>
          </a:prstGeom>
          <a:solidFill>
            <a:srgbClr val="F5F6F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30;p8"/>
          <p:cNvSpPr/>
          <p:nvPr/>
        </p:nvSpPr>
        <p:spPr>
          <a:xfrm>
            <a:off x="548640" y="4769640"/>
            <a:ext cx="54720" cy="13712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31;p8"/>
          <p:cNvSpPr/>
          <p:nvPr/>
        </p:nvSpPr>
        <p:spPr>
          <a:xfrm>
            <a:off x="777240" y="4861080"/>
            <a:ext cx="46630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in Context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32;p8"/>
          <p:cNvSpPr/>
          <p:nvPr/>
        </p:nvSpPr>
        <p:spPr>
          <a:xfrm>
            <a:off x="777240" y="5135400"/>
            <a:ext cx="4663080" cy="93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Weekly spend volatility has been the account's core instability — this rebuild brings it under control.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Target: stabilise weekly spend within a consistent range aligned to your target monthly budget (see Questions slide).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Efficiency (cost per lead) is the metric to watch from Week 3 onwards, once the rebuild stabilises.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First clean performance read: Week 2-3 after Google's learning phase completes.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33;p8"/>
          <p:cNvSpPr/>
          <p:nvPr/>
        </p:nvSpPr>
        <p:spPr>
          <a:xfrm>
            <a:off x="5852160" y="4769640"/>
            <a:ext cx="5760360" cy="13712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34;p8"/>
          <p:cNvSpPr/>
          <p:nvPr/>
        </p:nvSpPr>
        <p:spPr>
          <a:xfrm>
            <a:off x="6080760" y="4815360"/>
            <a:ext cx="5303160" cy="13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Monday's tracking audit confirms conversion reliability — the gate to CPA analysis.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2 performance comparison vs Week 1 will be the first post-rebuild read.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Please confirm target monthly budget so I can lock weekly pacing (see Slide 10).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35;p8"/>
          <p:cNvSpPr/>
          <p:nvPr/>
        </p:nvSpPr>
        <p:spPr>
          <a:xfrm>
            <a:off x="548640" y="6327720"/>
            <a:ext cx="2770200" cy="27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36;p8"/>
          <p:cNvSpPr/>
          <p:nvPr/>
        </p:nvSpPr>
        <p:spPr>
          <a:xfrm>
            <a:off x="3319200" y="6327720"/>
            <a:ext cx="2770200" cy="27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37;p8"/>
          <p:cNvSpPr/>
          <p:nvPr/>
        </p:nvSpPr>
        <p:spPr>
          <a:xfrm>
            <a:off x="6099120" y="6327720"/>
            <a:ext cx="2770200" cy="27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38;p8"/>
          <p:cNvSpPr/>
          <p:nvPr/>
        </p:nvSpPr>
        <p:spPr>
          <a:xfrm>
            <a:off x="8869680" y="6327720"/>
            <a:ext cx="2770200" cy="27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Google Shape;339;p8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Google Shape;340;p8"/>
          <p:cNvSpPr/>
          <p:nvPr/>
        </p:nvSpPr>
        <p:spPr>
          <a:xfrm>
            <a:off x="822960" y="64008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41;p8"/>
          <p:cNvSpPr/>
          <p:nvPr/>
        </p:nvSpPr>
        <p:spPr>
          <a:xfrm>
            <a:off x="11183040" y="64008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346;p9"/>
          <p:cNvSpPr/>
          <p:nvPr/>
        </p:nvSpPr>
        <p:spPr>
          <a:xfrm>
            <a:off x="0" y="0"/>
            <a:ext cx="3047400" cy="54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47;p9"/>
          <p:cNvSpPr/>
          <p:nvPr/>
        </p:nvSpPr>
        <p:spPr>
          <a:xfrm>
            <a:off x="3047760" y="0"/>
            <a:ext cx="3047400" cy="54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348;p9"/>
          <p:cNvSpPr/>
          <p:nvPr/>
        </p:nvSpPr>
        <p:spPr>
          <a:xfrm>
            <a:off x="6095520" y="0"/>
            <a:ext cx="3047400" cy="54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49;p9"/>
          <p:cNvSpPr/>
          <p:nvPr/>
        </p:nvSpPr>
        <p:spPr>
          <a:xfrm>
            <a:off x="9142920" y="0"/>
            <a:ext cx="3047400" cy="54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50;p9"/>
          <p:cNvSpPr/>
          <p:nvPr/>
        </p:nvSpPr>
        <p:spPr>
          <a:xfrm>
            <a:off x="548640" y="2743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Client Clarifications &amp; Actions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351;p9"/>
          <p:cNvSpPr/>
          <p:nvPr/>
        </p:nvSpPr>
        <p:spPr>
          <a:xfrm>
            <a:off x="548640" y="777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Giulio replied Fri 17 April 16:47 · actions captured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52;p9"/>
          <p:cNvSpPr/>
          <p:nvPr/>
        </p:nvSpPr>
        <p:spPr>
          <a:xfrm>
            <a:off x="8348400" y="274320"/>
            <a:ext cx="329148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53;p9"/>
          <p:cNvSpPr/>
          <p:nvPr/>
        </p:nvSpPr>
        <p:spPr>
          <a:xfrm>
            <a:off x="8439840" y="292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Client Reply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55;p9"/>
          <p:cNvSpPr/>
          <p:nvPr/>
        </p:nvSpPr>
        <p:spPr>
          <a:xfrm>
            <a:off x="8138160" y="1188720"/>
            <a:ext cx="3474360" cy="146268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56;p9"/>
          <p:cNvSpPr/>
          <p:nvPr/>
        </p:nvSpPr>
        <p:spPr>
          <a:xfrm>
            <a:off x="8138160" y="1188720"/>
            <a:ext cx="54360" cy="14626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57;p9"/>
          <p:cNvSpPr/>
          <p:nvPr/>
        </p:nvSpPr>
        <p:spPr>
          <a:xfrm>
            <a:off x="8366760" y="12801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Confirmed by Giulio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58;p9"/>
          <p:cNvSpPr/>
          <p:nvPr/>
        </p:nvSpPr>
        <p:spPr>
          <a:xfrm>
            <a:off x="8366760" y="1554480"/>
            <a:ext cx="318168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Consultation: Free + £25 booking deposit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Lead → Booking rate: 13%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Booking → Treatment rate: 35%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Patient base: ~10,000 patients, 20,000+ implants placed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25+ years team-wide expertise in dental field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59;p9"/>
          <p:cNvSpPr/>
          <p:nvPr/>
        </p:nvSpPr>
        <p:spPr>
          <a:xfrm>
            <a:off x="8138160" y="2834640"/>
            <a:ext cx="3474360" cy="182844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60;p9"/>
          <p:cNvSpPr/>
          <p:nvPr/>
        </p:nvSpPr>
        <p:spPr>
          <a:xfrm>
            <a:off x="8138160" y="2834640"/>
            <a:ext cx="54360" cy="18284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61;p9"/>
          <p:cNvSpPr/>
          <p:nvPr/>
        </p:nvSpPr>
        <p:spPr>
          <a:xfrm>
            <a:off x="8366760" y="29260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Compliance Actions Required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362;p9"/>
          <p:cNvSpPr/>
          <p:nvPr/>
        </p:nvSpPr>
        <p:spPr>
          <a:xfrm>
            <a:off x="8366760" y="3200400"/>
            <a:ext cx="310860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Remove '99.12% success rate' from all ads — confirmed estimate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Remove 'Save 60%' — no source benchmark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Reword 'Top 10 Europe' → factual descriptor (self-claim, not award)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Reword 'Best Implant Clinic 2024' → '2024 Finalist'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Update ad copy: 'Free Consultation (£25 booking deposit)'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63;p9"/>
          <p:cNvSpPr/>
          <p:nvPr/>
        </p:nvSpPr>
        <p:spPr>
          <a:xfrm>
            <a:off x="548640" y="4846320"/>
            <a:ext cx="5303160" cy="10969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64;p9"/>
          <p:cNvSpPr/>
          <p:nvPr/>
        </p:nvSpPr>
        <p:spPr>
          <a:xfrm>
            <a:off x="548640" y="4846320"/>
            <a:ext cx="54360" cy="10969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65;p9"/>
          <p:cNvSpPr/>
          <p:nvPr/>
        </p:nvSpPr>
        <p:spPr>
          <a:xfrm>
            <a:off x="777240" y="49377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Advertising Scope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66;p9"/>
          <p:cNvSpPr/>
          <p:nvPr/>
        </p:nvSpPr>
        <p:spPr>
          <a:xfrm>
            <a:off x="777240" y="5212080"/>
            <a:ext cx="493740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DBD only advertises dental implants (single + double arches) — confirmed by Giulio.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Cosmetic and general dentistry services deferred for now.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All campaigns aligned to this focus: Brand, PMax, Dental Implants Intent.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67;p9"/>
          <p:cNvSpPr/>
          <p:nvPr/>
        </p:nvSpPr>
        <p:spPr>
          <a:xfrm>
            <a:off x="6217920" y="4846320"/>
            <a:ext cx="5394600" cy="109692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68;p9"/>
          <p:cNvSpPr/>
          <p:nvPr/>
        </p:nvSpPr>
        <p:spPr>
          <a:xfrm>
            <a:off x="6446520" y="4892040"/>
            <a:ext cx="4937400" cy="7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Applying all compliance changes Monday 20 Apr: removing unverifiable claims, updating consultation pricing.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Replacing '2,500+ patients' claim with '20,000+ implants placed' across relevant ads.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AG22-25 Ad Strength audit resumes Tuesday (ads currently Pending Google review).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69;p9"/>
          <p:cNvSpPr/>
          <p:nvPr/>
        </p:nvSpPr>
        <p:spPr>
          <a:xfrm>
            <a:off x="548640" y="6327720"/>
            <a:ext cx="2770200" cy="27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370;p9"/>
          <p:cNvSpPr/>
          <p:nvPr/>
        </p:nvSpPr>
        <p:spPr>
          <a:xfrm>
            <a:off x="3319200" y="6327720"/>
            <a:ext cx="2770200" cy="27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371;p9"/>
          <p:cNvSpPr/>
          <p:nvPr/>
        </p:nvSpPr>
        <p:spPr>
          <a:xfrm>
            <a:off x="6099120" y="6327720"/>
            <a:ext cx="2770200" cy="27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372;p9"/>
          <p:cNvSpPr/>
          <p:nvPr/>
        </p:nvSpPr>
        <p:spPr>
          <a:xfrm>
            <a:off x="8869680" y="6327720"/>
            <a:ext cx="2770200" cy="27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Google Shape;373;p9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Google Shape;374;p9"/>
          <p:cNvSpPr/>
          <p:nvPr/>
        </p:nvSpPr>
        <p:spPr>
          <a:xfrm>
            <a:off x="822960" y="64008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375;p9"/>
          <p:cNvSpPr/>
          <p:nvPr/>
        </p:nvSpPr>
        <p:spPr>
          <a:xfrm>
            <a:off x="11183040" y="64008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80;p10"/>
          <p:cNvSpPr/>
          <p:nvPr/>
        </p:nvSpPr>
        <p:spPr>
          <a:xfrm>
            <a:off x="0" y="0"/>
            <a:ext cx="3047400" cy="54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381;p10"/>
          <p:cNvSpPr/>
          <p:nvPr/>
        </p:nvSpPr>
        <p:spPr>
          <a:xfrm>
            <a:off x="3047760" y="0"/>
            <a:ext cx="3047400" cy="54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382;p10"/>
          <p:cNvSpPr/>
          <p:nvPr/>
        </p:nvSpPr>
        <p:spPr>
          <a:xfrm>
            <a:off x="6095520" y="0"/>
            <a:ext cx="3047400" cy="54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383;p10"/>
          <p:cNvSpPr/>
          <p:nvPr/>
        </p:nvSpPr>
        <p:spPr>
          <a:xfrm>
            <a:off x="9142920" y="0"/>
            <a:ext cx="3047400" cy="54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384;p10"/>
          <p:cNvSpPr/>
          <p:nvPr/>
        </p:nvSpPr>
        <p:spPr>
          <a:xfrm>
            <a:off x="548640" y="2743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Questions for Client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385;p10"/>
          <p:cNvSpPr/>
          <p:nvPr/>
        </p:nvSpPr>
        <p:spPr>
          <a:xfrm>
            <a:off x="548640" y="777240"/>
            <a:ext cx="82292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To refine strategy, I need clarification on a few things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386;p10"/>
          <p:cNvSpPr/>
          <p:nvPr/>
        </p:nvSpPr>
        <p:spPr>
          <a:xfrm>
            <a:off x="8348400" y="274320"/>
            <a:ext cx="329148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387;p10"/>
          <p:cNvSpPr/>
          <p:nvPr/>
        </p:nvSpPr>
        <p:spPr>
          <a:xfrm>
            <a:off x="8439840" y="292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Your Input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388;p10"/>
          <p:cNvSpPr/>
          <p:nvPr/>
        </p:nvSpPr>
        <p:spPr>
          <a:xfrm>
            <a:off x="548640" y="109728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Budget Questions (Urgent)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5" name="Google Shape;389;p10"/>
          <p:cNvGraphicFramePr/>
          <p:nvPr/>
        </p:nvGraphicFramePr>
        <p:xfrm>
          <a:off x="603720" y="1417320"/>
          <a:ext cx="5248080" cy="6243120"/>
        </p:xfrm>
        <a:graphic>
          <a:graphicData uri="http://schemas.openxmlformats.org/drawingml/2006/table">
            <a:tbl>
              <a:tblPr/>
              <a:tblGrid>
                <a:gridCol w="2383560"/>
                <a:gridCol w="1144080"/>
                <a:gridCol w="172044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Question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Why It Matters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Answer Needed By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monthly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spend fluctuated £8k-£17k over 8 weeks. Target budget drives bid and budget decisions.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weekly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consistency drives campaign pacing. Current daily budgets sum to ~£14k/week but actual is ~£8.5k.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Is there a hard monthly ceiling?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Prevents overspend and informs daily budget caps across 3 campaigns.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Any seasonal budget flex (e.g. summer)?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Lets me set higher/lower target CPAs by season. January often quieter, summer busier.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 week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Priority service: single or double arch?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Higher-margin service should carry higher bid caps and budget share.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 week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90;p10"/>
          <p:cNvSpPr/>
          <p:nvPr/>
        </p:nvSpPr>
        <p:spPr>
          <a:xfrm>
            <a:off x="6217920" y="109728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Business Context (When You Can)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7" name="Google Shape;391;p10"/>
          <p:cNvGraphicFramePr/>
          <p:nvPr/>
        </p:nvGraphicFramePr>
        <p:xfrm>
          <a:off x="6273000" y="1417320"/>
          <a:ext cx="5339520" cy="6595560"/>
        </p:xfrm>
        <a:graphic>
          <a:graphicData uri="http://schemas.openxmlformats.org/drawingml/2006/table">
            <a:tbl>
              <a:tblPr/>
              <a:tblGrid>
                <a:gridCol w="1568520"/>
                <a:gridCol w="936360"/>
                <a:gridCol w="2834280"/>
              </a:tblGrid>
              <a:tr h="284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Question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Why It Matters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Answer Needed By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284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Average revenue per implant patient?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 calculate true ROAS instead of the £300 arbitrary booking value.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weeks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84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Time from enquiry → treatment start?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Sets true attribution windows and conversion lag expectations.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weeks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Which London areas drive most patients?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Validates / refines the 270-postcode geo targeting.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weeks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84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Typical patient age range?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Informs demographic bid adjustments.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weeks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Marketing budget — Google vs other channels?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Gives context for total marketing mix and Google's share of voice.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weeks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84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 competitors to watch?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Helps target auction insights and competitive ad copy angles.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weeks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What's the clinic's capacity limit?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Prevents over-scaling Google Ads beyond what the clinic can handle.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weeks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84400">
                <a:tc>
                  <a:txBody>
                    <a:bodyPr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8" name="Google Shape;392;p10"/>
          <p:cNvSpPr/>
          <p:nvPr/>
        </p:nvSpPr>
        <p:spPr>
          <a:xfrm>
            <a:off x="548640" y="4541040"/>
            <a:ext cx="5303160" cy="164556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393;p10"/>
          <p:cNvSpPr/>
          <p:nvPr/>
        </p:nvSpPr>
        <p:spPr>
          <a:xfrm>
            <a:off x="548640" y="4541040"/>
            <a:ext cx="54720" cy="16455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394;p10"/>
          <p:cNvSpPr/>
          <p:nvPr/>
        </p:nvSpPr>
        <p:spPr>
          <a:xfrm>
            <a:off x="777240" y="4632480"/>
            <a:ext cx="4937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How to Reply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395;p10"/>
          <p:cNvSpPr/>
          <p:nvPr/>
        </p:nvSpPr>
        <p:spPr>
          <a:xfrm>
            <a:off x="777240" y="4906800"/>
            <a:ext cx="4937400" cy="11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Reply to this email with answers to any questions — no need to answer all at once.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Or we can cover these on a 20-30 min call whenever convenient.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Urgent questions (budget) need answers by Monday so Week 2 work isn't blocked.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396;p10"/>
          <p:cNvSpPr/>
          <p:nvPr/>
        </p:nvSpPr>
        <p:spPr>
          <a:xfrm>
            <a:off x="6217920" y="4541040"/>
            <a:ext cx="5394600" cy="16455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397;p10"/>
          <p:cNvSpPr/>
          <p:nvPr/>
        </p:nvSpPr>
        <p:spPr>
          <a:xfrm>
            <a:off x="6217920" y="4541040"/>
            <a:ext cx="54720" cy="16455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398;p10"/>
          <p:cNvSpPr/>
          <p:nvPr/>
        </p:nvSpPr>
        <p:spPr>
          <a:xfrm>
            <a:off x="6446520" y="4632480"/>
            <a:ext cx="5028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Why These Matter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399;p10"/>
          <p:cNvSpPr/>
          <p:nvPr/>
        </p:nvSpPr>
        <p:spPr>
          <a:xfrm>
            <a:off x="6446520" y="4906800"/>
            <a:ext cx="5028840" cy="93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Every piece of clarification feeds directly into bid strategies, budget allocation, and ad copy.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more I know about your business, the more precisely I can tune the account.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Example: the 8-week spend volatility (£8k-£17k range) is what happens when budgets aren't locked to a target — pinning your target spend eliminates this.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400;p10"/>
          <p:cNvSpPr/>
          <p:nvPr/>
        </p:nvSpPr>
        <p:spPr>
          <a:xfrm>
            <a:off x="548640" y="6327720"/>
            <a:ext cx="2770200" cy="27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401;p10"/>
          <p:cNvSpPr/>
          <p:nvPr/>
        </p:nvSpPr>
        <p:spPr>
          <a:xfrm>
            <a:off x="3319200" y="6327720"/>
            <a:ext cx="2770200" cy="27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402;p10"/>
          <p:cNvSpPr/>
          <p:nvPr/>
        </p:nvSpPr>
        <p:spPr>
          <a:xfrm>
            <a:off x="6099120" y="6327720"/>
            <a:ext cx="2770200" cy="27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403;p10"/>
          <p:cNvSpPr/>
          <p:nvPr/>
        </p:nvSpPr>
        <p:spPr>
          <a:xfrm>
            <a:off x="8869680" y="6327720"/>
            <a:ext cx="2770200" cy="27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0" name="Google Shape;404;p10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Google Shape;405;p10"/>
          <p:cNvSpPr/>
          <p:nvPr/>
        </p:nvSpPr>
        <p:spPr>
          <a:xfrm>
            <a:off x="822960" y="64008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406;p10"/>
          <p:cNvSpPr/>
          <p:nvPr/>
        </p:nvSpPr>
        <p:spPr>
          <a:xfrm>
            <a:off x="11183040" y="64008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411;p11"/>
          <p:cNvSpPr/>
          <p:nvPr/>
        </p:nvSpPr>
        <p:spPr>
          <a:xfrm>
            <a:off x="0" y="0"/>
            <a:ext cx="3047400" cy="54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412;p11"/>
          <p:cNvSpPr/>
          <p:nvPr/>
        </p:nvSpPr>
        <p:spPr>
          <a:xfrm>
            <a:off x="3047760" y="0"/>
            <a:ext cx="3047400" cy="54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413;p11"/>
          <p:cNvSpPr/>
          <p:nvPr/>
        </p:nvSpPr>
        <p:spPr>
          <a:xfrm>
            <a:off x="6095520" y="0"/>
            <a:ext cx="3047400" cy="54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Google Shape;414;p11"/>
          <p:cNvSpPr/>
          <p:nvPr/>
        </p:nvSpPr>
        <p:spPr>
          <a:xfrm>
            <a:off x="9142920" y="0"/>
            <a:ext cx="3047400" cy="54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7360" b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Google Shape;415;p11"/>
          <p:cNvSpPr/>
          <p:nvPr/>
        </p:nvSpPr>
        <p:spPr>
          <a:xfrm>
            <a:off x="548640" y="27432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2 Plan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416;p11"/>
          <p:cNvSpPr/>
          <p:nvPr/>
        </p:nvSpPr>
        <p:spPr>
          <a:xfrm>
            <a:off x="8348400" y="274320"/>
            <a:ext cx="3291480" cy="41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417;p11"/>
          <p:cNvSpPr/>
          <p:nvPr/>
        </p:nvSpPr>
        <p:spPr>
          <a:xfrm>
            <a:off x="8439840" y="292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 Working Days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418;p11"/>
          <p:cNvSpPr/>
          <p:nvPr/>
        </p:nvSpPr>
        <p:spPr>
          <a:xfrm>
            <a:off x="548640" y="1097280"/>
            <a:ext cx="3474360" cy="4185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419;p11"/>
          <p:cNvSpPr/>
          <p:nvPr/>
        </p:nvSpPr>
        <p:spPr>
          <a:xfrm>
            <a:off x="548640" y="1097280"/>
            <a:ext cx="54720" cy="4185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420;p11"/>
          <p:cNvSpPr/>
          <p:nvPr/>
        </p:nvSpPr>
        <p:spPr>
          <a:xfrm>
            <a:off x="731520" y="12344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Monday 20 Apr — Tracking Audit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421;p11"/>
          <p:cNvSpPr/>
          <p:nvPr/>
        </p:nvSpPr>
        <p:spPr>
          <a:xfrm>
            <a:off x="731520" y="1645920"/>
            <a:ext cx="3108600" cy="25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1. Verify form_submit fires on all landing pages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End-to-end validation across every Search campaign LP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2. Verify Dengro Offline Lead / Booking / Purchase reliability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Confirm why Bookings fired 0 times in Week 1 — reporting gap or genuine zero?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3. Audit attribution windows and conversion counting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Ensure Dengro leads aren't being double-counted or missing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4. Gate for all CPA analysis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No CPA-based decisions until tracking is confirmed reliable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422;p11"/>
          <p:cNvSpPr/>
          <p:nvPr/>
        </p:nvSpPr>
        <p:spPr>
          <a:xfrm>
            <a:off x="4297680" y="1097280"/>
            <a:ext cx="3474360" cy="4185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423;p11"/>
          <p:cNvSpPr/>
          <p:nvPr/>
        </p:nvSpPr>
        <p:spPr>
          <a:xfrm>
            <a:off x="4297680" y="1097280"/>
            <a:ext cx="54720" cy="4185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Google Shape;424;p11"/>
          <p:cNvSpPr/>
          <p:nvPr/>
        </p:nvSpPr>
        <p:spPr>
          <a:xfrm>
            <a:off x="4480560" y="12344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Tue 21 – Thu 23 Apr — Execution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425;p11"/>
          <p:cNvSpPr/>
          <p:nvPr/>
        </p:nvSpPr>
        <p:spPr>
          <a:xfrm>
            <a:off x="4480560" y="1645920"/>
            <a:ext cx="3108600" cy="30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5. Apply Giulio's claim corrections across all ads (Tue)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Remove 99.12%, Save 60%; reword Top 10, Best Clinic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6. Resume AG22-25 Ad Strength audit once Google clears Pending (Tue)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12 RSAs to audit once review completes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7. Second pass on AG1-21 ads not yet at Excellent (Tue)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Push remaining RSAs over the line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8. PMax asset rebuild (Wed)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Policy-safe copy, verified claims only, restores full reach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9. Ad extensions deployed (Thu)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Sitelinks, callouts, structured snippets — first time the account has a complete set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Google Shape;426;p11"/>
          <p:cNvSpPr/>
          <p:nvPr/>
        </p:nvSpPr>
        <p:spPr>
          <a:xfrm>
            <a:off x="8046720" y="1097280"/>
            <a:ext cx="3565800" cy="4185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427;p11"/>
          <p:cNvSpPr/>
          <p:nvPr/>
        </p:nvSpPr>
        <p:spPr>
          <a:xfrm>
            <a:off x="8046720" y="1097280"/>
            <a:ext cx="54720" cy="4185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428;p11"/>
          <p:cNvSpPr/>
          <p:nvPr/>
        </p:nvSpPr>
        <p:spPr>
          <a:xfrm>
            <a:off x="8229600" y="12344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Friday 24 Apr — Review + Report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429;p11"/>
          <p:cNvSpPr/>
          <p:nvPr/>
        </p:nvSpPr>
        <p:spPr>
          <a:xfrm>
            <a:off x="8229600" y="1645920"/>
            <a:ext cx="3200040" cy="189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10. 7-day performance comparison vs Week 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Spend, leads, CPA — first post-rebuild signal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11. Brand matures, PMax settles, DII still learning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Different campaigns on different learning trajectories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12. Week 2 end-of-week report delivered EoD Friday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Same format as this report — trend, insights, Week 3 plan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Google Shape;430;p11"/>
          <p:cNvSpPr/>
          <p:nvPr/>
        </p:nvSpPr>
        <p:spPr>
          <a:xfrm>
            <a:off x="548640" y="5838120"/>
            <a:ext cx="11063880" cy="36540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431;p11"/>
          <p:cNvSpPr/>
          <p:nvPr/>
        </p:nvSpPr>
        <p:spPr>
          <a:xfrm>
            <a:off x="777240" y="5883840"/>
            <a:ext cx="106066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2 is about execution: tracking audit unblocks CPA analysis, claim corrections unblock compliance, PMax rebuild unblocks reach.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Google Shape;432;p11"/>
          <p:cNvSpPr/>
          <p:nvPr/>
        </p:nvSpPr>
        <p:spPr>
          <a:xfrm>
            <a:off x="548640" y="6327720"/>
            <a:ext cx="2770200" cy="27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Google Shape;433;p11"/>
          <p:cNvSpPr/>
          <p:nvPr/>
        </p:nvSpPr>
        <p:spPr>
          <a:xfrm>
            <a:off x="3319200" y="6327720"/>
            <a:ext cx="2770200" cy="27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Google Shape;434;p11"/>
          <p:cNvSpPr/>
          <p:nvPr/>
        </p:nvSpPr>
        <p:spPr>
          <a:xfrm>
            <a:off x="6099120" y="6327720"/>
            <a:ext cx="2770200" cy="27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Google Shape;435;p11"/>
          <p:cNvSpPr/>
          <p:nvPr/>
        </p:nvSpPr>
        <p:spPr>
          <a:xfrm>
            <a:off x="8869680" y="6327720"/>
            <a:ext cx="2770200" cy="27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3680" bIns="13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8" name="Google Shape;436;p11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Google Shape;437;p11"/>
          <p:cNvSpPr/>
          <p:nvPr/>
        </p:nvSpPr>
        <p:spPr>
          <a:xfrm>
            <a:off x="822960" y="64008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438;p11"/>
          <p:cNvSpPr/>
          <p:nvPr/>
        </p:nvSpPr>
        <p:spPr>
          <a:xfrm>
            <a:off x="11183040" y="64008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443;p12"/>
          <p:cNvSpPr/>
          <p:nvPr/>
        </p:nvSpPr>
        <p:spPr>
          <a:xfrm>
            <a:off x="0" y="0"/>
            <a:ext cx="3047400" cy="637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444;p12"/>
          <p:cNvSpPr/>
          <p:nvPr/>
        </p:nvSpPr>
        <p:spPr>
          <a:xfrm>
            <a:off x="3047760" y="0"/>
            <a:ext cx="3047400" cy="637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445;p12"/>
          <p:cNvSpPr/>
          <p:nvPr/>
        </p:nvSpPr>
        <p:spPr>
          <a:xfrm>
            <a:off x="6095520" y="0"/>
            <a:ext cx="3047400" cy="637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Google Shape;446;p12"/>
          <p:cNvSpPr/>
          <p:nvPr/>
        </p:nvSpPr>
        <p:spPr>
          <a:xfrm>
            <a:off x="9142920" y="0"/>
            <a:ext cx="3047400" cy="637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32040" bIns="320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Google Shape;447;p12"/>
          <p:cNvSpPr/>
          <p:nvPr/>
        </p:nvSpPr>
        <p:spPr>
          <a:xfrm>
            <a:off x="0" y="64080"/>
            <a:ext cx="109440" cy="67935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6" name="Google Shape;448;p12" descr="act_logo_official.png"/>
          <p:cNvPicPr/>
          <p:nvPr/>
        </p:nvPicPr>
        <p:blipFill>
          <a:blip r:embed="rId1"/>
          <a:stretch/>
        </p:blipFill>
        <p:spPr>
          <a:xfrm>
            <a:off x="548640" y="45720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Google Shape;449;p12"/>
          <p:cNvSpPr/>
          <p:nvPr/>
        </p:nvSpPr>
        <p:spPr>
          <a:xfrm>
            <a:off x="548640" y="128016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What's Next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450;p12"/>
          <p:cNvSpPr/>
          <p:nvPr/>
        </p:nvSpPr>
        <p:spPr>
          <a:xfrm>
            <a:off x="548640" y="2011680"/>
            <a:ext cx="2285640" cy="45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451;p12"/>
          <p:cNvSpPr/>
          <p:nvPr/>
        </p:nvSpPr>
        <p:spPr>
          <a:xfrm>
            <a:off x="548640" y="21945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Rolling priorities beyond Week 2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Google Shape;452;p12"/>
          <p:cNvSpPr/>
          <p:nvPr/>
        </p:nvSpPr>
        <p:spPr>
          <a:xfrm>
            <a:off x="548640" y="2606040"/>
            <a:ext cx="5028840" cy="45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Google Shape;453;p12"/>
          <p:cNvSpPr/>
          <p:nvPr/>
        </p:nvSpPr>
        <p:spPr>
          <a:xfrm>
            <a:off x="548640" y="2606040"/>
            <a:ext cx="54360" cy="4568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Google Shape;454;p12"/>
          <p:cNvSpPr/>
          <p:nvPr/>
        </p:nvSpPr>
        <p:spPr>
          <a:xfrm>
            <a:off x="777240" y="2679120"/>
            <a:ext cx="457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1.  Cosmetic dentistry campaign build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455;p12"/>
          <p:cNvSpPr/>
          <p:nvPr/>
        </p:nvSpPr>
        <p:spPr>
          <a:xfrm>
            <a:off x="548640" y="3154680"/>
            <a:ext cx="5028840" cy="45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Google Shape;456;p12"/>
          <p:cNvSpPr/>
          <p:nvPr/>
        </p:nvSpPr>
        <p:spPr>
          <a:xfrm>
            <a:off x="548640" y="3154680"/>
            <a:ext cx="54360" cy="4568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Google Shape;457;p12"/>
          <p:cNvSpPr/>
          <p:nvPr/>
        </p:nvSpPr>
        <p:spPr>
          <a:xfrm>
            <a:off x="777240" y="3227760"/>
            <a:ext cx="457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2.  Landing page optimisation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Google Shape;458;p12"/>
          <p:cNvSpPr/>
          <p:nvPr/>
        </p:nvSpPr>
        <p:spPr>
          <a:xfrm>
            <a:off x="548640" y="3703320"/>
            <a:ext cx="5028840" cy="45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Google Shape;459;p12"/>
          <p:cNvSpPr/>
          <p:nvPr/>
        </p:nvSpPr>
        <p:spPr>
          <a:xfrm>
            <a:off x="548640" y="3703320"/>
            <a:ext cx="54360" cy="4568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460;p12"/>
          <p:cNvSpPr/>
          <p:nvPr/>
        </p:nvSpPr>
        <p:spPr>
          <a:xfrm>
            <a:off x="777240" y="3776400"/>
            <a:ext cx="457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3.  Long-tail keyword expansion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461;p12"/>
          <p:cNvSpPr/>
          <p:nvPr/>
        </p:nvSpPr>
        <p:spPr>
          <a:xfrm>
            <a:off x="548640" y="4251960"/>
            <a:ext cx="5028840" cy="45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462;p12"/>
          <p:cNvSpPr/>
          <p:nvPr/>
        </p:nvSpPr>
        <p:spPr>
          <a:xfrm>
            <a:off x="548640" y="4251960"/>
            <a:ext cx="54360" cy="4568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463;p12"/>
          <p:cNvSpPr/>
          <p:nvPr/>
        </p:nvSpPr>
        <p:spPr>
          <a:xfrm>
            <a:off x="777240" y="4325040"/>
            <a:ext cx="457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4.  Conversion rate improvements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464;p12"/>
          <p:cNvSpPr/>
          <p:nvPr/>
        </p:nvSpPr>
        <p:spPr>
          <a:xfrm>
            <a:off x="548640" y="4800600"/>
            <a:ext cx="5028840" cy="45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465;p12"/>
          <p:cNvSpPr/>
          <p:nvPr/>
        </p:nvSpPr>
        <p:spPr>
          <a:xfrm>
            <a:off x="548640" y="4800600"/>
            <a:ext cx="54360" cy="4568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466;p12"/>
          <p:cNvSpPr/>
          <p:nvPr/>
        </p:nvSpPr>
        <p:spPr>
          <a:xfrm>
            <a:off x="777240" y="4873680"/>
            <a:ext cx="457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5.  Monthly review cycle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467;p12"/>
          <p:cNvSpPr/>
          <p:nvPr/>
        </p:nvSpPr>
        <p:spPr>
          <a:xfrm>
            <a:off x="548640" y="5349240"/>
            <a:ext cx="5028840" cy="456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468;p12"/>
          <p:cNvSpPr/>
          <p:nvPr/>
        </p:nvSpPr>
        <p:spPr>
          <a:xfrm>
            <a:off x="548640" y="5349240"/>
            <a:ext cx="54360" cy="4568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469;p12"/>
          <p:cNvSpPr/>
          <p:nvPr/>
        </p:nvSpPr>
        <p:spPr>
          <a:xfrm>
            <a:off x="777240" y="5422320"/>
            <a:ext cx="457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6.  End-of-month report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470;p12"/>
          <p:cNvSpPr/>
          <p:nvPr/>
        </p:nvSpPr>
        <p:spPr>
          <a:xfrm>
            <a:off x="6217920" y="457200"/>
            <a:ext cx="5394600" cy="2285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471;p12"/>
          <p:cNvSpPr/>
          <p:nvPr/>
        </p:nvSpPr>
        <p:spPr>
          <a:xfrm>
            <a:off x="6217920" y="457200"/>
            <a:ext cx="72720" cy="2285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6360" rIns="36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Google Shape;472;p12"/>
          <p:cNvSpPr/>
          <p:nvPr/>
        </p:nvSpPr>
        <p:spPr>
          <a:xfrm>
            <a:off x="6492240" y="54864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Coming Next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473;p12"/>
          <p:cNvSpPr/>
          <p:nvPr/>
        </p:nvSpPr>
        <p:spPr>
          <a:xfrm>
            <a:off x="6492240" y="914400"/>
            <a:ext cx="4937400" cy="12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Week 2 Report</a:t>
            </a:r>
            <a:br>
              <a:rPr sz="4000"/>
            </a:b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474;p12"/>
          <p:cNvSpPr/>
          <p:nvPr/>
        </p:nvSpPr>
        <p:spPr>
          <a:xfrm>
            <a:off x="6492240" y="2098080"/>
            <a:ext cx="493740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Weekly performance review, tracking audit findings, PMax rebuild results, and Week 3 plan. Delivered EoD Friday 24 April.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Google Shape;475;p12"/>
          <p:cNvSpPr/>
          <p:nvPr/>
        </p:nvSpPr>
        <p:spPr>
          <a:xfrm>
            <a:off x="6217920" y="2926080"/>
            <a:ext cx="16729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476;p12"/>
          <p:cNvSpPr/>
          <p:nvPr/>
        </p:nvSpPr>
        <p:spPr>
          <a:xfrm>
            <a:off x="6217920" y="2926080"/>
            <a:ext cx="54360" cy="10512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Google Shape;477;p12"/>
          <p:cNvSpPr/>
          <p:nvPr/>
        </p:nvSpPr>
        <p:spPr>
          <a:xfrm>
            <a:off x="6355080" y="3035880"/>
            <a:ext cx="144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478;p12"/>
          <p:cNvSpPr/>
          <p:nvPr/>
        </p:nvSpPr>
        <p:spPr>
          <a:xfrm>
            <a:off x="6355080" y="3474720"/>
            <a:ext cx="144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Compliance Actions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Google Shape;479;p12"/>
          <p:cNvSpPr/>
          <p:nvPr/>
        </p:nvSpPr>
        <p:spPr>
          <a:xfrm>
            <a:off x="8074080" y="2926080"/>
            <a:ext cx="16729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480;p12"/>
          <p:cNvSpPr/>
          <p:nvPr/>
        </p:nvSpPr>
        <p:spPr>
          <a:xfrm>
            <a:off x="8074080" y="2926080"/>
            <a:ext cx="54360" cy="10512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Google Shape;481;p12"/>
          <p:cNvSpPr/>
          <p:nvPr/>
        </p:nvSpPr>
        <p:spPr>
          <a:xfrm>
            <a:off x="8211240" y="3035880"/>
            <a:ext cx="144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Google Shape;482;p12"/>
          <p:cNvSpPr/>
          <p:nvPr/>
        </p:nvSpPr>
        <p:spPr>
          <a:xfrm>
            <a:off x="8211240" y="3474720"/>
            <a:ext cx="144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Working Days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Google Shape;483;p12"/>
          <p:cNvSpPr/>
          <p:nvPr/>
        </p:nvSpPr>
        <p:spPr>
          <a:xfrm>
            <a:off x="9939600" y="2926080"/>
            <a:ext cx="167292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Google Shape;484;p12"/>
          <p:cNvSpPr/>
          <p:nvPr/>
        </p:nvSpPr>
        <p:spPr>
          <a:xfrm>
            <a:off x="9939600" y="2926080"/>
            <a:ext cx="54360" cy="10512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rIns="27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Google Shape;485;p12"/>
          <p:cNvSpPr/>
          <p:nvPr/>
        </p:nvSpPr>
        <p:spPr>
          <a:xfrm>
            <a:off x="10076760" y="3035880"/>
            <a:ext cx="144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Week 2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Google Shape;486;p12"/>
          <p:cNvSpPr/>
          <p:nvPr/>
        </p:nvSpPr>
        <p:spPr>
          <a:xfrm>
            <a:off x="10076760" y="3474720"/>
            <a:ext cx="144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Coming Next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Google Shape;487;p12"/>
          <p:cNvSpPr/>
          <p:nvPr/>
        </p:nvSpPr>
        <p:spPr>
          <a:xfrm>
            <a:off x="0" y="6400800"/>
            <a:ext cx="3047400" cy="36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Google Shape;488;p12"/>
          <p:cNvSpPr/>
          <p:nvPr/>
        </p:nvSpPr>
        <p:spPr>
          <a:xfrm>
            <a:off x="3047760" y="6400800"/>
            <a:ext cx="3047400" cy="36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Google Shape;489;p12"/>
          <p:cNvSpPr/>
          <p:nvPr/>
        </p:nvSpPr>
        <p:spPr>
          <a:xfrm>
            <a:off x="6095520" y="6400800"/>
            <a:ext cx="3047400" cy="36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Google Shape;490;p12"/>
          <p:cNvSpPr/>
          <p:nvPr/>
        </p:nvSpPr>
        <p:spPr>
          <a:xfrm>
            <a:off x="9142920" y="6400800"/>
            <a:ext cx="3047400" cy="36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18360" bIns="183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en-GB</dc:language>
  <cp:lastModifiedBy/>
  <cp:revision>0</cp:revision>
  <dc:subject/>
  <dc:title/>
</cp:coreProperties>
</file>