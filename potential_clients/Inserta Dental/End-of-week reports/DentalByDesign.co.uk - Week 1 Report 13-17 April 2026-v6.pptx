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51942B-34C3-468E-AA58-1A504D5807E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E98E51-9088-4420-8A34-AAE1A68DBC5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9ECE5F-B146-43DB-82EA-B1B8A8324C1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8F0298-D994-4B0B-B0D2-E02DD9EB49C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43D4BB-8C4C-41B2-B20B-ABA95082136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FC3A6A-105C-4762-B667-52847A3EC55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D542D0-92A0-4837-8706-03272ECEE18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091342-D68E-4617-A260-3E1CEDDB0D8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856FA5-84B5-4D06-8D6C-323803A7737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8B91BB-6301-4624-B04F-09A18018460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9B3588-C4A7-45AA-8E03-5D8416792C2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0" y="0"/>
            <a:ext cx="3047040" cy="63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3047760" y="0"/>
            <a:ext cx="3047040" cy="63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6095520" y="0"/>
            <a:ext cx="3047040" cy="63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9142920" y="0"/>
            <a:ext cx="3047040" cy="63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"/>
          <p:cNvSpPr/>
          <p:nvPr/>
        </p:nvSpPr>
        <p:spPr>
          <a:xfrm>
            <a:off x="0" y="64080"/>
            <a:ext cx="109080" cy="6793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Google Shape;89;p1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640" cy="59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0;p1"/>
          <p:cNvSpPr/>
          <p:nvPr/>
        </p:nvSpPr>
        <p:spPr>
          <a:xfrm>
            <a:off x="548640" y="1280160"/>
            <a:ext cx="52480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Report</a:t>
            </a:r>
            <a:br>
              <a:rPr sz="4400"/>
            </a:b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548640" y="3017520"/>
            <a:ext cx="2285280" cy="4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548640" y="324612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Dental by Design  |  Prodent Group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548640" y="3931920"/>
            <a:ext cx="502848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Christopher Hoole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Google Ads Specialist  | 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tabLst>
                <a:tab pos="0" algn="l"/>
              </a:tabLst>
            </a:pPr>
            <a:r>
              <a:rPr lang="en-US" sz="1200" b="0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christopherhoole.com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4;p1"/>
          <p:cNvSpPr/>
          <p:nvPr/>
        </p:nvSpPr>
        <p:spPr>
          <a:xfrm>
            <a:off x="548640" y="5029200"/>
            <a:ext cx="4114080" cy="45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5;p1"/>
          <p:cNvSpPr/>
          <p:nvPr/>
        </p:nvSpPr>
        <p:spPr>
          <a:xfrm>
            <a:off x="640080" y="504756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Data: Monday 13 – Friday 17 April 2026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6;p1"/>
          <p:cNvSpPr/>
          <p:nvPr/>
        </p:nvSpPr>
        <p:spPr>
          <a:xfrm>
            <a:off x="6217920" y="457200"/>
            <a:ext cx="5394240" cy="228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97;p1"/>
          <p:cNvSpPr/>
          <p:nvPr/>
        </p:nvSpPr>
        <p:spPr>
          <a:xfrm>
            <a:off x="6217920" y="457200"/>
            <a:ext cx="72360" cy="2285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98;p1"/>
          <p:cNvSpPr/>
          <p:nvPr/>
        </p:nvSpPr>
        <p:spPr>
          <a:xfrm>
            <a:off x="6492240" y="5486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Avg CPC Trend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9;p1"/>
          <p:cNvSpPr/>
          <p:nvPr/>
        </p:nvSpPr>
        <p:spPr>
          <a:xfrm>
            <a:off x="6492240" y="914400"/>
            <a:ext cx="49370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£3.18 → £1.61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0;p1"/>
          <p:cNvSpPr/>
          <p:nvPr/>
        </p:nvSpPr>
        <p:spPr>
          <a:xfrm>
            <a:off x="6492240" y="1645920"/>
            <a:ext cx="49370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−49% week-on-week · lowest of 8 tracked weeks · impression share 92%+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1;p1"/>
          <p:cNvSpPr/>
          <p:nvPr/>
        </p:nvSpPr>
        <p:spPr>
          <a:xfrm>
            <a:off x="621792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;p1"/>
          <p:cNvSpPr/>
          <p:nvPr/>
        </p:nvSpPr>
        <p:spPr>
          <a:xfrm>
            <a:off x="6217920" y="2926080"/>
            <a:ext cx="54000" cy="1050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3;p1"/>
          <p:cNvSpPr/>
          <p:nvPr/>
        </p:nvSpPr>
        <p:spPr>
          <a:xfrm>
            <a:off x="635508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~675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4;p1"/>
          <p:cNvSpPr/>
          <p:nvPr/>
        </p:nvSpPr>
        <p:spPr>
          <a:xfrm>
            <a:off x="635508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Keywords Added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5;p1"/>
          <p:cNvSpPr/>
          <p:nvPr/>
        </p:nvSpPr>
        <p:spPr>
          <a:xfrm>
            <a:off x="807408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6;p1"/>
          <p:cNvSpPr/>
          <p:nvPr/>
        </p:nvSpPr>
        <p:spPr>
          <a:xfrm>
            <a:off x="8074080" y="2926080"/>
            <a:ext cx="54000" cy="1050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7;p1"/>
          <p:cNvSpPr/>
          <p:nvPr/>
        </p:nvSpPr>
        <p:spPr>
          <a:xfrm>
            <a:off x="821124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8;p1"/>
          <p:cNvSpPr/>
          <p:nvPr/>
        </p:nvSpPr>
        <p:spPr>
          <a:xfrm>
            <a:off x="821124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DII Ad Groups (was 4)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9;p1"/>
          <p:cNvSpPr/>
          <p:nvPr/>
        </p:nvSpPr>
        <p:spPr>
          <a:xfrm>
            <a:off x="993960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0;p1"/>
          <p:cNvSpPr/>
          <p:nvPr/>
        </p:nvSpPr>
        <p:spPr>
          <a:xfrm>
            <a:off x="9939600" y="2926080"/>
            <a:ext cx="54000" cy="10508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1;p1"/>
          <p:cNvSpPr/>
          <p:nvPr/>
        </p:nvSpPr>
        <p:spPr>
          <a:xfrm>
            <a:off x="1007676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75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12;p1"/>
          <p:cNvSpPr/>
          <p:nvPr/>
        </p:nvSpPr>
        <p:spPr>
          <a:xfrm>
            <a:off x="1007676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New RSAs Written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13;p1"/>
          <p:cNvSpPr/>
          <p:nvPr/>
        </p:nvSpPr>
        <p:spPr>
          <a:xfrm>
            <a:off x="0" y="6400800"/>
            <a:ext cx="3047040" cy="36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14;p1"/>
          <p:cNvSpPr/>
          <p:nvPr/>
        </p:nvSpPr>
        <p:spPr>
          <a:xfrm>
            <a:off x="3047760" y="6400800"/>
            <a:ext cx="3047040" cy="36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15;p1"/>
          <p:cNvSpPr/>
          <p:nvPr/>
        </p:nvSpPr>
        <p:spPr>
          <a:xfrm>
            <a:off x="6095520" y="6400800"/>
            <a:ext cx="3047040" cy="36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16;p1"/>
          <p:cNvSpPr/>
          <p:nvPr/>
        </p:nvSpPr>
        <p:spPr>
          <a:xfrm>
            <a:off x="9142920" y="6400800"/>
            <a:ext cx="3047040" cy="36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21;p2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2;p2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3;p2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4;p2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25;p2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Executive Summary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26;p2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7;p2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1 · 13-17 Apr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28;p2"/>
          <p:cNvSpPr/>
          <p:nvPr/>
        </p:nvSpPr>
        <p:spPr>
          <a:xfrm>
            <a:off x="54864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9;p2"/>
          <p:cNvSpPr/>
          <p:nvPr/>
        </p:nvSpPr>
        <p:spPr>
          <a:xfrm>
            <a:off x="548640" y="1097280"/>
            <a:ext cx="54000" cy="9594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0;p2"/>
          <p:cNvSpPr/>
          <p:nvPr/>
        </p:nvSpPr>
        <p:spPr>
          <a:xfrm>
            <a:off x="73152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£8,462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31;p2"/>
          <p:cNvSpPr/>
          <p:nvPr/>
        </p:nvSpPr>
        <p:spPr>
          <a:xfrm>
            <a:off x="731520" y="1645920"/>
            <a:ext cx="2285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1 Spend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32;p2"/>
          <p:cNvSpPr/>
          <p:nvPr/>
        </p:nvSpPr>
        <p:spPr>
          <a:xfrm>
            <a:off x="338328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33;p2"/>
          <p:cNvSpPr/>
          <p:nvPr/>
        </p:nvSpPr>
        <p:spPr>
          <a:xfrm>
            <a:off x="3383280" y="1097280"/>
            <a:ext cx="54000" cy="9594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34;p2"/>
          <p:cNvSpPr/>
          <p:nvPr/>
        </p:nvSpPr>
        <p:spPr>
          <a:xfrm>
            <a:off x="356616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87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35;p2"/>
          <p:cNvSpPr/>
          <p:nvPr/>
        </p:nvSpPr>
        <p:spPr>
          <a:xfrm>
            <a:off x="3566160" y="1645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Dengro </a:t>
            </a: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Offline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 Leads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6;p2"/>
          <p:cNvSpPr/>
          <p:nvPr/>
        </p:nvSpPr>
        <p:spPr>
          <a:xfrm>
            <a:off x="621792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7;p2"/>
          <p:cNvSpPr/>
          <p:nvPr/>
        </p:nvSpPr>
        <p:spPr>
          <a:xfrm>
            <a:off x="6217920" y="1097280"/>
            <a:ext cx="54000" cy="9594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8;p2"/>
          <p:cNvSpPr/>
          <p:nvPr/>
        </p:nvSpPr>
        <p:spPr>
          <a:xfrm>
            <a:off x="640080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101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9;p2"/>
          <p:cNvSpPr/>
          <p:nvPr/>
        </p:nvSpPr>
        <p:spPr>
          <a:xfrm>
            <a:off x="6400800" y="16459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Primary Conversions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40;p2"/>
          <p:cNvSpPr/>
          <p:nvPr/>
        </p:nvSpPr>
        <p:spPr>
          <a:xfrm>
            <a:off x="9052560" y="1097280"/>
            <a:ext cx="2559600" cy="959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2"/>
          <p:cNvSpPr/>
          <p:nvPr/>
        </p:nvSpPr>
        <p:spPr>
          <a:xfrm>
            <a:off x="9052560" y="1097280"/>
            <a:ext cx="54000" cy="9594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42;p2"/>
          <p:cNvSpPr/>
          <p:nvPr/>
        </p:nvSpPr>
        <p:spPr>
          <a:xfrm>
            <a:off x="9235440" y="11887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£97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43;p2"/>
          <p:cNvSpPr/>
          <p:nvPr/>
        </p:nvSpPr>
        <p:spPr>
          <a:xfrm>
            <a:off x="9235440" y="1645920"/>
            <a:ext cx="22852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Cost per </a:t>
            </a: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Lead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2"/>
          <p:cNvSpPr/>
          <p:nvPr/>
        </p:nvSpPr>
        <p:spPr>
          <a:xfrm>
            <a:off x="548640" y="23774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Wins This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2"/>
          <p:cNvSpPr/>
          <p:nvPr/>
        </p:nvSpPr>
        <p:spPr>
          <a:xfrm>
            <a:off x="640080" y="2743200"/>
            <a:ext cx="105148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at 8-week low: £2.16 vs March avg £3.29 (−35%). £1.50 Max CPC cap is biting without suppressing volume.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improved week-on-week: £73 vs £85.86 prior week, despite persistent asset-group policy restrictions.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DII entered learning phase after full rebuild: 25 new ad groups, ~675 keywords, 75 RSAs. Clean read expected Week 2-3.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5,000+ structured negatives replaced 2,192 unstructured broad-match entries across 11 shared lists.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Giulio replied Fri 17 Apr with answers — compliance actions captured and scheduled for Week 2.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2"/>
          <p:cNvSpPr/>
          <p:nvPr/>
        </p:nvSpPr>
        <p:spPr>
          <a:xfrm>
            <a:off x="548640" y="5040000"/>
            <a:ext cx="11090880" cy="94860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2"/>
          <p:cNvSpPr/>
          <p:nvPr/>
        </p:nvSpPr>
        <p:spPr>
          <a:xfrm>
            <a:off x="777240" y="5149800"/>
            <a:ext cx="1063368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structural.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Three live campaigns moved off Max Conversion Value bidding onto controllable targets. 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Early signal is positive — but DII needs a further week of stabilisation and Monday's end-to-end tracking audit is the gate to any CPA-based decisions from here.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2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2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2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51;p2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Google Shape;153;p2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54;p2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59;p3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60;p3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61;p3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62;p3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63;p3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Work Delivered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64;p3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Tue 14 → Fri 17 April · 4 working days post-signing · 28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65;p3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66;p3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68;p3"/>
          <p:cNvSpPr/>
          <p:nvPr/>
        </p:nvSpPr>
        <p:spPr>
          <a:xfrm>
            <a:off x="540000" y="1109880"/>
            <a:ext cx="58881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Day-by-Day Activity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" name="Google Shape;169;p3"/>
          <p:cNvGraphicFramePr/>
          <p:nvPr/>
        </p:nvGraphicFramePr>
        <p:xfrm>
          <a:off x="540000" y="1417320"/>
          <a:ext cx="11074680" cy="2378160"/>
        </p:xfrm>
        <a:graphic>
          <a:graphicData uri="http://schemas.openxmlformats.org/drawingml/2006/table">
            <a:tbl>
              <a:tblPr/>
              <a:tblGrid>
                <a:gridCol w="1487160"/>
                <a:gridCol w="2237040"/>
                <a:gridCol w="3948120"/>
                <a:gridCol w="3402720"/>
              </a:tblGrid>
              <a:tr h="33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Impact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Negatives Overhaul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2,192 → ~4,000+ across 11 lists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~£63k waste blocked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Account-Wide Reset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 · PMax tCPA £60 · DII tCPA £75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 bid targets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DII Rebuild (Part 1)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20 AGs · 537 keywords · 60 RSAs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structure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Fri 17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Audit + Completion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173 DBD-blockers removed · AG21-25 built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25/25 complete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70;p3"/>
          <p:cNvSpPr/>
          <p:nvPr/>
        </p:nvSpPr>
        <p:spPr>
          <a:xfrm>
            <a:off x="5727600" y="4160520"/>
            <a:ext cx="5884560" cy="1874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71;p3"/>
          <p:cNvSpPr/>
          <p:nvPr/>
        </p:nvSpPr>
        <p:spPr>
          <a:xfrm>
            <a:off x="5727600" y="4160520"/>
            <a:ext cx="47520" cy="1874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760" tIns="45000" rIns="237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72;p3"/>
          <p:cNvSpPr/>
          <p:nvPr/>
        </p:nvSpPr>
        <p:spPr>
          <a:xfrm>
            <a:off x="5929200" y="4251960"/>
            <a:ext cx="55620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73;p3"/>
          <p:cNvSpPr/>
          <p:nvPr/>
        </p:nvSpPr>
        <p:spPr>
          <a:xfrm>
            <a:off x="5929200" y="4526280"/>
            <a:ext cx="556200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Positive keywords added: 675 across 25 ad groups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RSAs written: 75 (1,050 headlines, 280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Negatives: 5,000 structured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Geo targets: 270 London postcodes rolled out to all 3 active campaigns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74;p3"/>
          <p:cNvSpPr/>
          <p:nvPr/>
        </p:nvSpPr>
        <p:spPr>
          <a:xfrm>
            <a:off x="548640" y="3976560"/>
            <a:ext cx="4610520" cy="205848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75;p3"/>
          <p:cNvSpPr/>
          <p:nvPr/>
        </p:nvSpPr>
        <p:spPr>
          <a:xfrm>
            <a:off x="548640" y="3976560"/>
            <a:ext cx="60840" cy="2058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600" tIns="45000" rIns="306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76;p3"/>
          <p:cNvSpPr/>
          <p:nvPr/>
        </p:nvSpPr>
        <p:spPr>
          <a:xfrm>
            <a:off x="720000" y="404604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77;p3"/>
          <p:cNvSpPr/>
          <p:nvPr/>
        </p:nvSpPr>
        <p:spPr>
          <a:xfrm>
            <a:off x="609840" y="4320000"/>
            <a:ext cx="4403520" cy="16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3 live campaigns moved from Max Conversion Value to Target CPA / Target Impression Share.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Auto-apply recommendations disabled = no more silent keyword removals.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Zero NHS/free-seeker junk in PMax search terms post-switch - negatives are working.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Asset groups in PMax flagged 'limited by policy' - full rebuild scheduled Wed 22 Apr.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78;p3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79;p3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0;p3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81;p3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183;p3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84;p3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89;p4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90;p4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91;p4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192;p4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193;p4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Brand Campaign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94;p4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CPC at 8-week low · £1.50 Max CPC cap is working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195;p4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96;p4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97;p4"/>
          <p:cNvSpPr/>
          <p:nvPr/>
        </p:nvSpPr>
        <p:spPr>
          <a:xfrm>
            <a:off x="548640" y="109728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2" name="Google Shape;198;p4"/>
          <p:cNvGraphicFramePr/>
          <p:nvPr/>
        </p:nvGraphicFramePr>
        <p:xfrm>
          <a:off x="548640" y="1417320"/>
          <a:ext cx="5302800" cy="1644480"/>
        </p:xfrm>
        <a:graphic>
          <a:graphicData uri="http://schemas.openxmlformats.org/drawingml/2006/table">
            <a:tbl>
              <a:tblPr/>
              <a:tblGrid>
                <a:gridCol w="1978200"/>
                <a:gridCol w="1638360"/>
                <a:gridCol w="886320"/>
                <a:gridCol w="800280"/>
              </a:tblGrid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Change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spend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£298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Flat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 / conv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£23.39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£24.89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−6%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99;p4"/>
          <p:cNvSpPr/>
          <p:nvPr/>
        </p:nvSpPr>
        <p:spPr>
          <a:xfrm>
            <a:off x="548640" y="3291840"/>
            <a:ext cx="5302800" cy="24681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00;p4"/>
          <p:cNvSpPr/>
          <p:nvPr/>
        </p:nvSpPr>
        <p:spPr>
          <a:xfrm>
            <a:off x="548640" y="3291840"/>
            <a:ext cx="54000" cy="24681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01;p4"/>
          <p:cNvSpPr/>
          <p:nvPr/>
        </p:nvSpPr>
        <p:spPr>
          <a:xfrm>
            <a:off x="777240" y="338328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02;p4"/>
          <p:cNvSpPr/>
          <p:nvPr/>
        </p:nvSpPr>
        <p:spPr>
          <a:xfrm>
            <a:off x="777240" y="3657600"/>
            <a:ext cx="493704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CPC is at its lowest of 8 tracked weeks: £2.16 vs March avg £3.29 (−35%).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£1.50 Max CPC cap (set Wed 15 Apr) is biting without suppressing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Impression share held at 92%+ and conversion volume tracked with spend.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is the strongest signal of Week 1.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03;p4"/>
          <p:cNvSpPr/>
          <p:nvPr/>
        </p:nvSpPr>
        <p:spPr>
          <a:xfrm>
            <a:off x="6217920" y="1097280"/>
            <a:ext cx="5302800" cy="19195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04;p4"/>
          <p:cNvSpPr/>
          <p:nvPr/>
        </p:nvSpPr>
        <p:spPr>
          <a:xfrm>
            <a:off x="6217920" y="1097280"/>
            <a:ext cx="54000" cy="19195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5;p4"/>
          <p:cNvSpPr/>
          <p:nvPr/>
        </p:nvSpPr>
        <p:spPr>
          <a:xfrm>
            <a:off x="6446520" y="118872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Applied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6;p4"/>
          <p:cNvSpPr/>
          <p:nvPr/>
        </p:nvSpPr>
        <p:spPr>
          <a:xfrm>
            <a:off x="6446520" y="1463040"/>
            <a:ext cx="493704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10%) -  inflating brand CPCs To: Target Impression Share 90% · Max CPC £1.50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Goal: eliminate runaway bidding on brand traffic, lock in the brand position at controlled cost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1A1A1A"/>
              </a:buClr>
              <a:buFont typeface="Calibri"/>
              <a:buChar char="●"/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Result: CPC dropped from £3.18 (prior 30d) to £1.61 (first 36 hours) to £2.16 (week avg)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7;p4"/>
          <p:cNvSpPr/>
          <p:nvPr/>
        </p:nvSpPr>
        <p:spPr>
          <a:xfrm>
            <a:off x="6217920" y="3291840"/>
            <a:ext cx="5302800" cy="24681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8;p4"/>
          <p:cNvSpPr/>
          <p:nvPr/>
        </p:nvSpPr>
        <p:spPr>
          <a:xfrm>
            <a:off x="6217920" y="3291840"/>
            <a:ext cx="54000" cy="24681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9;p4"/>
          <p:cNvSpPr/>
          <p:nvPr/>
        </p:nvSpPr>
        <p:spPr>
          <a:xfrm>
            <a:off x="6446520" y="338328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Week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10;p4"/>
          <p:cNvSpPr/>
          <p:nvPr/>
        </p:nvSpPr>
        <p:spPr>
          <a:xfrm>
            <a:off x="6446520" y="3657600"/>
            <a:ext cx="493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£1.50 cap through Week 2. Let the bid strategy complete its 14-day learning phase.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Evaluate lowering toward £1.20 once CPC has stabilised at or below £1.50.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mature territory, small incremental CPC reductions compound into meaningful monthly savings.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11;p4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12;p4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13;p4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14;p4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Google Shape;215;p4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Google Shape;216;p4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7;p4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22;p5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3;p5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24;p5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25;p5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26;p5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Performance Max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27;p5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CPA improved week-on-week despite policy restrictions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28;p5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29;p5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31;p5"/>
          <p:cNvSpPr/>
          <p:nvPr/>
        </p:nvSpPr>
        <p:spPr>
          <a:xfrm>
            <a:off x="630720" y="1005840"/>
            <a:ext cx="3931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Daily CPA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Google Shape;232;p5"/>
          <p:cNvGraphicFramePr/>
          <p:nvPr/>
        </p:nvGraphicFramePr>
        <p:xfrm>
          <a:off x="630720" y="1325880"/>
          <a:ext cx="3199320" cy="3200400"/>
        </p:xfrm>
        <a:graphic>
          <a:graphicData uri="http://schemas.openxmlformats.org/drawingml/2006/table">
            <a:tbl>
              <a:tblPr/>
              <a:tblGrid>
                <a:gridCol w="1096920"/>
                <a:gridCol w="731520"/>
                <a:gridCol w="731520"/>
                <a:gridCol w="6397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£2,017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£402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£1,792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Fri 17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£1,188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£79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1">
                          <a:solidFill>
                            <a:srgbClr val="1A237E"/>
                          </a:solidFill>
                          <a:latin typeface="Calibri"/>
                        </a:rPr>
                        <a:t>Week total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1">
                          <a:solidFill>
                            <a:srgbClr val="1A237E"/>
                          </a:solidFill>
                          <a:latin typeface="Calibri"/>
                        </a:rPr>
                        <a:t>£5,960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1">
                          <a:solidFill>
                            <a:srgbClr val="1A237E"/>
                          </a:solidFill>
                          <a:latin typeface="Calibri"/>
                        </a:rPr>
                        <a:t>81.5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sz="1000" b="1">
                          <a:solidFill>
                            <a:srgbClr val="1A237E"/>
                          </a:solidFill>
                          <a:latin typeface="Calibri"/>
                        </a:rPr>
                        <a:t>£73.13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233;p5"/>
          <p:cNvSpPr/>
          <p:nvPr/>
        </p:nvSpPr>
        <p:spPr>
          <a:xfrm>
            <a:off x="548640" y="4663440"/>
            <a:ext cx="109720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Changed &amp; What's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34;p5"/>
          <p:cNvSpPr/>
          <p:nvPr/>
        </p:nvSpPr>
        <p:spPr>
          <a:xfrm>
            <a:off x="548640" y="4937760"/>
            <a:ext cx="3474000" cy="14173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35;p5"/>
          <p:cNvSpPr/>
          <p:nvPr/>
        </p:nvSpPr>
        <p:spPr>
          <a:xfrm>
            <a:off x="548640" y="4937760"/>
            <a:ext cx="54000" cy="14173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36;p5"/>
          <p:cNvSpPr/>
          <p:nvPr/>
        </p:nvSpPr>
        <p:spPr>
          <a:xfrm>
            <a:off x="777240" y="5029200"/>
            <a:ext cx="3108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Bid Strategy Switch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37;p5"/>
          <p:cNvSpPr/>
          <p:nvPr/>
        </p:nvSpPr>
        <p:spPr>
          <a:xfrm>
            <a:off x="777240" y="5303520"/>
            <a:ext cx="310824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From: Max Conversion Value (tROAS 80%)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To: Target CPA £60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Drove campaign to optimise for LEAD VOLUME at controllable cost, not arbitrary £300 booking values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Wed 15 Apr: first full day under new strategy delivered £25 CPA, best single day in the account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38;p5"/>
          <p:cNvSpPr/>
          <p:nvPr/>
        </p:nvSpPr>
        <p:spPr>
          <a:xfrm>
            <a:off x="4297680" y="4937760"/>
            <a:ext cx="3474000" cy="141732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39;p5"/>
          <p:cNvSpPr/>
          <p:nvPr/>
        </p:nvSpPr>
        <p:spPr>
          <a:xfrm>
            <a:off x="4297680" y="4937760"/>
            <a:ext cx="54000" cy="14173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0;p5"/>
          <p:cNvSpPr/>
          <p:nvPr/>
        </p:nvSpPr>
        <p:spPr>
          <a:xfrm>
            <a:off x="4526280" y="5029200"/>
            <a:ext cx="31082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Flagged for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1;p5"/>
          <p:cNvSpPr/>
          <p:nvPr/>
        </p:nvSpPr>
        <p:spPr>
          <a:xfrm>
            <a:off x="4526280" y="5303520"/>
            <a:ext cx="310824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still reports 'most asset groups limited by policy'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This restricts PMax reach, it's not running at full potential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Full asset rebuild scheduled Wed 22 April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Stripping unverified claims: '99.12% success', 'Save 60%', 'Top 10 Europe'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Replacing with policy-safe copy aligned to Giulio's verified claims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42;p5"/>
          <p:cNvSpPr/>
          <p:nvPr/>
        </p:nvSpPr>
        <p:spPr>
          <a:xfrm>
            <a:off x="8046720" y="4937760"/>
            <a:ext cx="3565440" cy="14173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43;p5"/>
          <p:cNvSpPr/>
          <p:nvPr/>
        </p:nvSpPr>
        <p:spPr>
          <a:xfrm>
            <a:off x="8046720" y="4937760"/>
            <a:ext cx="54000" cy="14173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44;p5"/>
          <p:cNvSpPr/>
          <p:nvPr/>
        </p:nvSpPr>
        <p:spPr>
          <a:xfrm>
            <a:off x="8275320" y="5029200"/>
            <a:ext cx="3199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45;p5"/>
          <p:cNvSpPr/>
          <p:nvPr/>
        </p:nvSpPr>
        <p:spPr>
          <a:xfrm>
            <a:off x="8275320" y="5303520"/>
            <a:ext cx="319968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bid strategy untouched, let Google complete its 7-day learning cycle.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asset rebuild addresses the policy flag next week.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Expected upside: lifting policy limits typically unlocks 2-3× reach at the same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46;p5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Google Shape;247;p5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48;p5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49;p5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Google Shape;250;p5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251;p5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52;p5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3931920" y="1325880"/>
            <a:ext cx="73152" cy="3200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4005072" y="1325880"/>
            <a:ext cx="7607808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160520" y="1463039"/>
            <a:ext cx="7360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237E"/>
                </a:solidFill>
                <a:latin typeface="Calibri"/>
              </a:rPr>
              <a:t>Week 1 Story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160520" y="1874519"/>
            <a:ext cx="7360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Bid strategy switched Wed 15 April, at the midpoint of the week. Each day tells a different part of the story: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Mon 13 &amp; Tue 14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Operating under the old tROAS strategy with characteristic swings, £119 and £56 CPA.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Wed 15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First partial day under new Target CPA £60, delivered £25 CPA, the best single day in the account.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Thu 16 &amp; Fri 17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Fully post-switch, settling toward the £60 target at £76 and £79 CPA.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Week-total CPA: £73.13 vs prior week £85.86, a 15% improvement despite policy restrictions.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57;p6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58;p6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59;p6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60;p6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61;p6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Dental Implants Intent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62;p6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Fully rebuilt Thu–Fri · 4 ad groups → 25 · entered learning phase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63;p6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64;p6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Rebuild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Google Shape;265;p6"/>
          <p:cNvGraphicFramePr/>
          <p:nvPr/>
        </p:nvGraphicFramePr>
        <p:xfrm>
          <a:off x="548640" y="1188720"/>
          <a:ext cx="7193160" cy="4571280"/>
        </p:xfrm>
        <a:graphic>
          <a:graphicData uri="http://schemas.openxmlformats.org/drawingml/2006/table">
            <a:tbl>
              <a:tblPr/>
              <a:tblGrid>
                <a:gridCol w="1028880"/>
                <a:gridCol w="1434600"/>
                <a:gridCol w="1375560"/>
                <a:gridCol w="1120680"/>
                <a:gridCol w="1417320"/>
                <a:gridCol w="81648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Before (legacy)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After (new)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Impact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Ad groups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 (paused)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 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+525%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grouped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~675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+2,400%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Phrase + exact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RSAs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(Poor-rated)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+1,150%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Keyword-aligned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Headlines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~90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1,050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Unique, keyword-rich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Descriptions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+1,067%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75-86 chars (QS safe)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Complete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Legacy AG CPA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£99+ avg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Eliminated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Waste removed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Done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Bid strategy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Max Conv Value (tROAS)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Target CPA £75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Lead-focused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Geo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25-mile radius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270 London postcodes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M25 targeting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4-tier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Rolled out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Schedule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Always on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42-cell structure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Hourly analysis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Reporting ready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Live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phase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n/a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 1 of 14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In progress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7-14 days to stabilise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Monitor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16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status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Scaling with waste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 - clean base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Foundation set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 2-3 read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On track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66;p6"/>
          <p:cNvSpPr/>
          <p:nvPr/>
        </p:nvSpPr>
        <p:spPr>
          <a:xfrm>
            <a:off x="7836840" y="1243080"/>
            <a:ext cx="4042800" cy="235656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267;p6"/>
          <p:cNvSpPr/>
          <p:nvPr/>
        </p:nvSpPr>
        <p:spPr>
          <a:xfrm>
            <a:off x="7836840" y="1243080"/>
            <a:ext cx="41040" cy="23565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0520" tIns="45000" rIns="205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268;p6"/>
          <p:cNvSpPr/>
          <p:nvPr/>
        </p:nvSpPr>
        <p:spPr>
          <a:xfrm>
            <a:off x="7956000" y="1321560"/>
            <a:ext cx="395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Finding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269;p6"/>
          <p:cNvSpPr/>
          <p:nvPr/>
        </p:nvSpPr>
        <p:spPr>
          <a:xfrm>
            <a:off x="7956000" y="1631880"/>
            <a:ext cx="395964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DII campaign was fully restructured mid-week (Tue → Fri).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CPA blends 1 day of the old structure with 4 days of Google's learning phase, expected noise, not signal.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Google requires 14-21 days to rebalance bids against the new structure.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270;p6"/>
          <p:cNvSpPr/>
          <p:nvPr/>
        </p:nvSpPr>
        <p:spPr>
          <a:xfrm>
            <a:off x="7848000" y="3780000"/>
            <a:ext cx="4031640" cy="197964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271;p6"/>
          <p:cNvSpPr/>
          <p:nvPr/>
        </p:nvSpPr>
        <p:spPr>
          <a:xfrm>
            <a:off x="7848000" y="3780000"/>
            <a:ext cx="39600" cy="1979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9800" tIns="45000" rIns="198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272;p6"/>
          <p:cNvSpPr/>
          <p:nvPr/>
        </p:nvSpPr>
        <p:spPr>
          <a:xfrm>
            <a:off x="7956000" y="3835440"/>
            <a:ext cx="3959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Recommendation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273;p6"/>
          <p:cNvSpPr/>
          <p:nvPr/>
        </p:nvSpPr>
        <p:spPr>
          <a:xfrm>
            <a:off x="7968600" y="4145760"/>
            <a:ext cx="376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Hold the new structure untouched through Wed 22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 Strength audit on AG22-25 resumes Tuesday once Google clears the new ads from Pending review.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Second pass on AG1-21 to push remaining RSAs toward Excellent.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274;p6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Google Shape;275;p6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Google Shape;276;p6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277;p6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Google Shape;278;p6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Google Shape;279;p6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280;p6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85;p7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286;p7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287;p7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288;p7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289;p7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The Numbers That Matter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290;p7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Business outcomes — what the account delivered this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291;p7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292;p7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Business Outcomes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294;p7"/>
          <p:cNvSpPr/>
          <p:nvPr/>
        </p:nvSpPr>
        <p:spPr>
          <a:xfrm>
            <a:off x="574560" y="1166040"/>
            <a:ext cx="48456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at a Glance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Google Shape;295;p7"/>
          <p:cNvGraphicFramePr/>
          <p:nvPr/>
        </p:nvGraphicFramePr>
        <p:xfrm>
          <a:off x="574560" y="1486080"/>
          <a:ext cx="5707440" cy="2050200"/>
        </p:xfrm>
        <a:graphic>
          <a:graphicData uri="http://schemas.openxmlformats.org/drawingml/2006/table">
            <a:tbl>
              <a:tblPr/>
              <a:tblGrid>
                <a:gridCol w="1312920"/>
                <a:gridCol w="970200"/>
                <a:gridCol w="1141560"/>
                <a:gridCol w="1141560"/>
                <a:gridCol w="1141560"/>
              </a:tblGrid>
              <a:tr h="436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Metric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1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 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Status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 Spend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−18%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Trimmed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Dengro Offline Leads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—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Tracking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Primary Conversions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−25%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Learning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96;p7"/>
          <p:cNvSpPr/>
          <p:nvPr/>
        </p:nvSpPr>
        <p:spPr>
          <a:xfrm>
            <a:off x="6910560" y="1401120"/>
            <a:ext cx="4845600" cy="21985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297;p7"/>
          <p:cNvSpPr/>
          <p:nvPr/>
        </p:nvSpPr>
        <p:spPr>
          <a:xfrm>
            <a:off x="6910560" y="1401120"/>
            <a:ext cx="54360" cy="21985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298;p7"/>
          <p:cNvSpPr/>
          <p:nvPr/>
        </p:nvSpPr>
        <p:spPr>
          <a:xfrm>
            <a:off x="7139160" y="1492560"/>
            <a:ext cx="44798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Signal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299;p7"/>
          <p:cNvSpPr/>
          <p:nvPr/>
        </p:nvSpPr>
        <p:spPr>
          <a:xfrm>
            <a:off x="7139160" y="1766880"/>
            <a:ext cx="44798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87 Dengro Offline Leads generated this week across 3 active campaigns.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Performance Max delivered 90% of qualified leads (78.5 of 87).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Dengro Offline Booking fired 0 times, tracking gap flagged for Monday's audit.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No CPA-based decisions will be drawn before the audit closes.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00;p7"/>
          <p:cNvSpPr/>
          <p:nvPr/>
        </p:nvSpPr>
        <p:spPr>
          <a:xfrm>
            <a:off x="548640" y="3862800"/>
            <a:ext cx="5485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Conversion Breakdown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Google Shape;301;p7"/>
          <p:cNvGraphicFramePr/>
          <p:nvPr/>
        </p:nvGraphicFramePr>
        <p:xfrm>
          <a:off x="548640" y="4209120"/>
          <a:ext cx="11330640" cy="1553040"/>
        </p:xfrm>
        <a:graphic>
          <a:graphicData uri="http://schemas.openxmlformats.org/drawingml/2006/table">
            <a:tbl>
              <a:tblPr/>
              <a:tblGrid>
                <a:gridCol w="2266200"/>
                <a:gridCol w="2266200"/>
                <a:gridCol w="2266200"/>
                <a:gridCol w="2266200"/>
                <a:gridCol w="226620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Dengro Leads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Cost/Lead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Performance Max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£5,960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81.5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78.5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£75.92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Dental Implants Intent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£2,222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£341.83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£280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£140.24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TOTAL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87.0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£97.27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[molar replacement cost]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£159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£40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Below average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52" name="Google Shape;302;p7"/>
          <p:cNvSpPr/>
          <p:nvPr/>
        </p:nvSpPr>
        <p:spPr>
          <a:xfrm>
            <a:off x="548640" y="5989320"/>
            <a:ext cx="11063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Dengro Offline Booking fired 0 times in Week 1. Monday's tracking audit will confirm whether this is a reporting gap or a genuine zero-booking week.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03;p7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04;p7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05;p7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06;p7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Google Shape;307;p7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308;p7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09;p7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314;p8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315;p8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316;p8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317;p8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18;p8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8-Week Context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319;p8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Weekly performance trend · 23 Feb – 17 April 2026 · spend, conversions, CPA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320;p8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21;p8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8-Week Trend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23;p8"/>
          <p:cNvSpPr/>
          <p:nvPr/>
        </p:nvSpPr>
        <p:spPr>
          <a:xfrm>
            <a:off x="540000" y="1097280"/>
            <a:ext cx="50396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Weekly Performance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9" name="Google Shape;324;p8"/>
          <p:cNvGraphicFramePr/>
          <p:nvPr/>
        </p:nvGraphicFramePr>
        <p:xfrm>
          <a:off x="540000" y="1417320"/>
          <a:ext cx="5039280" cy="3802680"/>
        </p:xfrm>
        <a:graphic>
          <a:graphicData uri="http://schemas.openxmlformats.org/drawingml/2006/table">
            <a:tbl>
              <a:tblPr/>
              <a:tblGrid>
                <a:gridCol w="1260000"/>
                <a:gridCol w="1260000"/>
                <a:gridCol w="1260000"/>
                <a:gridCol w="1259640"/>
              </a:tblGrid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Spend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Primary Conv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CPA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Feb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£17,568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237.5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£14,856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189.6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£8,393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120.3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£70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16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£13,318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137.7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£11,558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239.2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£48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30 Mar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£9,997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148.4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£67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6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6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£10,291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134.1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£77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317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13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£8,462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101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£84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270" name="Google Shape;325;p8"/>
          <p:cNvSpPr/>
          <p:nvPr/>
        </p:nvSpPr>
        <p:spPr>
          <a:xfrm>
            <a:off x="5832000" y="1422720"/>
            <a:ext cx="5924160" cy="181692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26;p8"/>
          <p:cNvSpPr/>
          <p:nvPr/>
        </p:nvSpPr>
        <p:spPr>
          <a:xfrm>
            <a:off x="5816160" y="1422720"/>
            <a:ext cx="46800" cy="1816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400" tIns="45000" rIns="234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27;p8"/>
          <p:cNvSpPr/>
          <p:nvPr/>
        </p:nvSpPr>
        <p:spPr>
          <a:xfrm>
            <a:off x="5977440" y="1462680"/>
            <a:ext cx="544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Key Observation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28;p8"/>
          <p:cNvSpPr/>
          <p:nvPr/>
        </p:nvSpPr>
        <p:spPr>
          <a:xfrm>
            <a:off x="6013440" y="1788480"/>
            <a:ext cx="5686200" cy="14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fluctuated dramatically: £17.5k peak (23 Feb) → £8.4k (Week 1). A 52% range in 8 weeks.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CPA swung from £48 (best week) to £97 (worst week) — highly volatile before our engagement.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Additional weeks: 30 Mar £9,997/£67 CPA · 6 Apr £10,291/£77 CPA · 13 Apr £8,462/£84 CPA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1 (13 Apr) reflects 5 days of structural disruption: new bid strategies, rebuilt campaigns, changing keyword base.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29;p8"/>
          <p:cNvSpPr/>
          <p:nvPr/>
        </p:nvSpPr>
        <p:spPr>
          <a:xfrm>
            <a:off x="5796000" y="3401640"/>
            <a:ext cx="5939640" cy="1818000"/>
          </a:xfrm>
          <a:prstGeom prst="rect">
            <a:avLst/>
          </a:prstGeom>
          <a:solidFill>
            <a:srgbClr val="F5F6F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30;p8"/>
          <p:cNvSpPr/>
          <p:nvPr/>
        </p:nvSpPr>
        <p:spPr>
          <a:xfrm>
            <a:off x="5804640" y="3401640"/>
            <a:ext cx="54360" cy="1818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31;p8"/>
          <p:cNvSpPr/>
          <p:nvPr/>
        </p:nvSpPr>
        <p:spPr>
          <a:xfrm>
            <a:off x="5997240" y="3457080"/>
            <a:ext cx="46627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in Context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32;p8"/>
          <p:cNvSpPr/>
          <p:nvPr/>
        </p:nvSpPr>
        <p:spPr>
          <a:xfrm>
            <a:off x="6012000" y="3767400"/>
            <a:ext cx="5579640" cy="14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Weekly spend volatility has been the account's core instability — this rebuild brings it under control.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Target: stabilise weekly spend within a consistent range aligned to your target monthly budget (see Questions slide).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Efficiency (cost per lead) is the metric to watch from Week 3 onwards, once the rebuild stabilises.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First clean performance read: Week 2-3 after Google's learning phase completes.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33;p8"/>
          <p:cNvSpPr/>
          <p:nvPr/>
        </p:nvSpPr>
        <p:spPr>
          <a:xfrm>
            <a:off x="540000" y="5400000"/>
            <a:ext cx="11159640" cy="7405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34;p8"/>
          <p:cNvSpPr/>
          <p:nvPr/>
        </p:nvSpPr>
        <p:spPr>
          <a:xfrm>
            <a:off x="720000" y="5400000"/>
            <a:ext cx="10663560" cy="72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Monday's tracking audit confirms conversion reliability — the gate to CPA analysis.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2 performance comparison vs Week 1 will be the first post-rebuild read.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Please confirm target monthly budget so I can lock weekly pacing (see Slide 10).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35;p8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36;p8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37;p8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38;p8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4" name="Google Shape;339;p8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Google Shape;340;p8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41;p8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46;p9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47;p9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Google Shape;348;p9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349;p9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Google Shape;350;p9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Client Clarifications &amp; Actions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Google Shape;351;p9"/>
          <p:cNvSpPr/>
          <p:nvPr/>
        </p:nvSpPr>
        <p:spPr>
          <a:xfrm>
            <a:off x="548640" y="77724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Giulio replied Fri 17 April 16:47 · actions captured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Google Shape;352;p9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53;p9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Client Reply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55;p9"/>
          <p:cNvSpPr/>
          <p:nvPr/>
        </p:nvSpPr>
        <p:spPr>
          <a:xfrm>
            <a:off x="650160" y="1188720"/>
            <a:ext cx="5109480" cy="187092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56;p9"/>
          <p:cNvSpPr/>
          <p:nvPr/>
        </p:nvSpPr>
        <p:spPr>
          <a:xfrm>
            <a:off x="650160" y="1188720"/>
            <a:ext cx="54000" cy="1870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57;p9"/>
          <p:cNvSpPr/>
          <p:nvPr/>
        </p:nvSpPr>
        <p:spPr>
          <a:xfrm>
            <a:off x="878760" y="128016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Confirmed by Giulio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58;p9"/>
          <p:cNvSpPr/>
          <p:nvPr/>
        </p:nvSpPr>
        <p:spPr>
          <a:xfrm>
            <a:off x="878760" y="1554480"/>
            <a:ext cx="3181320" cy="12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Consultation: Free + £25 booking deposit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→ Booking rate: 13%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Booking → Treatment rate: 35%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Patient base: 10,000 patients, 20,000+ implants placed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25+ years team-wide expertise in dental field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59;p9"/>
          <p:cNvSpPr/>
          <p:nvPr/>
        </p:nvSpPr>
        <p:spPr>
          <a:xfrm>
            <a:off x="6230160" y="1178640"/>
            <a:ext cx="5469480" cy="182808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60;p9"/>
          <p:cNvSpPr/>
          <p:nvPr/>
        </p:nvSpPr>
        <p:spPr>
          <a:xfrm>
            <a:off x="6230160" y="1178640"/>
            <a:ext cx="54000" cy="18280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61;p9"/>
          <p:cNvSpPr/>
          <p:nvPr/>
        </p:nvSpPr>
        <p:spPr>
          <a:xfrm>
            <a:off x="6458760" y="127008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Compliance Actions Required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62;p9"/>
          <p:cNvSpPr/>
          <p:nvPr/>
        </p:nvSpPr>
        <p:spPr>
          <a:xfrm>
            <a:off x="6458760" y="1544400"/>
            <a:ext cx="50608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'99.12% success rate' from all ads — confirmed estimate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Remove 'Save 60%' — no source benchmark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'Top 10 Europe' → factual descriptor (self-claim, not award)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Reword 'Best Implant Clinic 2024' → '2024 Finalist'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Update ad copy: 'Free Consultation (£25 booking deposit)'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63;p9"/>
          <p:cNvSpPr/>
          <p:nvPr/>
        </p:nvSpPr>
        <p:spPr>
          <a:xfrm>
            <a:off x="620640" y="3406320"/>
            <a:ext cx="11079000" cy="127332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64;p9"/>
          <p:cNvSpPr/>
          <p:nvPr/>
        </p:nvSpPr>
        <p:spPr>
          <a:xfrm>
            <a:off x="620640" y="3406320"/>
            <a:ext cx="54000" cy="12733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65;p9"/>
          <p:cNvSpPr/>
          <p:nvPr/>
        </p:nvSpPr>
        <p:spPr>
          <a:xfrm>
            <a:off x="849240" y="349776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Advertising Scope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66;p9"/>
          <p:cNvSpPr/>
          <p:nvPr/>
        </p:nvSpPr>
        <p:spPr>
          <a:xfrm>
            <a:off x="849240" y="3772080"/>
            <a:ext cx="104904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DBD only advertises dental implants (single + double arches) — confirmed by Giulio.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Cosmetic and general dentistry services deferred for now.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All campaigns aligned to this focus: Brand, PMax, Dental Implants Intent.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67;p9"/>
          <p:cNvSpPr/>
          <p:nvPr/>
        </p:nvSpPr>
        <p:spPr>
          <a:xfrm>
            <a:off x="637920" y="5040000"/>
            <a:ext cx="11061720" cy="9028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68;p9"/>
          <p:cNvSpPr/>
          <p:nvPr/>
        </p:nvSpPr>
        <p:spPr>
          <a:xfrm>
            <a:off x="866520" y="5108040"/>
            <a:ext cx="10653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Applying all compliance changes Monday 20 Apr: removing unverifiable claims, updating consultation pricing.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Replacing '2,500+ patients' claim with '20,000+ implants placed' across relevant ads.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AG22-25 Ad Strength audit resumes Tuesday (ads currently Pending Google review).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69;p9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370;p9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371;p9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372;p9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3" name="Google Shape;373;p9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374;p9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375;p9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80;p10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381;p10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382;p10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383;p10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384;p10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Client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Google Shape;385;p10"/>
          <p:cNvSpPr/>
          <p:nvPr/>
        </p:nvSpPr>
        <p:spPr>
          <a:xfrm>
            <a:off x="548640" y="7772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To refine strategy, I need clarification on a few things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386;p10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387;p10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388;p10"/>
          <p:cNvSpPr/>
          <p:nvPr/>
        </p:nvSpPr>
        <p:spPr>
          <a:xfrm>
            <a:off x="548640" y="1097280"/>
            <a:ext cx="530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Budget Questions (Urgent)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Google Shape;389;p10"/>
          <p:cNvGraphicFramePr/>
          <p:nvPr/>
        </p:nvGraphicFramePr>
        <p:xfrm>
          <a:off x="603720" y="1417320"/>
          <a:ext cx="11095920" cy="2698920"/>
        </p:xfrm>
        <a:graphic>
          <a:graphicData uri="http://schemas.openxmlformats.org/drawingml/2006/table">
            <a:tbl>
              <a:tblPr/>
              <a:tblGrid>
                <a:gridCol w="2861640"/>
                <a:gridCol w="5709240"/>
                <a:gridCol w="2525400"/>
              </a:tblGrid>
              <a:tr h="270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monthly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spend fluctuated £8k-£17k over 8 weeks. Target budget drives bid and budget decisions.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weekly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consistency drives campaign pacing. Current daily budgets sum to ~£14k/week but actual is ~£8.5k.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Is there a hard monthly ceiling?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overspend and informs daily budget caps across 3 campaigns.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Priority service: single or double arch?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Higher-margin service should carry higher bid caps and budget share.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92;p10"/>
          <p:cNvSpPr/>
          <p:nvPr/>
        </p:nvSpPr>
        <p:spPr>
          <a:xfrm>
            <a:off x="548640" y="4541040"/>
            <a:ext cx="5302800" cy="164520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393;p10"/>
          <p:cNvSpPr/>
          <p:nvPr/>
        </p:nvSpPr>
        <p:spPr>
          <a:xfrm>
            <a:off x="548640" y="4541040"/>
            <a:ext cx="54360" cy="1645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394;p10"/>
          <p:cNvSpPr/>
          <p:nvPr/>
        </p:nvSpPr>
        <p:spPr>
          <a:xfrm>
            <a:off x="777240" y="4632480"/>
            <a:ext cx="49370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How to Reply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395;p10"/>
          <p:cNvSpPr/>
          <p:nvPr/>
        </p:nvSpPr>
        <p:spPr>
          <a:xfrm>
            <a:off x="777240" y="4906800"/>
            <a:ext cx="49370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Reply to this email with answers to any questions — no need to answer all at once.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Or we can cover these on a 20-30 min call whenever convenient.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Urgent questions (budget) need answers by Monday so Week 2 work isn't blocked.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396;p10"/>
          <p:cNvSpPr/>
          <p:nvPr/>
        </p:nvSpPr>
        <p:spPr>
          <a:xfrm>
            <a:off x="6217920" y="4541040"/>
            <a:ext cx="5394240" cy="16452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97;p10"/>
          <p:cNvSpPr/>
          <p:nvPr/>
        </p:nvSpPr>
        <p:spPr>
          <a:xfrm>
            <a:off x="6217920" y="4541040"/>
            <a:ext cx="54360" cy="16452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398;p10"/>
          <p:cNvSpPr/>
          <p:nvPr/>
        </p:nvSpPr>
        <p:spPr>
          <a:xfrm>
            <a:off x="6446520" y="4632480"/>
            <a:ext cx="50284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399;p10"/>
          <p:cNvSpPr/>
          <p:nvPr/>
        </p:nvSpPr>
        <p:spPr>
          <a:xfrm>
            <a:off x="6446520" y="4906800"/>
            <a:ext cx="502848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Every piece of clarification feeds directly into bid strategies, budget allocation, and ad copy.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more I know about your business, the more precisely I can tune the account.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Example: the 8-week spend volatility (£8k-£17k range) is what happens when budgets aren't locked to a target — pinning your target spend eliminates this.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00;p10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401;p10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402;p10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03;p10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Google Shape;405;p10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406;p10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411;p11"/>
          <p:cNvSpPr/>
          <p:nvPr/>
        </p:nvSpPr>
        <p:spPr>
          <a:xfrm>
            <a:off x="0" y="0"/>
            <a:ext cx="3047040" cy="54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412;p11"/>
          <p:cNvSpPr/>
          <p:nvPr/>
        </p:nvSpPr>
        <p:spPr>
          <a:xfrm>
            <a:off x="3047760" y="0"/>
            <a:ext cx="3047040" cy="54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413;p11"/>
          <p:cNvSpPr/>
          <p:nvPr/>
        </p:nvSpPr>
        <p:spPr>
          <a:xfrm>
            <a:off x="6095520" y="0"/>
            <a:ext cx="3047040" cy="54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14;p11"/>
          <p:cNvSpPr/>
          <p:nvPr/>
        </p:nvSpPr>
        <p:spPr>
          <a:xfrm>
            <a:off x="9142920" y="0"/>
            <a:ext cx="3047040" cy="54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15;p11"/>
          <p:cNvSpPr/>
          <p:nvPr/>
        </p:nvSpPr>
        <p:spPr>
          <a:xfrm>
            <a:off x="548640" y="274320"/>
            <a:ext cx="6400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Plan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16;p11"/>
          <p:cNvSpPr/>
          <p:nvPr/>
        </p:nvSpPr>
        <p:spPr>
          <a:xfrm>
            <a:off x="8348400" y="274320"/>
            <a:ext cx="3291120" cy="41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Google Shape;417;p11"/>
          <p:cNvSpPr/>
          <p:nvPr/>
        </p:nvSpPr>
        <p:spPr>
          <a:xfrm>
            <a:off x="8439840" y="29268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 Working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Google Shape;418;p11"/>
          <p:cNvSpPr/>
          <p:nvPr/>
        </p:nvSpPr>
        <p:spPr>
          <a:xfrm>
            <a:off x="548640" y="1097280"/>
            <a:ext cx="347400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Google Shape;419;p11"/>
          <p:cNvSpPr/>
          <p:nvPr/>
        </p:nvSpPr>
        <p:spPr>
          <a:xfrm>
            <a:off x="548640" y="1097280"/>
            <a:ext cx="54360" cy="4185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Google Shape;420;p11"/>
          <p:cNvSpPr/>
          <p:nvPr/>
        </p:nvSpPr>
        <p:spPr>
          <a:xfrm>
            <a:off x="731520" y="12344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Monday 20 Apr — Tracking Audit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Google Shape;421;p11"/>
          <p:cNvSpPr/>
          <p:nvPr/>
        </p:nvSpPr>
        <p:spPr>
          <a:xfrm>
            <a:off x="720000" y="1645920"/>
            <a:ext cx="323964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form_submit fires on all landing pages End-to-end validation across every Search campaign LP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Verify Dengro Offline Lead / Booking / Purchase reliability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Confirm why Bookings fired 0 times in Week 1 — reporting gap or genuine zero?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Audit attribution windows and conversion counting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Ensure Dengro leads aren't being double-counted or missing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Gate for all CPA analysis. No CPA-based decisions until tracking is confirmed reliable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Google Shape;422;p11"/>
          <p:cNvSpPr/>
          <p:nvPr/>
        </p:nvSpPr>
        <p:spPr>
          <a:xfrm>
            <a:off x="4297680" y="1097280"/>
            <a:ext cx="347400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Google Shape;423;p11"/>
          <p:cNvSpPr/>
          <p:nvPr/>
        </p:nvSpPr>
        <p:spPr>
          <a:xfrm>
            <a:off x="4297680" y="1097280"/>
            <a:ext cx="54360" cy="4185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424;p11"/>
          <p:cNvSpPr/>
          <p:nvPr/>
        </p:nvSpPr>
        <p:spPr>
          <a:xfrm>
            <a:off x="4480560" y="123444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Tue 21 – Thu 23 Apr — Execution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Google Shape;425;p11"/>
          <p:cNvSpPr/>
          <p:nvPr/>
        </p:nvSpPr>
        <p:spPr>
          <a:xfrm>
            <a:off x="4480560" y="1645920"/>
            <a:ext cx="3108240" cy="25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Apply Giulio's claim corrections across all ads (Tue) Remove 99.12%, Save 60%; reword Top 10, Best Clinic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Resume AG22-25 Ad Strength audit once Google clears Pending (Tue)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RSAs to audit once review completes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Second pass on AG1-21 ads not yet at Excellent (Tue) Push remaining RSAs over the line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PMax asset rebuild (Wed) Policy-safe copy, verified claims only, restores full reach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Ad extensions deployed (Thu) Sitelinks, callouts, structured snippets, first time the account has a complete set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Google Shape;426;p11"/>
          <p:cNvSpPr/>
          <p:nvPr/>
        </p:nvSpPr>
        <p:spPr>
          <a:xfrm>
            <a:off x="8046720" y="1097280"/>
            <a:ext cx="3565440" cy="418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Google Shape;427;p11"/>
          <p:cNvSpPr/>
          <p:nvPr/>
        </p:nvSpPr>
        <p:spPr>
          <a:xfrm>
            <a:off x="8046720" y="1097280"/>
            <a:ext cx="54360" cy="418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360" tIns="45000" rIns="27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Google Shape;428;p11"/>
          <p:cNvSpPr/>
          <p:nvPr/>
        </p:nvSpPr>
        <p:spPr>
          <a:xfrm>
            <a:off x="8229600" y="123444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Friday 24 Apr — Review + Report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Google Shape;429;p11"/>
          <p:cNvSpPr/>
          <p:nvPr/>
        </p:nvSpPr>
        <p:spPr>
          <a:xfrm>
            <a:off x="8229600" y="1645920"/>
            <a:ext cx="3199680" cy="16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7-day performance comparison vs Week 1 Spend, leads, CPA — first post-rebuild signal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Brand matures, PMax settles, DII still learning Different campaigns on different learning trajectories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Week 2 end-of-week report delivered EoD Friday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Same format as this report — trend, insights, Week 3 plan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Google Shape;430;p11"/>
          <p:cNvSpPr/>
          <p:nvPr/>
        </p:nvSpPr>
        <p:spPr>
          <a:xfrm>
            <a:off x="548640" y="5760000"/>
            <a:ext cx="11063520" cy="4431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Google Shape;431;p11"/>
          <p:cNvSpPr/>
          <p:nvPr/>
        </p:nvSpPr>
        <p:spPr>
          <a:xfrm>
            <a:off x="741240" y="5811840"/>
            <a:ext cx="10606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2 is about execution: tracking audit unblocks CPA analysis, claim corrections unblock compliance, PMax rebuild unblocks reach.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Google Shape;432;p11"/>
          <p:cNvSpPr/>
          <p:nvPr/>
        </p:nvSpPr>
        <p:spPr>
          <a:xfrm>
            <a:off x="548640" y="6327720"/>
            <a:ext cx="2769840" cy="2664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Google Shape;433;p11"/>
          <p:cNvSpPr/>
          <p:nvPr/>
        </p:nvSpPr>
        <p:spPr>
          <a:xfrm>
            <a:off x="3319200" y="6327720"/>
            <a:ext cx="2769840" cy="266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Google Shape;434;p11"/>
          <p:cNvSpPr/>
          <p:nvPr/>
        </p:nvSpPr>
        <p:spPr>
          <a:xfrm>
            <a:off x="6099120" y="6327720"/>
            <a:ext cx="2769840" cy="266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Google Shape;435;p11"/>
          <p:cNvSpPr/>
          <p:nvPr/>
        </p:nvSpPr>
        <p:spPr>
          <a:xfrm>
            <a:off x="8869680" y="6327720"/>
            <a:ext cx="2769840" cy="266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Google Shape;437;p11"/>
          <p:cNvSpPr/>
          <p:nvPr/>
        </p:nvSpPr>
        <p:spPr>
          <a:xfrm>
            <a:off x="822960" y="640080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Google Shape;438;p11"/>
          <p:cNvSpPr/>
          <p:nvPr/>
        </p:nvSpPr>
        <p:spPr>
          <a:xfrm>
            <a:off x="11183040" y="640080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443;p12"/>
          <p:cNvSpPr/>
          <p:nvPr/>
        </p:nvSpPr>
        <p:spPr>
          <a:xfrm>
            <a:off x="0" y="0"/>
            <a:ext cx="3047040" cy="6336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Google Shape;444;p12"/>
          <p:cNvSpPr/>
          <p:nvPr/>
        </p:nvSpPr>
        <p:spPr>
          <a:xfrm>
            <a:off x="3047760" y="0"/>
            <a:ext cx="3047040" cy="6336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Google Shape;445;p12"/>
          <p:cNvSpPr/>
          <p:nvPr/>
        </p:nvSpPr>
        <p:spPr>
          <a:xfrm>
            <a:off x="6095520" y="0"/>
            <a:ext cx="3047040" cy="6336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Google Shape;446;p12"/>
          <p:cNvSpPr/>
          <p:nvPr/>
        </p:nvSpPr>
        <p:spPr>
          <a:xfrm>
            <a:off x="9142920" y="0"/>
            <a:ext cx="3047040" cy="633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31680" rIns="90000" bIns="31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Google Shape;447;p12"/>
          <p:cNvSpPr/>
          <p:nvPr/>
        </p:nvSpPr>
        <p:spPr>
          <a:xfrm>
            <a:off x="0" y="64080"/>
            <a:ext cx="109080" cy="67932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4" name="Google Shape;448;p12" descr="act_logo_official.png"/>
          <p:cNvPicPr/>
          <p:nvPr/>
        </p:nvPicPr>
        <p:blipFill>
          <a:blip r:embed="rId1"/>
          <a:stretch/>
        </p:blipFill>
        <p:spPr>
          <a:xfrm>
            <a:off x="548640" y="457200"/>
            <a:ext cx="593640" cy="59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Google Shape;449;p12"/>
          <p:cNvSpPr/>
          <p:nvPr/>
        </p:nvSpPr>
        <p:spPr>
          <a:xfrm>
            <a:off x="548640" y="1280160"/>
            <a:ext cx="5028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Next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Google Shape;450;p12"/>
          <p:cNvSpPr/>
          <p:nvPr/>
        </p:nvSpPr>
        <p:spPr>
          <a:xfrm>
            <a:off x="548640" y="2011680"/>
            <a:ext cx="2285280" cy="45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2680" rIns="90000" bIns="2268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Google Shape;451;p12"/>
          <p:cNvSpPr/>
          <p:nvPr/>
        </p:nvSpPr>
        <p:spPr>
          <a:xfrm>
            <a:off x="548640" y="2194560"/>
            <a:ext cx="5028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Rolling priorities beyond Week 2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452;p12"/>
          <p:cNvSpPr/>
          <p:nvPr/>
        </p:nvSpPr>
        <p:spPr>
          <a:xfrm>
            <a:off x="548640" y="260604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Google Shape;453;p12"/>
          <p:cNvSpPr/>
          <p:nvPr/>
        </p:nvSpPr>
        <p:spPr>
          <a:xfrm>
            <a:off x="548640" y="2606040"/>
            <a:ext cx="54000" cy="456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Google Shape;454;p12"/>
          <p:cNvSpPr/>
          <p:nvPr/>
        </p:nvSpPr>
        <p:spPr>
          <a:xfrm>
            <a:off x="777240" y="267912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Cosmetic dentistry campaign build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Google Shape;455;p12"/>
          <p:cNvSpPr/>
          <p:nvPr/>
        </p:nvSpPr>
        <p:spPr>
          <a:xfrm>
            <a:off x="548640" y="315468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Google Shape;456;p12"/>
          <p:cNvSpPr/>
          <p:nvPr/>
        </p:nvSpPr>
        <p:spPr>
          <a:xfrm>
            <a:off x="548640" y="3154680"/>
            <a:ext cx="54000" cy="456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457;p12"/>
          <p:cNvSpPr/>
          <p:nvPr/>
        </p:nvSpPr>
        <p:spPr>
          <a:xfrm>
            <a:off x="777240" y="322776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2.  Landing page optimisation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Google Shape;458;p12"/>
          <p:cNvSpPr/>
          <p:nvPr/>
        </p:nvSpPr>
        <p:spPr>
          <a:xfrm>
            <a:off x="548640" y="370332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Google Shape;459;p12"/>
          <p:cNvSpPr/>
          <p:nvPr/>
        </p:nvSpPr>
        <p:spPr>
          <a:xfrm>
            <a:off x="548640" y="3703320"/>
            <a:ext cx="54000" cy="4564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Google Shape;460;p12"/>
          <p:cNvSpPr/>
          <p:nvPr/>
        </p:nvSpPr>
        <p:spPr>
          <a:xfrm>
            <a:off x="777240" y="377640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3.  Long-tail keyword expansion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Google Shape;461;p12"/>
          <p:cNvSpPr/>
          <p:nvPr/>
        </p:nvSpPr>
        <p:spPr>
          <a:xfrm>
            <a:off x="548640" y="425196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462;p12"/>
          <p:cNvSpPr/>
          <p:nvPr/>
        </p:nvSpPr>
        <p:spPr>
          <a:xfrm>
            <a:off x="548640" y="4251960"/>
            <a:ext cx="54000" cy="456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463;p12"/>
          <p:cNvSpPr/>
          <p:nvPr/>
        </p:nvSpPr>
        <p:spPr>
          <a:xfrm>
            <a:off x="777240" y="432504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4.  Conversion rate improvements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464;p12"/>
          <p:cNvSpPr/>
          <p:nvPr/>
        </p:nvSpPr>
        <p:spPr>
          <a:xfrm>
            <a:off x="548640" y="480060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465;p12"/>
          <p:cNvSpPr/>
          <p:nvPr/>
        </p:nvSpPr>
        <p:spPr>
          <a:xfrm>
            <a:off x="548640" y="4800600"/>
            <a:ext cx="54000" cy="456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466;p12"/>
          <p:cNvSpPr/>
          <p:nvPr/>
        </p:nvSpPr>
        <p:spPr>
          <a:xfrm>
            <a:off x="777240" y="487368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5.  Monthly review cycle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467;p12"/>
          <p:cNvSpPr/>
          <p:nvPr/>
        </p:nvSpPr>
        <p:spPr>
          <a:xfrm>
            <a:off x="548640" y="5349240"/>
            <a:ext cx="5028480" cy="456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468;p12"/>
          <p:cNvSpPr/>
          <p:nvPr/>
        </p:nvSpPr>
        <p:spPr>
          <a:xfrm>
            <a:off x="548640" y="5349240"/>
            <a:ext cx="54000" cy="4564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469;p12"/>
          <p:cNvSpPr/>
          <p:nvPr/>
        </p:nvSpPr>
        <p:spPr>
          <a:xfrm>
            <a:off x="777240" y="5422320"/>
            <a:ext cx="457128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6.  End-of-month report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470;p12"/>
          <p:cNvSpPr/>
          <p:nvPr/>
        </p:nvSpPr>
        <p:spPr>
          <a:xfrm>
            <a:off x="6217920" y="457200"/>
            <a:ext cx="5394240" cy="228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471;p12"/>
          <p:cNvSpPr/>
          <p:nvPr/>
        </p:nvSpPr>
        <p:spPr>
          <a:xfrm>
            <a:off x="6217920" y="457200"/>
            <a:ext cx="72360" cy="2285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Google Shape;472;p12"/>
          <p:cNvSpPr/>
          <p:nvPr/>
        </p:nvSpPr>
        <p:spPr>
          <a:xfrm>
            <a:off x="6492240" y="54864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473;p12"/>
          <p:cNvSpPr/>
          <p:nvPr/>
        </p:nvSpPr>
        <p:spPr>
          <a:xfrm>
            <a:off x="6492240" y="914400"/>
            <a:ext cx="49370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 Report</a:t>
            </a:r>
            <a:br>
              <a:rPr sz="4000"/>
            </a:b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Google Shape;474;p12"/>
          <p:cNvSpPr/>
          <p:nvPr/>
        </p:nvSpPr>
        <p:spPr>
          <a:xfrm>
            <a:off x="6492240" y="1620000"/>
            <a:ext cx="4937040" cy="86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Weekly performance review,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tracking audit findings,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PMax rebuild results, 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Week 3 plan. Delivered EoD Friday 24 April.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Google Shape;475;p12"/>
          <p:cNvSpPr/>
          <p:nvPr/>
        </p:nvSpPr>
        <p:spPr>
          <a:xfrm>
            <a:off x="621792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Google Shape;476;p12"/>
          <p:cNvSpPr/>
          <p:nvPr/>
        </p:nvSpPr>
        <p:spPr>
          <a:xfrm>
            <a:off x="6217920" y="2926080"/>
            <a:ext cx="54000" cy="105084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Google Shape;477;p12"/>
          <p:cNvSpPr/>
          <p:nvPr/>
        </p:nvSpPr>
        <p:spPr>
          <a:xfrm>
            <a:off x="635508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Google Shape;478;p12"/>
          <p:cNvSpPr/>
          <p:nvPr/>
        </p:nvSpPr>
        <p:spPr>
          <a:xfrm>
            <a:off x="635508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Compliance Actions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Google Shape;479;p12"/>
          <p:cNvSpPr/>
          <p:nvPr/>
        </p:nvSpPr>
        <p:spPr>
          <a:xfrm>
            <a:off x="807408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Google Shape;480;p12"/>
          <p:cNvSpPr/>
          <p:nvPr/>
        </p:nvSpPr>
        <p:spPr>
          <a:xfrm>
            <a:off x="8074080" y="2926080"/>
            <a:ext cx="54000" cy="105084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Google Shape;481;p12"/>
          <p:cNvSpPr/>
          <p:nvPr/>
        </p:nvSpPr>
        <p:spPr>
          <a:xfrm>
            <a:off x="821124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Google Shape;482;p12"/>
          <p:cNvSpPr/>
          <p:nvPr/>
        </p:nvSpPr>
        <p:spPr>
          <a:xfrm>
            <a:off x="821124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Working Days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Google Shape;483;p12"/>
          <p:cNvSpPr/>
          <p:nvPr/>
        </p:nvSpPr>
        <p:spPr>
          <a:xfrm>
            <a:off x="9939600" y="2926080"/>
            <a:ext cx="1672560" cy="1050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Google Shape;484;p12"/>
          <p:cNvSpPr/>
          <p:nvPr/>
        </p:nvSpPr>
        <p:spPr>
          <a:xfrm>
            <a:off x="9939600" y="2926080"/>
            <a:ext cx="54000" cy="105084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Google Shape;485;p12"/>
          <p:cNvSpPr/>
          <p:nvPr/>
        </p:nvSpPr>
        <p:spPr>
          <a:xfrm>
            <a:off x="10076760" y="3035880"/>
            <a:ext cx="1443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4A853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Google Shape;486;p12"/>
          <p:cNvSpPr/>
          <p:nvPr/>
        </p:nvSpPr>
        <p:spPr>
          <a:xfrm>
            <a:off x="10076760" y="3474720"/>
            <a:ext cx="144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Coming Next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Google Shape;487;p12"/>
          <p:cNvSpPr/>
          <p:nvPr/>
        </p:nvSpPr>
        <p:spPr>
          <a:xfrm>
            <a:off x="0" y="6400800"/>
            <a:ext cx="3047040" cy="3600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Google Shape;488;p12"/>
          <p:cNvSpPr/>
          <p:nvPr/>
        </p:nvSpPr>
        <p:spPr>
          <a:xfrm>
            <a:off x="3047760" y="6400800"/>
            <a:ext cx="3047040" cy="360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Google Shape;489;p12"/>
          <p:cNvSpPr/>
          <p:nvPr/>
        </p:nvSpPr>
        <p:spPr>
          <a:xfrm>
            <a:off x="6095520" y="6400800"/>
            <a:ext cx="3047040" cy="3600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Google Shape;490;p12"/>
          <p:cNvSpPr/>
          <p:nvPr/>
        </p:nvSpPr>
        <p:spPr>
          <a:xfrm>
            <a:off x="9142920" y="6400800"/>
            <a:ext cx="3047040" cy="3600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dcterms:modified xsi:type="dcterms:W3CDTF">2026-04-18T18:15:41Z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