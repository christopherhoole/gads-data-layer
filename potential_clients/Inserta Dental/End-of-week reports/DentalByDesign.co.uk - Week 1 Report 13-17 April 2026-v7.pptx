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751942B-34C3-468E-AA58-1A504D5807E2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WITH_CAPTIO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440" cy="1161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920" cy="585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43164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40644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8088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5568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556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556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556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440" cy="469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5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9E98E51-9088-4420-8A34-AAE1A68DBC55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_WITH_CAPTIO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680" cy="56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680" cy="80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B9ECE5F-B146-43DB-82EA-B1B8A8324C14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58F0298-D994-4B0B-B0D2-E02DD9EB49C5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VERTICAL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 rot="5400000">
            <a:off x="2309760" y="-251640"/>
            <a:ext cx="4525200" cy="8228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643D4BB-8C4C-41B2-B20B-ABA95082136C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_TITLE_AND_VERTICAL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 rot="5400000">
            <a:off x="4732920" y="2171520"/>
            <a:ext cx="5850720" cy="2056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 rot="5400000">
            <a:off x="542160" y="189720"/>
            <a:ext cx="5850720" cy="6019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DFC3A6A-105C-4762-B667-52847A3EC55B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DD542D0-92A0-4837-8706-03272ECEE181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A091342-D68E-4617-A260-3E1CEDDB0D83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680" cy="1361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4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6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5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5856FA5-84B5-4D06-8D6C-323803A7737D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0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40644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8088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5568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0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40644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8088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5568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E8B91BB-6301-4624-B04F-09A180184606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_OBJECTS_WITH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56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2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56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0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8088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5568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3012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301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301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301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00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2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00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0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8088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5568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3012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301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301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301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7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8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D9B3588-C4A7-45AA-8E03-5D8416792C26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84;p1"/>
          <p:cNvSpPr/>
          <p:nvPr/>
        </p:nvSpPr>
        <p:spPr>
          <a:xfrm>
            <a:off x="0" y="0"/>
            <a:ext cx="3047040" cy="6336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31680" rIns="90000" bIns="3168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Google Shape;85;p1"/>
          <p:cNvSpPr/>
          <p:nvPr/>
        </p:nvSpPr>
        <p:spPr>
          <a:xfrm>
            <a:off x="3047760" y="0"/>
            <a:ext cx="3047040" cy="6336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31680" rIns="90000" bIns="3168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Google Shape;86;p1"/>
          <p:cNvSpPr/>
          <p:nvPr/>
        </p:nvSpPr>
        <p:spPr>
          <a:xfrm>
            <a:off x="6095520" y="0"/>
            <a:ext cx="3047040" cy="6336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31680" rIns="90000" bIns="3168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Google Shape;87;p1"/>
          <p:cNvSpPr/>
          <p:nvPr/>
        </p:nvSpPr>
        <p:spPr>
          <a:xfrm>
            <a:off x="9142920" y="0"/>
            <a:ext cx="3047040" cy="6336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31680" rIns="90000" bIns="3168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Google Shape;88;p1"/>
          <p:cNvSpPr/>
          <p:nvPr/>
        </p:nvSpPr>
        <p:spPr>
          <a:xfrm>
            <a:off x="0" y="64080"/>
            <a:ext cx="109080" cy="679320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54720" tIns="45000" rIns="5472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6" name="Google Shape;89;p1" descr="act_logo_official.png"/>
          <p:cNvPicPr/>
          <p:nvPr/>
        </p:nvPicPr>
        <p:blipFill>
          <a:blip r:embed="rId1"/>
          <a:stretch/>
        </p:blipFill>
        <p:spPr>
          <a:xfrm>
            <a:off x="548640" y="457200"/>
            <a:ext cx="593640" cy="59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" name="Google Shape;90;p1"/>
          <p:cNvSpPr/>
          <p:nvPr/>
        </p:nvSpPr>
        <p:spPr>
          <a:xfrm>
            <a:off x="548640" y="1280160"/>
            <a:ext cx="5248080" cy="164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Week 1 Report</a:t>
            </a:r>
            <a:br>
              <a:rPr sz="4400"/>
            </a:b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Google Shape;91;p1"/>
          <p:cNvSpPr/>
          <p:nvPr/>
        </p:nvSpPr>
        <p:spPr>
          <a:xfrm>
            <a:off x="548640" y="3017520"/>
            <a:ext cx="2285280" cy="4500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2680" rIns="90000" bIns="2268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Google Shape;92;p1"/>
          <p:cNvSpPr/>
          <p:nvPr/>
        </p:nvSpPr>
        <p:spPr>
          <a:xfrm>
            <a:off x="548640" y="3246120"/>
            <a:ext cx="5028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Dental by Design  |  Prodent Group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Google Shape;93;p1"/>
          <p:cNvSpPr/>
          <p:nvPr/>
        </p:nvSpPr>
        <p:spPr>
          <a:xfrm>
            <a:off x="548640" y="3931920"/>
            <a:ext cx="5028480" cy="69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Christopher Hoole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tabLst>
                <a:tab pos="0" algn="l"/>
              </a:tabLst>
            </a:pPr>
            <a:r>
              <a:rPr lang="en-US" sz="12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Google Ads Specialist  |  April 2026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tabLst>
                <a:tab pos="0" algn="l"/>
              </a:tabLst>
            </a:pPr>
            <a:r>
              <a:rPr lang="en-US" sz="1200" b="0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christopherhoole.com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Google Shape;94;p1"/>
          <p:cNvSpPr/>
          <p:nvPr/>
        </p:nvSpPr>
        <p:spPr>
          <a:xfrm>
            <a:off x="548640" y="5029200"/>
            <a:ext cx="4114080" cy="456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Google Shape;95;p1"/>
          <p:cNvSpPr/>
          <p:nvPr/>
        </p:nvSpPr>
        <p:spPr>
          <a:xfrm>
            <a:off x="640080" y="5047560"/>
            <a:ext cx="39312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Data: Monday 13 – Friday 17 April 2026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Google Shape;96;p1"/>
          <p:cNvSpPr/>
          <p:nvPr/>
        </p:nvSpPr>
        <p:spPr>
          <a:xfrm>
            <a:off x="6217920" y="457200"/>
            <a:ext cx="5394240" cy="22852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Google Shape;97;p1"/>
          <p:cNvSpPr/>
          <p:nvPr/>
        </p:nvSpPr>
        <p:spPr>
          <a:xfrm>
            <a:off x="6217920" y="457200"/>
            <a:ext cx="72360" cy="228528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36360" tIns="45000" rIns="3636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Google Shape;98;p1"/>
          <p:cNvSpPr/>
          <p:nvPr/>
        </p:nvSpPr>
        <p:spPr>
          <a:xfrm>
            <a:off x="6492240" y="548640"/>
            <a:ext cx="49370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Brand Avg CPC Trend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Google Shape;99;p1"/>
          <p:cNvSpPr/>
          <p:nvPr/>
        </p:nvSpPr>
        <p:spPr>
          <a:xfrm>
            <a:off x="6492240" y="914400"/>
            <a:ext cx="4937040" cy="76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34A853"/>
                </a:solidFill>
                <a:effectLst/>
                <a:uFillTx/>
                <a:latin typeface="Calibri"/>
                <a:ea typeface="Calibri"/>
              </a:rPr>
              <a:t>£3.18 → £1.61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Google Shape;100;p1"/>
          <p:cNvSpPr/>
          <p:nvPr/>
        </p:nvSpPr>
        <p:spPr>
          <a:xfrm>
            <a:off x="6492240" y="1645920"/>
            <a:ext cx="4937040" cy="27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−49% week-on-week · lowest of 8 tracked weeks · impression share 92%+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Google Shape;101;p1"/>
          <p:cNvSpPr/>
          <p:nvPr/>
        </p:nvSpPr>
        <p:spPr>
          <a:xfrm>
            <a:off x="6217920" y="2926080"/>
            <a:ext cx="1672560" cy="10508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Google Shape;102;p1"/>
          <p:cNvSpPr/>
          <p:nvPr/>
        </p:nvSpPr>
        <p:spPr>
          <a:xfrm>
            <a:off x="6217920" y="2926080"/>
            <a:ext cx="54000" cy="105084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Google Shape;103;p1"/>
          <p:cNvSpPr/>
          <p:nvPr/>
        </p:nvSpPr>
        <p:spPr>
          <a:xfrm>
            <a:off x="6355080" y="3035880"/>
            <a:ext cx="14439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EA4335"/>
                </a:solidFill>
                <a:effectLst/>
                <a:uFillTx/>
                <a:latin typeface="Calibri"/>
                <a:ea typeface="Calibri"/>
              </a:rPr>
              <a:t>~675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Google Shape;104;p1"/>
          <p:cNvSpPr/>
          <p:nvPr/>
        </p:nvSpPr>
        <p:spPr>
          <a:xfrm>
            <a:off x="6355080" y="3474720"/>
            <a:ext cx="1443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New Keywords Added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Google Shape;105;p1"/>
          <p:cNvSpPr/>
          <p:nvPr/>
        </p:nvSpPr>
        <p:spPr>
          <a:xfrm>
            <a:off x="8074080" y="2926080"/>
            <a:ext cx="1672560" cy="10508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Google Shape;106;p1"/>
          <p:cNvSpPr/>
          <p:nvPr/>
        </p:nvSpPr>
        <p:spPr>
          <a:xfrm>
            <a:off x="8074080" y="2926080"/>
            <a:ext cx="54000" cy="105084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Google Shape;107;p1"/>
          <p:cNvSpPr/>
          <p:nvPr/>
        </p:nvSpPr>
        <p:spPr>
          <a:xfrm>
            <a:off x="8211240" y="3035880"/>
            <a:ext cx="14439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BBC05"/>
                </a:solidFill>
                <a:effectLst/>
                <a:uFillTx/>
                <a:latin typeface="Calibri"/>
                <a:ea typeface="Calibri"/>
              </a:rPr>
              <a:t>25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Google Shape;108;p1"/>
          <p:cNvSpPr/>
          <p:nvPr/>
        </p:nvSpPr>
        <p:spPr>
          <a:xfrm>
            <a:off x="8211240" y="3474720"/>
            <a:ext cx="1443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DII Ad Groups (was 4)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Google Shape;109;p1"/>
          <p:cNvSpPr/>
          <p:nvPr/>
        </p:nvSpPr>
        <p:spPr>
          <a:xfrm>
            <a:off x="9939600" y="2926080"/>
            <a:ext cx="1672560" cy="10508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Google Shape;110;p1"/>
          <p:cNvSpPr/>
          <p:nvPr/>
        </p:nvSpPr>
        <p:spPr>
          <a:xfrm>
            <a:off x="9939600" y="2926080"/>
            <a:ext cx="54000" cy="105084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Google Shape;111;p1"/>
          <p:cNvSpPr/>
          <p:nvPr/>
        </p:nvSpPr>
        <p:spPr>
          <a:xfrm>
            <a:off x="10076760" y="3035880"/>
            <a:ext cx="14439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75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Google Shape;112;p1"/>
          <p:cNvSpPr/>
          <p:nvPr/>
        </p:nvSpPr>
        <p:spPr>
          <a:xfrm>
            <a:off x="10076760" y="3474720"/>
            <a:ext cx="1443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New RSAs Written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Google Shape;113;p1"/>
          <p:cNvSpPr/>
          <p:nvPr/>
        </p:nvSpPr>
        <p:spPr>
          <a:xfrm>
            <a:off x="0" y="6400800"/>
            <a:ext cx="3047040" cy="3600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8000" rIns="90000" bIns="18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Google Shape;114;p1"/>
          <p:cNvSpPr/>
          <p:nvPr/>
        </p:nvSpPr>
        <p:spPr>
          <a:xfrm>
            <a:off x="3047760" y="6400800"/>
            <a:ext cx="3047040" cy="3600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8000" rIns="90000" bIns="18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Google Shape;115;p1"/>
          <p:cNvSpPr/>
          <p:nvPr/>
        </p:nvSpPr>
        <p:spPr>
          <a:xfrm>
            <a:off x="6095520" y="6400800"/>
            <a:ext cx="3047040" cy="3600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8000" rIns="90000" bIns="18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Google Shape;116;p1"/>
          <p:cNvSpPr/>
          <p:nvPr/>
        </p:nvSpPr>
        <p:spPr>
          <a:xfrm>
            <a:off x="9142920" y="6400800"/>
            <a:ext cx="3047040" cy="3600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8000" rIns="90000" bIns="18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121;p2"/>
          <p:cNvSpPr/>
          <p:nvPr/>
        </p:nvSpPr>
        <p:spPr>
          <a:xfrm>
            <a:off x="0" y="0"/>
            <a:ext cx="3047040" cy="5400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Google Shape;122;p2"/>
          <p:cNvSpPr/>
          <p:nvPr/>
        </p:nvSpPr>
        <p:spPr>
          <a:xfrm>
            <a:off x="3047760" y="0"/>
            <a:ext cx="3047040" cy="5400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Google Shape;123;p2"/>
          <p:cNvSpPr/>
          <p:nvPr/>
        </p:nvSpPr>
        <p:spPr>
          <a:xfrm>
            <a:off x="6095520" y="0"/>
            <a:ext cx="3047040" cy="5400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Google Shape;124;p2"/>
          <p:cNvSpPr/>
          <p:nvPr/>
        </p:nvSpPr>
        <p:spPr>
          <a:xfrm>
            <a:off x="9142920" y="0"/>
            <a:ext cx="3047040" cy="5400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Google Shape;125;p2"/>
          <p:cNvSpPr/>
          <p:nvPr/>
        </p:nvSpPr>
        <p:spPr>
          <a:xfrm>
            <a:off x="548640" y="274320"/>
            <a:ext cx="6400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Executive Summary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Google Shape;126;p2"/>
          <p:cNvSpPr/>
          <p:nvPr/>
        </p:nvSpPr>
        <p:spPr>
          <a:xfrm>
            <a:off x="8348400" y="274320"/>
            <a:ext cx="3291120" cy="410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Google Shape;127;p2"/>
          <p:cNvSpPr/>
          <p:nvPr/>
        </p:nvSpPr>
        <p:spPr>
          <a:xfrm>
            <a:off x="8439840" y="292680"/>
            <a:ext cx="31082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Week 1 · 13-17 Apr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Google Shape;128;p2"/>
          <p:cNvSpPr/>
          <p:nvPr/>
        </p:nvSpPr>
        <p:spPr>
          <a:xfrm>
            <a:off x="548640" y="1097280"/>
            <a:ext cx="2559600" cy="959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Google Shape;129;p2"/>
          <p:cNvSpPr/>
          <p:nvPr/>
        </p:nvSpPr>
        <p:spPr>
          <a:xfrm>
            <a:off x="548640" y="1097280"/>
            <a:ext cx="54000" cy="95940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Google Shape;130;p2"/>
          <p:cNvSpPr/>
          <p:nvPr/>
        </p:nvSpPr>
        <p:spPr>
          <a:xfrm>
            <a:off x="731520" y="1188720"/>
            <a:ext cx="22852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EA4335"/>
                </a:solidFill>
                <a:effectLst/>
                <a:uFillTx/>
                <a:latin typeface="Calibri"/>
                <a:ea typeface="Calibri"/>
              </a:rPr>
              <a:t>£8,462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Google Shape;131;p2"/>
          <p:cNvSpPr/>
          <p:nvPr/>
        </p:nvSpPr>
        <p:spPr>
          <a:xfrm>
            <a:off x="731520" y="1645920"/>
            <a:ext cx="228528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Week 1 Spend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Google Shape;132;p2"/>
          <p:cNvSpPr/>
          <p:nvPr/>
        </p:nvSpPr>
        <p:spPr>
          <a:xfrm>
            <a:off x="3383280" y="1097280"/>
            <a:ext cx="2559600" cy="959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Google Shape;133;p2"/>
          <p:cNvSpPr/>
          <p:nvPr/>
        </p:nvSpPr>
        <p:spPr>
          <a:xfrm>
            <a:off x="3383280" y="1097280"/>
            <a:ext cx="54000" cy="95940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Google Shape;134;p2"/>
          <p:cNvSpPr/>
          <p:nvPr/>
        </p:nvSpPr>
        <p:spPr>
          <a:xfrm>
            <a:off x="3566160" y="1188720"/>
            <a:ext cx="22852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BBC05"/>
                </a:solidFill>
                <a:effectLst/>
                <a:uFillTx/>
                <a:latin typeface="Calibri"/>
                <a:ea typeface="Calibri"/>
              </a:rPr>
              <a:t>87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Google Shape;135;p2"/>
          <p:cNvSpPr/>
          <p:nvPr/>
        </p:nvSpPr>
        <p:spPr>
          <a:xfrm>
            <a:off x="3566160" y="1645920"/>
            <a:ext cx="2285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Dengro </a:t>
            </a:r>
            <a:r>
              <a:rPr lang="en-US" sz="12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Offline</a:t>
            </a:r>
            <a:r>
              <a:rPr lang="en-US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 Leads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Google Shape;136;p2"/>
          <p:cNvSpPr/>
          <p:nvPr/>
        </p:nvSpPr>
        <p:spPr>
          <a:xfrm>
            <a:off x="6217920" y="1097280"/>
            <a:ext cx="2559600" cy="959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Google Shape;137;p2"/>
          <p:cNvSpPr/>
          <p:nvPr/>
        </p:nvSpPr>
        <p:spPr>
          <a:xfrm>
            <a:off x="6217920" y="1097280"/>
            <a:ext cx="54000" cy="95940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Google Shape;138;p2"/>
          <p:cNvSpPr/>
          <p:nvPr/>
        </p:nvSpPr>
        <p:spPr>
          <a:xfrm>
            <a:off x="6400800" y="1188720"/>
            <a:ext cx="22852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EA4335"/>
                </a:solidFill>
                <a:effectLst/>
                <a:uFillTx/>
                <a:latin typeface="Calibri"/>
                <a:ea typeface="Calibri"/>
              </a:rPr>
              <a:t>101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Google Shape;139;p2"/>
          <p:cNvSpPr/>
          <p:nvPr/>
        </p:nvSpPr>
        <p:spPr>
          <a:xfrm>
            <a:off x="6400800" y="1645920"/>
            <a:ext cx="2285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Primary Conversions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Google Shape;140;p2"/>
          <p:cNvSpPr/>
          <p:nvPr/>
        </p:nvSpPr>
        <p:spPr>
          <a:xfrm>
            <a:off x="9052560" y="1097280"/>
            <a:ext cx="2559600" cy="959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Google Shape;141;p2"/>
          <p:cNvSpPr/>
          <p:nvPr/>
        </p:nvSpPr>
        <p:spPr>
          <a:xfrm>
            <a:off x="9052560" y="1097280"/>
            <a:ext cx="54000" cy="95940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Google Shape;142;p2"/>
          <p:cNvSpPr/>
          <p:nvPr/>
        </p:nvSpPr>
        <p:spPr>
          <a:xfrm>
            <a:off x="9235440" y="1188720"/>
            <a:ext cx="22852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£97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Google Shape;143;p2"/>
          <p:cNvSpPr/>
          <p:nvPr/>
        </p:nvSpPr>
        <p:spPr>
          <a:xfrm>
            <a:off x="9235440" y="1645920"/>
            <a:ext cx="228528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Cost per </a:t>
            </a:r>
            <a:r>
              <a:rPr lang="en-US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Lead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Google Shape;144;p2"/>
          <p:cNvSpPr/>
          <p:nvPr/>
        </p:nvSpPr>
        <p:spPr>
          <a:xfrm>
            <a:off x="548640" y="2377440"/>
            <a:ext cx="5485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Key Wins This Week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Google Shape;145;p2"/>
          <p:cNvSpPr/>
          <p:nvPr/>
        </p:nvSpPr>
        <p:spPr>
          <a:xfrm>
            <a:off x="640080" y="2743200"/>
            <a:ext cx="1051488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457200" indent="-304920">
              <a:lnSpc>
                <a:spcPct val="115000"/>
              </a:lnSpc>
              <a:buClr>
                <a:srgbClr val="1A1A1A"/>
              </a:buClr>
              <a:buFont typeface="Calibri"/>
              <a:buChar char="●"/>
            </a:pPr>
            <a:r>
              <a:rPr lang="en-GB" sz="12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Brand CPC at 8-week low: £2.16 vs March avg £3.29 (−35%). £1.50 Max CPC cap is biting without suppressing volume.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>
              <a:lnSpc>
                <a:spcPct val="115000"/>
              </a:lnSpc>
              <a:buClr>
                <a:srgbClr val="1A1A1A"/>
              </a:buClr>
              <a:buFont typeface="Calibri"/>
              <a:buChar char="●"/>
            </a:pPr>
            <a:r>
              <a:rPr lang="en-GB" sz="12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PMax CPA improved week-on-week: £73 vs £85.86 prior week, despite persistent asset-group policy restrictions.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>
              <a:lnSpc>
                <a:spcPct val="115000"/>
              </a:lnSpc>
              <a:buClr>
                <a:srgbClr val="1A1A1A"/>
              </a:buClr>
              <a:buFont typeface="Calibri"/>
              <a:buChar char="●"/>
            </a:pPr>
            <a:r>
              <a:rPr lang="en-GB" sz="12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DII entered learning phase after full rebuild: 25 new ad groups, ~675 keywords, 75 RSAs. Clean read expected Week 2-3.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>
              <a:lnSpc>
                <a:spcPct val="115000"/>
              </a:lnSpc>
              <a:buClr>
                <a:srgbClr val="1A1A1A"/>
              </a:buClr>
              <a:buFont typeface="Calibri"/>
              <a:buChar char="●"/>
            </a:pPr>
            <a:r>
              <a:rPr lang="en-GB" sz="12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5,000+ structured negatives replaced 2,192 unstructured broad-match entries across 11 shared lists.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>
              <a:lnSpc>
                <a:spcPct val="115000"/>
              </a:lnSpc>
              <a:buClr>
                <a:srgbClr val="1A1A1A"/>
              </a:buClr>
              <a:buFont typeface="Calibri"/>
              <a:buChar char="●"/>
            </a:pPr>
            <a:r>
              <a:rPr lang="en-GB" sz="12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Giulio replied Fri 17 Apr with answers — compliance actions captured and scheduled for Week 2.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Google Shape;146;p2"/>
          <p:cNvSpPr/>
          <p:nvPr/>
        </p:nvSpPr>
        <p:spPr>
          <a:xfrm>
            <a:off x="548640" y="5040000"/>
            <a:ext cx="11090880" cy="948600"/>
          </a:xfrm>
          <a:prstGeom prst="rect">
            <a:avLst/>
          </a:prstGeom>
          <a:solidFill>
            <a:srgbClr val="E8F0FE"/>
          </a:solidFill>
          <a:ln w="12700">
            <a:solidFill>
              <a:srgbClr val="4285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Google Shape;147;p2"/>
          <p:cNvSpPr/>
          <p:nvPr/>
        </p:nvSpPr>
        <p:spPr>
          <a:xfrm>
            <a:off x="777240" y="5149800"/>
            <a:ext cx="1063368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2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Arial"/>
              </a:rPr>
              <a:t>Week 1 was structural. 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2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Arial"/>
              </a:rPr>
              <a:t>Three live campaigns moved off Max Conversion Value bidding onto controllable targets. 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2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Arial"/>
              </a:rPr>
              <a:t>Early signal is positive — but DII needs a further week of stabilisation and Monday's end-to-end tracking audit is the gate to any CPA-based decisions from here.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Google Shape;148;p2"/>
          <p:cNvSpPr/>
          <p:nvPr/>
        </p:nvSpPr>
        <p:spPr>
          <a:xfrm>
            <a:off x="548640" y="6327720"/>
            <a:ext cx="2769840" cy="2664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Google Shape;149;p2"/>
          <p:cNvSpPr/>
          <p:nvPr/>
        </p:nvSpPr>
        <p:spPr>
          <a:xfrm>
            <a:off x="3319200" y="6327720"/>
            <a:ext cx="2769840" cy="2664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Google Shape;150;p2"/>
          <p:cNvSpPr/>
          <p:nvPr/>
        </p:nvSpPr>
        <p:spPr>
          <a:xfrm>
            <a:off x="6099120" y="6327720"/>
            <a:ext cx="2769840" cy="2664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Google Shape;151;p2"/>
          <p:cNvSpPr/>
          <p:nvPr/>
        </p:nvSpPr>
        <p:spPr>
          <a:xfrm>
            <a:off x="8869680" y="6327720"/>
            <a:ext cx="2769840" cy="2664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5" name="Google Shape;152;p2" descr="act_logo_official.png"/>
          <p:cNvPicPr/>
          <p:nvPr/>
        </p:nvPicPr>
        <p:blipFill>
          <a:blip r:embed="rId1"/>
          <a:stretch/>
        </p:blipFill>
        <p:spPr>
          <a:xfrm>
            <a:off x="548640" y="6400800"/>
            <a:ext cx="200520" cy="20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" name="Google Shape;153;p2"/>
          <p:cNvSpPr/>
          <p:nvPr/>
        </p:nvSpPr>
        <p:spPr>
          <a:xfrm>
            <a:off x="822960" y="6400800"/>
            <a:ext cx="54856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Christopher Hoole  |  christopherhoole.com  |  Confidential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Google Shape;154;p2"/>
          <p:cNvSpPr/>
          <p:nvPr/>
        </p:nvSpPr>
        <p:spPr>
          <a:xfrm>
            <a:off x="11183040" y="6400800"/>
            <a:ext cx="456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59;p3"/>
          <p:cNvSpPr/>
          <p:nvPr/>
        </p:nvSpPr>
        <p:spPr>
          <a:xfrm>
            <a:off x="0" y="0"/>
            <a:ext cx="3047040" cy="5400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Google Shape;160;p3"/>
          <p:cNvSpPr/>
          <p:nvPr/>
        </p:nvSpPr>
        <p:spPr>
          <a:xfrm>
            <a:off x="3047760" y="0"/>
            <a:ext cx="3047040" cy="5400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Google Shape;161;p3"/>
          <p:cNvSpPr/>
          <p:nvPr/>
        </p:nvSpPr>
        <p:spPr>
          <a:xfrm>
            <a:off x="6095520" y="0"/>
            <a:ext cx="3047040" cy="5400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Google Shape;162;p3"/>
          <p:cNvSpPr/>
          <p:nvPr/>
        </p:nvSpPr>
        <p:spPr>
          <a:xfrm>
            <a:off x="9142920" y="0"/>
            <a:ext cx="3047040" cy="5400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Google Shape;163;p3"/>
          <p:cNvSpPr/>
          <p:nvPr/>
        </p:nvSpPr>
        <p:spPr>
          <a:xfrm>
            <a:off x="548640" y="274320"/>
            <a:ext cx="6400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Work Delivered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Google Shape;164;p3"/>
          <p:cNvSpPr/>
          <p:nvPr/>
        </p:nvSpPr>
        <p:spPr>
          <a:xfrm>
            <a:off x="548640" y="777240"/>
            <a:ext cx="822888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Tue 14 → Fri 17 April · 4 working days post-signing · 28 hours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Google Shape;165;p3"/>
          <p:cNvSpPr/>
          <p:nvPr/>
        </p:nvSpPr>
        <p:spPr>
          <a:xfrm>
            <a:off x="8348400" y="274320"/>
            <a:ext cx="3291120" cy="410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Google Shape;166;p3"/>
          <p:cNvSpPr/>
          <p:nvPr/>
        </p:nvSpPr>
        <p:spPr>
          <a:xfrm>
            <a:off x="8439840" y="292680"/>
            <a:ext cx="31082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Foundation Week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Google Shape;168;p3"/>
          <p:cNvSpPr/>
          <p:nvPr/>
        </p:nvSpPr>
        <p:spPr>
          <a:xfrm>
            <a:off x="540000" y="1109880"/>
            <a:ext cx="588816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Day-by-Day Activity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7" name="Google Shape;169;p3"/>
          <p:cNvGraphicFramePr/>
          <p:nvPr/>
        </p:nvGraphicFramePr>
        <p:xfrm>
          <a:off x="540000" y="1417320"/>
          <a:ext cx="11074680" cy="2378160"/>
        </p:xfrm>
        <a:graphic>
          <a:graphicData uri="http://schemas.openxmlformats.org/drawingml/2006/table">
            <a:tbl>
              <a:tblPr/>
              <a:tblGrid>
                <a:gridCol w="1487160"/>
                <a:gridCol w="2237040"/>
                <a:gridCol w="3948120"/>
                <a:gridCol w="3402720"/>
              </a:tblGrid>
              <a:tr h="3304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Day</a:t>
                      </a:r>
                      <a:endParaRPr lang="en-GB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Focus</a:t>
                      </a:r>
                      <a:endParaRPr lang="en-GB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Output</a:t>
                      </a:r>
                      <a:endParaRPr lang="en-GB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Impact</a:t>
                      </a:r>
                      <a:endParaRPr lang="en-GB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</a:tr>
              <a:tr h="5119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Tue 14 Apr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Negatives Overhaul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2,192 → ~4,000+ across 11 lists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~£63k waste blocked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5119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Wed 15 Apr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Account-Wide Reset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Brand · PMax tCPA £60 · DII tCPA £75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Controllable bid targets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19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Thu 16 Apr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DII Rebuild (Part 1)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20 AGs · 537 keywords · 60 RSAs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Patient-intent structure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5119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Fri 17 Apr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Audit + Completion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173 DBD-blockers removed · AG21-25 built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Campaign 25/25 complete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8" name="Google Shape;170;p3"/>
          <p:cNvSpPr/>
          <p:nvPr/>
        </p:nvSpPr>
        <p:spPr>
          <a:xfrm>
            <a:off x="5727600" y="4160520"/>
            <a:ext cx="5884560" cy="1874520"/>
          </a:xfrm>
          <a:prstGeom prst="rect">
            <a:avLst/>
          </a:prstGeom>
          <a:solidFill>
            <a:srgbClr val="FCE8E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Google Shape;171;p3"/>
          <p:cNvSpPr/>
          <p:nvPr/>
        </p:nvSpPr>
        <p:spPr>
          <a:xfrm>
            <a:off x="5727600" y="4160520"/>
            <a:ext cx="47520" cy="187452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3760" tIns="45000" rIns="2376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Google Shape;172;p3"/>
          <p:cNvSpPr/>
          <p:nvPr/>
        </p:nvSpPr>
        <p:spPr>
          <a:xfrm>
            <a:off x="5929200" y="4251960"/>
            <a:ext cx="556200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Running Totals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Google Shape;173;p3"/>
          <p:cNvSpPr/>
          <p:nvPr/>
        </p:nvSpPr>
        <p:spPr>
          <a:xfrm>
            <a:off x="5929200" y="4526280"/>
            <a:ext cx="5562000" cy="86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457200" indent="-298440">
              <a:lnSpc>
                <a:spcPct val="115000"/>
              </a:lnSpc>
              <a:buClr>
                <a:srgbClr val="1A1A1A"/>
              </a:buClr>
              <a:buFont typeface="Calibri"/>
              <a:buChar char="●"/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Positive keywords added: 675 across 25 ad groups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1A1A1A"/>
              </a:buClr>
              <a:buFont typeface="Calibri"/>
              <a:buChar char="●"/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New RSAs written: 75 (1,050 headlines, 280 descriptions)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1A1A1A"/>
              </a:buClr>
              <a:buFont typeface="Calibri"/>
              <a:buChar char="●"/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Negatives: 5,000 structured across 11 shared lists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1A1A1A"/>
              </a:buClr>
              <a:buFont typeface="Calibri"/>
              <a:buChar char="●"/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Geo targets: 270 London postcodes rolled out to all 3 active campaigns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Google Shape;174;p3"/>
          <p:cNvSpPr/>
          <p:nvPr/>
        </p:nvSpPr>
        <p:spPr>
          <a:xfrm>
            <a:off x="548640" y="3976560"/>
            <a:ext cx="4610520" cy="2058480"/>
          </a:xfrm>
          <a:prstGeom prst="rect">
            <a:avLst/>
          </a:prstGeom>
          <a:solidFill>
            <a:srgbClr val="E6F4EA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Google Shape;175;p3"/>
          <p:cNvSpPr/>
          <p:nvPr/>
        </p:nvSpPr>
        <p:spPr>
          <a:xfrm>
            <a:off x="548640" y="3976560"/>
            <a:ext cx="60840" cy="205848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30600" tIns="45000" rIns="306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Google Shape;176;p3"/>
          <p:cNvSpPr/>
          <p:nvPr/>
        </p:nvSpPr>
        <p:spPr>
          <a:xfrm>
            <a:off x="720000" y="4046040"/>
            <a:ext cx="3748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Key Findings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Google Shape;177;p3"/>
          <p:cNvSpPr/>
          <p:nvPr/>
        </p:nvSpPr>
        <p:spPr>
          <a:xfrm>
            <a:off x="609840" y="4320000"/>
            <a:ext cx="4403520" cy="163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457200" indent="-298440">
              <a:lnSpc>
                <a:spcPct val="115000"/>
              </a:lnSpc>
              <a:buClr>
                <a:srgbClr val="1A1A1A"/>
              </a:buClr>
              <a:buFont typeface="Calibri"/>
              <a:buChar char="●"/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All 3 live campaigns moved from Max Conversion Value to Target CPA / Target Impression Share.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1A1A1A"/>
              </a:buClr>
              <a:buFont typeface="Calibri"/>
              <a:buChar char="●"/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Auto-apply recommendations disabled = no more silent keyword removals.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1A1A1A"/>
              </a:buClr>
              <a:buFont typeface="Calibri"/>
              <a:buChar char="●"/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Zero NHS/free-seeker junk in PMax search terms post-switch - negatives are working.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1A1A1A"/>
              </a:buClr>
              <a:buFont typeface="Calibri"/>
              <a:buChar char="●"/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Asset groups in PMax flagged 'limited by policy' - full rebuild scheduled Wed 22 Apr.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Google Shape;178;p3"/>
          <p:cNvSpPr/>
          <p:nvPr/>
        </p:nvSpPr>
        <p:spPr>
          <a:xfrm>
            <a:off x="548640" y="6327720"/>
            <a:ext cx="2769840" cy="2664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Google Shape;179;p3"/>
          <p:cNvSpPr/>
          <p:nvPr/>
        </p:nvSpPr>
        <p:spPr>
          <a:xfrm>
            <a:off x="3319200" y="6327720"/>
            <a:ext cx="2769840" cy="2664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Google Shape;180;p3"/>
          <p:cNvSpPr/>
          <p:nvPr/>
        </p:nvSpPr>
        <p:spPr>
          <a:xfrm>
            <a:off x="6099120" y="6327720"/>
            <a:ext cx="2769840" cy="2664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Google Shape;181;p3"/>
          <p:cNvSpPr/>
          <p:nvPr/>
        </p:nvSpPr>
        <p:spPr>
          <a:xfrm>
            <a:off x="8869680" y="6327720"/>
            <a:ext cx="2769840" cy="2664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0" name="Google Shape;182;p3" descr="act_logo_official.png"/>
          <p:cNvPicPr/>
          <p:nvPr/>
        </p:nvPicPr>
        <p:blipFill>
          <a:blip r:embed="rId1"/>
          <a:stretch/>
        </p:blipFill>
        <p:spPr>
          <a:xfrm>
            <a:off x="548640" y="6400800"/>
            <a:ext cx="200520" cy="20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1" name="Google Shape;183;p3"/>
          <p:cNvSpPr/>
          <p:nvPr/>
        </p:nvSpPr>
        <p:spPr>
          <a:xfrm>
            <a:off x="822960" y="6400800"/>
            <a:ext cx="54856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Christopher Hoole  |  christopherhoole.com  |  Confidential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Google Shape;184;p3"/>
          <p:cNvSpPr/>
          <p:nvPr/>
        </p:nvSpPr>
        <p:spPr>
          <a:xfrm>
            <a:off x="11183040" y="6400800"/>
            <a:ext cx="456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89;p4"/>
          <p:cNvSpPr/>
          <p:nvPr/>
        </p:nvSpPr>
        <p:spPr>
          <a:xfrm>
            <a:off x="0" y="0"/>
            <a:ext cx="3047040" cy="5400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Google Shape;190;p4"/>
          <p:cNvSpPr/>
          <p:nvPr/>
        </p:nvSpPr>
        <p:spPr>
          <a:xfrm>
            <a:off x="3047760" y="0"/>
            <a:ext cx="3047040" cy="5400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Google Shape;191;p4"/>
          <p:cNvSpPr/>
          <p:nvPr/>
        </p:nvSpPr>
        <p:spPr>
          <a:xfrm>
            <a:off x="6095520" y="0"/>
            <a:ext cx="3047040" cy="5400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Google Shape;192;p4"/>
          <p:cNvSpPr/>
          <p:nvPr/>
        </p:nvSpPr>
        <p:spPr>
          <a:xfrm>
            <a:off x="9142920" y="0"/>
            <a:ext cx="3047040" cy="5400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Google Shape;193;p4"/>
          <p:cNvSpPr/>
          <p:nvPr/>
        </p:nvSpPr>
        <p:spPr>
          <a:xfrm>
            <a:off x="548640" y="274320"/>
            <a:ext cx="6400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Brand Campaign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Google Shape;194;p4"/>
          <p:cNvSpPr/>
          <p:nvPr/>
        </p:nvSpPr>
        <p:spPr>
          <a:xfrm>
            <a:off x="548640" y="777240"/>
            <a:ext cx="822888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CPC at 8-week low · £1.50 Max CPC cap is working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Google Shape;195;p4"/>
          <p:cNvSpPr/>
          <p:nvPr/>
        </p:nvSpPr>
        <p:spPr>
          <a:xfrm>
            <a:off x="8348400" y="274320"/>
            <a:ext cx="3291120" cy="410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Google Shape;196;p4"/>
          <p:cNvSpPr/>
          <p:nvPr/>
        </p:nvSpPr>
        <p:spPr>
          <a:xfrm>
            <a:off x="8439840" y="292680"/>
            <a:ext cx="31082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Performance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Google Shape;197;p4"/>
          <p:cNvSpPr/>
          <p:nvPr/>
        </p:nvSpPr>
        <p:spPr>
          <a:xfrm>
            <a:off x="548640" y="1097280"/>
            <a:ext cx="5302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Week 1 Performance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62" name="Google Shape;198;p4"/>
          <p:cNvGraphicFramePr/>
          <p:nvPr/>
        </p:nvGraphicFramePr>
        <p:xfrm>
          <a:off x="548640" y="1417320"/>
          <a:ext cx="5302800" cy="1644480"/>
        </p:xfrm>
        <a:graphic>
          <a:graphicData uri="http://schemas.openxmlformats.org/drawingml/2006/table">
            <a:tbl>
              <a:tblPr/>
              <a:tblGrid>
                <a:gridCol w="1978200"/>
                <a:gridCol w="1638360"/>
                <a:gridCol w="886320"/>
                <a:gridCol w="800280"/>
              </a:tblGrid>
              <a:tr h="4111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Metric</a:t>
                      </a:r>
                      <a:endParaRPr lang="en-GB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Week 1</a:t>
                      </a:r>
                      <a:endParaRPr lang="en-GB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Prior Week</a:t>
                      </a:r>
                      <a:endParaRPr lang="en-GB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Change</a:t>
                      </a:r>
                      <a:endParaRPr lang="en-GB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</a:tr>
              <a:tr h="4111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Week spend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£280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£298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−6%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4111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Primary conv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12.0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12.0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Flat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1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Cost / conv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£23.39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£24.89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−6%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163" name="Google Shape;199;p4"/>
          <p:cNvSpPr/>
          <p:nvPr/>
        </p:nvSpPr>
        <p:spPr>
          <a:xfrm>
            <a:off x="548640" y="3291840"/>
            <a:ext cx="5302800" cy="2468160"/>
          </a:xfrm>
          <a:prstGeom prst="rect">
            <a:avLst/>
          </a:prstGeom>
          <a:solidFill>
            <a:srgbClr val="FCE8E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Google Shape;200;p4"/>
          <p:cNvSpPr/>
          <p:nvPr/>
        </p:nvSpPr>
        <p:spPr>
          <a:xfrm>
            <a:off x="548640" y="3291840"/>
            <a:ext cx="54000" cy="246816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Google Shape;201;p4"/>
          <p:cNvSpPr/>
          <p:nvPr/>
        </p:nvSpPr>
        <p:spPr>
          <a:xfrm>
            <a:off x="777240" y="3383280"/>
            <a:ext cx="49370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Key Finding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Google Shape;202;p4"/>
          <p:cNvSpPr/>
          <p:nvPr/>
        </p:nvSpPr>
        <p:spPr>
          <a:xfrm>
            <a:off x="777240" y="3657600"/>
            <a:ext cx="4937040" cy="86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Brand CPC is at its lowest of 8 tracked weeks: £2.16 vs March avg £3.29 (−35%).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The £1.50 Max CPC cap (set Wed 15 Apr) is biting without suppressing volume.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Impression share held at 92%+ and conversion volume tracked with spend.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This is the strongest signal of Week 1.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Google Shape;203;p4"/>
          <p:cNvSpPr/>
          <p:nvPr/>
        </p:nvSpPr>
        <p:spPr>
          <a:xfrm>
            <a:off x="6217920" y="1097280"/>
            <a:ext cx="5302800" cy="1919520"/>
          </a:xfrm>
          <a:prstGeom prst="rect">
            <a:avLst/>
          </a:prstGeom>
          <a:solidFill>
            <a:srgbClr val="E8F0FE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Google Shape;204;p4"/>
          <p:cNvSpPr/>
          <p:nvPr/>
        </p:nvSpPr>
        <p:spPr>
          <a:xfrm>
            <a:off x="6217920" y="1097280"/>
            <a:ext cx="54000" cy="191952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Google Shape;205;p4"/>
          <p:cNvSpPr/>
          <p:nvPr/>
        </p:nvSpPr>
        <p:spPr>
          <a:xfrm>
            <a:off x="6446520" y="1188720"/>
            <a:ext cx="49370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Bid Strategy Applied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Google Shape;206;p4"/>
          <p:cNvSpPr/>
          <p:nvPr/>
        </p:nvSpPr>
        <p:spPr>
          <a:xfrm>
            <a:off x="6446520" y="1463040"/>
            <a:ext cx="4937040" cy="12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457200" indent="-298440">
              <a:lnSpc>
                <a:spcPct val="115000"/>
              </a:lnSpc>
              <a:buClr>
                <a:srgbClr val="1A1A1A"/>
              </a:buClr>
              <a:buFont typeface="Calibri"/>
              <a:buChar char="●"/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From: Max Conversion Value (tROAS 10%) -  inflating brand CPCs To: Target Impression Share 90% · Max CPC £1.50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1A1A1A"/>
              </a:buClr>
              <a:buFont typeface="Calibri"/>
              <a:buChar char="●"/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Goal: eliminate runaway bidding on brand traffic, lock in the brand position at controlled cost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1A1A1A"/>
              </a:buClr>
              <a:buFont typeface="Calibri"/>
              <a:buChar char="●"/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Result: CPC dropped from £3.18 (prior 30d) to £1.61 (first 36 hours) to £2.16 (week avg)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Google Shape;207;p4"/>
          <p:cNvSpPr/>
          <p:nvPr/>
        </p:nvSpPr>
        <p:spPr>
          <a:xfrm>
            <a:off x="6217920" y="3291840"/>
            <a:ext cx="5302800" cy="2468160"/>
          </a:xfrm>
          <a:prstGeom prst="rect">
            <a:avLst/>
          </a:prstGeom>
          <a:solidFill>
            <a:srgbClr val="E6F4EA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Google Shape;208;p4"/>
          <p:cNvSpPr/>
          <p:nvPr/>
        </p:nvSpPr>
        <p:spPr>
          <a:xfrm>
            <a:off x="6217920" y="3291840"/>
            <a:ext cx="54000" cy="246816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Google Shape;209;p4"/>
          <p:cNvSpPr/>
          <p:nvPr/>
        </p:nvSpPr>
        <p:spPr>
          <a:xfrm>
            <a:off x="6446520" y="3383280"/>
            <a:ext cx="49370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Next Week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Google Shape;210;p4"/>
          <p:cNvSpPr/>
          <p:nvPr/>
        </p:nvSpPr>
        <p:spPr>
          <a:xfrm>
            <a:off x="6446520" y="3657600"/>
            <a:ext cx="4937040" cy="105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Hold the £1.50 cap through Week 2. Let the bid strategy complete its 14-day learning phase.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Evaluate lowering toward £1.20 once CPC has stabilised at or below £1.50.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Brand is mature territory, small incremental CPC reductions compound into meaningful monthly savings.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Google Shape;211;p4"/>
          <p:cNvSpPr/>
          <p:nvPr/>
        </p:nvSpPr>
        <p:spPr>
          <a:xfrm>
            <a:off x="548640" y="6327720"/>
            <a:ext cx="2769840" cy="2664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Google Shape;212;p4"/>
          <p:cNvSpPr/>
          <p:nvPr/>
        </p:nvSpPr>
        <p:spPr>
          <a:xfrm>
            <a:off x="3319200" y="6327720"/>
            <a:ext cx="2769840" cy="2664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Google Shape;213;p4"/>
          <p:cNvSpPr/>
          <p:nvPr/>
        </p:nvSpPr>
        <p:spPr>
          <a:xfrm>
            <a:off x="6099120" y="6327720"/>
            <a:ext cx="2769840" cy="2664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Google Shape;214;p4"/>
          <p:cNvSpPr/>
          <p:nvPr/>
        </p:nvSpPr>
        <p:spPr>
          <a:xfrm>
            <a:off x="8869680" y="6327720"/>
            <a:ext cx="2769840" cy="2664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9" name="Google Shape;215;p4" descr="act_logo_official.png"/>
          <p:cNvPicPr/>
          <p:nvPr/>
        </p:nvPicPr>
        <p:blipFill>
          <a:blip r:embed="rId1"/>
          <a:stretch/>
        </p:blipFill>
        <p:spPr>
          <a:xfrm>
            <a:off x="548640" y="6400800"/>
            <a:ext cx="200520" cy="20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0" name="Google Shape;216;p4"/>
          <p:cNvSpPr/>
          <p:nvPr/>
        </p:nvSpPr>
        <p:spPr>
          <a:xfrm>
            <a:off x="822960" y="6400800"/>
            <a:ext cx="54856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Christopher Hoole  |  christopherhoole.com  |  Confidential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Google Shape;217;p4"/>
          <p:cNvSpPr/>
          <p:nvPr/>
        </p:nvSpPr>
        <p:spPr>
          <a:xfrm>
            <a:off x="11183040" y="6400800"/>
            <a:ext cx="456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222;p5"/>
          <p:cNvSpPr/>
          <p:nvPr/>
        </p:nvSpPr>
        <p:spPr>
          <a:xfrm>
            <a:off x="0" y="0"/>
            <a:ext cx="3047040" cy="5400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Google Shape;223;p5"/>
          <p:cNvSpPr/>
          <p:nvPr/>
        </p:nvSpPr>
        <p:spPr>
          <a:xfrm>
            <a:off x="3047760" y="0"/>
            <a:ext cx="3047040" cy="5400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Google Shape;224;p5"/>
          <p:cNvSpPr/>
          <p:nvPr/>
        </p:nvSpPr>
        <p:spPr>
          <a:xfrm>
            <a:off x="6095520" y="0"/>
            <a:ext cx="3047040" cy="5400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Google Shape;225;p5"/>
          <p:cNvSpPr/>
          <p:nvPr/>
        </p:nvSpPr>
        <p:spPr>
          <a:xfrm>
            <a:off x="9142920" y="0"/>
            <a:ext cx="3047040" cy="5400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Google Shape;226;p5"/>
          <p:cNvSpPr/>
          <p:nvPr/>
        </p:nvSpPr>
        <p:spPr>
          <a:xfrm>
            <a:off x="548640" y="274320"/>
            <a:ext cx="6400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Performance Max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Google Shape;227;p5"/>
          <p:cNvSpPr/>
          <p:nvPr/>
        </p:nvSpPr>
        <p:spPr>
          <a:xfrm>
            <a:off x="548640" y="777240"/>
            <a:ext cx="822888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CPA improved week-on-week despite policy restrictions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Google Shape;228;p5"/>
          <p:cNvSpPr/>
          <p:nvPr/>
        </p:nvSpPr>
        <p:spPr>
          <a:xfrm>
            <a:off x="8348400" y="274320"/>
            <a:ext cx="3291120" cy="410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Google Shape;229;p5"/>
          <p:cNvSpPr/>
          <p:nvPr/>
        </p:nvSpPr>
        <p:spPr>
          <a:xfrm>
            <a:off x="8439840" y="292680"/>
            <a:ext cx="31082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Performance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Google Shape;231;p5"/>
          <p:cNvSpPr/>
          <p:nvPr/>
        </p:nvSpPr>
        <p:spPr>
          <a:xfrm>
            <a:off x="630720" y="1005840"/>
            <a:ext cx="11091672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Week 1 Daily CPA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91" name="Google Shape;232;p5"/>
          <p:cNvGraphicFramePr/>
          <p:nvPr/>
        </p:nvGraphicFramePr>
        <p:xfrm>
          <a:off x="548640" y="1325880"/>
          <a:ext cx="11091672" cy="2194560"/>
        </p:xfrm>
        <a:graphic>
          <a:graphicData uri="http://schemas.openxmlformats.org/drawingml/2006/table">
            <a:tbl>
              <a:tblPr/>
              <a:tblGrid>
                <a:gridCol w="2286000"/>
                <a:gridCol w="2926080"/>
                <a:gridCol w="2926080"/>
                <a:gridCol w="2953512"/>
              </a:tblGrid>
              <a:tr h="3657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Day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Spend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Primary Conv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CPA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Mon 13 Apr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£2,017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17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£119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Tue 14 Apr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£558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10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£56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Wed 15 Apr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£402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16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£25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Thu 16 Apr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£1,792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23.5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£76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Fri 17 Apr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£1,188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15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£79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2" name="Google Shape;233;p5"/>
          <p:cNvSpPr/>
          <p:nvPr/>
        </p:nvSpPr>
        <p:spPr>
          <a:xfrm>
            <a:off x="548640" y="3611880"/>
            <a:ext cx="10972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What Changed &amp; What's Next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Google Shape;234;p5"/>
          <p:cNvSpPr/>
          <p:nvPr/>
        </p:nvSpPr>
        <p:spPr>
          <a:xfrm>
            <a:off x="548640" y="4251960"/>
            <a:ext cx="3474000" cy="1553760"/>
          </a:xfrm>
          <a:prstGeom prst="rect">
            <a:avLst/>
          </a:prstGeom>
          <a:solidFill>
            <a:srgbClr val="FCE8E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Google Shape;235;p5"/>
          <p:cNvSpPr/>
          <p:nvPr/>
        </p:nvSpPr>
        <p:spPr>
          <a:xfrm>
            <a:off x="548640" y="4251960"/>
            <a:ext cx="54000" cy="155376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Google Shape;236;p5"/>
          <p:cNvSpPr/>
          <p:nvPr/>
        </p:nvSpPr>
        <p:spPr>
          <a:xfrm>
            <a:off x="777240" y="3886200"/>
            <a:ext cx="3108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Bid Strategy Switch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Google Shape;237;p5"/>
          <p:cNvSpPr/>
          <p:nvPr/>
        </p:nvSpPr>
        <p:spPr>
          <a:xfrm>
            <a:off x="777240" y="4206240"/>
            <a:ext cx="3108240" cy="21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From: Max Conversion Value (tROAS 80%)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To: Target CPA £60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Drove campaign to optimise for LEAD VOLUME at controllable cost, not arbitrary £300 booking values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Wed 15 Apr: first full day under new strategy delivered £25 CPA — best single day in the account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Google Shape;238;p5"/>
          <p:cNvSpPr/>
          <p:nvPr/>
        </p:nvSpPr>
        <p:spPr>
          <a:xfrm>
            <a:off x="4297680" y="4251960"/>
            <a:ext cx="3474000" cy="1553760"/>
          </a:xfrm>
          <a:prstGeom prst="rect">
            <a:avLst/>
          </a:prstGeom>
          <a:solidFill>
            <a:srgbClr val="F5F6FA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Google Shape;239;p5"/>
          <p:cNvSpPr/>
          <p:nvPr/>
        </p:nvSpPr>
        <p:spPr>
          <a:xfrm>
            <a:off x="4297680" y="4251960"/>
            <a:ext cx="54000" cy="155376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Google Shape;240;p5"/>
          <p:cNvSpPr/>
          <p:nvPr/>
        </p:nvSpPr>
        <p:spPr>
          <a:xfrm>
            <a:off x="4526280" y="3886200"/>
            <a:ext cx="3108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Flagged for Week 2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Google Shape;241;p5"/>
          <p:cNvSpPr/>
          <p:nvPr/>
        </p:nvSpPr>
        <p:spPr>
          <a:xfrm>
            <a:off x="4526280" y="4206240"/>
            <a:ext cx="3108240" cy="21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Google still reports 'most asset groups limited by policy'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This restricts PMax reach — it's not running at full potential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Full asset rebuild scheduled Wed 22 April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Stripping unverified claims: '99.12% success', 'Save 60%', 'Top 10 Europe'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Replacing with policy-safe copy aligned to Giulio's verified claims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Google Shape;242;p5"/>
          <p:cNvSpPr/>
          <p:nvPr/>
        </p:nvSpPr>
        <p:spPr>
          <a:xfrm>
            <a:off x="8046720" y="4251960"/>
            <a:ext cx="3565440" cy="1553760"/>
          </a:xfrm>
          <a:prstGeom prst="rect">
            <a:avLst/>
          </a:prstGeom>
          <a:solidFill>
            <a:srgbClr val="E6F4EA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Google Shape;243;p5"/>
          <p:cNvSpPr/>
          <p:nvPr/>
        </p:nvSpPr>
        <p:spPr>
          <a:xfrm>
            <a:off x="8046720" y="4251960"/>
            <a:ext cx="54000" cy="155376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Google Shape;244;p5"/>
          <p:cNvSpPr/>
          <p:nvPr/>
        </p:nvSpPr>
        <p:spPr>
          <a:xfrm>
            <a:off x="8275320" y="3886200"/>
            <a:ext cx="3199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Recommendation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Google Shape;245;p5"/>
          <p:cNvSpPr/>
          <p:nvPr/>
        </p:nvSpPr>
        <p:spPr>
          <a:xfrm>
            <a:off x="8275320" y="4206240"/>
            <a:ext cx="3199680" cy="21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Hold the new bid strategy untouched — let Google complete its 7-day learning cycle.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PMax asset rebuild addresses the policy flag next week.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Expected upside: lifting policy limits typically unlocks 2-3× reach at the same CPA.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Google Shape;246;p5"/>
          <p:cNvSpPr/>
          <p:nvPr/>
        </p:nvSpPr>
        <p:spPr>
          <a:xfrm>
            <a:off x="548640" y="6327720"/>
            <a:ext cx="2769840" cy="2664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Google Shape;247;p5"/>
          <p:cNvSpPr/>
          <p:nvPr/>
        </p:nvSpPr>
        <p:spPr>
          <a:xfrm>
            <a:off x="3319200" y="6327720"/>
            <a:ext cx="2769840" cy="2664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Google Shape;248;p5"/>
          <p:cNvSpPr/>
          <p:nvPr/>
        </p:nvSpPr>
        <p:spPr>
          <a:xfrm>
            <a:off x="6099120" y="6327720"/>
            <a:ext cx="2769840" cy="2664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Google Shape;249;p5"/>
          <p:cNvSpPr/>
          <p:nvPr/>
        </p:nvSpPr>
        <p:spPr>
          <a:xfrm>
            <a:off x="8869680" y="6327720"/>
            <a:ext cx="2769840" cy="2664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9" name="Google Shape;250;p5" descr="act_logo_official.png"/>
          <p:cNvPicPr/>
          <p:nvPr/>
        </p:nvPicPr>
        <p:blipFill>
          <a:blip r:embed="rId1"/>
          <a:stretch/>
        </p:blipFill>
        <p:spPr>
          <a:xfrm>
            <a:off x="548640" y="6400800"/>
            <a:ext cx="200520" cy="20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0" name="Google Shape;251;p5"/>
          <p:cNvSpPr/>
          <p:nvPr/>
        </p:nvSpPr>
        <p:spPr>
          <a:xfrm>
            <a:off x="822960" y="6400800"/>
            <a:ext cx="54856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Christopher Hoole  |  christopherhoole.com  |  Confidential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Google Shape;252;p5"/>
          <p:cNvSpPr/>
          <p:nvPr/>
        </p:nvSpPr>
        <p:spPr>
          <a:xfrm>
            <a:off x="11183040" y="6400800"/>
            <a:ext cx="456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57;p6"/>
          <p:cNvSpPr/>
          <p:nvPr/>
        </p:nvSpPr>
        <p:spPr>
          <a:xfrm>
            <a:off x="0" y="0"/>
            <a:ext cx="3047040" cy="5400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Google Shape;258;p6"/>
          <p:cNvSpPr/>
          <p:nvPr/>
        </p:nvSpPr>
        <p:spPr>
          <a:xfrm>
            <a:off x="3047760" y="0"/>
            <a:ext cx="3047040" cy="5400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Google Shape;259;p6"/>
          <p:cNvSpPr/>
          <p:nvPr/>
        </p:nvSpPr>
        <p:spPr>
          <a:xfrm>
            <a:off x="6095520" y="0"/>
            <a:ext cx="3047040" cy="5400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Google Shape;260;p6"/>
          <p:cNvSpPr/>
          <p:nvPr/>
        </p:nvSpPr>
        <p:spPr>
          <a:xfrm>
            <a:off x="9142920" y="0"/>
            <a:ext cx="3047040" cy="5400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Google Shape;261;p6"/>
          <p:cNvSpPr/>
          <p:nvPr/>
        </p:nvSpPr>
        <p:spPr>
          <a:xfrm>
            <a:off x="548640" y="274320"/>
            <a:ext cx="6400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Dental Implants Intent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Google Shape;262;p6"/>
          <p:cNvSpPr/>
          <p:nvPr/>
        </p:nvSpPr>
        <p:spPr>
          <a:xfrm>
            <a:off x="548640" y="777240"/>
            <a:ext cx="822888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Fully rebuilt Thu–Fri · 4 ad groups → 25 · entered learning phase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Google Shape;263;p6"/>
          <p:cNvSpPr/>
          <p:nvPr/>
        </p:nvSpPr>
        <p:spPr>
          <a:xfrm>
            <a:off x="8348400" y="274320"/>
            <a:ext cx="3291120" cy="410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Google Shape;264;p6"/>
          <p:cNvSpPr/>
          <p:nvPr/>
        </p:nvSpPr>
        <p:spPr>
          <a:xfrm>
            <a:off x="8439840" y="292680"/>
            <a:ext cx="31082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Rebuild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20" name="Google Shape;265;p6"/>
          <p:cNvGraphicFramePr/>
          <p:nvPr/>
        </p:nvGraphicFramePr>
        <p:xfrm>
          <a:off x="548640" y="1188720"/>
          <a:ext cx="7193160" cy="4571280"/>
        </p:xfrm>
        <a:graphic>
          <a:graphicData uri="http://schemas.openxmlformats.org/drawingml/2006/table">
            <a:tbl>
              <a:tblPr/>
              <a:tblGrid>
                <a:gridCol w="1028880"/>
                <a:gridCol w="1434600"/>
                <a:gridCol w="1375560"/>
                <a:gridCol w="1120680"/>
                <a:gridCol w="1417320"/>
                <a:gridCol w="816480"/>
              </a:tblGrid>
              <a:tr h="380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Metric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Before (legacy)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After (new)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Change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Impact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Status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</a:tr>
              <a:tr h="380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Ad groups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4 (paused)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25 live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+525%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Patient-intent grouped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Complete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380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Keywords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27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~675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+2,400%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Phrase + exact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Complete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0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RSAs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6 (Poor-rated)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75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+1,150%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Keyword-aligned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Complete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380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Headlines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~90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1,050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+1,067%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Unique, keyword-rich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Complete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0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Descriptions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~24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280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+1,067%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75-86 chars (QS safe)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Complete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380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Legacy AG CPA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£99+ avg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Paused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Eliminated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Waste removed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Done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0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Bid strategy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Max Conv Value (tROAS)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Target CPA £75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Controllable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Lead-focused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Learning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380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Geo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25-mile radius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270 London postcodes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M25 targeting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4-tier structure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Rolled out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0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Schedule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Always on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42-cell structure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Hourly analysis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Reporting ready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Live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380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Learning phase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n/a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Day 1 of 14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In progress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7-14 days to stabilise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Monitor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16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Campaign status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Scaling with waste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Learning - clean base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Foundation set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Week 2-3 read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On track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221" name="Google Shape;266;p6"/>
          <p:cNvSpPr/>
          <p:nvPr/>
        </p:nvSpPr>
        <p:spPr>
          <a:xfrm>
            <a:off x="7836840" y="1243080"/>
            <a:ext cx="4042800" cy="2356560"/>
          </a:xfrm>
          <a:prstGeom prst="rect">
            <a:avLst/>
          </a:prstGeom>
          <a:solidFill>
            <a:srgbClr val="FCE8E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Google Shape;267;p6"/>
          <p:cNvSpPr/>
          <p:nvPr/>
        </p:nvSpPr>
        <p:spPr>
          <a:xfrm>
            <a:off x="7836840" y="1243080"/>
            <a:ext cx="41040" cy="235656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0520" tIns="45000" rIns="2052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Google Shape;268;p6"/>
          <p:cNvSpPr/>
          <p:nvPr/>
        </p:nvSpPr>
        <p:spPr>
          <a:xfrm>
            <a:off x="7956000" y="1321560"/>
            <a:ext cx="395964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Key Finding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Google Shape;269;p6"/>
          <p:cNvSpPr/>
          <p:nvPr/>
        </p:nvSpPr>
        <p:spPr>
          <a:xfrm>
            <a:off x="7956000" y="1631880"/>
            <a:ext cx="3959640" cy="12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The DII campaign was fully restructured mid-week (Tue → Fri).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Week 1 CPA blends 1 day of the old structure with 4 days of Google's learning phase, expected noise, not signal.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Google requires 14-21 days to rebalance bids against the new structure.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First clean performance read: Week 2-3.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Google Shape;270;p6"/>
          <p:cNvSpPr/>
          <p:nvPr/>
        </p:nvSpPr>
        <p:spPr>
          <a:xfrm>
            <a:off x="7848000" y="3780000"/>
            <a:ext cx="4031640" cy="1979640"/>
          </a:xfrm>
          <a:prstGeom prst="rect">
            <a:avLst/>
          </a:prstGeom>
          <a:solidFill>
            <a:srgbClr val="E6F4EA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Google Shape;271;p6"/>
          <p:cNvSpPr/>
          <p:nvPr/>
        </p:nvSpPr>
        <p:spPr>
          <a:xfrm>
            <a:off x="7848000" y="3780000"/>
            <a:ext cx="39600" cy="197964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9800" tIns="45000" rIns="198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Google Shape;272;p6"/>
          <p:cNvSpPr/>
          <p:nvPr/>
        </p:nvSpPr>
        <p:spPr>
          <a:xfrm>
            <a:off x="7956000" y="3835440"/>
            <a:ext cx="395964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Recommendation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Google Shape;273;p6"/>
          <p:cNvSpPr/>
          <p:nvPr/>
        </p:nvSpPr>
        <p:spPr>
          <a:xfrm>
            <a:off x="7968600" y="4145760"/>
            <a:ext cx="3767040" cy="105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Hold the new structure untouched through Wed 22 April.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Ad Strength audit on AG22-25 resumes Tuesday once Google clears the new ads from Pending review.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Second pass on AG1-21 to push remaining RSAs toward Excellent.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Google Shape;274;p6"/>
          <p:cNvSpPr/>
          <p:nvPr/>
        </p:nvSpPr>
        <p:spPr>
          <a:xfrm>
            <a:off x="548640" y="6327720"/>
            <a:ext cx="2769840" cy="2664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Google Shape;275;p6"/>
          <p:cNvSpPr/>
          <p:nvPr/>
        </p:nvSpPr>
        <p:spPr>
          <a:xfrm>
            <a:off x="3319200" y="6327720"/>
            <a:ext cx="2769840" cy="2664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Google Shape;276;p6"/>
          <p:cNvSpPr/>
          <p:nvPr/>
        </p:nvSpPr>
        <p:spPr>
          <a:xfrm>
            <a:off x="6099120" y="6327720"/>
            <a:ext cx="2769840" cy="2664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Google Shape;277;p6"/>
          <p:cNvSpPr/>
          <p:nvPr/>
        </p:nvSpPr>
        <p:spPr>
          <a:xfrm>
            <a:off x="8869680" y="6327720"/>
            <a:ext cx="2769840" cy="2664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3" name="Google Shape;278;p6" descr="act_logo_official.png"/>
          <p:cNvPicPr/>
          <p:nvPr/>
        </p:nvPicPr>
        <p:blipFill>
          <a:blip r:embed="rId1"/>
          <a:stretch/>
        </p:blipFill>
        <p:spPr>
          <a:xfrm>
            <a:off x="548640" y="6400800"/>
            <a:ext cx="200520" cy="20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4" name="Google Shape;279;p6"/>
          <p:cNvSpPr/>
          <p:nvPr/>
        </p:nvSpPr>
        <p:spPr>
          <a:xfrm>
            <a:off x="822960" y="6400800"/>
            <a:ext cx="54856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Christopher Hoole  |  christopherhoole.com  |  Confidential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Google Shape;280;p6"/>
          <p:cNvSpPr/>
          <p:nvPr/>
        </p:nvSpPr>
        <p:spPr>
          <a:xfrm>
            <a:off x="11183040" y="6400800"/>
            <a:ext cx="456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85;p7"/>
          <p:cNvSpPr/>
          <p:nvPr/>
        </p:nvSpPr>
        <p:spPr>
          <a:xfrm>
            <a:off x="0" y="0"/>
            <a:ext cx="3047040" cy="5400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Google Shape;286;p7"/>
          <p:cNvSpPr/>
          <p:nvPr/>
        </p:nvSpPr>
        <p:spPr>
          <a:xfrm>
            <a:off x="3047760" y="0"/>
            <a:ext cx="3047040" cy="5400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Google Shape;287;p7"/>
          <p:cNvSpPr/>
          <p:nvPr/>
        </p:nvSpPr>
        <p:spPr>
          <a:xfrm>
            <a:off x="6095520" y="0"/>
            <a:ext cx="3047040" cy="5400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Google Shape;288;p7"/>
          <p:cNvSpPr/>
          <p:nvPr/>
        </p:nvSpPr>
        <p:spPr>
          <a:xfrm>
            <a:off x="9142920" y="0"/>
            <a:ext cx="3047040" cy="5400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Google Shape;289;p7"/>
          <p:cNvSpPr/>
          <p:nvPr/>
        </p:nvSpPr>
        <p:spPr>
          <a:xfrm>
            <a:off x="548640" y="274320"/>
            <a:ext cx="6400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The Numbers That Matter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Google Shape;290;p7"/>
          <p:cNvSpPr/>
          <p:nvPr/>
        </p:nvSpPr>
        <p:spPr>
          <a:xfrm>
            <a:off x="548640" y="777240"/>
            <a:ext cx="822888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Business outcomes — what the account delivered this week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Google Shape;291;p7"/>
          <p:cNvSpPr/>
          <p:nvPr/>
        </p:nvSpPr>
        <p:spPr>
          <a:xfrm>
            <a:off x="8348400" y="274320"/>
            <a:ext cx="3291120" cy="410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Google Shape;292;p7"/>
          <p:cNvSpPr/>
          <p:nvPr/>
        </p:nvSpPr>
        <p:spPr>
          <a:xfrm>
            <a:off x="8439840" y="292680"/>
            <a:ext cx="31082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Business Outcomes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Google Shape;294;p7"/>
          <p:cNvSpPr/>
          <p:nvPr/>
        </p:nvSpPr>
        <p:spPr>
          <a:xfrm>
            <a:off x="574560" y="1166040"/>
            <a:ext cx="484560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Week 1 at a Glance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45" name="Google Shape;295;p7"/>
          <p:cNvGraphicFramePr/>
          <p:nvPr/>
        </p:nvGraphicFramePr>
        <p:xfrm>
          <a:off x="574560" y="1486080"/>
          <a:ext cx="5707440" cy="2050200"/>
        </p:xfrm>
        <a:graphic>
          <a:graphicData uri="http://schemas.openxmlformats.org/drawingml/2006/table">
            <a:tbl>
              <a:tblPr/>
              <a:tblGrid>
                <a:gridCol w="1312920"/>
                <a:gridCol w="970200"/>
                <a:gridCol w="1141560"/>
                <a:gridCol w="1141560"/>
                <a:gridCol w="1141560"/>
              </a:tblGrid>
              <a:tr h="4366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Metric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Week 1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Prior Week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Change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Status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</a:tr>
              <a:tr h="5378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Total Spend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£8,462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£10,291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−18%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Trimmed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5378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Dengro Offline Leads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87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—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—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Tracking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78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Primary Conversions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101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134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−25%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Learning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246" name="Google Shape;296;p7"/>
          <p:cNvSpPr/>
          <p:nvPr/>
        </p:nvSpPr>
        <p:spPr>
          <a:xfrm>
            <a:off x="6910560" y="1401120"/>
            <a:ext cx="4845600" cy="2198520"/>
          </a:xfrm>
          <a:prstGeom prst="rect">
            <a:avLst/>
          </a:prstGeom>
          <a:solidFill>
            <a:srgbClr val="FCE8E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Google Shape;297;p7"/>
          <p:cNvSpPr/>
          <p:nvPr/>
        </p:nvSpPr>
        <p:spPr>
          <a:xfrm>
            <a:off x="6910560" y="1401120"/>
            <a:ext cx="54360" cy="219852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Google Shape;298;p7"/>
          <p:cNvSpPr/>
          <p:nvPr/>
        </p:nvSpPr>
        <p:spPr>
          <a:xfrm>
            <a:off x="7139160" y="1492560"/>
            <a:ext cx="447984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Key Signal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Google Shape;299;p7"/>
          <p:cNvSpPr/>
          <p:nvPr/>
        </p:nvSpPr>
        <p:spPr>
          <a:xfrm>
            <a:off x="7139160" y="1766880"/>
            <a:ext cx="4479840" cy="105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87 Dengro Offline Leads generated this week across 3 active campaigns.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Performance Max delivered 90% of qualified leads (78.5 of 87).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Dengro Offline Booking fired 0 times, tracking gap flagged for Monday's audit.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No CPA-based decisions will be drawn before the audit closes.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Google Shape;300;p7"/>
          <p:cNvSpPr/>
          <p:nvPr/>
        </p:nvSpPr>
        <p:spPr>
          <a:xfrm>
            <a:off x="548640" y="3862800"/>
            <a:ext cx="548568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Week 1 Conversion Breakdown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51" name="Google Shape;301;p7"/>
          <p:cNvGraphicFramePr/>
          <p:nvPr/>
        </p:nvGraphicFramePr>
        <p:xfrm>
          <a:off x="548640" y="4209120"/>
          <a:ext cx="11330640" cy="1553040"/>
        </p:xfrm>
        <a:graphic>
          <a:graphicData uri="http://schemas.openxmlformats.org/drawingml/2006/table">
            <a:tbl>
              <a:tblPr/>
              <a:tblGrid>
                <a:gridCol w="2266200"/>
                <a:gridCol w="2266200"/>
                <a:gridCol w="2266200"/>
                <a:gridCol w="2266200"/>
                <a:gridCol w="2266200"/>
              </a:tblGrid>
              <a:tr h="2588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Campaign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Spend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Primary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Dengro Leads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Cost/Lead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</a:tr>
              <a:tr h="2588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Performance Max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£5,960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81.5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78.5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£75.92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2588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Dental Implants Intent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£2,222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7.5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6.5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£341.83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88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Brand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£280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12.0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2.0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£140.24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2588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TOTAL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£8,462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101.0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87.0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£97.27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88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[molar replacement cost]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3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£159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£40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Below average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252" name="Google Shape;302;p7"/>
          <p:cNvSpPr/>
          <p:nvPr/>
        </p:nvSpPr>
        <p:spPr>
          <a:xfrm>
            <a:off x="548640" y="5989320"/>
            <a:ext cx="1106352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Dengro Offline Booking fired 0 times in Week 1. Monday's tracking audit will confirm whether this is a reporting gap or a genuine zero-booking week.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Google Shape;303;p7"/>
          <p:cNvSpPr/>
          <p:nvPr/>
        </p:nvSpPr>
        <p:spPr>
          <a:xfrm>
            <a:off x="548640" y="6327720"/>
            <a:ext cx="2769840" cy="2664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Google Shape;304;p7"/>
          <p:cNvSpPr/>
          <p:nvPr/>
        </p:nvSpPr>
        <p:spPr>
          <a:xfrm>
            <a:off x="3319200" y="6327720"/>
            <a:ext cx="2769840" cy="2664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Google Shape;305;p7"/>
          <p:cNvSpPr/>
          <p:nvPr/>
        </p:nvSpPr>
        <p:spPr>
          <a:xfrm>
            <a:off x="6099120" y="6327720"/>
            <a:ext cx="2769840" cy="2664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Google Shape;306;p7"/>
          <p:cNvSpPr/>
          <p:nvPr/>
        </p:nvSpPr>
        <p:spPr>
          <a:xfrm>
            <a:off x="8869680" y="6327720"/>
            <a:ext cx="2769840" cy="2664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7" name="Google Shape;307;p7" descr="act_logo_official.png"/>
          <p:cNvPicPr/>
          <p:nvPr/>
        </p:nvPicPr>
        <p:blipFill>
          <a:blip r:embed="rId1"/>
          <a:stretch/>
        </p:blipFill>
        <p:spPr>
          <a:xfrm>
            <a:off x="548640" y="6400800"/>
            <a:ext cx="200520" cy="20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8" name="Google Shape;308;p7"/>
          <p:cNvSpPr/>
          <p:nvPr/>
        </p:nvSpPr>
        <p:spPr>
          <a:xfrm>
            <a:off x="822960" y="6400800"/>
            <a:ext cx="54856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Christopher Hoole  |  christopherhoole.com  |  Confidential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Google Shape;309;p7"/>
          <p:cNvSpPr/>
          <p:nvPr/>
        </p:nvSpPr>
        <p:spPr>
          <a:xfrm>
            <a:off x="11183040" y="6400800"/>
            <a:ext cx="456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7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314;p8"/>
          <p:cNvSpPr/>
          <p:nvPr/>
        </p:nvSpPr>
        <p:spPr>
          <a:xfrm>
            <a:off x="0" y="0"/>
            <a:ext cx="3047040" cy="5400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Google Shape;315;p8"/>
          <p:cNvSpPr/>
          <p:nvPr/>
        </p:nvSpPr>
        <p:spPr>
          <a:xfrm>
            <a:off x="3047760" y="0"/>
            <a:ext cx="3047040" cy="5400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Google Shape;316;p8"/>
          <p:cNvSpPr/>
          <p:nvPr/>
        </p:nvSpPr>
        <p:spPr>
          <a:xfrm>
            <a:off x="6095520" y="0"/>
            <a:ext cx="3047040" cy="5400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Google Shape;317;p8"/>
          <p:cNvSpPr/>
          <p:nvPr/>
        </p:nvSpPr>
        <p:spPr>
          <a:xfrm>
            <a:off x="9142920" y="0"/>
            <a:ext cx="3047040" cy="5400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Google Shape;318;p8"/>
          <p:cNvSpPr/>
          <p:nvPr/>
        </p:nvSpPr>
        <p:spPr>
          <a:xfrm>
            <a:off x="548640" y="274320"/>
            <a:ext cx="6400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8-Week Context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Google Shape;319;p8"/>
          <p:cNvSpPr/>
          <p:nvPr/>
        </p:nvSpPr>
        <p:spPr>
          <a:xfrm>
            <a:off x="548640" y="777240"/>
            <a:ext cx="822888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Weekly performance trend · 23 Feb – 17 April 2026 · spend, conversions, CPA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Google Shape;320;p8"/>
          <p:cNvSpPr/>
          <p:nvPr/>
        </p:nvSpPr>
        <p:spPr>
          <a:xfrm>
            <a:off x="8348400" y="274320"/>
            <a:ext cx="3291120" cy="410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Google Shape;321;p8"/>
          <p:cNvSpPr/>
          <p:nvPr/>
        </p:nvSpPr>
        <p:spPr>
          <a:xfrm>
            <a:off x="8439840" y="292680"/>
            <a:ext cx="31082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8-Week Trend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Google Shape;323;p8"/>
          <p:cNvSpPr/>
          <p:nvPr/>
        </p:nvSpPr>
        <p:spPr>
          <a:xfrm>
            <a:off x="540000" y="1097280"/>
            <a:ext cx="503964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Weekly Performance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69" name="Google Shape;324;p8"/>
          <p:cNvGraphicFramePr/>
          <p:nvPr/>
        </p:nvGraphicFramePr>
        <p:xfrm>
          <a:off x="540000" y="1417320"/>
          <a:ext cx="5039280" cy="3802680"/>
        </p:xfrm>
        <a:graphic>
          <a:graphicData uri="http://schemas.openxmlformats.org/drawingml/2006/table">
            <a:tbl>
              <a:tblPr/>
              <a:tblGrid>
                <a:gridCol w="1260000"/>
                <a:gridCol w="1260000"/>
                <a:gridCol w="1260000"/>
                <a:gridCol w="1259640"/>
              </a:tblGrid>
              <a:tr h="316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Week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Spend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Primary Conv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CPA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</a:tr>
              <a:tr h="316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23 Feb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£17,568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237.5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£74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316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2 Mar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£14,856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189.6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£78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6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9 Mar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£8,393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120.3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£70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316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16 Mar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£13,318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137.7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£97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6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23 Mar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£11,558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239.2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£48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316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30 Mar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£9,997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148.4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£67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316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6 Apr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£10,291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134.1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£77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316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13 Apr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£8,462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101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£84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316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30 Mar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£9,997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148.4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£67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316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6 Apr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£10,291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134.1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£77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317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13 Apr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£8,462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101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£84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270" name="Google Shape;325;p8"/>
          <p:cNvSpPr/>
          <p:nvPr/>
        </p:nvSpPr>
        <p:spPr>
          <a:xfrm>
            <a:off x="5832000" y="1422720"/>
            <a:ext cx="5924160" cy="1816920"/>
          </a:xfrm>
          <a:prstGeom prst="rect">
            <a:avLst/>
          </a:prstGeom>
          <a:solidFill>
            <a:srgbClr val="FCE8E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Google Shape;326;p8"/>
          <p:cNvSpPr/>
          <p:nvPr/>
        </p:nvSpPr>
        <p:spPr>
          <a:xfrm>
            <a:off x="5816160" y="1422720"/>
            <a:ext cx="46800" cy="181692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3400" tIns="45000" rIns="234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Google Shape;327;p8"/>
          <p:cNvSpPr/>
          <p:nvPr/>
        </p:nvSpPr>
        <p:spPr>
          <a:xfrm>
            <a:off x="5977440" y="1462680"/>
            <a:ext cx="544428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Key Observation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Google Shape;328;p8"/>
          <p:cNvSpPr/>
          <p:nvPr/>
        </p:nvSpPr>
        <p:spPr>
          <a:xfrm>
            <a:off x="6013440" y="1788480"/>
            <a:ext cx="5686200" cy="143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Weekly spend fluctuated dramatically: £17.5k peak (23 Feb) → £8.4k (Week 1). A 52% range in 8 weeks.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CPA swung from £48 (best week) to £97 (worst week) — highly volatile before our engagement.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Additional weeks: 30 Mar £9,997/£67 CPA · 6 Apr £10,291/£77 CPA · 13 Apr £8,462/£84 CPA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Week 1 (13 Apr) reflects 5 days of structural disruption: new bid strategies, rebuilt campaigns, changing keyword base.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Google Shape;329;p8"/>
          <p:cNvSpPr/>
          <p:nvPr/>
        </p:nvSpPr>
        <p:spPr>
          <a:xfrm>
            <a:off x="5796000" y="3401640"/>
            <a:ext cx="5939640" cy="1818000"/>
          </a:xfrm>
          <a:prstGeom prst="rect">
            <a:avLst/>
          </a:prstGeom>
          <a:solidFill>
            <a:srgbClr val="F5F6FA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Google Shape;330;p8"/>
          <p:cNvSpPr/>
          <p:nvPr/>
        </p:nvSpPr>
        <p:spPr>
          <a:xfrm>
            <a:off x="5804640" y="3401640"/>
            <a:ext cx="54360" cy="181800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Google Shape;331;p8"/>
          <p:cNvSpPr/>
          <p:nvPr/>
        </p:nvSpPr>
        <p:spPr>
          <a:xfrm>
            <a:off x="5997240" y="3457080"/>
            <a:ext cx="466272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Week 1 in Context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Google Shape;332;p8"/>
          <p:cNvSpPr/>
          <p:nvPr/>
        </p:nvSpPr>
        <p:spPr>
          <a:xfrm>
            <a:off x="6012000" y="3767400"/>
            <a:ext cx="5579640" cy="143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Weekly spend volatility has been the account's core instability — this rebuild brings it under control.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Target: stabilise weekly spend within a consistent range aligned to your target monthly budget (see Questions slide).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Efficiency (cost per lead) is the metric to watch from Week 3 onwards, once the rebuild stabilises.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First clean performance read: Week 2-3 after Google's learning phase completes.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Google Shape;333;p8"/>
          <p:cNvSpPr/>
          <p:nvPr/>
        </p:nvSpPr>
        <p:spPr>
          <a:xfrm>
            <a:off x="540000" y="5400000"/>
            <a:ext cx="11159640" cy="740520"/>
          </a:xfrm>
          <a:prstGeom prst="rect">
            <a:avLst/>
          </a:prstGeom>
          <a:solidFill>
            <a:srgbClr val="E8F0FE"/>
          </a:solidFill>
          <a:ln w="12700">
            <a:solidFill>
              <a:srgbClr val="4285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Google Shape;334;p8"/>
          <p:cNvSpPr/>
          <p:nvPr/>
        </p:nvSpPr>
        <p:spPr>
          <a:xfrm>
            <a:off x="720000" y="5400000"/>
            <a:ext cx="10663560" cy="72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2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Arial"/>
              </a:rPr>
              <a:t>Monday's tracking audit confirms conversion reliability — the gate to CPA analysis.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2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Arial"/>
              </a:rPr>
              <a:t>Week 2 performance comparison vs Week 1 will be the first post-rebuild read.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2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Arial"/>
              </a:rPr>
              <a:t>Please confirm target monthly budget so I can lock weekly pacing (see Slide 10).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Google Shape;335;p8"/>
          <p:cNvSpPr/>
          <p:nvPr/>
        </p:nvSpPr>
        <p:spPr>
          <a:xfrm>
            <a:off x="548640" y="6327720"/>
            <a:ext cx="2769840" cy="2664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Google Shape;336;p8"/>
          <p:cNvSpPr/>
          <p:nvPr/>
        </p:nvSpPr>
        <p:spPr>
          <a:xfrm>
            <a:off x="3319200" y="6327720"/>
            <a:ext cx="2769840" cy="2664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Google Shape;337;p8"/>
          <p:cNvSpPr/>
          <p:nvPr/>
        </p:nvSpPr>
        <p:spPr>
          <a:xfrm>
            <a:off x="6099120" y="6327720"/>
            <a:ext cx="2769840" cy="2664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Google Shape;338;p8"/>
          <p:cNvSpPr/>
          <p:nvPr/>
        </p:nvSpPr>
        <p:spPr>
          <a:xfrm>
            <a:off x="8869680" y="6327720"/>
            <a:ext cx="2769840" cy="2664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4" name="Google Shape;339;p8" descr="act_logo_official.png"/>
          <p:cNvPicPr/>
          <p:nvPr/>
        </p:nvPicPr>
        <p:blipFill>
          <a:blip r:embed="rId1"/>
          <a:stretch/>
        </p:blipFill>
        <p:spPr>
          <a:xfrm>
            <a:off x="548640" y="6400800"/>
            <a:ext cx="200520" cy="20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5" name="Google Shape;340;p8"/>
          <p:cNvSpPr/>
          <p:nvPr/>
        </p:nvSpPr>
        <p:spPr>
          <a:xfrm>
            <a:off x="822960" y="6400800"/>
            <a:ext cx="54856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Christopher Hoole  |  christopherhoole.com  |  Confidential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Google Shape;341;p8"/>
          <p:cNvSpPr/>
          <p:nvPr/>
        </p:nvSpPr>
        <p:spPr>
          <a:xfrm>
            <a:off x="11183040" y="6400800"/>
            <a:ext cx="456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8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346;p9"/>
          <p:cNvSpPr/>
          <p:nvPr/>
        </p:nvSpPr>
        <p:spPr>
          <a:xfrm>
            <a:off x="0" y="0"/>
            <a:ext cx="3047040" cy="5400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Google Shape;347;p9"/>
          <p:cNvSpPr/>
          <p:nvPr/>
        </p:nvSpPr>
        <p:spPr>
          <a:xfrm>
            <a:off x="3047760" y="0"/>
            <a:ext cx="3047040" cy="5400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Google Shape;348;p9"/>
          <p:cNvSpPr/>
          <p:nvPr/>
        </p:nvSpPr>
        <p:spPr>
          <a:xfrm>
            <a:off x="6095520" y="0"/>
            <a:ext cx="3047040" cy="5400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Google Shape;349;p9"/>
          <p:cNvSpPr/>
          <p:nvPr/>
        </p:nvSpPr>
        <p:spPr>
          <a:xfrm>
            <a:off x="9142920" y="0"/>
            <a:ext cx="3047040" cy="5400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Google Shape;350;p9"/>
          <p:cNvSpPr/>
          <p:nvPr/>
        </p:nvSpPr>
        <p:spPr>
          <a:xfrm>
            <a:off x="548640" y="274320"/>
            <a:ext cx="6400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Client Clarifications &amp; Actions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Google Shape;351;p9"/>
          <p:cNvSpPr/>
          <p:nvPr/>
        </p:nvSpPr>
        <p:spPr>
          <a:xfrm>
            <a:off x="548640" y="77724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Giulio replied Fri 17 April 16:47 · actions captured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Google Shape;352;p9"/>
          <p:cNvSpPr/>
          <p:nvPr/>
        </p:nvSpPr>
        <p:spPr>
          <a:xfrm>
            <a:off x="8348400" y="274320"/>
            <a:ext cx="3291120" cy="410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Google Shape;353;p9"/>
          <p:cNvSpPr/>
          <p:nvPr/>
        </p:nvSpPr>
        <p:spPr>
          <a:xfrm>
            <a:off x="8439840" y="292680"/>
            <a:ext cx="31082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Client Reply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Google Shape;355;p9"/>
          <p:cNvSpPr/>
          <p:nvPr/>
        </p:nvSpPr>
        <p:spPr>
          <a:xfrm>
            <a:off x="650160" y="1188720"/>
            <a:ext cx="5109480" cy="1870920"/>
          </a:xfrm>
          <a:prstGeom prst="rect">
            <a:avLst/>
          </a:prstGeom>
          <a:solidFill>
            <a:srgbClr val="E6F4EA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Google Shape;356;p9"/>
          <p:cNvSpPr/>
          <p:nvPr/>
        </p:nvSpPr>
        <p:spPr>
          <a:xfrm>
            <a:off x="650160" y="1188720"/>
            <a:ext cx="54000" cy="187092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Google Shape;357;p9"/>
          <p:cNvSpPr/>
          <p:nvPr/>
        </p:nvSpPr>
        <p:spPr>
          <a:xfrm>
            <a:off x="878760" y="1280160"/>
            <a:ext cx="3108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Confirmed by Giulio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Google Shape;358;p9"/>
          <p:cNvSpPr/>
          <p:nvPr/>
        </p:nvSpPr>
        <p:spPr>
          <a:xfrm>
            <a:off x="878760" y="1554480"/>
            <a:ext cx="3181320" cy="12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Consultation: Free + £25 booking deposit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Lead → Booking rate: 13%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Booking → Treatment rate: 35%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Patient base: 10,000 patients, 20,000+ implants placed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25+ years team-wide expertise in dental field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Google Shape;359;p9"/>
          <p:cNvSpPr/>
          <p:nvPr/>
        </p:nvSpPr>
        <p:spPr>
          <a:xfrm>
            <a:off x="6230160" y="1178640"/>
            <a:ext cx="5469480" cy="1828080"/>
          </a:xfrm>
          <a:prstGeom prst="rect">
            <a:avLst/>
          </a:prstGeom>
          <a:solidFill>
            <a:srgbClr val="FCE8E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Google Shape;360;p9"/>
          <p:cNvSpPr/>
          <p:nvPr/>
        </p:nvSpPr>
        <p:spPr>
          <a:xfrm>
            <a:off x="6230160" y="1178640"/>
            <a:ext cx="54000" cy="182808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Google Shape;361;p9"/>
          <p:cNvSpPr/>
          <p:nvPr/>
        </p:nvSpPr>
        <p:spPr>
          <a:xfrm>
            <a:off x="6458760" y="1270080"/>
            <a:ext cx="3108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Compliance Actions Required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Google Shape;362;p9"/>
          <p:cNvSpPr/>
          <p:nvPr/>
        </p:nvSpPr>
        <p:spPr>
          <a:xfrm>
            <a:off x="6458760" y="1544400"/>
            <a:ext cx="5060880" cy="105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Remove '99.12% success rate' from all ads — confirmed estimate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Remove 'Save 60%' — no source benchmark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Reword 'Top 10 Europe' → factual descriptor (self-claim, not award)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Reword 'Best Implant Clinic 2024' → '2024 Finalist'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Update ad copy: 'Free Consultation (£25 booking deposit)'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Google Shape;363;p9"/>
          <p:cNvSpPr/>
          <p:nvPr/>
        </p:nvSpPr>
        <p:spPr>
          <a:xfrm>
            <a:off x="620640" y="3406320"/>
            <a:ext cx="11079000" cy="1273320"/>
          </a:xfrm>
          <a:prstGeom prst="rect">
            <a:avLst/>
          </a:prstGeom>
          <a:solidFill>
            <a:srgbClr val="E8F0FE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Google Shape;364;p9"/>
          <p:cNvSpPr/>
          <p:nvPr/>
        </p:nvSpPr>
        <p:spPr>
          <a:xfrm>
            <a:off x="620640" y="3406320"/>
            <a:ext cx="54000" cy="127332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Google Shape;365;p9"/>
          <p:cNvSpPr/>
          <p:nvPr/>
        </p:nvSpPr>
        <p:spPr>
          <a:xfrm>
            <a:off x="849240" y="3497760"/>
            <a:ext cx="49370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Advertising Scope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Google Shape;366;p9"/>
          <p:cNvSpPr/>
          <p:nvPr/>
        </p:nvSpPr>
        <p:spPr>
          <a:xfrm>
            <a:off x="849240" y="3772080"/>
            <a:ext cx="10490400" cy="6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DBD only advertises dental implants (single + double arches) — confirmed by Giulio.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Cosmetic and general dentistry services deferred for now.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All campaigns aligned to this focus: Brand, PMax, Dental Implants Intent.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Google Shape;367;p9"/>
          <p:cNvSpPr/>
          <p:nvPr/>
        </p:nvSpPr>
        <p:spPr>
          <a:xfrm>
            <a:off x="637920" y="5040000"/>
            <a:ext cx="11061720" cy="902880"/>
          </a:xfrm>
          <a:prstGeom prst="rect">
            <a:avLst/>
          </a:prstGeom>
          <a:solidFill>
            <a:srgbClr val="E8F0FE"/>
          </a:solidFill>
          <a:ln w="12700">
            <a:solidFill>
              <a:srgbClr val="4285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Google Shape;368;p9"/>
          <p:cNvSpPr/>
          <p:nvPr/>
        </p:nvSpPr>
        <p:spPr>
          <a:xfrm>
            <a:off x="866520" y="5108040"/>
            <a:ext cx="10653120" cy="6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Arial"/>
              </a:rPr>
              <a:t>Applying all compliance changes Monday 20 Apr: removing unverifiable claims, updating consultation pricing.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Arial"/>
              </a:rPr>
              <a:t>Replacing '2,500+ patients' claim with '20,000+ implants placed' across relevant ads.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Arial"/>
              </a:rPr>
              <a:t>AG22-25 Ad Strength audit resumes Tuesday (ads currently Pending Google review).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Google Shape;369;p9"/>
          <p:cNvSpPr/>
          <p:nvPr/>
        </p:nvSpPr>
        <p:spPr>
          <a:xfrm>
            <a:off x="548640" y="6327720"/>
            <a:ext cx="2769840" cy="2664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Google Shape;370;p9"/>
          <p:cNvSpPr/>
          <p:nvPr/>
        </p:nvSpPr>
        <p:spPr>
          <a:xfrm>
            <a:off x="3319200" y="6327720"/>
            <a:ext cx="2769840" cy="2664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Google Shape;371;p9"/>
          <p:cNvSpPr/>
          <p:nvPr/>
        </p:nvSpPr>
        <p:spPr>
          <a:xfrm>
            <a:off x="6099120" y="6327720"/>
            <a:ext cx="2769840" cy="2664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Google Shape;372;p9"/>
          <p:cNvSpPr/>
          <p:nvPr/>
        </p:nvSpPr>
        <p:spPr>
          <a:xfrm>
            <a:off x="8869680" y="6327720"/>
            <a:ext cx="2769840" cy="2664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3" name="Google Shape;373;p9" descr="act_logo_official.png"/>
          <p:cNvPicPr/>
          <p:nvPr/>
        </p:nvPicPr>
        <p:blipFill>
          <a:blip r:embed="rId1"/>
          <a:stretch/>
        </p:blipFill>
        <p:spPr>
          <a:xfrm>
            <a:off x="548640" y="6400800"/>
            <a:ext cx="200520" cy="20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4" name="Google Shape;374;p9"/>
          <p:cNvSpPr/>
          <p:nvPr/>
        </p:nvSpPr>
        <p:spPr>
          <a:xfrm>
            <a:off x="822960" y="6400800"/>
            <a:ext cx="54856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Christopher Hoole  |  christopherhoole.com  |  Confidential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Google Shape;375;p9"/>
          <p:cNvSpPr/>
          <p:nvPr/>
        </p:nvSpPr>
        <p:spPr>
          <a:xfrm>
            <a:off x="11183040" y="6400800"/>
            <a:ext cx="456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9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80;p10"/>
          <p:cNvSpPr/>
          <p:nvPr/>
        </p:nvSpPr>
        <p:spPr>
          <a:xfrm>
            <a:off x="0" y="0"/>
            <a:ext cx="3047040" cy="5400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Google Shape;381;p10"/>
          <p:cNvSpPr/>
          <p:nvPr/>
        </p:nvSpPr>
        <p:spPr>
          <a:xfrm>
            <a:off x="3047760" y="0"/>
            <a:ext cx="3047040" cy="5400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Google Shape;382;p10"/>
          <p:cNvSpPr/>
          <p:nvPr/>
        </p:nvSpPr>
        <p:spPr>
          <a:xfrm>
            <a:off x="6095520" y="0"/>
            <a:ext cx="3047040" cy="5400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Google Shape;383;p10"/>
          <p:cNvSpPr/>
          <p:nvPr/>
        </p:nvSpPr>
        <p:spPr>
          <a:xfrm>
            <a:off x="9142920" y="0"/>
            <a:ext cx="3047040" cy="5400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Google Shape;384;p10"/>
          <p:cNvSpPr/>
          <p:nvPr/>
        </p:nvSpPr>
        <p:spPr>
          <a:xfrm>
            <a:off x="548640" y="274320"/>
            <a:ext cx="6400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Questions for Client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Google Shape;385;p10"/>
          <p:cNvSpPr/>
          <p:nvPr/>
        </p:nvSpPr>
        <p:spPr>
          <a:xfrm>
            <a:off x="548640" y="777240"/>
            <a:ext cx="822888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To refine strategy, I need clarification on a few things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Google Shape;386;p10"/>
          <p:cNvSpPr/>
          <p:nvPr/>
        </p:nvSpPr>
        <p:spPr>
          <a:xfrm>
            <a:off x="8348400" y="274320"/>
            <a:ext cx="3291120" cy="410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Google Shape;387;p10"/>
          <p:cNvSpPr/>
          <p:nvPr/>
        </p:nvSpPr>
        <p:spPr>
          <a:xfrm>
            <a:off x="8439840" y="292680"/>
            <a:ext cx="31082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Your Input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Google Shape;388;p10"/>
          <p:cNvSpPr/>
          <p:nvPr/>
        </p:nvSpPr>
        <p:spPr>
          <a:xfrm>
            <a:off x="548640" y="1097280"/>
            <a:ext cx="5302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Budget Questions (Urgent)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25" name="Google Shape;389;p10"/>
          <p:cNvGraphicFramePr/>
          <p:nvPr/>
        </p:nvGraphicFramePr>
        <p:xfrm>
          <a:off x="603720" y="1417320"/>
          <a:ext cx="11095920" cy="2698920"/>
        </p:xfrm>
        <a:graphic>
          <a:graphicData uri="http://schemas.openxmlformats.org/drawingml/2006/table">
            <a:tbl>
              <a:tblPr/>
              <a:tblGrid>
                <a:gridCol w="2861640"/>
                <a:gridCol w="5709240"/>
                <a:gridCol w="2525400"/>
              </a:tblGrid>
              <a:tr h="2700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Question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Why It Matters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Answer Needed By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</a:tr>
              <a:tr h="6073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What is your target monthly ad spend?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Weekly spend fluctuated £8k-£17k over 8 weeks. Target budget drives bid and budget decisions.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Mon 20 Apr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6073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What is your target weekly ad spend?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Weekly consistency drives campaign pacing. Current daily budgets sum to ~£14k/week but actual is ~£8.5k.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Mon 20 Apr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73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Is there a hard monthly ceiling?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Prevents overspend and informs daily budget caps across 3 campaigns.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Mon 20 Apr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6069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Priority service: single or double arch?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Higher-margin service should carry higher bid caps and budget share.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 week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326" name="Google Shape;392;p10"/>
          <p:cNvSpPr/>
          <p:nvPr/>
        </p:nvSpPr>
        <p:spPr>
          <a:xfrm>
            <a:off x="548640" y="4541040"/>
            <a:ext cx="5302800" cy="1645200"/>
          </a:xfrm>
          <a:prstGeom prst="rect">
            <a:avLst/>
          </a:prstGeom>
          <a:solidFill>
            <a:srgbClr val="E8F0FE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Google Shape;393;p10"/>
          <p:cNvSpPr/>
          <p:nvPr/>
        </p:nvSpPr>
        <p:spPr>
          <a:xfrm>
            <a:off x="548640" y="4541040"/>
            <a:ext cx="54360" cy="164520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Google Shape;394;p10"/>
          <p:cNvSpPr/>
          <p:nvPr/>
        </p:nvSpPr>
        <p:spPr>
          <a:xfrm>
            <a:off x="777240" y="4632480"/>
            <a:ext cx="493704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How to Reply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Google Shape;395;p10"/>
          <p:cNvSpPr/>
          <p:nvPr/>
        </p:nvSpPr>
        <p:spPr>
          <a:xfrm>
            <a:off x="777240" y="4906800"/>
            <a:ext cx="4937040" cy="105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Reply to this email with answers to any questions — no need to answer all at once.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Or we can cover these on a 20-30 min call whenever convenient.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Urgent questions (budget) need answers by Monday so Week 2 work isn't blocked.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Google Shape;396;p10"/>
          <p:cNvSpPr/>
          <p:nvPr/>
        </p:nvSpPr>
        <p:spPr>
          <a:xfrm>
            <a:off x="6217920" y="4541040"/>
            <a:ext cx="5394240" cy="1645200"/>
          </a:xfrm>
          <a:prstGeom prst="rect">
            <a:avLst/>
          </a:prstGeom>
          <a:solidFill>
            <a:srgbClr val="FCE8E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Google Shape;397;p10"/>
          <p:cNvSpPr/>
          <p:nvPr/>
        </p:nvSpPr>
        <p:spPr>
          <a:xfrm>
            <a:off x="6217920" y="4541040"/>
            <a:ext cx="54360" cy="164520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Google Shape;398;p10"/>
          <p:cNvSpPr/>
          <p:nvPr/>
        </p:nvSpPr>
        <p:spPr>
          <a:xfrm>
            <a:off x="6446520" y="4632480"/>
            <a:ext cx="502848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Why These Matter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Google Shape;399;p10"/>
          <p:cNvSpPr/>
          <p:nvPr/>
        </p:nvSpPr>
        <p:spPr>
          <a:xfrm>
            <a:off x="6446520" y="4906800"/>
            <a:ext cx="5028480" cy="105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Every piece of clarification feeds directly into bid strategies, budget allocation, and ad copy.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The more I know about your business, the more precisely I can tune the account.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Example: the 8-week spend volatility (£8k-£17k range) is what happens when budgets aren't locked to a target — pinning your target spend eliminates this.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Google Shape;400;p10"/>
          <p:cNvSpPr/>
          <p:nvPr/>
        </p:nvSpPr>
        <p:spPr>
          <a:xfrm>
            <a:off x="548640" y="6327720"/>
            <a:ext cx="2769840" cy="2664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Google Shape;401;p10"/>
          <p:cNvSpPr/>
          <p:nvPr/>
        </p:nvSpPr>
        <p:spPr>
          <a:xfrm>
            <a:off x="3319200" y="6327720"/>
            <a:ext cx="2769840" cy="2664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Google Shape;402;p10"/>
          <p:cNvSpPr/>
          <p:nvPr/>
        </p:nvSpPr>
        <p:spPr>
          <a:xfrm>
            <a:off x="6099120" y="6327720"/>
            <a:ext cx="2769840" cy="2664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Google Shape;403;p10"/>
          <p:cNvSpPr/>
          <p:nvPr/>
        </p:nvSpPr>
        <p:spPr>
          <a:xfrm>
            <a:off x="8869680" y="6327720"/>
            <a:ext cx="2769840" cy="2664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38" name="Google Shape;404;p10" descr="act_logo_official.png"/>
          <p:cNvPicPr/>
          <p:nvPr/>
        </p:nvPicPr>
        <p:blipFill>
          <a:blip r:embed="rId1"/>
          <a:stretch/>
        </p:blipFill>
        <p:spPr>
          <a:xfrm>
            <a:off x="548640" y="6400800"/>
            <a:ext cx="200520" cy="20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9" name="Google Shape;405;p10"/>
          <p:cNvSpPr/>
          <p:nvPr/>
        </p:nvSpPr>
        <p:spPr>
          <a:xfrm>
            <a:off x="822960" y="6400800"/>
            <a:ext cx="54856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Christopher Hoole  |  christopherhoole.com  |  Confidential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Google Shape;406;p10"/>
          <p:cNvSpPr/>
          <p:nvPr/>
        </p:nvSpPr>
        <p:spPr>
          <a:xfrm>
            <a:off x="11183040" y="6400800"/>
            <a:ext cx="456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10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411;p11"/>
          <p:cNvSpPr/>
          <p:nvPr/>
        </p:nvSpPr>
        <p:spPr>
          <a:xfrm>
            <a:off x="0" y="0"/>
            <a:ext cx="3047040" cy="5400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Google Shape;412;p11"/>
          <p:cNvSpPr/>
          <p:nvPr/>
        </p:nvSpPr>
        <p:spPr>
          <a:xfrm>
            <a:off x="3047760" y="0"/>
            <a:ext cx="3047040" cy="5400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3" name="Google Shape;413;p11"/>
          <p:cNvSpPr/>
          <p:nvPr/>
        </p:nvSpPr>
        <p:spPr>
          <a:xfrm>
            <a:off x="6095520" y="0"/>
            <a:ext cx="3047040" cy="5400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Google Shape;414;p11"/>
          <p:cNvSpPr/>
          <p:nvPr/>
        </p:nvSpPr>
        <p:spPr>
          <a:xfrm>
            <a:off x="9142920" y="0"/>
            <a:ext cx="3047040" cy="5400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5" name="Google Shape;415;p11"/>
          <p:cNvSpPr/>
          <p:nvPr/>
        </p:nvSpPr>
        <p:spPr>
          <a:xfrm>
            <a:off x="548640" y="274320"/>
            <a:ext cx="6400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Week 2 Plan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Google Shape;416;p11"/>
          <p:cNvSpPr/>
          <p:nvPr/>
        </p:nvSpPr>
        <p:spPr>
          <a:xfrm>
            <a:off x="8348400" y="274320"/>
            <a:ext cx="3291120" cy="410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Google Shape;417;p11"/>
          <p:cNvSpPr/>
          <p:nvPr/>
        </p:nvSpPr>
        <p:spPr>
          <a:xfrm>
            <a:off x="8439840" y="292680"/>
            <a:ext cx="31082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5 Working Days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Google Shape;418;p11"/>
          <p:cNvSpPr/>
          <p:nvPr/>
        </p:nvSpPr>
        <p:spPr>
          <a:xfrm>
            <a:off x="548640" y="1097280"/>
            <a:ext cx="3474000" cy="4185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Google Shape;419;p11"/>
          <p:cNvSpPr/>
          <p:nvPr/>
        </p:nvSpPr>
        <p:spPr>
          <a:xfrm>
            <a:off x="548640" y="1097280"/>
            <a:ext cx="54360" cy="418500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Google Shape;420;p11"/>
          <p:cNvSpPr/>
          <p:nvPr/>
        </p:nvSpPr>
        <p:spPr>
          <a:xfrm>
            <a:off x="731520" y="1234440"/>
            <a:ext cx="31082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A4335"/>
                </a:solidFill>
                <a:effectLst/>
                <a:uFillTx/>
                <a:latin typeface="Calibri"/>
                <a:ea typeface="Calibri"/>
              </a:rPr>
              <a:t>Monday 20 Apr — Tracking Audit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Google Shape;421;p11"/>
          <p:cNvSpPr/>
          <p:nvPr/>
        </p:nvSpPr>
        <p:spPr>
          <a:xfrm>
            <a:off x="720000" y="1645920"/>
            <a:ext cx="3239640" cy="259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Verify form_submit fires on all landing pages End-to-end validation across every Search campaign LP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Verify Dengro Offline Lead / Booking / Purchase reliability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Confirm why Bookings fired 0 times in Week 1 — reporting gap or genuine zero?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Audit attribution windows and conversion counting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Ensure Dengro leads aren't being double-counted or missing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Gate for all CPA analysis. No CPA-based decisions until tracking is confirmed reliable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Google Shape;422;p11"/>
          <p:cNvSpPr/>
          <p:nvPr/>
        </p:nvSpPr>
        <p:spPr>
          <a:xfrm>
            <a:off x="4297680" y="1097280"/>
            <a:ext cx="3474000" cy="4185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Google Shape;423;p11"/>
          <p:cNvSpPr/>
          <p:nvPr/>
        </p:nvSpPr>
        <p:spPr>
          <a:xfrm>
            <a:off x="4297680" y="1097280"/>
            <a:ext cx="54360" cy="418500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Google Shape;424;p11"/>
          <p:cNvSpPr/>
          <p:nvPr/>
        </p:nvSpPr>
        <p:spPr>
          <a:xfrm>
            <a:off x="4480560" y="1234440"/>
            <a:ext cx="31082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BBC05"/>
                </a:solidFill>
                <a:effectLst/>
                <a:uFillTx/>
                <a:latin typeface="Calibri"/>
                <a:ea typeface="Calibri"/>
              </a:rPr>
              <a:t>Tue 21 – Thu 23 Apr — Execution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Google Shape;425;p11"/>
          <p:cNvSpPr/>
          <p:nvPr/>
        </p:nvSpPr>
        <p:spPr>
          <a:xfrm>
            <a:off x="4480560" y="1645920"/>
            <a:ext cx="3108240" cy="259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Apply Giulio's claim corrections across all ads (Tue) Remove 99.12%, Save 60%; reword Top 10, Best Clinic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Resume AG22-25 Ad Strength audit once Google clears Pending (Tue)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RSAs to audit once review completes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Second pass on AG1-21 ads not yet at Excellent (Tue) Push remaining RSAs over the line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PMax asset rebuild (Wed) Policy-safe copy, verified claims only, restores full reach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Ad extensions deployed (Thu) Sitelinks, callouts, structured snippets, first time the account has a complete set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Google Shape;426;p11"/>
          <p:cNvSpPr/>
          <p:nvPr/>
        </p:nvSpPr>
        <p:spPr>
          <a:xfrm>
            <a:off x="8046720" y="1097280"/>
            <a:ext cx="3565440" cy="4185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Google Shape;427;p11"/>
          <p:cNvSpPr/>
          <p:nvPr/>
        </p:nvSpPr>
        <p:spPr>
          <a:xfrm>
            <a:off x="8046720" y="1097280"/>
            <a:ext cx="54360" cy="418500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8" name="Google Shape;428;p11"/>
          <p:cNvSpPr/>
          <p:nvPr/>
        </p:nvSpPr>
        <p:spPr>
          <a:xfrm>
            <a:off x="8229600" y="1234440"/>
            <a:ext cx="3199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Friday 24 Apr — Review + Report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Google Shape;429;p11"/>
          <p:cNvSpPr/>
          <p:nvPr/>
        </p:nvSpPr>
        <p:spPr>
          <a:xfrm>
            <a:off x="8229600" y="1645920"/>
            <a:ext cx="3199680" cy="163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7-day performance comparison vs Week 1 Spend, leads, CPA — first post-rebuild signal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Brand matures, PMax settles, DII still learning Different campaigns on different learning trajectories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Week 2 end-of-week report delivered EoD Friday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Same format as this report — trend, insights, Week 3 plan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Google Shape;430;p11"/>
          <p:cNvSpPr/>
          <p:nvPr/>
        </p:nvSpPr>
        <p:spPr>
          <a:xfrm>
            <a:off x="548640" y="5760000"/>
            <a:ext cx="11063520" cy="443160"/>
          </a:xfrm>
          <a:prstGeom prst="rect">
            <a:avLst/>
          </a:prstGeom>
          <a:solidFill>
            <a:srgbClr val="E8F0FE"/>
          </a:solidFill>
          <a:ln w="12700">
            <a:solidFill>
              <a:srgbClr val="4285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Google Shape;431;p11"/>
          <p:cNvSpPr/>
          <p:nvPr/>
        </p:nvSpPr>
        <p:spPr>
          <a:xfrm>
            <a:off x="741240" y="5811840"/>
            <a:ext cx="1060632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Week 2 is about execution: tracking audit unblocks CPA analysis, claim corrections unblock compliance, PMax rebuild unblocks reach.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Google Shape;432;p11"/>
          <p:cNvSpPr/>
          <p:nvPr/>
        </p:nvSpPr>
        <p:spPr>
          <a:xfrm>
            <a:off x="548640" y="6327720"/>
            <a:ext cx="2769840" cy="2664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Google Shape;433;p11"/>
          <p:cNvSpPr/>
          <p:nvPr/>
        </p:nvSpPr>
        <p:spPr>
          <a:xfrm>
            <a:off x="3319200" y="6327720"/>
            <a:ext cx="2769840" cy="2664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4" name="Google Shape;434;p11"/>
          <p:cNvSpPr/>
          <p:nvPr/>
        </p:nvSpPr>
        <p:spPr>
          <a:xfrm>
            <a:off x="6099120" y="6327720"/>
            <a:ext cx="2769840" cy="2664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Google Shape;435;p11"/>
          <p:cNvSpPr/>
          <p:nvPr/>
        </p:nvSpPr>
        <p:spPr>
          <a:xfrm>
            <a:off x="8869680" y="6327720"/>
            <a:ext cx="2769840" cy="2664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6" name="Google Shape;436;p11" descr="act_logo_official.png"/>
          <p:cNvPicPr/>
          <p:nvPr/>
        </p:nvPicPr>
        <p:blipFill>
          <a:blip r:embed="rId1"/>
          <a:stretch/>
        </p:blipFill>
        <p:spPr>
          <a:xfrm>
            <a:off x="548640" y="6400800"/>
            <a:ext cx="200520" cy="20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7" name="Google Shape;437;p11"/>
          <p:cNvSpPr/>
          <p:nvPr/>
        </p:nvSpPr>
        <p:spPr>
          <a:xfrm>
            <a:off x="822960" y="6400800"/>
            <a:ext cx="54856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Christopher Hoole  |  christopherhoole.com  |  Confidential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Google Shape;438;p11"/>
          <p:cNvSpPr/>
          <p:nvPr/>
        </p:nvSpPr>
        <p:spPr>
          <a:xfrm>
            <a:off x="11183040" y="6400800"/>
            <a:ext cx="456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11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443;p12"/>
          <p:cNvSpPr/>
          <p:nvPr/>
        </p:nvSpPr>
        <p:spPr>
          <a:xfrm>
            <a:off x="0" y="0"/>
            <a:ext cx="3047040" cy="6336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31680" rIns="90000" bIns="3168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0" name="Google Shape;444;p12"/>
          <p:cNvSpPr/>
          <p:nvPr/>
        </p:nvSpPr>
        <p:spPr>
          <a:xfrm>
            <a:off x="3047760" y="0"/>
            <a:ext cx="3047040" cy="6336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31680" rIns="90000" bIns="3168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1" name="Google Shape;445;p12"/>
          <p:cNvSpPr/>
          <p:nvPr/>
        </p:nvSpPr>
        <p:spPr>
          <a:xfrm>
            <a:off x="6095520" y="0"/>
            <a:ext cx="3047040" cy="6336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31680" rIns="90000" bIns="3168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Google Shape;446;p12"/>
          <p:cNvSpPr/>
          <p:nvPr/>
        </p:nvSpPr>
        <p:spPr>
          <a:xfrm>
            <a:off x="9142920" y="0"/>
            <a:ext cx="3047040" cy="6336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31680" rIns="90000" bIns="3168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3" name="Google Shape;447;p12"/>
          <p:cNvSpPr/>
          <p:nvPr/>
        </p:nvSpPr>
        <p:spPr>
          <a:xfrm>
            <a:off x="0" y="64080"/>
            <a:ext cx="109080" cy="679320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54720" tIns="45000" rIns="5472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74" name="Google Shape;448;p12" descr="act_logo_official.png"/>
          <p:cNvPicPr/>
          <p:nvPr/>
        </p:nvPicPr>
        <p:blipFill>
          <a:blip r:embed="rId1"/>
          <a:stretch/>
        </p:blipFill>
        <p:spPr>
          <a:xfrm>
            <a:off x="548640" y="457200"/>
            <a:ext cx="593640" cy="59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5" name="Google Shape;449;p12"/>
          <p:cNvSpPr/>
          <p:nvPr/>
        </p:nvSpPr>
        <p:spPr>
          <a:xfrm>
            <a:off x="548640" y="1280160"/>
            <a:ext cx="50284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What's Next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Google Shape;450;p12"/>
          <p:cNvSpPr/>
          <p:nvPr/>
        </p:nvSpPr>
        <p:spPr>
          <a:xfrm>
            <a:off x="548640" y="2011680"/>
            <a:ext cx="2285280" cy="4500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2680" rIns="90000" bIns="2268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7" name="Google Shape;451;p12"/>
          <p:cNvSpPr/>
          <p:nvPr/>
        </p:nvSpPr>
        <p:spPr>
          <a:xfrm>
            <a:off x="548640" y="2194560"/>
            <a:ext cx="5028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Rolling priorities beyond Week 2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Google Shape;452;p12"/>
          <p:cNvSpPr/>
          <p:nvPr/>
        </p:nvSpPr>
        <p:spPr>
          <a:xfrm>
            <a:off x="548640" y="2606040"/>
            <a:ext cx="5028480" cy="4564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Google Shape;453;p12"/>
          <p:cNvSpPr/>
          <p:nvPr/>
        </p:nvSpPr>
        <p:spPr>
          <a:xfrm>
            <a:off x="548640" y="2606040"/>
            <a:ext cx="54000" cy="45648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0" name="Google Shape;454;p12"/>
          <p:cNvSpPr/>
          <p:nvPr/>
        </p:nvSpPr>
        <p:spPr>
          <a:xfrm>
            <a:off x="777240" y="2679120"/>
            <a:ext cx="4571280" cy="27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A4335"/>
                </a:solidFill>
                <a:effectLst/>
                <a:uFillTx/>
                <a:latin typeface="Calibri"/>
                <a:ea typeface="Calibri"/>
              </a:rPr>
              <a:t>1.  Cosmetic dentistry campaign build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Google Shape;455;p12"/>
          <p:cNvSpPr/>
          <p:nvPr/>
        </p:nvSpPr>
        <p:spPr>
          <a:xfrm>
            <a:off x="548640" y="3154680"/>
            <a:ext cx="5028480" cy="4564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Google Shape;456;p12"/>
          <p:cNvSpPr/>
          <p:nvPr/>
        </p:nvSpPr>
        <p:spPr>
          <a:xfrm>
            <a:off x="548640" y="3154680"/>
            <a:ext cx="54000" cy="45648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3" name="Google Shape;457;p12"/>
          <p:cNvSpPr/>
          <p:nvPr/>
        </p:nvSpPr>
        <p:spPr>
          <a:xfrm>
            <a:off x="777240" y="3227760"/>
            <a:ext cx="4571280" cy="27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A4335"/>
                </a:solidFill>
                <a:effectLst/>
                <a:uFillTx/>
                <a:latin typeface="Calibri"/>
                <a:ea typeface="Calibri"/>
              </a:rPr>
              <a:t>2.  Landing page optimisation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Google Shape;458;p12"/>
          <p:cNvSpPr/>
          <p:nvPr/>
        </p:nvSpPr>
        <p:spPr>
          <a:xfrm>
            <a:off x="548640" y="3703320"/>
            <a:ext cx="5028480" cy="4564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Google Shape;459;p12"/>
          <p:cNvSpPr/>
          <p:nvPr/>
        </p:nvSpPr>
        <p:spPr>
          <a:xfrm>
            <a:off x="548640" y="3703320"/>
            <a:ext cx="54000" cy="45648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Google Shape;460;p12"/>
          <p:cNvSpPr/>
          <p:nvPr/>
        </p:nvSpPr>
        <p:spPr>
          <a:xfrm>
            <a:off x="777240" y="3776400"/>
            <a:ext cx="4571280" cy="27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BBC05"/>
                </a:solidFill>
                <a:effectLst/>
                <a:uFillTx/>
                <a:latin typeface="Calibri"/>
                <a:ea typeface="Calibri"/>
              </a:rPr>
              <a:t>3.  Long-tail keyword expansion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Google Shape;461;p12"/>
          <p:cNvSpPr/>
          <p:nvPr/>
        </p:nvSpPr>
        <p:spPr>
          <a:xfrm>
            <a:off x="548640" y="4251960"/>
            <a:ext cx="5028480" cy="4564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Google Shape;462;p12"/>
          <p:cNvSpPr/>
          <p:nvPr/>
        </p:nvSpPr>
        <p:spPr>
          <a:xfrm>
            <a:off x="548640" y="4251960"/>
            <a:ext cx="54000" cy="45648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9" name="Google Shape;463;p12"/>
          <p:cNvSpPr/>
          <p:nvPr/>
        </p:nvSpPr>
        <p:spPr>
          <a:xfrm>
            <a:off x="777240" y="4325040"/>
            <a:ext cx="4571280" cy="27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4.  Conversion rate improvements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Google Shape;464;p12"/>
          <p:cNvSpPr/>
          <p:nvPr/>
        </p:nvSpPr>
        <p:spPr>
          <a:xfrm>
            <a:off x="548640" y="4800600"/>
            <a:ext cx="5028480" cy="4564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Google Shape;465;p12"/>
          <p:cNvSpPr/>
          <p:nvPr/>
        </p:nvSpPr>
        <p:spPr>
          <a:xfrm>
            <a:off x="548640" y="4800600"/>
            <a:ext cx="54000" cy="45648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2" name="Google Shape;466;p12"/>
          <p:cNvSpPr/>
          <p:nvPr/>
        </p:nvSpPr>
        <p:spPr>
          <a:xfrm>
            <a:off x="777240" y="4873680"/>
            <a:ext cx="4571280" cy="27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5.  Monthly review cycle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Google Shape;467;p12"/>
          <p:cNvSpPr/>
          <p:nvPr/>
        </p:nvSpPr>
        <p:spPr>
          <a:xfrm>
            <a:off x="548640" y="5349240"/>
            <a:ext cx="5028480" cy="4564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Google Shape;468;p12"/>
          <p:cNvSpPr/>
          <p:nvPr/>
        </p:nvSpPr>
        <p:spPr>
          <a:xfrm>
            <a:off x="548640" y="5349240"/>
            <a:ext cx="54000" cy="45648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5" name="Google Shape;469;p12"/>
          <p:cNvSpPr/>
          <p:nvPr/>
        </p:nvSpPr>
        <p:spPr>
          <a:xfrm>
            <a:off x="777240" y="5422320"/>
            <a:ext cx="4571280" cy="27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34A853"/>
                </a:solidFill>
                <a:effectLst/>
                <a:uFillTx/>
                <a:latin typeface="Calibri"/>
                <a:ea typeface="Calibri"/>
              </a:rPr>
              <a:t>6.  End-of-month report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Google Shape;470;p12"/>
          <p:cNvSpPr/>
          <p:nvPr/>
        </p:nvSpPr>
        <p:spPr>
          <a:xfrm>
            <a:off x="6217920" y="457200"/>
            <a:ext cx="5394240" cy="22852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Google Shape;471;p12"/>
          <p:cNvSpPr/>
          <p:nvPr/>
        </p:nvSpPr>
        <p:spPr>
          <a:xfrm>
            <a:off x="6217920" y="457200"/>
            <a:ext cx="72360" cy="228528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36360" tIns="45000" rIns="3636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8" name="Google Shape;472;p12"/>
          <p:cNvSpPr/>
          <p:nvPr/>
        </p:nvSpPr>
        <p:spPr>
          <a:xfrm>
            <a:off x="6492240" y="548640"/>
            <a:ext cx="49370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Coming Next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Google Shape;473;p12"/>
          <p:cNvSpPr/>
          <p:nvPr/>
        </p:nvSpPr>
        <p:spPr>
          <a:xfrm>
            <a:off x="6492240" y="914400"/>
            <a:ext cx="4937040" cy="11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34A853"/>
                </a:solidFill>
                <a:effectLst/>
                <a:uFillTx/>
                <a:latin typeface="Calibri"/>
                <a:ea typeface="Calibri"/>
              </a:rPr>
              <a:t>Week 2 Report</a:t>
            </a:r>
            <a:br>
              <a:rPr sz="4000"/>
            </a:br>
            <a:endParaRPr lang="en-GB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Google Shape;474;p12"/>
          <p:cNvSpPr/>
          <p:nvPr/>
        </p:nvSpPr>
        <p:spPr>
          <a:xfrm>
            <a:off x="6492240" y="1620000"/>
            <a:ext cx="4937040" cy="86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Weekly performance review, 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tracking audit findings, 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PMax rebuild results, 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Week 3 plan. Delivered EoD Friday 24 April.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Google Shape;475;p12"/>
          <p:cNvSpPr/>
          <p:nvPr/>
        </p:nvSpPr>
        <p:spPr>
          <a:xfrm>
            <a:off x="6217920" y="2926080"/>
            <a:ext cx="1672560" cy="10508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Google Shape;476;p12"/>
          <p:cNvSpPr/>
          <p:nvPr/>
        </p:nvSpPr>
        <p:spPr>
          <a:xfrm>
            <a:off x="6217920" y="2926080"/>
            <a:ext cx="54000" cy="105084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3" name="Google Shape;477;p12"/>
          <p:cNvSpPr/>
          <p:nvPr/>
        </p:nvSpPr>
        <p:spPr>
          <a:xfrm>
            <a:off x="6355080" y="3035880"/>
            <a:ext cx="14439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EA4335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Google Shape;478;p12"/>
          <p:cNvSpPr/>
          <p:nvPr/>
        </p:nvSpPr>
        <p:spPr>
          <a:xfrm>
            <a:off x="6355080" y="3474720"/>
            <a:ext cx="1443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Compliance Actions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Google Shape;479;p12"/>
          <p:cNvSpPr/>
          <p:nvPr/>
        </p:nvSpPr>
        <p:spPr>
          <a:xfrm>
            <a:off x="8074080" y="2926080"/>
            <a:ext cx="1672560" cy="10508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Google Shape;480;p12"/>
          <p:cNvSpPr/>
          <p:nvPr/>
        </p:nvSpPr>
        <p:spPr>
          <a:xfrm>
            <a:off x="8074080" y="2926080"/>
            <a:ext cx="54000" cy="105084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Google Shape;481;p12"/>
          <p:cNvSpPr/>
          <p:nvPr/>
        </p:nvSpPr>
        <p:spPr>
          <a:xfrm>
            <a:off x="8211240" y="3035880"/>
            <a:ext cx="14439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BBC05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Google Shape;482;p12"/>
          <p:cNvSpPr/>
          <p:nvPr/>
        </p:nvSpPr>
        <p:spPr>
          <a:xfrm>
            <a:off x="8211240" y="3474720"/>
            <a:ext cx="1443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Working Days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Google Shape;483;p12"/>
          <p:cNvSpPr/>
          <p:nvPr/>
        </p:nvSpPr>
        <p:spPr>
          <a:xfrm>
            <a:off x="9939600" y="2926080"/>
            <a:ext cx="1672560" cy="10508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Google Shape;484;p12"/>
          <p:cNvSpPr/>
          <p:nvPr/>
        </p:nvSpPr>
        <p:spPr>
          <a:xfrm>
            <a:off x="9939600" y="2926080"/>
            <a:ext cx="54000" cy="105084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1" name="Google Shape;485;p12"/>
          <p:cNvSpPr/>
          <p:nvPr/>
        </p:nvSpPr>
        <p:spPr>
          <a:xfrm>
            <a:off x="10076760" y="3035880"/>
            <a:ext cx="14439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34A853"/>
                </a:solidFill>
                <a:effectLst/>
                <a:uFillTx/>
                <a:latin typeface="Calibri"/>
                <a:ea typeface="Calibri"/>
              </a:rPr>
              <a:t>Week 2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Google Shape;486;p12"/>
          <p:cNvSpPr/>
          <p:nvPr/>
        </p:nvSpPr>
        <p:spPr>
          <a:xfrm>
            <a:off x="10076760" y="3474720"/>
            <a:ext cx="1443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Coming Next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Google Shape;487;p12"/>
          <p:cNvSpPr/>
          <p:nvPr/>
        </p:nvSpPr>
        <p:spPr>
          <a:xfrm>
            <a:off x="0" y="6400800"/>
            <a:ext cx="3047040" cy="3600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8000" rIns="90000" bIns="18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4" name="Google Shape;488;p12"/>
          <p:cNvSpPr/>
          <p:nvPr/>
        </p:nvSpPr>
        <p:spPr>
          <a:xfrm>
            <a:off x="3047760" y="6400800"/>
            <a:ext cx="3047040" cy="3600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8000" rIns="90000" bIns="18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5" name="Google Shape;489;p12"/>
          <p:cNvSpPr/>
          <p:nvPr/>
        </p:nvSpPr>
        <p:spPr>
          <a:xfrm>
            <a:off x="6095520" y="6400800"/>
            <a:ext cx="3047040" cy="3600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8000" rIns="90000" bIns="18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Google Shape;490;p12"/>
          <p:cNvSpPr/>
          <p:nvPr/>
        </p:nvSpPr>
        <p:spPr>
          <a:xfrm>
            <a:off x="9142920" y="6400800"/>
            <a:ext cx="3047040" cy="3600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8000" rIns="90000" bIns="18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LibreOffice/26.2.2.2$Windows_X86_64 LibreOffice_project/1f77d10d6938fd34972958f64b2bcfa54f8b1ba5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/>
  <dc:language>en-GB</dc:language>
  <cp:lastModifiedBy/>
  <dcterms:modified xsi:type="dcterms:W3CDTF">2026-04-18T18:15:41Z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