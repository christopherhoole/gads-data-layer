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3D8EAB-514A-4C6E-8DE0-63872F228C6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5B69FDA-A92C-49BB-9F06-C6FCA4A2871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C90BDE-BCC4-4292-BAAA-48B1E034B14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A70A94-6AD1-4FAF-A027-CA5206A25C0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E9866A-286C-4883-8DE0-CC9E6C29E34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050E45-7111-40DD-AC6F-36A96C4E2E4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3697BE-4617-4EBE-83F8-A9E4B3F1FEA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 rot="5400000">
            <a:off x="2310120" y="-251640"/>
            <a:ext cx="4524840" cy="822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B0E9E3-5DD5-4A27-A499-4F06E2E0E87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 rot="5400000">
            <a:off x="4733280" y="2171520"/>
            <a:ext cx="5850360" cy="205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 rot="5400000">
            <a:off x="542520" y="189360"/>
            <a:ext cx="5850360" cy="601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90A214-AA13-44E3-9C75-259A35FBA55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91AAD2-9D61-4E3A-A5EF-E5D5521DB70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00EFDF-245D-4370-938E-55E59AEE26E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0" y="0"/>
            <a:ext cx="3046680" cy="63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3047760" y="0"/>
            <a:ext cx="3046680" cy="63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6095520" y="0"/>
            <a:ext cx="3046680" cy="63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"/>
          <p:cNvSpPr/>
          <p:nvPr/>
        </p:nvSpPr>
        <p:spPr>
          <a:xfrm>
            <a:off x="9142920" y="0"/>
            <a:ext cx="3046680" cy="63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"/>
          <p:cNvSpPr/>
          <p:nvPr/>
        </p:nvSpPr>
        <p:spPr>
          <a:xfrm>
            <a:off x="0" y="64080"/>
            <a:ext cx="108720" cy="6792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360" tIns="45000" rIns="54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89;p1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280" cy="59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0;p1"/>
          <p:cNvSpPr/>
          <p:nvPr/>
        </p:nvSpPr>
        <p:spPr>
          <a:xfrm>
            <a:off x="548640" y="1280160"/>
            <a:ext cx="524772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Report</a:t>
            </a:r>
            <a:br>
              <a:rPr sz="4400"/>
            </a:b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"/>
          <p:cNvSpPr/>
          <p:nvPr/>
        </p:nvSpPr>
        <p:spPr>
          <a:xfrm>
            <a:off x="548640" y="3017520"/>
            <a:ext cx="2284920" cy="44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320" rIns="90000" bIns="22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"/>
          <p:cNvSpPr/>
          <p:nvPr/>
        </p:nvSpPr>
        <p:spPr>
          <a:xfrm>
            <a:off x="548640" y="324612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Dental by Design  |  Prodent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"/>
          <p:cNvSpPr/>
          <p:nvPr/>
        </p:nvSpPr>
        <p:spPr>
          <a:xfrm>
            <a:off x="548640" y="3931920"/>
            <a:ext cx="502812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Christopher Hoole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Google Ads Specialist  | 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christopherhoole.com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"/>
          <p:cNvSpPr/>
          <p:nvPr/>
        </p:nvSpPr>
        <p:spPr>
          <a:xfrm>
            <a:off x="548640" y="5029200"/>
            <a:ext cx="411372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5;p1"/>
          <p:cNvSpPr/>
          <p:nvPr/>
        </p:nvSpPr>
        <p:spPr>
          <a:xfrm>
            <a:off x="640080" y="5047560"/>
            <a:ext cx="3930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Data: Monday 13 – Friday 17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6;p1"/>
          <p:cNvSpPr/>
          <p:nvPr/>
        </p:nvSpPr>
        <p:spPr>
          <a:xfrm>
            <a:off x="6217920" y="457200"/>
            <a:ext cx="5393880" cy="2284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7;p1"/>
          <p:cNvSpPr/>
          <p:nvPr/>
        </p:nvSpPr>
        <p:spPr>
          <a:xfrm>
            <a:off x="6217920" y="457200"/>
            <a:ext cx="72000" cy="2284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8;p1"/>
          <p:cNvSpPr/>
          <p:nvPr/>
        </p:nvSpPr>
        <p:spPr>
          <a:xfrm>
            <a:off x="6492240" y="548640"/>
            <a:ext cx="49366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NHS / free-seeker junk reaching campaigns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9;p1"/>
          <p:cNvSpPr/>
          <p:nvPr/>
        </p:nvSpPr>
        <p:spPr>
          <a:xfrm>
            <a:off x="6492240" y="914400"/>
            <a:ext cx="493668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0;p1"/>
          <p:cNvSpPr/>
          <p:nvPr/>
        </p:nvSpPr>
        <p:spPr>
          <a:xfrm>
            <a:off x="6492240" y="1645920"/>
            <a:ext cx="49366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Restructured 2,192 unstructured negatives into 5,000+ targeted across 11 shared lists. </a:t>
            </a:r>
            <a:br>
              <a:rPr sz="1200"/>
            </a:b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Blocks NHS, free-dental, cheap-seeker and price-shopper traffic at auction source. </a:t>
            </a:r>
            <a:br>
              <a:rPr sz="1200"/>
            </a:b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Protects an estimated £63k of waste over the 60-day search-term history.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1;p1"/>
          <p:cNvSpPr/>
          <p:nvPr/>
        </p:nvSpPr>
        <p:spPr>
          <a:xfrm>
            <a:off x="6217920" y="2926080"/>
            <a:ext cx="1672200" cy="1050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;p1"/>
          <p:cNvSpPr/>
          <p:nvPr/>
        </p:nvSpPr>
        <p:spPr>
          <a:xfrm>
            <a:off x="6217920" y="2926080"/>
            <a:ext cx="53640" cy="1050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3;p1"/>
          <p:cNvSpPr/>
          <p:nvPr/>
        </p:nvSpPr>
        <p:spPr>
          <a:xfrm>
            <a:off x="6355080" y="3035880"/>
            <a:ext cx="1443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−49% 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4;p1"/>
          <p:cNvSpPr/>
          <p:nvPr/>
        </p:nvSpPr>
        <p:spPr>
          <a:xfrm>
            <a:off x="6355080" y="3474720"/>
            <a:ext cx="1443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Brand CPC drop (£3.18 → £1.61)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5;p1"/>
          <p:cNvSpPr/>
          <p:nvPr/>
        </p:nvSpPr>
        <p:spPr>
          <a:xfrm>
            <a:off x="8074080" y="2926080"/>
            <a:ext cx="1672200" cy="1050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6;p1"/>
          <p:cNvSpPr/>
          <p:nvPr/>
        </p:nvSpPr>
        <p:spPr>
          <a:xfrm>
            <a:off x="8074080" y="2926080"/>
            <a:ext cx="53640" cy="10504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7;p1"/>
          <p:cNvSpPr/>
          <p:nvPr/>
        </p:nvSpPr>
        <p:spPr>
          <a:xfrm>
            <a:off x="8211240" y="3035880"/>
            <a:ext cx="1443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87 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8;p1"/>
          <p:cNvSpPr/>
          <p:nvPr/>
        </p:nvSpPr>
        <p:spPr>
          <a:xfrm>
            <a:off x="8211240" y="3474720"/>
            <a:ext cx="1443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Dengro qualified leads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9;p1"/>
          <p:cNvSpPr/>
          <p:nvPr/>
        </p:nvSpPr>
        <p:spPr>
          <a:xfrm>
            <a:off x="9939600" y="2926080"/>
            <a:ext cx="1672200" cy="1050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0;p1"/>
          <p:cNvSpPr/>
          <p:nvPr/>
        </p:nvSpPr>
        <p:spPr>
          <a:xfrm>
            <a:off x="9939600" y="2926080"/>
            <a:ext cx="53640" cy="1050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1;p1"/>
          <p:cNvSpPr/>
          <p:nvPr/>
        </p:nvSpPr>
        <p:spPr>
          <a:xfrm>
            <a:off x="10076760" y="3035880"/>
            <a:ext cx="1443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5,000 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2;p1"/>
          <p:cNvSpPr/>
          <p:nvPr/>
        </p:nvSpPr>
        <p:spPr>
          <a:xfrm>
            <a:off x="10076760" y="3474720"/>
            <a:ext cx="1443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Structured negatives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3;p1"/>
          <p:cNvSpPr/>
          <p:nvPr/>
        </p:nvSpPr>
        <p:spPr>
          <a:xfrm>
            <a:off x="0" y="6400800"/>
            <a:ext cx="3046680" cy="35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4;p1"/>
          <p:cNvSpPr/>
          <p:nvPr/>
        </p:nvSpPr>
        <p:spPr>
          <a:xfrm>
            <a:off x="3047760" y="6400800"/>
            <a:ext cx="3046680" cy="35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5;p1"/>
          <p:cNvSpPr/>
          <p:nvPr/>
        </p:nvSpPr>
        <p:spPr>
          <a:xfrm>
            <a:off x="6095520" y="6400800"/>
            <a:ext cx="3046680" cy="35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6;p1"/>
          <p:cNvSpPr/>
          <p:nvPr/>
        </p:nvSpPr>
        <p:spPr>
          <a:xfrm>
            <a:off x="9142920" y="6400800"/>
            <a:ext cx="3046680" cy="35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21;p2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2;p2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3;p2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4;p2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5;p2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Executive Summary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6;p2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7;p2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Week 1 · 13-17 Apr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8;p2"/>
          <p:cNvSpPr/>
          <p:nvPr/>
        </p:nvSpPr>
        <p:spPr>
          <a:xfrm>
            <a:off x="548640" y="1097280"/>
            <a:ext cx="2559240" cy="95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9;p2"/>
          <p:cNvSpPr/>
          <p:nvPr/>
        </p:nvSpPr>
        <p:spPr>
          <a:xfrm>
            <a:off x="548640" y="1097280"/>
            <a:ext cx="53640" cy="9590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0;p2"/>
          <p:cNvSpPr/>
          <p:nvPr/>
        </p:nvSpPr>
        <p:spPr>
          <a:xfrm>
            <a:off x="731520" y="1188720"/>
            <a:ext cx="2284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£8,462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1;p2"/>
          <p:cNvSpPr/>
          <p:nvPr/>
        </p:nvSpPr>
        <p:spPr>
          <a:xfrm>
            <a:off x="731520" y="1645920"/>
            <a:ext cx="228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1 Spend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2;p2"/>
          <p:cNvSpPr/>
          <p:nvPr/>
        </p:nvSpPr>
        <p:spPr>
          <a:xfrm>
            <a:off x="3383280" y="1097280"/>
            <a:ext cx="2559240" cy="95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3;p2"/>
          <p:cNvSpPr/>
          <p:nvPr/>
        </p:nvSpPr>
        <p:spPr>
          <a:xfrm>
            <a:off x="3383280" y="1097280"/>
            <a:ext cx="53640" cy="9590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4;p2"/>
          <p:cNvSpPr/>
          <p:nvPr/>
        </p:nvSpPr>
        <p:spPr>
          <a:xfrm>
            <a:off x="3566160" y="1188720"/>
            <a:ext cx="2284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87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5;p2"/>
          <p:cNvSpPr/>
          <p:nvPr/>
        </p:nvSpPr>
        <p:spPr>
          <a:xfrm>
            <a:off x="3566160" y="164592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Dengro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Offline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Leads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6;p2"/>
          <p:cNvSpPr/>
          <p:nvPr/>
        </p:nvSpPr>
        <p:spPr>
          <a:xfrm>
            <a:off x="6217920" y="1097280"/>
            <a:ext cx="2559240" cy="95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7;p2"/>
          <p:cNvSpPr/>
          <p:nvPr/>
        </p:nvSpPr>
        <p:spPr>
          <a:xfrm>
            <a:off x="6217920" y="1097280"/>
            <a:ext cx="53640" cy="9590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8;p2"/>
          <p:cNvSpPr/>
          <p:nvPr/>
        </p:nvSpPr>
        <p:spPr>
          <a:xfrm>
            <a:off x="6400800" y="1188720"/>
            <a:ext cx="2284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101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9;p2"/>
          <p:cNvSpPr/>
          <p:nvPr/>
        </p:nvSpPr>
        <p:spPr>
          <a:xfrm>
            <a:off x="6400800" y="164592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Primary Conversions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0;p2"/>
          <p:cNvSpPr/>
          <p:nvPr/>
        </p:nvSpPr>
        <p:spPr>
          <a:xfrm>
            <a:off x="9052560" y="1097280"/>
            <a:ext cx="2559240" cy="95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1;p2"/>
          <p:cNvSpPr/>
          <p:nvPr/>
        </p:nvSpPr>
        <p:spPr>
          <a:xfrm>
            <a:off x="9052560" y="1097280"/>
            <a:ext cx="53640" cy="9590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2;p2"/>
          <p:cNvSpPr/>
          <p:nvPr/>
        </p:nvSpPr>
        <p:spPr>
          <a:xfrm>
            <a:off x="9235440" y="1188720"/>
            <a:ext cx="2284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£97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3;p2"/>
          <p:cNvSpPr/>
          <p:nvPr/>
        </p:nvSpPr>
        <p:spPr>
          <a:xfrm>
            <a:off x="9235440" y="1645920"/>
            <a:ext cx="228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Cost per 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Lead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4;p2"/>
          <p:cNvSpPr/>
          <p:nvPr/>
        </p:nvSpPr>
        <p:spPr>
          <a:xfrm>
            <a:off x="548640" y="23774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Wins This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5;p2"/>
          <p:cNvSpPr/>
          <p:nvPr/>
        </p:nvSpPr>
        <p:spPr>
          <a:xfrm>
            <a:off x="640080" y="2743200"/>
            <a:ext cx="1051452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at 8-week low: £2.16 vs March avg £3.29 (−35%). £1.50 Max CPC cap is biting without suppressing volume.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CPA improved week-on-week: £73 vs £85.86 prior week, despite persistent asset-group policy restrictions.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DII entered learning phase after full rebuild: 25 new ad groups, ~675 keywords, 75 RSAs. Clean read expected Week 2-3.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5,000+ structured negatives replaced 2,192 unstructured broad-match entries across 11 shared lists.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Giulio replied Fri 17 Apr with answers — compliance actions captured and scheduled for Week 2.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6;p2"/>
          <p:cNvSpPr/>
          <p:nvPr/>
        </p:nvSpPr>
        <p:spPr>
          <a:xfrm>
            <a:off x="548640" y="5040000"/>
            <a:ext cx="11090520" cy="9482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7;p2"/>
          <p:cNvSpPr/>
          <p:nvPr/>
        </p:nvSpPr>
        <p:spPr>
          <a:xfrm>
            <a:off x="777240" y="5149800"/>
            <a:ext cx="1063332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1 was structural.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Three live campaigns moved off Max Conversion Value bidding onto controllable targets.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Early signal is positive — but DII needs a further week of stabilisation and Monday's end-to-end tracking audit is the gate to any CPA-based decisions from here.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8;p2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9;p2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0;p2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1;p2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152;p2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53;p2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4;p2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59;p3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0;p3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1;p3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2;p3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3;p3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Work Delivered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4;p3"/>
          <p:cNvSpPr/>
          <p:nvPr/>
        </p:nvSpPr>
        <p:spPr>
          <a:xfrm>
            <a:off x="548640" y="777240"/>
            <a:ext cx="822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Tue 14 → Fri 17 April · 4 working days post-signing · 28 hours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5;p3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6;p3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Foundation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8;p3"/>
          <p:cNvSpPr/>
          <p:nvPr/>
        </p:nvSpPr>
        <p:spPr>
          <a:xfrm>
            <a:off x="540000" y="1109880"/>
            <a:ext cx="58878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Day-by-Day Activity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Google Shape;169;p3"/>
          <p:cNvGraphicFramePr/>
          <p:nvPr/>
        </p:nvGraphicFramePr>
        <p:xfrm>
          <a:off x="540000" y="1417320"/>
          <a:ext cx="11074680" cy="2378160"/>
        </p:xfrm>
        <a:graphic>
          <a:graphicData uri="http://schemas.openxmlformats.org/drawingml/2006/table">
            <a:tbl>
              <a:tblPr/>
              <a:tblGrid>
                <a:gridCol w="1487160"/>
                <a:gridCol w="2237040"/>
                <a:gridCol w="3948120"/>
                <a:gridCol w="3402720"/>
              </a:tblGrid>
              <a:tr h="33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Impact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Negatives Overhaul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2,192 → ~4,000+ across 11 lists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~£63k waste blocked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Account-Wide Reset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 · PMax tCPA £60 · DII tCPA £75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 bid targets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DII Rebuild (Part 1)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20 AGs · 537 keywords · 60 RSAs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structure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Fri 17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Audit + Completion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173 DBD-blockers removed · AG21-25 built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25/25 complete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70;p3"/>
          <p:cNvSpPr/>
          <p:nvPr/>
        </p:nvSpPr>
        <p:spPr>
          <a:xfrm>
            <a:off x="5727600" y="4160520"/>
            <a:ext cx="5884200" cy="18741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1;p3"/>
          <p:cNvSpPr/>
          <p:nvPr/>
        </p:nvSpPr>
        <p:spPr>
          <a:xfrm>
            <a:off x="5727600" y="4160520"/>
            <a:ext cx="47160" cy="18741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760" tIns="45000" rIns="237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2;p3"/>
          <p:cNvSpPr/>
          <p:nvPr/>
        </p:nvSpPr>
        <p:spPr>
          <a:xfrm>
            <a:off x="5929200" y="4251960"/>
            <a:ext cx="5561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Running Totals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3;p3"/>
          <p:cNvSpPr/>
          <p:nvPr/>
        </p:nvSpPr>
        <p:spPr>
          <a:xfrm>
            <a:off x="5929200" y="4526280"/>
            <a:ext cx="556164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Positive keywords added: 675 across 25 ad groups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New RSAs written: 75 (1,050 headlines, 280 descriptions)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Negatives: 5,000 structured across 11 shared lists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Geo targets: 270 London postcodes rolled out to all 3 active campaigns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4;p3"/>
          <p:cNvSpPr/>
          <p:nvPr/>
        </p:nvSpPr>
        <p:spPr>
          <a:xfrm>
            <a:off x="548640" y="3976560"/>
            <a:ext cx="4610160" cy="20581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5;p3"/>
          <p:cNvSpPr/>
          <p:nvPr/>
        </p:nvSpPr>
        <p:spPr>
          <a:xfrm>
            <a:off x="548640" y="3976560"/>
            <a:ext cx="60480" cy="20581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0240" tIns="45000" rIns="302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6;p3"/>
          <p:cNvSpPr/>
          <p:nvPr/>
        </p:nvSpPr>
        <p:spPr>
          <a:xfrm>
            <a:off x="720000" y="404604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7;p3"/>
          <p:cNvSpPr/>
          <p:nvPr/>
        </p:nvSpPr>
        <p:spPr>
          <a:xfrm>
            <a:off x="609840" y="4320000"/>
            <a:ext cx="4403160" cy="16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3 live campaigns moved from Max Conversion Value to Target CPA / Target Impression Share.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Auto-apply recommendations disabled = no more silent keyword removals.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Zero NHS/free-seeker junk in PMax search terms post-switch - negatives are working.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Asset groups in PMax flagged 'limited by policy' - full rebuild scheduled Wed 22 Apr.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8;p3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79;p3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0;p3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1;p3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Google Shape;182;p3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Google Shape;183;p3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4;p3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89;p4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0;p4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1;p4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2;p4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3;p4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Campaign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4;p4"/>
          <p:cNvSpPr/>
          <p:nvPr/>
        </p:nvSpPr>
        <p:spPr>
          <a:xfrm>
            <a:off x="548640" y="777240"/>
            <a:ext cx="822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CPC at 8-week low · £1.50 Max CPC cap is working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5;p4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6;p4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7;p4"/>
          <p:cNvSpPr/>
          <p:nvPr/>
        </p:nvSpPr>
        <p:spPr>
          <a:xfrm>
            <a:off x="548640" y="1097280"/>
            <a:ext cx="5302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Google Shape;198;p4"/>
          <p:cNvGraphicFramePr/>
          <p:nvPr/>
        </p:nvGraphicFramePr>
        <p:xfrm>
          <a:off x="548640" y="1417320"/>
          <a:ext cx="5302800" cy="1644480"/>
        </p:xfrm>
        <a:graphic>
          <a:graphicData uri="http://schemas.openxmlformats.org/drawingml/2006/table">
            <a:tbl>
              <a:tblPr/>
              <a:tblGrid>
                <a:gridCol w="1978200"/>
                <a:gridCol w="1638360"/>
                <a:gridCol w="886320"/>
                <a:gridCol w="800280"/>
              </a:tblGrid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Change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spend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£298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Flat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 /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£23.39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£24.89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99;p4"/>
          <p:cNvSpPr/>
          <p:nvPr/>
        </p:nvSpPr>
        <p:spPr>
          <a:xfrm>
            <a:off x="548640" y="3291840"/>
            <a:ext cx="5302440" cy="246780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00;p4"/>
          <p:cNvSpPr/>
          <p:nvPr/>
        </p:nvSpPr>
        <p:spPr>
          <a:xfrm>
            <a:off x="548640" y="3291840"/>
            <a:ext cx="53640" cy="24678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01;p4"/>
          <p:cNvSpPr/>
          <p:nvPr/>
        </p:nvSpPr>
        <p:spPr>
          <a:xfrm>
            <a:off x="777240" y="338328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2;p4"/>
          <p:cNvSpPr/>
          <p:nvPr/>
        </p:nvSpPr>
        <p:spPr>
          <a:xfrm>
            <a:off x="777240" y="3657600"/>
            <a:ext cx="493668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is at its lowest of 8 tracked weeks: £2.16 vs March avg £3.29 (−35%).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£1.50 Max CPC cap (set Wed 15 Apr) is biting without suppressing volume.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Impression share held at 92%+ and conversion volume tracked with spend.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is the strongest signal of Week 1.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3;p4"/>
          <p:cNvSpPr/>
          <p:nvPr/>
        </p:nvSpPr>
        <p:spPr>
          <a:xfrm>
            <a:off x="6217920" y="1097280"/>
            <a:ext cx="5302440" cy="19191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4;p4"/>
          <p:cNvSpPr/>
          <p:nvPr/>
        </p:nvSpPr>
        <p:spPr>
          <a:xfrm>
            <a:off x="6217920" y="1097280"/>
            <a:ext cx="53640" cy="19191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5;p4"/>
          <p:cNvSpPr/>
          <p:nvPr/>
        </p:nvSpPr>
        <p:spPr>
          <a:xfrm>
            <a:off x="6446520" y="118872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Applied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6;p4"/>
          <p:cNvSpPr/>
          <p:nvPr/>
        </p:nvSpPr>
        <p:spPr>
          <a:xfrm>
            <a:off x="6446520" y="1463040"/>
            <a:ext cx="4936680" cy="12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10%) -  inflating brand CPCs To: Target Impression Share 90% · Max CPC £1.50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Goal: eliminate runaway bidding on brand traffic, lock in the brand position at controlled cost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Result: CPC dropped from £3.18 (prior 30d) to £1.61 (first 36 hours) to £2.16 (week avg)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7;p4"/>
          <p:cNvSpPr/>
          <p:nvPr/>
        </p:nvSpPr>
        <p:spPr>
          <a:xfrm>
            <a:off x="6217920" y="3291840"/>
            <a:ext cx="5302440" cy="246780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8;p4"/>
          <p:cNvSpPr/>
          <p:nvPr/>
        </p:nvSpPr>
        <p:spPr>
          <a:xfrm>
            <a:off x="6217920" y="3291840"/>
            <a:ext cx="53640" cy="24678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9;p4"/>
          <p:cNvSpPr/>
          <p:nvPr/>
        </p:nvSpPr>
        <p:spPr>
          <a:xfrm>
            <a:off x="6446520" y="338328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Next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0;p4"/>
          <p:cNvSpPr/>
          <p:nvPr/>
        </p:nvSpPr>
        <p:spPr>
          <a:xfrm>
            <a:off x="6446520" y="3657600"/>
            <a:ext cx="493668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£1.50 cap through Week 2. Let the bid strategy complete its 14-day learning phase.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Evaluate lowering toward £1.20 once CPC has stabilised at or below £1.50.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is mature territory, small incremental CPC reductions compound into meaningful monthly savings.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1;p4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2;p4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3;p4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4;p4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Google Shape;215;p4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216;p4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7;p4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22;p5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3;p5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24;p5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25;p5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26;p5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Performance Max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27;p5"/>
          <p:cNvSpPr/>
          <p:nvPr/>
        </p:nvSpPr>
        <p:spPr>
          <a:xfrm>
            <a:off x="548640" y="777240"/>
            <a:ext cx="822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CPA improved week-on-week despite policy restrictions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28;p5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29;p5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1;p5"/>
          <p:cNvSpPr/>
          <p:nvPr/>
        </p:nvSpPr>
        <p:spPr>
          <a:xfrm>
            <a:off x="630720" y="1005840"/>
            <a:ext cx="11091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Daily CPA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Google Shape;232;p5"/>
          <p:cNvGraphicFramePr/>
          <p:nvPr/>
        </p:nvGraphicFramePr>
        <p:xfrm>
          <a:off x="548640" y="1325880"/>
          <a:ext cx="11091240" cy="209412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53440"/>
              </a:tblGrid>
              <a:tr h="34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£2,017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£402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£1,792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8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Fri 17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£1,188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£79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233;p5"/>
          <p:cNvSpPr/>
          <p:nvPr/>
        </p:nvSpPr>
        <p:spPr>
          <a:xfrm>
            <a:off x="548640" y="3503880"/>
            <a:ext cx="10971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 Changed &amp; What's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4;p5"/>
          <p:cNvSpPr/>
          <p:nvPr/>
        </p:nvSpPr>
        <p:spPr>
          <a:xfrm>
            <a:off x="548640" y="3960000"/>
            <a:ext cx="3473640" cy="216000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5;p5"/>
          <p:cNvSpPr/>
          <p:nvPr/>
        </p:nvSpPr>
        <p:spPr>
          <a:xfrm>
            <a:off x="548640" y="3960000"/>
            <a:ext cx="53640" cy="2160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36;p5"/>
          <p:cNvSpPr/>
          <p:nvPr/>
        </p:nvSpPr>
        <p:spPr>
          <a:xfrm>
            <a:off x="669240" y="399420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Switch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37;p5"/>
          <p:cNvSpPr/>
          <p:nvPr/>
        </p:nvSpPr>
        <p:spPr>
          <a:xfrm>
            <a:off x="669240" y="4314240"/>
            <a:ext cx="3107880" cy="16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80%)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To: Target CPA £60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Drove campaign to optimise for LEAD VOLUME at controllable cost, not arbitrary £300 booking values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Wed 15 Apr: first full day under new strategy delivered £25 CPA, best single day in the account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38;p5"/>
          <p:cNvSpPr/>
          <p:nvPr/>
        </p:nvSpPr>
        <p:spPr>
          <a:xfrm>
            <a:off x="4297680" y="3960000"/>
            <a:ext cx="3473640" cy="216000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39;p5"/>
          <p:cNvSpPr/>
          <p:nvPr/>
        </p:nvSpPr>
        <p:spPr>
          <a:xfrm>
            <a:off x="4297680" y="3960000"/>
            <a:ext cx="53640" cy="2160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0;p5"/>
          <p:cNvSpPr/>
          <p:nvPr/>
        </p:nvSpPr>
        <p:spPr>
          <a:xfrm>
            <a:off x="4418280" y="3994200"/>
            <a:ext cx="31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Flagged for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1;p5"/>
          <p:cNvSpPr/>
          <p:nvPr/>
        </p:nvSpPr>
        <p:spPr>
          <a:xfrm>
            <a:off x="4418280" y="4314240"/>
            <a:ext cx="3321720" cy="18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still reports 'most asset groups limited by policy'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restricts PMax reach — it's not running at full potential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Full asset rebuild scheduled Wed 22 April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Stripping unverified claims: '99.12% success', 'Save 60%', 'Top 10 Europe'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Replacing with policy-safe copy aligned to Giulio's verified claims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2;p5"/>
          <p:cNvSpPr/>
          <p:nvPr/>
        </p:nvSpPr>
        <p:spPr>
          <a:xfrm>
            <a:off x="8046720" y="3960000"/>
            <a:ext cx="3565080" cy="216000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43;p5"/>
          <p:cNvSpPr/>
          <p:nvPr/>
        </p:nvSpPr>
        <p:spPr>
          <a:xfrm>
            <a:off x="8046720" y="3960000"/>
            <a:ext cx="53640" cy="2160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44;p5"/>
          <p:cNvSpPr/>
          <p:nvPr/>
        </p:nvSpPr>
        <p:spPr>
          <a:xfrm>
            <a:off x="8167320" y="3994200"/>
            <a:ext cx="3199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45;p5"/>
          <p:cNvSpPr/>
          <p:nvPr/>
        </p:nvSpPr>
        <p:spPr>
          <a:xfrm>
            <a:off x="8167320" y="4314240"/>
            <a:ext cx="3199320" cy="12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bid strategy untouched, let Google complete its 7-day learning cycle.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asset rebuild addresses the policy flag next week.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A1A1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Expected upside: lifting policy limits typically unlocks 2-3× reach at the same CPA.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46;p5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47;p5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48;p5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49;p5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50;p5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251;p5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52;p5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57;p6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58;p6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59;p6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60;p6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61;p6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Dental Implants Intent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62;p6"/>
          <p:cNvSpPr/>
          <p:nvPr/>
        </p:nvSpPr>
        <p:spPr>
          <a:xfrm>
            <a:off x="548640" y="777240"/>
            <a:ext cx="822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Fully rebuilt Thu–Fri · 4 ad groups → 25 · entered learning phase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63;p6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64;p6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Rebuild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Google Shape;265;p6"/>
          <p:cNvGraphicFramePr/>
          <p:nvPr/>
        </p:nvGraphicFramePr>
        <p:xfrm>
          <a:off x="548640" y="1188720"/>
          <a:ext cx="7193160" cy="4571280"/>
        </p:xfrm>
        <a:graphic>
          <a:graphicData uri="http://schemas.openxmlformats.org/drawingml/2006/table">
            <a:tbl>
              <a:tblPr/>
              <a:tblGrid>
                <a:gridCol w="1028880"/>
                <a:gridCol w="1434600"/>
                <a:gridCol w="1375560"/>
                <a:gridCol w="1120680"/>
                <a:gridCol w="1417320"/>
                <a:gridCol w="81648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Before (legacy)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After (new)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Impact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Ad groups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 (paused)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 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+525%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grouped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~675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+2,400%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Phrase + exact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RSAs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(Poor-rated)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+1,150%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Keyword-aligned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Headlines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~90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1,050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Unique, keyword-rich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Descriptions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75-86 chars (QS safe)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Legacy AG CPA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£99+ avg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Eliminated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Waste removed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Done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Bid strategy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Max Conv Value (tROAS)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Target CPA £75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Lead-focused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Geo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25-mile radius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270 London postcodes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M25 targeting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4-tier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Rolled out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Schedule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Always 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42-cell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Hourly analysis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Reporting ready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phase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n/a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 1 of 14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In progress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7-14 days to stabilise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Monitor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status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Scaling with waste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- clean base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Foundation set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2-3 read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On track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66;p6"/>
          <p:cNvSpPr/>
          <p:nvPr/>
        </p:nvSpPr>
        <p:spPr>
          <a:xfrm>
            <a:off x="7836840" y="1243080"/>
            <a:ext cx="4042440" cy="235620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67;p6"/>
          <p:cNvSpPr/>
          <p:nvPr/>
        </p:nvSpPr>
        <p:spPr>
          <a:xfrm>
            <a:off x="7836840" y="1243080"/>
            <a:ext cx="40680" cy="23562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0520" tIns="45000" rIns="205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68;p6"/>
          <p:cNvSpPr/>
          <p:nvPr/>
        </p:nvSpPr>
        <p:spPr>
          <a:xfrm>
            <a:off x="7956000" y="1321560"/>
            <a:ext cx="39592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69;p6"/>
          <p:cNvSpPr/>
          <p:nvPr/>
        </p:nvSpPr>
        <p:spPr>
          <a:xfrm>
            <a:off x="7956000" y="1631880"/>
            <a:ext cx="3959280" cy="12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DII campaign was fully restructured mid-week (Tue → Fri).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CPA blends 1 day of the old structure with 4 days of Google's learning phase, expected noise, not signal.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requires 14-21 days to rebalance bids against the new structure.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70;p6"/>
          <p:cNvSpPr/>
          <p:nvPr/>
        </p:nvSpPr>
        <p:spPr>
          <a:xfrm>
            <a:off x="7848000" y="3780000"/>
            <a:ext cx="4031280" cy="197928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71;p6"/>
          <p:cNvSpPr/>
          <p:nvPr/>
        </p:nvSpPr>
        <p:spPr>
          <a:xfrm>
            <a:off x="7848000" y="3780000"/>
            <a:ext cx="39240" cy="1979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9800" tIns="45000" rIns="198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72;p6"/>
          <p:cNvSpPr/>
          <p:nvPr/>
        </p:nvSpPr>
        <p:spPr>
          <a:xfrm>
            <a:off x="7956000" y="3835440"/>
            <a:ext cx="39592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73;p6"/>
          <p:cNvSpPr/>
          <p:nvPr/>
        </p:nvSpPr>
        <p:spPr>
          <a:xfrm>
            <a:off x="7968600" y="4145760"/>
            <a:ext cx="376668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structure untouched through Wed 22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 Strength audit on AG22-25 resumes Tuesday once Google clears the new ads from Pending review.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Second pass on AG1-21 to push remaining RSAs toward Excellent.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74;p6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75;p6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76;p6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77;p6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Google Shape;278;p6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Google Shape;279;p6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80;p6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85;p7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86;p7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87;p7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88;p7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89;p7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The Numbers That Matter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0;p7"/>
          <p:cNvSpPr/>
          <p:nvPr/>
        </p:nvSpPr>
        <p:spPr>
          <a:xfrm>
            <a:off x="548640" y="777240"/>
            <a:ext cx="822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Business outcomes — what the account delivered this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1;p7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2;p7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Business Outcomes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4;p7"/>
          <p:cNvSpPr/>
          <p:nvPr/>
        </p:nvSpPr>
        <p:spPr>
          <a:xfrm>
            <a:off x="574560" y="1166040"/>
            <a:ext cx="4845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at a Glance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Google Shape;295;p7"/>
          <p:cNvGraphicFramePr/>
          <p:nvPr/>
        </p:nvGraphicFramePr>
        <p:xfrm>
          <a:off x="574560" y="1486080"/>
          <a:ext cx="5707440" cy="2050200"/>
        </p:xfrm>
        <a:graphic>
          <a:graphicData uri="http://schemas.openxmlformats.org/drawingml/2006/table">
            <a:tbl>
              <a:tblPr/>
              <a:tblGrid>
                <a:gridCol w="1312920"/>
                <a:gridCol w="970200"/>
                <a:gridCol w="1141560"/>
                <a:gridCol w="1141560"/>
                <a:gridCol w="1141560"/>
              </a:tblGrid>
              <a:tr h="436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 Spend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−18%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Trimmed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Dengro Offline Leads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Tracking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Conversions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96;p7"/>
          <p:cNvSpPr/>
          <p:nvPr/>
        </p:nvSpPr>
        <p:spPr>
          <a:xfrm>
            <a:off x="6910560" y="1401120"/>
            <a:ext cx="4845240" cy="21981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97;p7"/>
          <p:cNvSpPr/>
          <p:nvPr/>
        </p:nvSpPr>
        <p:spPr>
          <a:xfrm>
            <a:off x="6910560" y="1401120"/>
            <a:ext cx="54000" cy="21981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98;p7"/>
          <p:cNvSpPr/>
          <p:nvPr/>
        </p:nvSpPr>
        <p:spPr>
          <a:xfrm>
            <a:off x="7139160" y="1492560"/>
            <a:ext cx="44794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Signal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99;p7"/>
          <p:cNvSpPr/>
          <p:nvPr/>
        </p:nvSpPr>
        <p:spPr>
          <a:xfrm>
            <a:off x="7139160" y="1766880"/>
            <a:ext cx="447948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87 Dengro Offline Leads generated this week across 3 active campaigns.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Performance Max delivered 90% of qualified leads (78.5 of 87).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Dengro Offline Booking fired 0 times, tracking gap flagged for Monday's audit.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No CPA-based decisions will be drawn before the audit closes.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0;p7"/>
          <p:cNvSpPr/>
          <p:nvPr/>
        </p:nvSpPr>
        <p:spPr>
          <a:xfrm>
            <a:off x="548640" y="3862800"/>
            <a:ext cx="54853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Conversion Breakdown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Google Shape;301;p7"/>
          <p:cNvGraphicFramePr/>
          <p:nvPr/>
        </p:nvGraphicFramePr>
        <p:xfrm>
          <a:off x="548640" y="4209120"/>
          <a:ext cx="11330640" cy="1553040"/>
        </p:xfrm>
        <a:graphic>
          <a:graphicData uri="http://schemas.openxmlformats.org/drawingml/2006/table">
            <a:tbl>
              <a:tblPr/>
              <a:tblGrid>
                <a:gridCol w="2266200"/>
                <a:gridCol w="2266200"/>
                <a:gridCol w="2266200"/>
                <a:gridCol w="2266200"/>
                <a:gridCol w="226620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Dengro Leads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Cost/Lead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Performance Max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£5,960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81.5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78.5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£75.92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Dental Implants Intent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£2,222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£341.83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£140.24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£97.27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[molar replacement cost]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£159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£40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Below average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302;p7"/>
          <p:cNvSpPr/>
          <p:nvPr/>
        </p:nvSpPr>
        <p:spPr>
          <a:xfrm>
            <a:off x="548640" y="5989320"/>
            <a:ext cx="110631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Dengro Offline Booking fired 0 times in Week 1. Monday's tracking audit will confirm whether this is a reporting gap or a genuine zero-booking week.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3;p7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04;p7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05;p7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06;p7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Google Shape;307;p7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308;p7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09;p7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314;p8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5;p8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16;p8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17;p8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18;p8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8-Week Context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19;p8"/>
          <p:cNvSpPr/>
          <p:nvPr/>
        </p:nvSpPr>
        <p:spPr>
          <a:xfrm>
            <a:off x="548640" y="777240"/>
            <a:ext cx="822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Weekly performance trend · 23 Feb – 17 April 2026 · spend, conversions, CPA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0;p8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1;p8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8-Week Trend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23;p8"/>
          <p:cNvSpPr/>
          <p:nvPr/>
        </p:nvSpPr>
        <p:spPr>
          <a:xfrm>
            <a:off x="540000" y="1097280"/>
            <a:ext cx="5039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Weekly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Google Shape;324;p8"/>
          <p:cNvGraphicFramePr/>
          <p:nvPr/>
        </p:nvGraphicFramePr>
        <p:xfrm>
          <a:off x="540000" y="1417320"/>
          <a:ext cx="5039280" cy="3802680"/>
        </p:xfrm>
        <a:graphic>
          <a:graphicData uri="http://schemas.openxmlformats.org/drawingml/2006/table">
            <a:tbl>
              <a:tblPr/>
              <a:tblGrid>
                <a:gridCol w="1260000"/>
                <a:gridCol w="1260000"/>
                <a:gridCol w="1260000"/>
                <a:gridCol w="1259640"/>
              </a:tblGrid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Feb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£17,568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£14,856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189.6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£8,393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120.3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£13,318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137.7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£11,558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239.2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325;p8"/>
          <p:cNvSpPr/>
          <p:nvPr/>
        </p:nvSpPr>
        <p:spPr>
          <a:xfrm>
            <a:off x="5832000" y="1422720"/>
            <a:ext cx="5923800" cy="18165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6;p8"/>
          <p:cNvSpPr/>
          <p:nvPr/>
        </p:nvSpPr>
        <p:spPr>
          <a:xfrm>
            <a:off x="5816160" y="1422720"/>
            <a:ext cx="46440" cy="18165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400" tIns="45000" rIns="234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27;p8"/>
          <p:cNvSpPr/>
          <p:nvPr/>
        </p:nvSpPr>
        <p:spPr>
          <a:xfrm>
            <a:off x="5977440" y="1462680"/>
            <a:ext cx="5443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Observation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28;p8"/>
          <p:cNvSpPr/>
          <p:nvPr/>
        </p:nvSpPr>
        <p:spPr>
          <a:xfrm>
            <a:off x="6013440" y="1788480"/>
            <a:ext cx="5685840" cy="14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fluctuated dramatically: £17.5k peak (23 Feb) → £8.4k (Week 1). A 52% range in 8 weeks.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CPA swung from £48 (best week) to £97 (worst week) — highly volatile before our engagement.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Additional weeks: 30 Mar £9,997/£67 CPA · 6 Apr £10,291/£77 CPA · 13 Apr £8,462/£84 CPA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(13 Apr) reflects 5 days of structural disruption: new bid strategies, rebuilt campaigns, changing keyword base.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29;p8"/>
          <p:cNvSpPr/>
          <p:nvPr/>
        </p:nvSpPr>
        <p:spPr>
          <a:xfrm>
            <a:off x="5796000" y="3401640"/>
            <a:ext cx="5939280" cy="181764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0;p8"/>
          <p:cNvSpPr/>
          <p:nvPr/>
        </p:nvSpPr>
        <p:spPr>
          <a:xfrm>
            <a:off x="5804640" y="3401640"/>
            <a:ext cx="54000" cy="1817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1;p8"/>
          <p:cNvSpPr/>
          <p:nvPr/>
        </p:nvSpPr>
        <p:spPr>
          <a:xfrm>
            <a:off x="5997240" y="3457080"/>
            <a:ext cx="46623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in Context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32;p8"/>
          <p:cNvSpPr/>
          <p:nvPr/>
        </p:nvSpPr>
        <p:spPr>
          <a:xfrm>
            <a:off x="6012000" y="3767400"/>
            <a:ext cx="5579280" cy="14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volatility has been the account's core instability — this rebuild brings it under control.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Target: stabilise weekly spend within a consistent range aligned to your target monthly budget (see Questions slide).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Efficiency (cost per lead) is the metric to watch from Week 3 onwards, once the rebuild stabilises.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 after Google's learning phase completes.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33;p8"/>
          <p:cNvSpPr/>
          <p:nvPr/>
        </p:nvSpPr>
        <p:spPr>
          <a:xfrm>
            <a:off x="540000" y="5400000"/>
            <a:ext cx="11159280" cy="74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34;p8"/>
          <p:cNvSpPr/>
          <p:nvPr/>
        </p:nvSpPr>
        <p:spPr>
          <a:xfrm>
            <a:off x="720000" y="5400000"/>
            <a:ext cx="1066320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Monday's tracking audit confirms conversion reliability — the gate to CPA analysis.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2 performance comparison vs Week 1 will be the first post-rebuild read.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Please confirm target monthly budget so I can lock weekly pacing (see Slide 10).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35;p8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36;p8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37;p8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38;p8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Google Shape;339;p8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Google Shape;340;p8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41;p8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346;p9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47;p9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48;p9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49;p9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0;p9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Client Clarifications &amp; Actions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1;p9"/>
          <p:cNvSpPr/>
          <p:nvPr/>
        </p:nvSpPr>
        <p:spPr>
          <a:xfrm>
            <a:off x="548640" y="777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Giulio replied Fri 17 April 16:47 · actions captured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52;p9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53;p9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Client Reply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55;p9"/>
          <p:cNvSpPr/>
          <p:nvPr/>
        </p:nvSpPr>
        <p:spPr>
          <a:xfrm>
            <a:off x="650160" y="1188720"/>
            <a:ext cx="5109120" cy="18705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56;p9"/>
          <p:cNvSpPr/>
          <p:nvPr/>
        </p:nvSpPr>
        <p:spPr>
          <a:xfrm>
            <a:off x="650160" y="1188720"/>
            <a:ext cx="53640" cy="18705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57;p9"/>
          <p:cNvSpPr/>
          <p:nvPr/>
        </p:nvSpPr>
        <p:spPr>
          <a:xfrm>
            <a:off x="878760" y="128016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Confirmed by Giulio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58;p9"/>
          <p:cNvSpPr/>
          <p:nvPr/>
        </p:nvSpPr>
        <p:spPr>
          <a:xfrm>
            <a:off x="878760" y="1554480"/>
            <a:ext cx="3180960" cy="12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Consultation: Free + £25 booking deposit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→ Booking rate: 13%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Booking → Treatment rate: 35%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Patient base: 10,000 patients, 20,000+ implants placed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25+ years team-wide expertise in dental field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59;p9"/>
          <p:cNvSpPr/>
          <p:nvPr/>
        </p:nvSpPr>
        <p:spPr>
          <a:xfrm>
            <a:off x="6230160" y="1178640"/>
            <a:ext cx="5469120" cy="18277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60;p9"/>
          <p:cNvSpPr/>
          <p:nvPr/>
        </p:nvSpPr>
        <p:spPr>
          <a:xfrm>
            <a:off x="6230160" y="1178640"/>
            <a:ext cx="53640" cy="18277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61;p9"/>
          <p:cNvSpPr/>
          <p:nvPr/>
        </p:nvSpPr>
        <p:spPr>
          <a:xfrm>
            <a:off x="6458760" y="127008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Compliance Actions Required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62;p9"/>
          <p:cNvSpPr/>
          <p:nvPr/>
        </p:nvSpPr>
        <p:spPr>
          <a:xfrm>
            <a:off x="6458760" y="1544400"/>
            <a:ext cx="506052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'99.12% success rate' from all ads — confirmed estimate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'Save 60%' — no source benchmark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'Top 10 Europe' → factual descriptor (self-claim, not award)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'Best Implant Clinic 2024' → '2024 Finalist'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Update ad copy: 'Free Consultation (£25 booking deposit)'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63;p9"/>
          <p:cNvSpPr/>
          <p:nvPr/>
        </p:nvSpPr>
        <p:spPr>
          <a:xfrm>
            <a:off x="620640" y="3406320"/>
            <a:ext cx="11078640" cy="12729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64;p9"/>
          <p:cNvSpPr/>
          <p:nvPr/>
        </p:nvSpPr>
        <p:spPr>
          <a:xfrm>
            <a:off x="620640" y="3406320"/>
            <a:ext cx="53640" cy="12729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65;p9"/>
          <p:cNvSpPr/>
          <p:nvPr/>
        </p:nvSpPr>
        <p:spPr>
          <a:xfrm>
            <a:off x="849240" y="349776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Advertising Scope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66;p9"/>
          <p:cNvSpPr/>
          <p:nvPr/>
        </p:nvSpPr>
        <p:spPr>
          <a:xfrm>
            <a:off x="849240" y="3772080"/>
            <a:ext cx="1049004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DBD only advertises dental implants (single + double arches) — confirmed by Giulio.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Cosmetic and general dentistry services deferred for now.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campaigns aligned to this focus: Brand, PMax, Dental Implants Intent.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67;p9"/>
          <p:cNvSpPr/>
          <p:nvPr/>
        </p:nvSpPr>
        <p:spPr>
          <a:xfrm>
            <a:off x="637920" y="5040000"/>
            <a:ext cx="11061360" cy="9025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68;p9"/>
          <p:cNvSpPr/>
          <p:nvPr/>
        </p:nvSpPr>
        <p:spPr>
          <a:xfrm>
            <a:off x="866520" y="5108040"/>
            <a:ext cx="1065276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Applying all compliance changes Monday 20 Apr: removing unverifiable claims, updating consultation pricing.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Replacing '2,500+ patients' claim with '20,000+ implants placed' across relevant ads.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AG22-25 Ad Strength audit resumes Tuesday (ads currently Pending Google review).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69;p9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70;p9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371;p9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72;p9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373;p9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374;p9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75;p9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80;p10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381;p10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382;p10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383;p10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84;p10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 for Client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85;p10"/>
          <p:cNvSpPr/>
          <p:nvPr/>
        </p:nvSpPr>
        <p:spPr>
          <a:xfrm>
            <a:off x="548640" y="777240"/>
            <a:ext cx="822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 refine strategy, I need clarification on a few things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386;p10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387;p10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Your Input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388;p10"/>
          <p:cNvSpPr/>
          <p:nvPr/>
        </p:nvSpPr>
        <p:spPr>
          <a:xfrm>
            <a:off x="548640" y="1097280"/>
            <a:ext cx="5302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Budget Questions (Urgent)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5" name="Google Shape;389;p10"/>
          <p:cNvGraphicFramePr/>
          <p:nvPr/>
        </p:nvGraphicFramePr>
        <p:xfrm>
          <a:off x="603720" y="1417320"/>
          <a:ext cx="11095920" cy="2698920"/>
        </p:xfrm>
        <a:graphic>
          <a:graphicData uri="http://schemas.openxmlformats.org/drawingml/2006/table">
            <a:tbl>
              <a:tblPr/>
              <a:tblGrid>
                <a:gridCol w="2861640"/>
                <a:gridCol w="5709240"/>
                <a:gridCol w="2525400"/>
              </a:tblGrid>
              <a:tr h="270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Question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It Matters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Answer Needed By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monthly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spend fluctuated £8k-£17k over 8 weeks. Target budget drives bid and budget decisions.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weekly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consistency drives campaign pacing. Current daily budgets sum to ~£14k/week but actual is ~£8.5k.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Is there a hard monthly ceiling?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Prevents overspend and informs daily budget caps across 3 campaigns.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Priority service: single or double arch?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Higher-margin service should carry higher bid caps and budget share.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week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92;p10"/>
          <p:cNvSpPr/>
          <p:nvPr/>
        </p:nvSpPr>
        <p:spPr>
          <a:xfrm>
            <a:off x="548640" y="4541040"/>
            <a:ext cx="5302440" cy="164484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393;p10"/>
          <p:cNvSpPr/>
          <p:nvPr/>
        </p:nvSpPr>
        <p:spPr>
          <a:xfrm>
            <a:off x="548640" y="4541040"/>
            <a:ext cx="54000" cy="1644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394;p10"/>
          <p:cNvSpPr/>
          <p:nvPr/>
        </p:nvSpPr>
        <p:spPr>
          <a:xfrm>
            <a:off x="777240" y="4632480"/>
            <a:ext cx="49366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How to Reply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395;p10"/>
          <p:cNvSpPr/>
          <p:nvPr/>
        </p:nvSpPr>
        <p:spPr>
          <a:xfrm>
            <a:off x="777240" y="4906800"/>
            <a:ext cx="493668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Reply to this email with answers to any questions — no need to answer all at once.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Or we can cover these on a 20-30 min call whenever convenient.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Urgent questions (budget) need answers by Monday so Week 2 work isn't blocked.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396;p10"/>
          <p:cNvSpPr/>
          <p:nvPr/>
        </p:nvSpPr>
        <p:spPr>
          <a:xfrm>
            <a:off x="6217920" y="4541040"/>
            <a:ext cx="5393880" cy="164484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97;p10"/>
          <p:cNvSpPr/>
          <p:nvPr/>
        </p:nvSpPr>
        <p:spPr>
          <a:xfrm>
            <a:off x="6217920" y="4541040"/>
            <a:ext cx="54000" cy="1644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398;p10"/>
          <p:cNvSpPr/>
          <p:nvPr/>
        </p:nvSpPr>
        <p:spPr>
          <a:xfrm>
            <a:off x="6446520" y="4632480"/>
            <a:ext cx="50281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These Matter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399;p10"/>
          <p:cNvSpPr/>
          <p:nvPr/>
        </p:nvSpPr>
        <p:spPr>
          <a:xfrm>
            <a:off x="6446520" y="4906800"/>
            <a:ext cx="502812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Every piece of clarification feeds directly into bid strategies, budget allocation, and ad copy.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more I know about your business, the more precisely I can tune the account.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Example: the 8-week spend volatility (£8k-£17k range) is what happens when budgets aren't locked to a target — pinning your target spend eliminates this.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400;p10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401;p10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402;p10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403;p10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Google Shape;404;p10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Google Shape;405;p10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406;p10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411;p11"/>
          <p:cNvSpPr/>
          <p:nvPr/>
        </p:nvSpPr>
        <p:spPr>
          <a:xfrm>
            <a:off x="0" y="0"/>
            <a:ext cx="3046680" cy="53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12;p11"/>
          <p:cNvSpPr/>
          <p:nvPr/>
        </p:nvSpPr>
        <p:spPr>
          <a:xfrm>
            <a:off x="3047760" y="0"/>
            <a:ext cx="3046680" cy="53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413;p11"/>
          <p:cNvSpPr/>
          <p:nvPr/>
        </p:nvSpPr>
        <p:spPr>
          <a:xfrm>
            <a:off x="6095520" y="0"/>
            <a:ext cx="3046680" cy="53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414;p11"/>
          <p:cNvSpPr/>
          <p:nvPr/>
        </p:nvSpPr>
        <p:spPr>
          <a:xfrm>
            <a:off x="9142920" y="0"/>
            <a:ext cx="3046680" cy="53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15;p11"/>
          <p:cNvSpPr/>
          <p:nvPr/>
        </p:nvSpPr>
        <p:spPr>
          <a:xfrm>
            <a:off x="548640" y="27432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Plan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16;p11"/>
          <p:cNvSpPr/>
          <p:nvPr/>
        </p:nvSpPr>
        <p:spPr>
          <a:xfrm>
            <a:off x="8348400" y="274320"/>
            <a:ext cx="3290760" cy="41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417;p11"/>
          <p:cNvSpPr/>
          <p:nvPr/>
        </p:nvSpPr>
        <p:spPr>
          <a:xfrm>
            <a:off x="8439840" y="29268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 Working Days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418;p11"/>
          <p:cNvSpPr/>
          <p:nvPr/>
        </p:nvSpPr>
        <p:spPr>
          <a:xfrm>
            <a:off x="548640" y="1097280"/>
            <a:ext cx="3473640" cy="418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419;p11"/>
          <p:cNvSpPr/>
          <p:nvPr/>
        </p:nvSpPr>
        <p:spPr>
          <a:xfrm>
            <a:off x="548640" y="1097280"/>
            <a:ext cx="54000" cy="4184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20;p11"/>
          <p:cNvSpPr/>
          <p:nvPr/>
        </p:nvSpPr>
        <p:spPr>
          <a:xfrm>
            <a:off x="731520" y="1234440"/>
            <a:ext cx="3107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Monday 20 Apr — Tracking Audit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21;p11"/>
          <p:cNvSpPr/>
          <p:nvPr/>
        </p:nvSpPr>
        <p:spPr>
          <a:xfrm>
            <a:off x="720000" y="1645920"/>
            <a:ext cx="3239280" cy="25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form_submit fires on all landing pages End-to-end validation across every Search campaign LP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Dengro Offline Lead / Booking / Purchase reliability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Confirm why Bookings fired 0 times in Week 1 — reporting gap or genuine zero?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Audit attribution windows and conversion counting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Ensure Dengro leads aren't being double-counted or missing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Gate for all CPA analysis. No CPA-based decisions until tracking is confirmed reliable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22;p11"/>
          <p:cNvSpPr/>
          <p:nvPr/>
        </p:nvSpPr>
        <p:spPr>
          <a:xfrm>
            <a:off x="4297680" y="1097280"/>
            <a:ext cx="3473640" cy="418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423;p11"/>
          <p:cNvSpPr/>
          <p:nvPr/>
        </p:nvSpPr>
        <p:spPr>
          <a:xfrm>
            <a:off x="4297680" y="1097280"/>
            <a:ext cx="54000" cy="4184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424;p11"/>
          <p:cNvSpPr/>
          <p:nvPr/>
        </p:nvSpPr>
        <p:spPr>
          <a:xfrm>
            <a:off x="4480560" y="1234440"/>
            <a:ext cx="3107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Tue 21 – Thu 23 Apr — Execution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425;p11"/>
          <p:cNvSpPr/>
          <p:nvPr/>
        </p:nvSpPr>
        <p:spPr>
          <a:xfrm>
            <a:off x="4480560" y="1645920"/>
            <a:ext cx="3107880" cy="25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Apply Giulio's claim corrections across all ads (Tue) Remove 99.12%, Save 60%; reword Top 10, Best Clinic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Resume AG22-25 Ad Strength audit once Google clears Pending (Tue)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RSAs to audit once review completes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Second pass on AG1-21 ads not yet at Excellent (Tue) Push remaining RSAs over the line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PMax asset rebuild (Wed) Policy-safe copy, verified claims only, restores full reach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Ad extensions deployed (Thu) Sitelinks, callouts, structured snippets, first time the account has a complete set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426;p11"/>
          <p:cNvSpPr/>
          <p:nvPr/>
        </p:nvSpPr>
        <p:spPr>
          <a:xfrm>
            <a:off x="8046720" y="1097280"/>
            <a:ext cx="3565080" cy="418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427;p11"/>
          <p:cNvSpPr/>
          <p:nvPr/>
        </p:nvSpPr>
        <p:spPr>
          <a:xfrm>
            <a:off x="8046720" y="1097280"/>
            <a:ext cx="54000" cy="4184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428;p11"/>
          <p:cNvSpPr/>
          <p:nvPr/>
        </p:nvSpPr>
        <p:spPr>
          <a:xfrm>
            <a:off x="8229600" y="123444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Friday 24 Apr — Review + Report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429;p11"/>
          <p:cNvSpPr/>
          <p:nvPr/>
        </p:nvSpPr>
        <p:spPr>
          <a:xfrm>
            <a:off x="8229600" y="1645920"/>
            <a:ext cx="3199320" cy="16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7-day performance comparison vs Week 1 Spend, leads, CPA — first post-rebuild signal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Brand matures, PMax settles, DII still learning Different campaigns on different learning trajectories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Week 2 end-of-week report delivered EoD Friday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Same format as this report — trend, insights, Week 3 plan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430;p11"/>
          <p:cNvSpPr/>
          <p:nvPr/>
        </p:nvSpPr>
        <p:spPr>
          <a:xfrm>
            <a:off x="548640" y="5760000"/>
            <a:ext cx="11063160" cy="4428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431;p11"/>
          <p:cNvSpPr/>
          <p:nvPr/>
        </p:nvSpPr>
        <p:spPr>
          <a:xfrm>
            <a:off x="741240" y="5811840"/>
            <a:ext cx="1060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is about execution: tracking audit unblocks CPA analysis, claim corrections unblock compliance, PMax rebuild unblocks reach.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432;p11"/>
          <p:cNvSpPr/>
          <p:nvPr/>
        </p:nvSpPr>
        <p:spPr>
          <a:xfrm>
            <a:off x="548640" y="6327720"/>
            <a:ext cx="2769480" cy="26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433;p11"/>
          <p:cNvSpPr/>
          <p:nvPr/>
        </p:nvSpPr>
        <p:spPr>
          <a:xfrm>
            <a:off x="3319200" y="6327720"/>
            <a:ext cx="2769480" cy="26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434;p11"/>
          <p:cNvSpPr/>
          <p:nvPr/>
        </p:nvSpPr>
        <p:spPr>
          <a:xfrm>
            <a:off x="6099120" y="6327720"/>
            <a:ext cx="2769480" cy="26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435;p11"/>
          <p:cNvSpPr/>
          <p:nvPr/>
        </p:nvSpPr>
        <p:spPr>
          <a:xfrm>
            <a:off x="8869680" y="6327720"/>
            <a:ext cx="2769480" cy="26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6" name="Google Shape;436;p11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Google Shape;437;p11"/>
          <p:cNvSpPr/>
          <p:nvPr/>
        </p:nvSpPr>
        <p:spPr>
          <a:xfrm>
            <a:off x="822960" y="64008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438;p11"/>
          <p:cNvSpPr/>
          <p:nvPr/>
        </p:nvSpPr>
        <p:spPr>
          <a:xfrm>
            <a:off x="11183040" y="6400800"/>
            <a:ext cx="456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443;p12"/>
          <p:cNvSpPr/>
          <p:nvPr/>
        </p:nvSpPr>
        <p:spPr>
          <a:xfrm>
            <a:off x="0" y="0"/>
            <a:ext cx="3046680" cy="63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44;p12"/>
          <p:cNvSpPr/>
          <p:nvPr/>
        </p:nvSpPr>
        <p:spPr>
          <a:xfrm>
            <a:off x="3047760" y="0"/>
            <a:ext cx="3046680" cy="63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445;p12"/>
          <p:cNvSpPr/>
          <p:nvPr/>
        </p:nvSpPr>
        <p:spPr>
          <a:xfrm>
            <a:off x="6095520" y="0"/>
            <a:ext cx="3046680" cy="63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446;p12"/>
          <p:cNvSpPr/>
          <p:nvPr/>
        </p:nvSpPr>
        <p:spPr>
          <a:xfrm>
            <a:off x="9142920" y="0"/>
            <a:ext cx="3046680" cy="63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447;p12"/>
          <p:cNvSpPr/>
          <p:nvPr/>
        </p:nvSpPr>
        <p:spPr>
          <a:xfrm>
            <a:off x="0" y="64080"/>
            <a:ext cx="108720" cy="6792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360" tIns="45000" rIns="54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Google Shape;448;p12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280" cy="59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Google Shape;449;p12"/>
          <p:cNvSpPr/>
          <p:nvPr/>
        </p:nvSpPr>
        <p:spPr>
          <a:xfrm>
            <a:off x="548640" y="1280160"/>
            <a:ext cx="50281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What's Next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450;p12"/>
          <p:cNvSpPr/>
          <p:nvPr/>
        </p:nvSpPr>
        <p:spPr>
          <a:xfrm>
            <a:off x="548640" y="2011680"/>
            <a:ext cx="2284920" cy="44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320" rIns="90000" bIns="22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451;p12"/>
          <p:cNvSpPr/>
          <p:nvPr/>
        </p:nvSpPr>
        <p:spPr>
          <a:xfrm>
            <a:off x="548640" y="2194560"/>
            <a:ext cx="5028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Rolling priorities beyond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52;p12"/>
          <p:cNvSpPr/>
          <p:nvPr/>
        </p:nvSpPr>
        <p:spPr>
          <a:xfrm>
            <a:off x="548640" y="2606040"/>
            <a:ext cx="5028120" cy="45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453;p12"/>
          <p:cNvSpPr/>
          <p:nvPr/>
        </p:nvSpPr>
        <p:spPr>
          <a:xfrm>
            <a:off x="548640" y="2606040"/>
            <a:ext cx="53640" cy="4561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454;p12"/>
          <p:cNvSpPr/>
          <p:nvPr/>
        </p:nvSpPr>
        <p:spPr>
          <a:xfrm>
            <a:off x="777240" y="2679120"/>
            <a:ext cx="45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1.  Cosmetic dentistry campaign 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455;p12"/>
          <p:cNvSpPr/>
          <p:nvPr/>
        </p:nvSpPr>
        <p:spPr>
          <a:xfrm>
            <a:off x="548640" y="3154680"/>
            <a:ext cx="5028120" cy="45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Google Shape;456;p12"/>
          <p:cNvSpPr/>
          <p:nvPr/>
        </p:nvSpPr>
        <p:spPr>
          <a:xfrm>
            <a:off x="548640" y="3154680"/>
            <a:ext cx="53640" cy="4561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457;p12"/>
          <p:cNvSpPr/>
          <p:nvPr/>
        </p:nvSpPr>
        <p:spPr>
          <a:xfrm>
            <a:off x="777240" y="3227760"/>
            <a:ext cx="45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2.  Landing page optimisation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458;p12"/>
          <p:cNvSpPr/>
          <p:nvPr/>
        </p:nvSpPr>
        <p:spPr>
          <a:xfrm>
            <a:off x="548640" y="3703320"/>
            <a:ext cx="5028120" cy="45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459;p12"/>
          <p:cNvSpPr/>
          <p:nvPr/>
        </p:nvSpPr>
        <p:spPr>
          <a:xfrm>
            <a:off x="548640" y="3703320"/>
            <a:ext cx="53640" cy="4561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Google Shape;460;p12"/>
          <p:cNvSpPr/>
          <p:nvPr/>
        </p:nvSpPr>
        <p:spPr>
          <a:xfrm>
            <a:off x="777240" y="3776400"/>
            <a:ext cx="45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3.  Long-tail keyword expansion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461;p12"/>
          <p:cNvSpPr/>
          <p:nvPr/>
        </p:nvSpPr>
        <p:spPr>
          <a:xfrm>
            <a:off x="548640" y="4251960"/>
            <a:ext cx="5028120" cy="45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462;p12"/>
          <p:cNvSpPr/>
          <p:nvPr/>
        </p:nvSpPr>
        <p:spPr>
          <a:xfrm>
            <a:off x="548640" y="4251960"/>
            <a:ext cx="53640" cy="4561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463;p12"/>
          <p:cNvSpPr/>
          <p:nvPr/>
        </p:nvSpPr>
        <p:spPr>
          <a:xfrm>
            <a:off x="777240" y="4325040"/>
            <a:ext cx="45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4.  Conversion rate improvements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464;p12"/>
          <p:cNvSpPr/>
          <p:nvPr/>
        </p:nvSpPr>
        <p:spPr>
          <a:xfrm>
            <a:off x="548640" y="4800600"/>
            <a:ext cx="5028120" cy="45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465;p12"/>
          <p:cNvSpPr/>
          <p:nvPr/>
        </p:nvSpPr>
        <p:spPr>
          <a:xfrm>
            <a:off x="548640" y="4800600"/>
            <a:ext cx="53640" cy="4561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466;p12"/>
          <p:cNvSpPr/>
          <p:nvPr/>
        </p:nvSpPr>
        <p:spPr>
          <a:xfrm>
            <a:off x="777240" y="4873680"/>
            <a:ext cx="45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5.  Monthly review cycle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467;p12"/>
          <p:cNvSpPr/>
          <p:nvPr/>
        </p:nvSpPr>
        <p:spPr>
          <a:xfrm>
            <a:off x="548640" y="5349240"/>
            <a:ext cx="5028120" cy="45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468;p12"/>
          <p:cNvSpPr/>
          <p:nvPr/>
        </p:nvSpPr>
        <p:spPr>
          <a:xfrm>
            <a:off x="548640" y="5349240"/>
            <a:ext cx="53640" cy="4561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469;p12"/>
          <p:cNvSpPr/>
          <p:nvPr/>
        </p:nvSpPr>
        <p:spPr>
          <a:xfrm>
            <a:off x="777240" y="5422320"/>
            <a:ext cx="45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6.  End-of-month report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470;p12"/>
          <p:cNvSpPr/>
          <p:nvPr/>
        </p:nvSpPr>
        <p:spPr>
          <a:xfrm>
            <a:off x="6217920" y="457200"/>
            <a:ext cx="5393880" cy="2284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471;p12"/>
          <p:cNvSpPr/>
          <p:nvPr/>
        </p:nvSpPr>
        <p:spPr>
          <a:xfrm>
            <a:off x="6217920" y="457200"/>
            <a:ext cx="72000" cy="2284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472;p12"/>
          <p:cNvSpPr/>
          <p:nvPr/>
        </p:nvSpPr>
        <p:spPr>
          <a:xfrm>
            <a:off x="6492240" y="548640"/>
            <a:ext cx="4936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473;p12"/>
          <p:cNvSpPr/>
          <p:nvPr/>
        </p:nvSpPr>
        <p:spPr>
          <a:xfrm>
            <a:off x="6492240" y="914400"/>
            <a:ext cx="49366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 Report</a:t>
            </a:r>
            <a:br>
              <a:rPr sz="4000"/>
            </a:b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474;p12"/>
          <p:cNvSpPr/>
          <p:nvPr/>
        </p:nvSpPr>
        <p:spPr>
          <a:xfrm>
            <a:off x="6492240" y="1620000"/>
            <a:ext cx="493668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Weekly performance review,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tracking audit findings,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PMax rebuild results,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3 plan. Delivered EoD Friday 24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475;p12"/>
          <p:cNvSpPr/>
          <p:nvPr/>
        </p:nvSpPr>
        <p:spPr>
          <a:xfrm>
            <a:off x="6217920" y="2926080"/>
            <a:ext cx="1672200" cy="1050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476;p12"/>
          <p:cNvSpPr/>
          <p:nvPr/>
        </p:nvSpPr>
        <p:spPr>
          <a:xfrm>
            <a:off x="6217920" y="2926080"/>
            <a:ext cx="53640" cy="1050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477;p12"/>
          <p:cNvSpPr/>
          <p:nvPr/>
        </p:nvSpPr>
        <p:spPr>
          <a:xfrm>
            <a:off x="6355080" y="3035880"/>
            <a:ext cx="14436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478;p12"/>
          <p:cNvSpPr/>
          <p:nvPr/>
        </p:nvSpPr>
        <p:spPr>
          <a:xfrm>
            <a:off x="6355080" y="3474720"/>
            <a:ext cx="1443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Compliance Actions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479;p12"/>
          <p:cNvSpPr/>
          <p:nvPr/>
        </p:nvSpPr>
        <p:spPr>
          <a:xfrm>
            <a:off x="8074080" y="2926080"/>
            <a:ext cx="1672200" cy="1050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480;p12"/>
          <p:cNvSpPr/>
          <p:nvPr/>
        </p:nvSpPr>
        <p:spPr>
          <a:xfrm>
            <a:off x="8074080" y="2926080"/>
            <a:ext cx="53640" cy="10504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481;p12"/>
          <p:cNvSpPr/>
          <p:nvPr/>
        </p:nvSpPr>
        <p:spPr>
          <a:xfrm>
            <a:off x="8211240" y="3035880"/>
            <a:ext cx="14436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482;p12"/>
          <p:cNvSpPr/>
          <p:nvPr/>
        </p:nvSpPr>
        <p:spPr>
          <a:xfrm>
            <a:off x="8211240" y="3474720"/>
            <a:ext cx="1443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Working Days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483;p12"/>
          <p:cNvSpPr/>
          <p:nvPr/>
        </p:nvSpPr>
        <p:spPr>
          <a:xfrm>
            <a:off x="9939600" y="2926080"/>
            <a:ext cx="1672200" cy="1050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484;p12"/>
          <p:cNvSpPr/>
          <p:nvPr/>
        </p:nvSpPr>
        <p:spPr>
          <a:xfrm>
            <a:off x="9939600" y="2926080"/>
            <a:ext cx="53640" cy="10504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485;p12"/>
          <p:cNvSpPr/>
          <p:nvPr/>
        </p:nvSpPr>
        <p:spPr>
          <a:xfrm>
            <a:off x="10076760" y="3035880"/>
            <a:ext cx="14436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486;p12"/>
          <p:cNvSpPr/>
          <p:nvPr/>
        </p:nvSpPr>
        <p:spPr>
          <a:xfrm>
            <a:off x="10076760" y="3474720"/>
            <a:ext cx="1443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487;p12"/>
          <p:cNvSpPr/>
          <p:nvPr/>
        </p:nvSpPr>
        <p:spPr>
          <a:xfrm>
            <a:off x="0" y="6400800"/>
            <a:ext cx="3046680" cy="35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488;p12"/>
          <p:cNvSpPr/>
          <p:nvPr/>
        </p:nvSpPr>
        <p:spPr>
          <a:xfrm>
            <a:off x="3047760" y="6400800"/>
            <a:ext cx="3046680" cy="35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489;p12"/>
          <p:cNvSpPr/>
          <p:nvPr/>
        </p:nvSpPr>
        <p:spPr>
          <a:xfrm>
            <a:off x="6095520" y="6400800"/>
            <a:ext cx="3046680" cy="35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490;p12"/>
          <p:cNvSpPr/>
          <p:nvPr/>
        </p:nvSpPr>
        <p:spPr>
          <a:xfrm>
            <a:off x="9142920" y="6400800"/>
            <a:ext cx="3046680" cy="35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en-GB</dc:language>
  <cp:lastModifiedBy/>
  <dcterms:modified xsi:type="dcterms:W3CDTF">2026-04-18T19:07:49Z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