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56" y="3657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Week {{WEEK_NUMBER}}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2876" y="3246120"/>
            <a:ext cx="2743200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4285F4"/>
                </a:solidFill>
                <a:latin typeface="Calibri"/>
              </a:rPr>
              <a:t>{{DATE_RANGE}}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{{WEEK_DESCRIPTOR}}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{{TITLE_STAT_1_NUMBER}}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285F4"/>
                </a:solidFill>
                <a:latin typeface="Calibri"/>
              </a:rPr>
              <a:t>{{TITLE_STAT_1_LABEL}}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07492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{{TITLE_STAT_2_NUMBER}}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85216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285F4"/>
                </a:solidFill>
                <a:latin typeface="Calibri"/>
              </a:rPr>
              <a:t>{{TITLE_STAT_2_LABEL}}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07492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{{TITLE_STAT_3_NUMBER}}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85216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285F4"/>
                </a:solidFill>
                <a:latin typeface="Calibri"/>
              </a:rPr>
              <a:t>{{TITLE_STAT_3_LABEL}}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507492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{{TITLE_STAT_4_NUMBER}}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585216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285F4"/>
                </a:solidFill>
                <a:latin typeface="Calibri"/>
              </a:rPr>
              <a:t>{{TITLE_STAT_4_LABEL}}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285F4"/>
                </a:solidFill>
                <a:latin typeface="Calibri"/>
              </a:rPr>
              <a:t>Christopher Hoole  ·  Google Ads Specialist  ·  christopherhoole.com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{{WEEK_NUMBER}}: {{DATE_RANGE}}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{{EXEC_INTRO_LINE}}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{{EXEC_STAT_1_NUMBER}}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{{EXEC_STAT_1_LABEL}}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{{EXEC_STAT_2_NUMBER}}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{{EXEC_STAT_2_LABEL}}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{{EXEC_STAT_3_NUMBER}}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{{EXEC_STAT_3_LABEL}}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432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{{EXEC_STAT_4_NUMBER}}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{{EXEC_STAT_4_LABEL}}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3547872" cy="502920"/>
          </a:xfrm>
          <a:prstGeom prst="roundRect">
            <a:avLst>
              <a:gd name="adj" fmla="val 18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3547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{{PILL_1_TEXT}}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3108960"/>
            <a:ext cx="3547872" cy="502920"/>
          </a:xfrm>
          <a:prstGeom prst="roundRect">
            <a:avLst>
              <a:gd name="adj" fmla="val 18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108960"/>
            <a:ext cx="3547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{{PILL_2_TEXT}}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108960"/>
            <a:ext cx="3547872" cy="502920"/>
          </a:xfrm>
          <a:prstGeom prst="roundRect">
            <a:avLst>
              <a:gd name="adj" fmla="val 18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108960"/>
            <a:ext cx="3547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{{PILL_3_TEXT}}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CORE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{{CORE_INSIGHT_TEXT}}</a:t>
            </a:r>
          </a:p>
        </p:txBody>
      </p:sp>
      <p:pic>
        <p:nvPicPr>
          <p:cNvPr id="24" name="Picture 23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Work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{{WEEK_NUMBER}}: {{DATE_RANGE}} · {{WORK_DAYS}} working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{{WORK_INTRO_LINE}}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322576"/>
            <a:ext cx="9738360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05940" y="210312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5940" y="2103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{{DAY_1_DATE}}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285F4"/>
                </a:solidFill>
                <a:latin typeface="Calibri"/>
              </a:rPr>
              <a:t>{{DAY_1_TITLE}}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2606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{{DAY_1_BODY}}</a:t>
            </a:r>
          </a:p>
        </p:txBody>
      </p:sp>
      <p:sp>
        <p:nvSpPr>
          <p:cNvPr id="14" name="Oval 13"/>
          <p:cNvSpPr/>
          <p:nvPr/>
        </p:nvSpPr>
        <p:spPr>
          <a:xfrm>
            <a:off x="4549140" y="210312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9140" y="2103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{{DAY_2_DATE}}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0175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285F4"/>
                </a:solidFill>
                <a:latin typeface="Calibri"/>
              </a:rPr>
              <a:t>{{DAY_2_TITLE}}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429000"/>
            <a:ext cx="2606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{{DAY_2_BODY}}</a:t>
            </a:r>
          </a:p>
        </p:txBody>
      </p:sp>
      <p:sp>
        <p:nvSpPr>
          <p:cNvPr id="19" name="Oval 18"/>
          <p:cNvSpPr/>
          <p:nvPr/>
        </p:nvSpPr>
        <p:spPr>
          <a:xfrm>
            <a:off x="7292340" y="210312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2340" y="2103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97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{{DAY_3_DATE}}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285F4"/>
                </a:solidFill>
                <a:latin typeface="Calibri"/>
              </a:rPr>
              <a:t>{{DAY_3_TITLE}}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29000"/>
            <a:ext cx="2606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{{DAY_3_BODY}}</a:t>
            </a:r>
          </a:p>
        </p:txBody>
      </p:sp>
      <p:sp>
        <p:nvSpPr>
          <p:cNvPr id="24" name="Oval 23"/>
          <p:cNvSpPr/>
          <p:nvPr/>
        </p:nvSpPr>
        <p:spPr>
          <a:xfrm>
            <a:off x="10035540" y="210312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5540" y="2103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697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{{DAY_4_DATE}}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0175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285F4"/>
                </a:solidFill>
                <a:latin typeface="Calibri"/>
              </a:rPr>
              <a:t>{{DAY_4_TITLE}}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429000"/>
            <a:ext cx="2606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{{DAY_4_BODY}}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35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{{WORK_KEY_FINDING}}</a:t>
            </a:r>
          </a:p>
        </p:txBody>
      </p:sp>
      <p:pic>
        <p:nvPicPr>
          <p:cNvPr id="31" name="Picture 3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Brand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{{WEEK_NUMBER}}: {{DATE_RANGE}}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{{BRAND_INTRO_LINE}}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{{BRAND_STAT_1_NUMBER}}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{{BRAND_STAT_1_LABEL}}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{{BRAND_STAT_2_NUMBER}}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{{BRAND_STAT_2_LABEL}}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{{BRAND_STAT_3_NUMBER}}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{{BRAND_STAT_3_LABEL}}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432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{{BRAND_STAT_4_NUMBER}}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{{BRAND_STAT_4_LABEL}}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761488"/>
            <a:ext cx="2633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{{BRAND_STAT_4_SUBLABEL}}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6675120" cy="3063240"/>
          </a:xfrm>
          <a:prstGeom prst="rect">
            <a:avLst/>
          </a:prstGeom>
          <a:solidFill>
            <a:srgbClr val="F7F7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6675120" cy="3063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[ CHART: {{BRAND_CHART_TITLE}} ]
Data: {{BRAND_CHART_DATA}}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1089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83279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{{BRAND_KEY_FINDING}}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0060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07492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{{BRAND_RECOMMENDATION}}</a:t>
            </a:r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Performance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{{WEEK_NUMBER}}: {{DATE_RANGE}}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{{PMAX_INTRO_LINE}}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{{PMAX_STAT_1_NUMBER}}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{{PMAX_STAT_1_LABEL}}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{{PMAX_STAT_2_NUMBER}}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{{PMAX_STAT_2_LABEL}}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{{PMAX_STAT_3_NUMBER}}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{{PMAX_STAT_3_LABEL}}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432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{{PMAX_STAT_4_NUMBER}}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{{PMAX_STAT_4_LABEL}}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761488"/>
            <a:ext cx="2633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{{PMAX_STAT_4_SUBLABEL}}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6675120" cy="3063240"/>
          </a:xfrm>
          <a:prstGeom prst="rect">
            <a:avLst/>
          </a:prstGeom>
          <a:solidFill>
            <a:srgbClr val="F7F7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6675120" cy="3063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[ CHART: {{PMAX_CHART_TITLE}} ]
Data: {{PMAX_CHART_DATA}}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1089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83279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{{PMAX_KEY_FINDING}}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0060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07492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{{PMAX_RECOMMENDATION}}</a:t>
            </a:r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Dental Implants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{{WEEK_NUMBER}}: {{DATE_RANGE}}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{{DII_INTRO_LINE}}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{{DII_STAT_1_NUMBER}}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{{DII_STAT_1_LABEL}}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{{DII_STAT_2_NUMBER}}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{{DII_STAT_2_LABEL}}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{{DII_STAT_3_NUMBER}}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{{DII_STAT_3_LABEL}}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432" y="1691640"/>
            <a:ext cx="2633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237E"/>
                </a:solidFill>
                <a:latin typeface="Calibri"/>
              </a:rPr>
              <a:t>{{DII_STAT_4_NUMBER}}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24688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{{DII_STAT_4_LABEL}}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761488"/>
            <a:ext cx="2633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{{DII_STAT_4_SUBLABEL}}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Structural rebuild — before vs 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74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Calibri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Ad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7947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66666"/>
                </a:solidFill>
                <a:latin typeface="Calibri"/>
              </a:rPr>
              <a:t>{{DII_BEFORE_AG}}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794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285F4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Calibri"/>
              </a:rPr>
              <a:t>{{DII_AFTER_AG}}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616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Keywords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36168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66666"/>
                </a:solidFill>
                <a:latin typeface="Calibri"/>
              </a:rPr>
              <a:t>{{DII_BEFORE_KW}}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36168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285F4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361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Calibri"/>
              </a:rPr>
              <a:t>{{DII_AFTER_KW}}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2861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RSAs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92861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66666"/>
                </a:solidFill>
                <a:latin typeface="Calibri"/>
              </a:rPr>
              <a:t>{{DII_BEFORE_RSA}}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92861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285F4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92861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Calibri"/>
              </a:rPr>
              <a:t>{{DII_AFTER_RSA}}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9554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Headlines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49554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66666"/>
                </a:solidFill>
                <a:latin typeface="Calibri"/>
              </a:rPr>
              <a:t>{{DII_BEFORE_HL}}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49554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285F4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49554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Calibri"/>
              </a:rPr>
              <a:t>{{DII_AFTER_HL}}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10896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383279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{{DII_KEY_FINDING}}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0060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07492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{{DII_RECOMMENDATION}}</a:t>
            </a:r>
          </a:p>
        </p:txBody>
      </p:sp>
      <p:pic>
        <p:nvPicPr>
          <p:cNvPr id="40" name="Picture 39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The Numbers That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Business-level outcomes — Week {{WEEK_NUMBER}}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{{NUMBERS_INTRO_LINE}}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{{FUNNEL_STAGE_1_NUMBER}}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{{FUNNEL_STAGE_1_LABEL}}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3" y="22860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828800"/>
            <a:ext cx="2011680" cy="1280160"/>
          </a:xfrm>
          <a:prstGeom prst="roundRect">
            <a:avLst>
              <a:gd name="adj" fmla="val 5000"/>
            </a:avLst>
          </a:prstGeom>
          <a:solidFill>
            <a:srgbClr val="243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0116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{{FUNNEL_STAGE_2_NUMBER}}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606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{{FUNNEL_STAGE_2_LABEL}}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2860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1828800"/>
            <a:ext cx="1920240" cy="1280160"/>
          </a:xfrm>
          <a:prstGeom prst="roundRect">
            <a:avLst>
              <a:gd name="adj" fmla="val 5000"/>
            </a:avLst>
          </a:prstGeom>
          <a:solidFill>
            <a:srgbClr val="2E5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201168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{{FUNNEL_STAGE_3_NUMBER}}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2606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{{FUNNEL_STAGE_3_LABEL}}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2860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5744" y="182880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386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2011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{{FUNNEL_STAGE_4_NUMBER}}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5744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{{FUNNEL_STAGE_4_LABEL}}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28600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828800"/>
            <a:ext cx="1737360" cy="128016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20116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{{FUNNEL_STAGE_5_NUMBER}}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606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{{FUNNEL_STAGE_5_LABEL}}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91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{{FUNNEL_NOTE}}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Dengro Offline Leads — by campaign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42519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Dengro Leads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 per Lead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{{CAMP_1_NAME}}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{{CAMP_1_SPEND}}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{{CAMP_1_LEADS}}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{{CAMP_1_CPL}}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{{CAMP_2_NAME}}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{{CAMP_2_SPEND}}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{{CAMP_2_LEADS}}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{{CAMP_2_CPL}}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{{CAMP_3_NAME}}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{{CAMP_3_SPEND}}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{{CAMP_3_LEADS}}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{{CAMP_3_CPL}}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37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A237E"/>
                          </a:solidFill>
                          <a:latin typeface="Calibri"/>
                        </a:rPr>
                        <a:t>{{CAMP_TOTAL_SPEND}}</a:t>
                      </a:r>
                    </a:p>
                  </a:txBody>
                  <a:tcPr marL="73152" marR="73152" marT="36576" marB="36576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A237E"/>
                          </a:solidFill>
                          <a:latin typeface="Calibri"/>
                        </a:rPr>
                        <a:t>{{CAMP_TOTAL_LEADS}}</a:t>
                      </a:r>
                    </a:p>
                  </a:txBody>
                  <a:tcPr marL="73152" marR="73152" marT="36576" marB="36576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A237E"/>
                          </a:solidFill>
                          <a:latin typeface="Calibri"/>
                        </a:rPr>
                        <a:t>{{CAMP_TOTAL_CPL}}</a:t>
                      </a:r>
                    </a:p>
                  </a:txBody>
                  <a:tcPr marL="73152" marR="73152" marT="36576" marB="36576"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pic>
        <p:nvPicPr>
          <p:cNvPr id="30" name="Picture 29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8-Week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{{EIGHT_WEEK_DATE_RANGE}}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{{CONTEXT_INTRO_LINE}}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394960" cy="3474720"/>
          </a:xfrm>
          <a:prstGeom prst="rect">
            <a:avLst/>
          </a:prstGeom>
          <a:solidFill>
            <a:srgbClr val="F7F7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394960" cy="347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[ CHART: Weekly spend (£) ]
Data: {{WEEKLY_SPEND_DATA}}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394960" cy="3474720"/>
          </a:xfrm>
          <a:prstGeom prst="rect">
            <a:avLst/>
          </a:prstGeom>
          <a:solidFill>
            <a:srgbClr val="F7F7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347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[ CHART: Weekly primary conversions ]
Data: {{WEEKLY_CONVERSIONS_DATA}}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42432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{{EIGHT_WEEK_KEY_FINDING}}</a:t>
            </a:r>
          </a:p>
        </p:txBody>
      </p:sp>
      <p:pic>
        <p:nvPicPr>
          <p:cNvPr id="14" name="Picture 13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Client Clarifications &amp;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{{CLIENT_REPLY_CONTEXT}}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972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Giulio confirmed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 taken / scheduled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{{CLAR_1_TEXT}}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{{CLAR_1_ACTION}}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{{CLAR_2_TEXT}}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{{CLAR_2_ACTION}}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{{CLAR_3_TEXT}}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{{CLAR_3_ACTION}}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{{CLAR_4_TEXT}}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{{CLAR_4_ACTION}}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{{CLAR_5_TEXT}}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{{CLAR_5_ACTION}}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{{CLAR_6_TEXT}}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{{CLAR_6_ACTION}}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{{CLAR_7_TEXT}}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{{CLAR_7_ACTION}}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{{CLAR_8_TEXT}}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{{CLAR_8_ACTION}}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{{CLAR_9_TEXT}}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{{CLAR_9_ACTION}}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0040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Week {{NEXT_WEEK_NUMBER}}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{{NEXT_WEEK_DATE_RANGE}}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{{PLAN_INTRO_LINE}}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Expected output</a:t>
                      </a:r>
                    </a:p>
                  </a:txBody>
                  <a:tcPr marL="73152" marR="73152" marT="45720" marB="45720"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{{PLAN_DAY_1}}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{{PLAN_FOCUS_1}}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{{PLAN_OUTPUT_1}}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{{PLAN_DAY_2}}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{{PLAN_FOCUS_2}}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{{PLAN_OUTPUT_2}}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{{PLAN_DAY_3}}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{{PLAN_FOCUS_3}}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{{PLAN_OUTPUT_3}}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{{PLAN_DAY_4}}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{{PLAN_FOCUS_4}}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{{PLAN_OUTPUT_4}}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{{PLAN_DAY_5}}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{{PLAN_FOCUS_5}}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{{PLAN_OUTPUT_5}}</a:t>
                      </a:r>
                    </a:p>
                  </a:txBody>
                  <a:tcPr marL="73152" marR="73152" marT="36576" marB="36576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922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5196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076" y="3200400"/>
            <a:ext cx="1828800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4285F4"/>
                </a:solidFill>
                <a:latin typeface="Calibri"/>
              </a:rPr>
              <a:t>Happy to walk through any section of this report or align on Week {{NEXT_WEEK_NUMBER}} priorities over a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Christopher Hoole  ·  Google Ads Specialist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285F4"/>
                </a:solidFill>
                <a:latin typeface="Calibri"/>
              </a:rPr>
              <a:t>christopherhoole.com  ·  chrishoole101@gmail.com  ·  +44 7451 252857</a:t>
            </a:r>
          </a:p>
        </p:txBody>
      </p:sp>
      <p:pic>
        <p:nvPicPr>
          <p:cNvPr id="8" name="Picture 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36" y="57607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