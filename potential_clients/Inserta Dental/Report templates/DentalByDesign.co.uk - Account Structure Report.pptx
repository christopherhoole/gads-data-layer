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jZJHqgfvwR2a0Skrqze5D/8IWf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478FAD-347B-4F49-8540-2B5B95D65749}">
  <a:tblStyle styleId="{5F478FAD-347B-4F49-8540-2B5B95D6574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3047695" cy="64008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3047695" y="0"/>
            <a:ext cx="3047695" cy="64008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6095390" y="0"/>
            <a:ext cx="3047695" cy="64008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9143085" y="0"/>
            <a:ext cx="3047695" cy="64008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ct_logo_official.png"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45720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548640" y="1280160"/>
            <a:ext cx="5248656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Account Structure</a:t>
            </a:r>
            <a:br>
              <a:rPr b="1" i="0" lang="en-US" sz="4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&amp; Issues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548640" y="32461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Dental by Design  |  Prodent Group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548640" y="3931920"/>
            <a:ext cx="50292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endParaRPr sz="12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Google Ads Specialist  |  April 2026</a:t>
            </a:r>
            <a:endParaRPr sz="12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christopherhoole.com</a:t>
            </a:r>
            <a:endParaRPr sz="1200"/>
          </a:p>
        </p:txBody>
      </p:sp>
      <p:sp>
        <p:nvSpPr>
          <p:cNvPr id="94" name="Google Shape;94;p1"/>
          <p:cNvSpPr/>
          <p:nvPr/>
        </p:nvSpPr>
        <p:spPr>
          <a:xfrm>
            <a:off x="548640" y="5029200"/>
            <a:ext cx="41148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640080" y="5047488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Data: 2025 (full year) + 2026 (Q1, Jan–Apr)</a:t>
            </a:r>
            <a:endParaRPr sz="1200"/>
          </a:p>
        </p:txBody>
      </p:sp>
      <p:sp>
        <p:nvSpPr>
          <p:cNvPr id="96" name="Google Shape;96;p1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6492240" y="5486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Non-Brand CPA Trend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6492240" y="914400"/>
            <a:ext cx="4937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£46 </a:t>
            </a:r>
            <a:r>
              <a:rPr b="1" lang="en-US" sz="3000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b="1" lang="en-US" sz="4400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 £64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6492240" y="1645920"/>
            <a:ext cx="493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+40% increase year-on-year while spend nearly doubled</a:t>
            </a:r>
            <a:endParaRPr sz="1200"/>
          </a:p>
        </p:txBody>
      </p:sp>
      <p:sp>
        <p:nvSpPr>
          <p:cNvPr id="101" name="Google Shape;101;p1"/>
          <p:cNvSpPr/>
          <p:nvPr/>
        </p:nvSpPr>
        <p:spPr>
          <a:xfrm>
            <a:off x="6217920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6217920" y="2926080"/>
            <a:ext cx="54864" cy="1051560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6355080" y="3035808"/>
            <a:ext cx="14447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1,511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6355080" y="3474720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Ghost Conversions (KMG)</a:t>
            </a:r>
            <a:endParaRPr/>
          </a:p>
        </p:txBody>
      </p:sp>
      <p:sp>
        <p:nvSpPr>
          <p:cNvPr id="105" name="Google Shape;105;p1"/>
          <p:cNvSpPr/>
          <p:nvPr/>
        </p:nvSpPr>
        <p:spPr>
          <a:xfrm>
            <a:off x="8074152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8074152" y="2926080"/>
            <a:ext cx="54864" cy="1051560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211312" y="3035808"/>
            <a:ext cx="14447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BBC05"/>
                </a:solidFill>
                <a:latin typeface="Calibri"/>
                <a:ea typeface="Calibri"/>
                <a:cs typeface="Calibri"/>
                <a:sym typeface="Calibri"/>
              </a:rPr>
              <a:t>47</a:t>
            </a:r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8211312" y="3474720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Total Campaigns</a:t>
            </a:r>
            <a:endParaRPr/>
          </a:p>
        </p:txBody>
      </p:sp>
      <p:sp>
        <p:nvSpPr>
          <p:cNvPr id="109" name="Google Shape;109;p1"/>
          <p:cNvSpPr/>
          <p:nvPr/>
        </p:nvSpPr>
        <p:spPr>
          <a:xfrm>
            <a:off x="9939528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9939528" y="2926080"/>
            <a:ext cx="54864" cy="1051560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10076688" y="3035808"/>
            <a:ext cx="14447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6.4</a:t>
            </a:r>
            <a:endParaRPr/>
          </a:p>
        </p:txBody>
      </p:sp>
      <p:sp>
        <p:nvSpPr>
          <p:cNvPr id="112" name="Google Shape;112;p1"/>
          <p:cNvSpPr txBox="1"/>
          <p:nvPr/>
        </p:nvSpPr>
        <p:spPr>
          <a:xfrm>
            <a:off x="10076688" y="3474720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Avg QS (Weighted)</a:t>
            </a:r>
            <a:endParaRPr/>
          </a:p>
        </p:txBody>
      </p:sp>
      <p:sp>
        <p:nvSpPr>
          <p:cNvPr id="113" name="Google Shape;113;p1"/>
          <p:cNvSpPr/>
          <p:nvPr/>
        </p:nvSpPr>
        <p:spPr>
          <a:xfrm>
            <a:off x="0" y="6400800"/>
            <a:ext cx="3047695" cy="36576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3047695" y="6400800"/>
            <a:ext cx="3047695" cy="36576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6095390" y="6400800"/>
            <a:ext cx="3047695" cy="36576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9143085" y="6400800"/>
            <a:ext cx="3047695" cy="36576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/>
          </a:p>
        </p:txBody>
      </p:sp>
      <p:sp>
        <p:nvSpPr>
          <p:cNvPr id="126" name="Google Shape;126;p2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2025 + 2026</a:t>
            </a:r>
            <a:endParaRPr sz="1200"/>
          </a:p>
        </p:txBody>
      </p:sp>
      <p:sp>
        <p:nvSpPr>
          <p:cNvPr id="128" name="Google Shape;128;p2"/>
          <p:cNvSpPr/>
          <p:nvPr/>
        </p:nvSpPr>
        <p:spPr>
          <a:xfrm>
            <a:off x="548640" y="1097280"/>
            <a:ext cx="256032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548640" y="1097280"/>
            <a:ext cx="54864" cy="960120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731520" y="11887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£46→£64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731520" y="16459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Non-Brand CPA (+40%)</a:t>
            </a:r>
            <a:endParaRPr/>
          </a:p>
        </p:txBody>
      </p:sp>
      <p:sp>
        <p:nvSpPr>
          <p:cNvPr id="132" name="Google Shape;132;p2"/>
          <p:cNvSpPr/>
          <p:nvPr/>
        </p:nvSpPr>
        <p:spPr>
          <a:xfrm>
            <a:off x="3383280" y="1097280"/>
            <a:ext cx="256032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3383280" y="1097280"/>
            <a:ext cx="54864" cy="960120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3566160" y="11887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BBC05"/>
                </a:solidFill>
                <a:latin typeface="Calibri"/>
                <a:ea typeface="Calibri"/>
                <a:cs typeface="Calibri"/>
                <a:sym typeface="Calibri"/>
              </a:rPr>
              <a:t>1,511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3566160" y="16459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Ghost Conversions (KMG Legacy)</a:t>
            </a:r>
            <a:endParaRPr/>
          </a:p>
        </p:txBody>
      </p:sp>
      <p:sp>
        <p:nvSpPr>
          <p:cNvPr id="136" name="Google Shape;136;p2"/>
          <p:cNvSpPr/>
          <p:nvPr/>
        </p:nvSpPr>
        <p:spPr>
          <a:xfrm>
            <a:off x="6217920" y="1097280"/>
            <a:ext cx="256032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6217920" y="1097280"/>
            <a:ext cx="54864" cy="960120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"/>
          <p:cNvSpPr txBox="1"/>
          <p:nvPr/>
        </p:nvSpPr>
        <p:spPr>
          <a:xfrm>
            <a:off x="6400800" y="11887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90%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6400800" y="16459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Ads Rated Poor or Average</a:t>
            </a:r>
            <a:endParaRPr/>
          </a:p>
        </p:txBody>
      </p:sp>
      <p:sp>
        <p:nvSpPr>
          <p:cNvPr id="140" name="Google Shape;140;p2"/>
          <p:cNvSpPr/>
          <p:nvPr/>
        </p:nvSpPr>
        <p:spPr>
          <a:xfrm>
            <a:off x="9052560" y="1097280"/>
            <a:ext cx="256032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9052560" y="1097280"/>
            <a:ext cx="54864" cy="960120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9235440" y="11887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6.4/10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9235440" y="16459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Weighted Avg Quality Score</a:t>
            </a:r>
            <a:endParaRPr/>
          </a:p>
        </p:txBody>
      </p:sp>
      <p:sp>
        <p:nvSpPr>
          <p:cNvPr id="144" name="Google Shape;144;p2"/>
          <p:cNvSpPr txBox="1"/>
          <p:nvPr/>
        </p:nvSpPr>
        <p:spPr>
          <a:xfrm>
            <a:off x="548640" y="23774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Key Issues Identified</a:t>
            </a:r>
            <a:endParaRPr/>
          </a:p>
        </p:txBody>
      </p:sp>
      <p:sp>
        <p:nvSpPr>
          <p:cNvPr id="145" name="Google Shape;145;p2"/>
          <p:cNvSpPr txBox="1"/>
          <p:nvPr/>
        </p:nvSpPr>
        <p:spPr>
          <a:xfrm>
            <a:off x="640080" y="2743200"/>
            <a:ext cx="10515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b="0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1,511 ghost conversions from legacy KMG landing pages are inflating reported performance. Giulio confirmed these should be ignored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but they're still set as Primary conversions feeding the bidding algorithm.</a:t>
            </a:r>
            <a:endParaRPr sz="1200"/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b="0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Non-brand CPA has risen 40% year-on-year (£46 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b="0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£64) while monthly spend nearly doubled from £22K to £58K.</a:t>
            </a:r>
            <a:endParaRPr sz="1200"/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b="0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Dengro Offline Leads (4,663) may include non-ad-sourced leads, further inflating Google Ads attribution. Pending verification.</a:t>
            </a:r>
            <a:endParaRPr sz="1200"/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b="0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90% of ads are rated Poor or Average strength. The main Search campaign (74,024 spend) has Poor-rated ads.</a:t>
            </a:r>
            <a:endParaRPr sz="1200"/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b="0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 relevance is Below Average on 71% of scored keywords. Expected CTR is Below Average on 63%. These are the primary Quality Score drivers.</a:t>
            </a:r>
            <a:endParaRPr sz="1200"/>
          </a:p>
        </p:txBody>
      </p:sp>
      <p:sp>
        <p:nvSpPr>
          <p:cNvPr id="146" name="Google Shape;146;p2"/>
          <p:cNvSpPr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solidFill>
            <a:srgbClr val="E8F0FE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"/>
          <p:cNvSpPr txBox="1"/>
          <p:nvPr/>
        </p:nvSpPr>
        <p:spPr>
          <a:xfrm>
            <a:off x="777240" y="5394960"/>
            <a:ext cx="1063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The core issue: the account is scaling spend aggressively but the foundations (conversion tracking, ad quality, keyword Quality Scores) haven't kept pace. </a:t>
            </a:r>
            <a:endParaRPr b="1" sz="1200">
              <a:solidFill>
                <a:srgbClr val="1A237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Higher spend on weak foundations = rising CPA.</a:t>
            </a:r>
            <a:endParaRPr sz="1200"/>
          </a:p>
        </p:txBody>
      </p:sp>
      <p:sp>
        <p:nvSpPr>
          <p:cNvPr id="148" name="Google Shape;148;p2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ct_logo_official.png" id="152" name="Google Shape;15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  |  christopherhoole.com  |  Confidential</a:t>
            </a:r>
            <a:endParaRPr/>
          </a:p>
        </p:txBody>
      </p:sp>
      <p:sp>
        <p:nvSpPr>
          <p:cNvPr id="154" name="Google Shape;154;p2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Conversion Tracking Audit</a:t>
            </a:r>
            <a:endParaRPr/>
          </a:p>
        </p:txBody>
      </p:sp>
      <p:sp>
        <p:nvSpPr>
          <p:cNvPr id="164" name="Google Shape;164;p3"/>
          <p:cNvSpPr txBox="1"/>
          <p:nvPr/>
        </p:nvSpPr>
        <p:spPr>
          <a:xfrm>
            <a:off x="548640" y="777240"/>
            <a:ext cx="822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1,511 ghost conversions + 445 soft signals are inflating reported performance</a:t>
            </a:r>
            <a:endParaRPr sz="1200"/>
          </a:p>
        </p:txBody>
      </p:sp>
      <p:sp>
        <p:nvSpPr>
          <p:cNvPr id="165" name="Google Shape;165;p3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Critical Issue</a:t>
            </a:r>
            <a:endParaRPr sz="1200"/>
          </a:p>
        </p:txBody>
      </p:sp>
      <p:pic>
        <p:nvPicPr>
          <p:cNvPr descr="conv_breakdown.png" id="167" name="Google Shape;1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188720"/>
            <a:ext cx="4114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"/>
          <p:cNvSpPr txBox="1"/>
          <p:nvPr/>
        </p:nvSpPr>
        <p:spPr>
          <a:xfrm>
            <a:off x="5724250" y="1097275"/>
            <a:ext cx="5888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Conversion Classification</a:t>
            </a:r>
            <a:endParaRPr/>
          </a:p>
        </p:txBody>
      </p:sp>
      <p:graphicFrame>
        <p:nvGraphicFramePr>
          <p:cNvPr id="169" name="Google Shape;169;p3"/>
          <p:cNvGraphicFramePr/>
          <p:nvPr/>
        </p:nvGraphicFramePr>
        <p:xfrm>
          <a:off x="5727660" y="1417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{5F478FAD-347B-4F49-8540-2B5B95D65749}</a:tableStyleId>
              </a:tblPr>
              <a:tblGrid>
                <a:gridCol w="2270775"/>
                <a:gridCol w="1004975"/>
                <a:gridCol w="803975"/>
                <a:gridCol w="1808950"/>
              </a:tblGrid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Conversions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of Total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 Leads (forms, calls, quiz)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6,182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Legitimate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Funnel (Dengro bookings + purchases)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815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Legitimate (downstream)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Soft Signals (clicks, not actions)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Should be Secondary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Ghost (KMG legacy — confirmed ignore)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1,511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Should be removed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0" name="Google Shape;170;p3"/>
          <p:cNvSpPr/>
          <p:nvPr/>
        </p:nvSpPr>
        <p:spPr>
          <a:xfrm>
            <a:off x="5727650" y="4160525"/>
            <a:ext cx="5885400" cy="1875300"/>
          </a:xfrm>
          <a:prstGeom prst="rect">
            <a:avLst/>
          </a:prstGeom>
          <a:solidFill>
            <a:srgbClr val="FCE8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5727650" y="4160525"/>
            <a:ext cx="48300" cy="1875300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"/>
          <p:cNvSpPr txBox="1"/>
          <p:nvPr/>
        </p:nvSpPr>
        <p:spPr>
          <a:xfrm>
            <a:off x="5929199" y="4251965"/>
            <a:ext cx="556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Impact on CPA</a:t>
            </a:r>
            <a:endParaRPr/>
          </a:p>
        </p:txBody>
      </p:sp>
      <p:sp>
        <p:nvSpPr>
          <p:cNvPr id="173" name="Google Shape;173;p3"/>
          <p:cNvSpPr txBox="1"/>
          <p:nvPr/>
        </p:nvSpPr>
        <p:spPr>
          <a:xfrm>
            <a:off x="5929199" y="4526286"/>
            <a:ext cx="55626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●"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Reported CPA: £49 (using all 8,953 conversions)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●"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Real leads CPA: £71 (excluding ghost + soft signals)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●"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Leads + funnel CPA: £63 (including bookings)</a:t>
            </a:r>
            <a:b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bidding algorithm is optimising toward 8,953 events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including 1,511 that don't exist and 445 that aren't real actions. </a:t>
            </a:r>
            <a:b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This is why CPA appears lower than it actually is.</a:t>
            </a:r>
            <a:endParaRPr/>
          </a:p>
        </p:txBody>
      </p:sp>
      <p:sp>
        <p:nvSpPr>
          <p:cNvPr id="174" name="Google Shape;174;p3"/>
          <p:cNvSpPr/>
          <p:nvPr/>
        </p:nvSpPr>
        <p:spPr>
          <a:xfrm>
            <a:off x="548650" y="4572000"/>
            <a:ext cx="4611300" cy="1463700"/>
          </a:xfrm>
          <a:prstGeom prst="rect">
            <a:avLst/>
          </a:prstGeom>
          <a:solidFill>
            <a:srgbClr val="E6F4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548650" y="4572000"/>
            <a:ext cx="61500" cy="1463700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777240" y="466344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Giulio Confirmed</a:t>
            </a:r>
            <a:endParaRPr/>
          </a:p>
        </p:txBody>
      </p:sp>
      <p:sp>
        <p:nvSpPr>
          <p:cNvPr id="177" name="Google Shape;177;p3"/>
          <p:cNvSpPr txBox="1"/>
          <p:nvPr/>
        </p:nvSpPr>
        <p:spPr>
          <a:xfrm>
            <a:off x="777250" y="4937750"/>
            <a:ext cx="42369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●"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KMG OLD LP actions: "data that have been preserved but target old lp"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confirmed ghost data.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●"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Dengro Offline Lead: Lead from CRM.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●"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Dengro Offline Booking/Purchase: Booked/completed patient.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●"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Every booking has an arbitrary £300 value.</a:t>
            </a:r>
            <a:endParaRPr/>
          </a:p>
        </p:txBody>
      </p:sp>
      <p:sp>
        <p:nvSpPr>
          <p:cNvPr id="178" name="Google Shape;178;p3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ct_logo_official.png" id="182" name="Google Shape;18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  |  christopherhoole.com  |  Confidential</a:t>
            </a:r>
            <a:endParaRPr/>
          </a:p>
        </p:txBody>
      </p:sp>
      <p:sp>
        <p:nvSpPr>
          <p:cNvPr id="184" name="Google Shape;184;p3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The ROAS Puzzle</a:t>
            </a:r>
            <a:endParaRPr/>
          </a:p>
        </p:txBody>
      </p:sp>
      <p:sp>
        <p:nvSpPr>
          <p:cNvPr id="194" name="Google Shape;194;p4"/>
          <p:cNvSpPr txBox="1"/>
          <p:nvPr/>
        </p:nvSpPr>
        <p:spPr>
          <a:xfrm>
            <a:off x="548640" y="777240"/>
            <a:ext cx="822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Target ROAS bidding is based on arbitrary £300 booking values </a:t>
            </a:r>
            <a:r>
              <a:rPr lang="en-US" sz="1200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lang="en-US" sz="1200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 not real revenue</a:t>
            </a:r>
            <a:endParaRPr sz="1200"/>
          </a:p>
        </p:txBody>
      </p:sp>
      <p:sp>
        <p:nvSpPr>
          <p:cNvPr id="195" name="Google Shape;195;p4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 txBox="1"/>
          <p:nvPr/>
        </p:nvSpPr>
        <p:spPr>
          <a:xfrm>
            <a:off x="8439912" y="292608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Bid Strategy</a:t>
            </a:r>
            <a:endParaRPr sz="1200"/>
          </a:p>
        </p:txBody>
      </p:sp>
      <p:sp>
        <p:nvSpPr>
          <p:cNvPr id="197" name="Google Shape;197;p4"/>
          <p:cNvSpPr txBox="1"/>
          <p:nvPr/>
        </p:nvSpPr>
        <p:spPr>
          <a:xfrm>
            <a:off x="548640" y="109728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Current Bid Strategy Setup</a:t>
            </a:r>
            <a:endParaRPr/>
          </a:p>
        </p:txBody>
      </p:sp>
      <p:graphicFrame>
        <p:nvGraphicFramePr>
          <p:cNvPr id="198" name="Google Shape;198;p4"/>
          <p:cNvGraphicFramePr/>
          <p:nvPr/>
        </p:nvGraphicFramePr>
        <p:xfrm>
          <a:off x="548640" y="1417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{5F478FAD-347B-4F49-8540-2B5B95D65749}</a:tableStyleId>
              </a:tblPr>
              <a:tblGrid>
                <a:gridCol w="1978225"/>
                <a:gridCol w="1638375"/>
                <a:gridCol w="886400"/>
                <a:gridCol w="8005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Campaign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Bid Strategy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 ROAS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 CPA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Dental Implants — PMax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 Conv Value (tROAS)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£52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Dental Implants Intent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 Conv Value (tROAS)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£94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Brand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 Conv Value (tROAS)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99" name="Google Shape;199;p4"/>
          <p:cNvSpPr/>
          <p:nvPr/>
        </p:nvSpPr>
        <p:spPr>
          <a:xfrm>
            <a:off x="548640" y="3291840"/>
            <a:ext cx="5303520" cy="2468880"/>
          </a:xfrm>
          <a:prstGeom prst="rect">
            <a:avLst/>
          </a:prstGeom>
          <a:solidFill>
            <a:srgbClr val="FCE8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548640" y="3291840"/>
            <a:ext cx="54864" cy="2468880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 txBox="1"/>
          <p:nvPr/>
        </p:nvSpPr>
        <p:spPr>
          <a:xfrm>
            <a:off x="777240" y="338328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Why This Is a Problem</a:t>
            </a:r>
            <a:endParaRPr/>
          </a:p>
        </p:txBody>
      </p:sp>
      <p:sp>
        <p:nvSpPr>
          <p:cNvPr id="202" name="Google Shape;202;p4"/>
          <p:cNvSpPr txBox="1"/>
          <p:nvPr/>
        </p:nvSpPr>
        <p:spPr>
          <a:xfrm>
            <a:off x="777240" y="3657600"/>
            <a:ext cx="49377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algorithm is told to maximise conversion VALUE, not conversion VOLUME. </a:t>
            </a:r>
            <a:endParaRPr b="0"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With £300 arbitrary booking values, a 30% ROAS target means the algorithm wants £300 in value for every £1,000 spent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i.e. one booking per £1,000 spend.</a:t>
            </a:r>
            <a:b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But only 621 of 8,953 reported conversions are actual bookings. </a:t>
            </a:r>
            <a:endParaRPr b="0"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algorithm is chasing a small pool of high-value events while spending broadly. </a:t>
            </a:r>
            <a:endParaRPr b="0"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This explains why PMax CPA rose from £26 to £52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because</a:t>
            </a: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it's optimising for bookings, not leads, but the booking signal is sparse and unreliable with an arbitrary value.</a:t>
            </a:r>
            <a:endParaRPr/>
          </a:p>
        </p:txBody>
      </p:sp>
      <p:sp>
        <p:nvSpPr>
          <p:cNvPr id="203" name="Google Shape;203;p4"/>
          <p:cNvSpPr/>
          <p:nvPr/>
        </p:nvSpPr>
        <p:spPr>
          <a:xfrm>
            <a:off x="6217920" y="1097280"/>
            <a:ext cx="5303520" cy="1920240"/>
          </a:xfrm>
          <a:prstGeom prst="rect">
            <a:avLst/>
          </a:prstGeom>
          <a:solidFill>
            <a:srgbClr val="E8F0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6217920" y="1097280"/>
            <a:ext cx="54864" cy="1920240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"/>
          <p:cNvSpPr txBox="1"/>
          <p:nvPr/>
        </p:nvSpPr>
        <p:spPr>
          <a:xfrm>
            <a:off x="6446520" y="11887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The Dengro Pipeline</a:t>
            </a:r>
            <a:endParaRPr/>
          </a:p>
        </p:txBody>
      </p:sp>
      <p:sp>
        <p:nvSpPr>
          <p:cNvPr id="206" name="Google Shape;206;p4"/>
          <p:cNvSpPr txBox="1"/>
          <p:nvPr/>
        </p:nvSpPr>
        <p:spPr>
          <a:xfrm>
            <a:off x="6446520" y="1463040"/>
            <a:ext cx="4937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●"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Dengro Offline Lead: 4,663 (all CRM leads — may include non-ad sources)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●"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Dengro Offline Booking: 621 (£300 arbitrary value each = £70,910)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●"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Dengro Offline Purchase: 194 (completed treatment = £73,106)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●"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Lead → Booking conversion rate: 13.3% (621/4,663)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●"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Booking → Purchase conversion rate: 31.2% (194/621)</a:t>
            </a:r>
            <a:endParaRPr/>
          </a:p>
        </p:txBody>
      </p:sp>
      <p:sp>
        <p:nvSpPr>
          <p:cNvPr id="207" name="Google Shape;207;p4"/>
          <p:cNvSpPr/>
          <p:nvPr/>
        </p:nvSpPr>
        <p:spPr>
          <a:xfrm>
            <a:off x="6217920" y="3291840"/>
            <a:ext cx="5303520" cy="2468880"/>
          </a:xfrm>
          <a:prstGeom prst="rect">
            <a:avLst/>
          </a:prstGeom>
          <a:solidFill>
            <a:srgbClr val="E6F4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"/>
          <p:cNvSpPr/>
          <p:nvPr/>
        </p:nvSpPr>
        <p:spPr>
          <a:xfrm>
            <a:off x="6217920" y="3291840"/>
            <a:ext cx="54864" cy="2468880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"/>
          <p:cNvSpPr txBox="1"/>
          <p:nvPr/>
        </p:nvSpPr>
        <p:spPr>
          <a:xfrm>
            <a:off x="6446520" y="338328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Recommendation</a:t>
            </a:r>
            <a:endParaRPr/>
          </a:p>
        </p:txBody>
      </p:sp>
      <p:sp>
        <p:nvSpPr>
          <p:cNvPr id="210" name="Google Shape;210;p4"/>
          <p:cNvSpPr txBox="1"/>
          <p:nvPr/>
        </p:nvSpPr>
        <p:spPr>
          <a:xfrm>
            <a:off x="6446520" y="3657600"/>
            <a:ext cx="49377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Option A: Switch to Maximise Conversions with Target CPA. </a:t>
            </a:r>
            <a:endParaRPr b="0"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Optimise for LEAD VOLUME at a controllable cost per lead. </a:t>
            </a:r>
            <a:endParaRPr b="0"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This gives direct control over acquisition cost.</a:t>
            </a:r>
            <a:b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Option B: Keep Target ROAS but replace the £300 arbitrary value with actual treatment revenue from Dengro. </a:t>
            </a:r>
            <a:endParaRPr b="0"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If a booking for a single implant is worth £1,695 and a Vivo Bridge is worth £15,990, the algorithm can intelligently bid more for high-value treatments.</a:t>
            </a:r>
            <a:b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Either option is better than the current setup.</a:t>
            </a:r>
            <a:endParaRPr/>
          </a:p>
        </p:txBody>
      </p:sp>
      <p:sp>
        <p:nvSpPr>
          <p:cNvPr id="211" name="Google Shape;211;p4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ct_logo_official.png" id="215" name="Google Shape;21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4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  |  christopherhoole.com  |  Confidential</a:t>
            </a:r>
            <a:endParaRPr/>
          </a:p>
        </p:txBody>
      </p:sp>
      <p:sp>
        <p:nvSpPr>
          <p:cNvPr id="217" name="Google Shape;217;p4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Account Structure</a:t>
            </a:r>
            <a:endParaRPr/>
          </a:p>
        </p:txBody>
      </p:sp>
      <p:sp>
        <p:nvSpPr>
          <p:cNvPr id="227" name="Google Shape;227;p5"/>
          <p:cNvSpPr txBox="1"/>
          <p:nvPr/>
        </p:nvSpPr>
        <p:spPr>
          <a:xfrm>
            <a:off x="548640" y="777240"/>
            <a:ext cx="822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47 campaigns, 4 active </a:t>
            </a:r>
            <a:r>
              <a:rPr lang="en-US" sz="1200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lang="en-US" sz="1200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 a legacy of multiple agencies and strategy changes</a:t>
            </a:r>
            <a:endParaRPr sz="1200"/>
          </a:p>
        </p:txBody>
      </p:sp>
      <p:sp>
        <p:nvSpPr>
          <p:cNvPr id="228" name="Google Shape;228;p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Structure</a:t>
            </a:r>
            <a:endParaRPr sz="1200"/>
          </a:p>
        </p:txBody>
      </p:sp>
      <p:pic>
        <p:nvPicPr>
          <p:cNvPr descr="camp_spend_yoy.png" id="230" name="Google Shape;2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188720"/>
            <a:ext cx="6858000" cy="2560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 txBox="1"/>
          <p:nvPr/>
        </p:nvSpPr>
        <p:spPr>
          <a:xfrm>
            <a:off x="8046730" y="1005843"/>
            <a:ext cx="393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Currently Active (4 Campaigns)</a:t>
            </a:r>
            <a:endParaRPr/>
          </a:p>
        </p:txBody>
      </p:sp>
      <p:graphicFrame>
        <p:nvGraphicFramePr>
          <p:cNvPr id="232" name="Google Shape;232;p5"/>
          <p:cNvGraphicFramePr/>
          <p:nvPr/>
        </p:nvGraphicFramePr>
        <p:xfrm>
          <a:off x="8046730" y="13258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{5F478FAD-347B-4F49-8540-2B5B95D65749}</a:tableStyleId>
              </a:tblPr>
              <a:tblGrid>
                <a:gridCol w="1097275"/>
                <a:gridCol w="731525"/>
                <a:gridCol w="731525"/>
                <a:gridCol w="6400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Campaign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 CPA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 CPA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Change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PMax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£26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£52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+100%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Search Intent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£61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£94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+54%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Brand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Stable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Demand Gen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£180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serving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3" name="Google Shape;233;p5"/>
          <p:cNvSpPr txBox="1"/>
          <p:nvPr/>
        </p:nvSpPr>
        <p:spPr>
          <a:xfrm>
            <a:off x="548640" y="393192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The 43 Paused Campaigns</a:t>
            </a:r>
            <a:endParaRPr/>
          </a:p>
        </p:txBody>
      </p:sp>
      <p:sp>
        <p:nvSpPr>
          <p:cNvPr id="234" name="Google Shape;234;p5"/>
          <p:cNvSpPr/>
          <p:nvPr/>
        </p:nvSpPr>
        <p:spPr>
          <a:xfrm>
            <a:off x="548640" y="4251960"/>
            <a:ext cx="3474720" cy="1554480"/>
          </a:xfrm>
          <a:prstGeom prst="rect">
            <a:avLst/>
          </a:prstGeom>
          <a:solidFill>
            <a:srgbClr val="FCE8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548640" y="4251960"/>
            <a:ext cx="54864" cy="1554480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 txBox="1"/>
          <p:nvPr/>
        </p:nvSpPr>
        <p:spPr>
          <a:xfrm>
            <a:off x="777240" y="43434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Legacy Agencies</a:t>
            </a:r>
            <a:endParaRPr/>
          </a:p>
        </p:txBody>
      </p:sp>
      <p:sp>
        <p:nvSpPr>
          <p:cNvPr id="237" name="Google Shape;237;p5"/>
          <p:cNvSpPr txBox="1"/>
          <p:nvPr/>
        </p:nvSpPr>
        <p:spPr>
          <a:xfrm>
            <a:off x="777240" y="461772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KMG (Kau Media Group): 6 campaigns, L87K spend</a:t>
            </a:r>
            <a:b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Multiple naming conventions and strategies</a:t>
            </a:r>
            <a:b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KMG conversion actions still firing as Primary</a:t>
            </a:r>
            <a:endParaRPr/>
          </a:p>
        </p:txBody>
      </p:sp>
      <p:sp>
        <p:nvSpPr>
          <p:cNvPr id="238" name="Google Shape;238;p5"/>
          <p:cNvSpPr/>
          <p:nvPr/>
        </p:nvSpPr>
        <p:spPr>
          <a:xfrm>
            <a:off x="4297680" y="4251960"/>
            <a:ext cx="3474720" cy="1554480"/>
          </a:xfrm>
          <a:prstGeom prst="rect">
            <a:avLst/>
          </a:prstGeom>
          <a:solidFill>
            <a:srgbClr val="F5F6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4297680" y="4251960"/>
            <a:ext cx="54864" cy="1554480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 txBox="1"/>
          <p:nvPr/>
        </p:nvSpPr>
        <p:spPr>
          <a:xfrm>
            <a:off x="4526280" y="43434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Historical Experiments</a:t>
            </a:r>
            <a:endParaRPr/>
          </a:p>
        </p:txBody>
      </p:sp>
      <p:sp>
        <p:nvSpPr>
          <p:cNvPr id="241" name="Google Shape;241;p5"/>
          <p:cNvSpPr txBox="1"/>
          <p:nvPr/>
        </p:nvSpPr>
        <p:spPr>
          <a:xfrm>
            <a:off x="4526280" y="461772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Device-split campaigns ('Mobile Only', 'Desktop')</a:t>
            </a:r>
            <a:b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Geo-split campaigns ('London', 'Geo')</a:t>
            </a:r>
            <a:b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Service campaigns (Invisalign, Veneers, Full Arch, Teeth In A Day)</a:t>
            </a:r>
            <a:b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Dating back to 2022</a:t>
            </a:r>
            <a:endParaRPr/>
          </a:p>
        </p:txBody>
      </p:sp>
      <p:sp>
        <p:nvSpPr>
          <p:cNvPr id="242" name="Google Shape;242;p5"/>
          <p:cNvSpPr/>
          <p:nvPr/>
        </p:nvSpPr>
        <p:spPr>
          <a:xfrm>
            <a:off x="8046720" y="4251960"/>
            <a:ext cx="3566160" cy="1554480"/>
          </a:xfrm>
          <a:prstGeom prst="rect">
            <a:avLst/>
          </a:prstGeom>
          <a:solidFill>
            <a:srgbClr val="E6F4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8046720" y="4251960"/>
            <a:ext cx="54864" cy="1554480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 txBox="1"/>
          <p:nvPr/>
        </p:nvSpPr>
        <p:spPr>
          <a:xfrm>
            <a:off x="8275320" y="43434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Recommendation</a:t>
            </a:r>
            <a:endParaRPr/>
          </a:p>
        </p:txBody>
      </p:sp>
      <p:sp>
        <p:nvSpPr>
          <p:cNvPr id="245" name="Google Shape;245;p5"/>
          <p:cNvSpPr txBox="1"/>
          <p:nvPr/>
        </p:nvSpPr>
        <p:spPr>
          <a:xfrm>
            <a:off x="8275320" y="4617720"/>
            <a:ext cx="32004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Remove all campaigns paused 6+ months with no active learnings. </a:t>
            </a:r>
            <a:endParaRPr b="0"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This doesn't affect performance but makes the account manageable. </a:t>
            </a:r>
            <a:endParaRPr b="0"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Clean structure is essential for multi-clinic expansion.</a:t>
            </a:r>
            <a:endParaRPr/>
          </a:p>
        </p:txBody>
      </p:sp>
      <p:sp>
        <p:nvSpPr>
          <p:cNvPr id="246" name="Google Shape;246;p5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ct_logo_official.png" id="250" name="Google Shape;2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5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  |  christopherhoole.com  |  Confidential</a:t>
            </a:r>
            <a:endParaRPr/>
          </a:p>
        </p:txBody>
      </p:sp>
      <p:sp>
        <p:nvSpPr>
          <p:cNvPr id="252" name="Google Shape;252;p5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Ad Group Structure (2026)</a:t>
            </a:r>
            <a:endParaRPr/>
          </a:p>
        </p:txBody>
      </p:sp>
      <p:sp>
        <p:nvSpPr>
          <p:cNvPr id="262" name="Google Shape;262;p6"/>
          <p:cNvSpPr txBox="1"/>
          <p:nvPr/>
        </p:nvSpPr>
        <p:spPr>
          <a:xfrm>
            <a:off x="548640" y="777240"/>
            <a:ext cx="822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Search Intent campaign: 8 ad groups with wide CPA variation</a:t>
            </a:r>
            <a:endParaRPr sz="1200"/>
          </a:p>
        </p:txBody>
      </p:sp>
      <p:sp>
        <p:nvSpPr>
          <p:cNvPr id="263" name="Google Shape;263;p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2025 vs 2026</a:t>
            </a:r>
            <a:endParaRPr sz="1200"/>
          </a:p>
        </p:txBody>
      </p:sp>
      <p:graphicFrame>
        <p:nvGraphicFramePr>
          <p:cNvPr id="265" name="Google Shape;265;p6"/>
          <p:cNvGraphicFramePr/>
          <p:nvPr/>
        </p:nvGraphicFramePr>
        <p:xfrm>
          <a:off x="548640" y="118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{5F478FAD-347B-4F49-8540-2B5B95D65749}</a:tableStyleId>
              </a:tblPr>
              <a:tblGrid>
                <a:gridCol w="2011675"/>
                <a:gridCol w="2286000"/>
                <a:gridCol w="1097275"/>
                <a:gridCol w="731525"/>
                <a:gridCol w="731525"/>
                <a:gridCol w="731525"/>
              </a:tblGrid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Campaign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 Group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Spend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CVR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Dental Implants Intent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Dental Implants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£26,644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£111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8.9%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Dental Implants Intent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Implants Cost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£17,280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£80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7.3%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Dental Implants Intent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on 4 Google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£10,210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£106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6.6%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Dental Implants Intent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on 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£6,283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£128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5.5%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Dental Implants Intent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Implants Cost Google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£4,588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6.2%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Dental Implants Intent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Dental Implants Google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£4,499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£111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6.4%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Brand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Dental by Design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£4,133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13.6%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Invisalign - Geo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Invisalign London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£3,679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£45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10.1%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Dental Implants Intent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Financing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£2,890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£34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24.7%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Dental Implants Intent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Dental Implants Hammersmith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£1,631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£142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3.6%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Invisalign - Geo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Invisalign Hammersmith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£81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£54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10.7%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266" name="Google Shape;266;p6"/>
          <p:cNvSpPr/>
          <p:nvPr/>
        </p:nvSpPr>
        <p:spPr>
          <a:xfrm>
            <a:off x="548640" y="4846320"/>
            <a:ext cx="5303520" cy="1097280"/>
          </a:xfrm>
          <a:prstGeom prst="rect">
            <a:avLst/>
          </a:prstGeom>
          <a:solidFill>
            <a:srgbClr val="FCE8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548640" y="4846320"/>
            <a:ext cx="54864" cy="1097280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 txBox="1"/>
          <p:nvPr/>
        </p:nvSpPr>
        <p:spPr>
          <a:xfrm>
            <a:off x="777240" y="493776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Key Finding</a:t>
            </a:r>
            <a:endParaRPr/>
          </a:p>
        </p:txBody>
      </p:sp>
      <p:sp>
        <p:nvSpPr>
          <p:cNvPr id="269" name="Google Shape;269;p6"/>
          <p:cNvSpPr txBox="1"/>
          <p:nvPr/>
        </p:nvSpPr>
        <p:spPr>
          <a:xfrm>
            <a:off x="777240" y="5212080"/>
            <a:ext cx="4937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'Dental Implants' ad group (£26.6K) runs at £111 CPA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the worst in the account. </a:t>
            </a:r>
            <a:endParaRPr b="0"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Meanwhile 'Financing' (£2.9K) runs at £34 CPA with 24.7% CVR. </a:t>
            </a:r>
            <a:endParaRPr b="0"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Budget is flowing to the least efficient ad groups.</a:t>
            </a:r>
            <a:endParaRPr/>
          </a:p>
        </p:txBody>
      </p:sp>
      <p:sp>
        <p:nvSpPr>
          <p:cNvPr id="270" name="Google Shape;270;p6"/>
          <p:cNvSpPr/>
          <p:nvPr/>
        </p:nvSpPr>
        <p:spPr>
          <a:xfrm>
            <a:off x="6217920" y="4846320"/>
            <a:ext cx="5394960" cy="1097280"/>
          </a:xfrm>
          <a:prstGeom prst="rect">
            <a:avLst/>
          </a:prstGeom>
          <a:solidFill>
            <a:srgbClr val="E6F4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6217920" y="4846320"/>
            <a:ext cx="54864" cy="1097280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 txBox="1"/>
          <p:nvPr/>
        </p:nvSpPr>
        <p:spPr>
          <a:xfrm>
            <a:off x="6446520" y="49377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Recommendation</a:t>
            </a:r>
            <a:endParaRPr/>
          </a:p>
        </p:txBody>
      </p:sp>
      <p:sp>
        <p:nvSpPr>
          <p:cNvPr id="273" name="Google Shape;273;p6"/>
          <p:cNvSpPr txBox="1"/>
          <p:nvPr/>
        </p:nvSpPr>
        <p:spPr>
          <a:xfrm>
            <a:off x="6446520" y="5212080"/>
            <a:ext cx="5029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'Financing' and 'Implants Cost' ad groups convert better because they match cost-conscious search intent with the right landing page. </a:t>
            </a:r>
            <a:endParaRPr b="0"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Restructure ad groups around patient intent, not just keyword categories.</a:t>
            </a:r>
            <a:endParaRPr/>
          </a:p>
        </p:txBody>
      </p:sp>
      <p:sp>
        <p:nvSpPr>
          <p:cNvPr id="274" name="Google Shape;274;p6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ct_logo_official.png" id="278" name="Google Shape;27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6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  |  christopherhoole.com  |  Confidential</a:t>
            </a:r>
            <a:endParaRPr/>
          </a:p>
        </p:txBody>
      </p:sp>
      <p:sp>
        <p:nvSpPr>
          <p:cNvPr id="280" name="Google Shape;280;p6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7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Quality Score Analysis</a:t>
            </a:r>
            <a:endParaRPr/>
          </a:p>
        </p:txBody>
      </p:sp>
      <p:sp>
        <p:nvSpPr>
          <p:cNvPr id="290" name="Google Shape;290;p7"/>
          <p:cNvSpPr txBox="1"/>
          <p:nvPr/>
        </p:nvSpPr>
        <p:spPr>
          <a:xfrm>
            <a:off x="548640" y="777240"/>
            <a:ext cx="822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Weighted average QS: 6.9 (2025) → 6.4 (2026) — declining</a:t>
            </a:r>
            <a:endParaRPr sz="1200"/>
          </a:p>
        </p:txBody>
      </p:sp>
      <p:sp>
        <p:nvSpPr>
          <p:cNvPr id="291" name="Google Shape;291;p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2025 vs 2026</a:t>
            </a:r>
            <a:endParaRPr sz="1200"/>
          </a:p>
        </p:txBody>
      </p:sp>
      <p:pic>
        <p:nvPicPr>
          <p:cNvPr descr="qs_dist_2026.png" id="293" name="Google Shape;29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188720"/>
            <a:ext cx="59436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7"/>
          <p:cNvSpPr txBox="1"/>
          <p:nvPr/>
        </p:nvSpPr>
        <p:spPr>
          <a:xfrm>
            <a:off x="6766510" y="1165868"/>
            <a:ext cx="484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QS Components (2025 vs 2026)</a:t>
            </a:r>
            <a:endParaRPr/>
          </a:p>
        </p:txBody>
      </p:sp>
      <p:graphicFrame>
        <p:nvGraphicFramePr>
          <p:cNvPr id="295" name="Google Shape;295;p7"/>
          <p:cNvGraphicFramePr/>
          <p:nvPr/>
        </p:nvGraphicFramePr>
        <p:xfrm>
          <a:off x="6766510" y="14859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{5F478FAD-347B-4F49-8540-2B5B95D65749}</a:tableStyleId>
              </a:tblPr>
              <a:tblGrid>
                <a:gridCol w="1188725"/>
                <a:gridCol w="822950"/>
                <a:gridCol w="822950"/>
                <a:gridCol w="822950"/>
                <a:gridCol w="1188825"/>
              </a:tblGrid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 Below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 Above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 Below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 Above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</a:tr>
              <a:tr h="5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 Relevance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 (74%)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(16%)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 (71%)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 (17%)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</a:tr>
              <a:tr h="5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Expected CTR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 (66%)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(9%)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 (63%)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(10%)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Landing Page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(4%)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 (71%)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(4%)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 (71%)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296" name="Google Shape;296;p7"/>
          <p:cNvSpPr/>
          <p:nvPr/>
        </p:nvSpPr>
        <p:spPr>
          <a:xfrm>
            <a:off x="6766600" y="4389126"/>
            <a:ext cx="4846200" cy="1059600"/>
          </a:xfrm>
          <a:prstGeom prst="rect">
            <a:avLst/>
          </a:prstGeom>
          <a:solidFill>
            <a:srgbClr val="FCE8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"/>
          <p:cNvSpPr/>
          <p:nvPr/>
        </p:nvSpPr>
        <p:spPr>
          <a:xfrm>
            <a:off x="6766600" y="4389126"/>
            <a:ext cx="54900" cy="1059600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 txBox="1"/>
          <p:nvPr/>
        </p:nvSpPr>
        <p:spPr>
          <a:xfrm>
            <a:off x="6995148" y="4480560"/>
            <a:ext cx="448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Consistent Pattern Both Years</a:t>
            </a:r>
            <a:endParaRPr/>
          </a:p>
        </p:txBody>
      </p:sp>
      <p:sp>
        <p:nvSpPr>
          <p:cNvPr id="299" name="Google Shape;299;p7"/>
          <p:cNvSpPr txBox="1"/>
          <p:nvPr/>
        </p:nvSpPr>
        <p:spPr>
          <a:xfrm>
            <a:off x="6995148" y="4754880"/>
            <a:ext cx="4480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Landing pages: strong (71% Above Average both years). </a:t>
            </a:r>
            <a:endParaRPr b="0"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 relevance: weak (74% Below 2025, 71% Below 2026). </a:t>
            </a:r>
            <a:endParaRPr b="0"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ads don't match what people search for.</a:t>
            </a:r>
            <a:endParaRPr/>
          </a:p>
        </p:txBody>
      </p:sp>
      <p:sp>
        <p:nvSpPr>
          <p:cNvPr id="300" name="Google Shape;300;p7"/>
          <p:cNvSpPr txBox="1"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Worst QS Keywords (QS 1-3) — 2026 Spend</a:t>
            </a:r>
            <a:endParaRPr/>
          </a:p>
        </p:txBody>
      </p:sp>
      <p:graphicFrame>
        <p:nvGraphicFramePr>
          <p:cNvPr id="301" name="Google Shape;301;p7"/>
          <p:cNvGraphicFramePr/>
          <p:nvPr/>
        </p:nvGraphicFramePr>
        <p:xfrm>
          <a:off x="548640" y="43891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{5F478FAD-347B-4F49-8540-2B5B95D65749}</a:tableStyleId>
              </a:tblPr>
              <a:tblGrid>
                <a:gridCol w="2286000"/>
                <a:gridCol w="365750"/>
                <a:gridCol w="822950"/>
                <a:gridCol w="640075"/>
                <a:gridCol w="1371600"/>
              </a:tblGrid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Keyword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Spend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 Rel.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[surgical dental implants]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£3,909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£112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Below average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[cost to replace all teeth]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£559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£74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Below average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[dentist with payment plans near 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£311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£27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Below average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[permanent bridge teeth]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£244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£214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Below average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[molar replacement cost]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£159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£40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Below average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302" name="Google Shape;302;p7"/>
          <p:cNvSpPr txBox="1"/>
          <p:nvPr/>
        </p:nvSpPr>
        <p:spPr>
          <a:xfrm>
            <a:off x="548640" y="5989320"/>
            <a:ext cx="11064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Note: In 2025, most low-QS keywords (1-5) had zero spend because the Search Intent campaign was only active late in the year. The QS issues have emerged as this campaign scaled in 2026.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ct_logo_official.png" id="307" name="Google Shape;30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7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  |  christopherhoole.com  |  Confidential</a:t>
            </a:r>
            <a:endParaRPr/>
          </a:p>
        </p:txBody>
      </p:sp>
      <p:sp>
        <p:nvSpPr>
          <p:cNvPr id="309" name="Google Shape;309;p7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8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Ad Copy Audit</a:t>
            </a:r>
            <a:endParaRPr/>
          </a:p>
        </p:txBody>
      </p:sp>
      <p:sp>
        <p:nvSpPr>
          <p:cNvPr id="319" name="Google Shape;319;p8"/>
          <p:cNvSpPr txBox="1"/>
          <p:nvPr/>
        </p:nvSpPr>
        <p:spPr>
          <a:xfrm>
            <a:off x="548640" y="777240"/>
            <a:ext cx="822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90% of ads rated Poor or Average — the primary driver of low Quality Scores</a:t>
            </a:r>
            <a:endParaRPr sz="1200"/>
          </a:p>
        </p:txBody>
      </p:sp>
      <p:sp>
        <p:nvSpPr>
          <p:cNvPr id="320" name="Google Shape;320;p8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Current State</a:t>
            </a:r>
            <a:endParaRPr sz="1200"/>
          </a:p>
        </p:txBody>
      </p:sp>
      <p:pic>
        <p:nvPicPr>
          <p:cNvPr descr="ad_strength_2026.png" id="322" name="Google Shape;32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188720"/>
            <a:ext cx="41148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8"/>
          <p:cNvSpPr txBox="1"/>
          <p:nvPr/>
        </p:nvSpPr>
        <p:spPr>
          <a:xfrm>
            <a:off x="5852276" y="1097275"/>
            <a:ext cx="576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Current Ad Strength (All Ads in Account)</a:t>
            </a:r>
            <a:endParaRPr/>
          </a:p>
        </p:txBody>
      </p:sp>
      <p:graphicFrame>
        <p:nvGraphicFramePr>
          <p:cNvPr id="324" name="Google Shape;324;p8"/>
          <p:cNvGraphicFramePr/>
          <p:nvPr/>
        </p:nvGraphicFramePr>
        <p:xfrm>
          <a:off x="5852260" y="1417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{5F478FAD-347B-4F49-8540-2B5B95D65749}</a:tableStyleId>
              </a:tblPr>
              <a:tblGrid>
                <a:gridCol w="1175650"/>
                <a:gridCol w="822925"/>
                <a:gridCol w="822925"/>
                <a:gridCol w="29391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Strength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of Total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Impact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Excellent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Keep — best performers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Keep — performing well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Rewrite — opportunity to improve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Rewrite urgently — dragging QS down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New ads — monitor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325" name="Google Shape;325;p8"/>
          <p:cNvSpPr/>
          <p:nvPr/>
        </p:nvSpPr>
        <p:spPr>
          <a:xfrm>
            <a:off x="5852275" y="3474725"/>
            <a:ext cx="5760600" cy="1066500"/>
          </a:xfrm>
          <a:prstGeom prst="rect">
            <a:avLst/>
          </a:prstGeom>
          <a:solidFill>
            <a:srgbClr val="FCE8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5852275" y="3474725"/>
            <a:ext cx="47400" cy="1066500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 txBox="1"/>
          <p:nvPr/>
        </p:nvSpPr>
        <p:spPr>
          <a:xfrm>
            <a:off x="6049556" y="3514650"/>
            <a:ext cx="544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Critical Finding</a:t>
            </a:r>
            <a:endParaRPr/>
          </a:p>
        </p:txBody>
      </p:sp>
      <p:sp>
        <p:nvSpPr>
          <p:cNvPr id="328" name="Google Shape;328;p8"/>
          <p:cNvSpPr txBox="1"/>
          <p:nvPr/>
        </p:nvSpPr>
        <p:spPr>
          <a:xfrm>
            <a:off x="6049556" y="3840481"/>
            <a:ext cx="5445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main Search Intent campaign (£15K spend in 2025, £74K in 2026) has Poor-rated ads. </a:t>
            </a:r>
            <a:endParaRPr b="0"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This directly causes Below Average ad relevance on 71% of keywords. </a:t>
            </a:r>
            <a:endParaRPr b="0"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Poor ads = low QS = higher CPCs = higher CPA. This has been the case across both years.</a:t>
            </a:r>
            <a:endParaRPr/>
          </a:p>
        </p:txBody>
      </p:sp>
      <p:sp>
        <p:nvSpPr>
          <p:cNvPr id="329" name="Google Shape;329;p8"/>
          <p:cNvSpPr/>
          <p:nvPr/>
        </p:nvSpPr>
        <p:spPr>
          <a:xfrm>
            <a:off x="548640" y="4769471"/>
            <a:ext cx="5029200" cy="1371600"/>
          </a:xfrm>
          <a:prstGeom prst="rect">
            <a:avLst/>
          </a:prstGeom>
          <a:solidFill>
            <a:srgbClr val="F5F6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548640" y="4769471"/>
            <a:ext cx="54900" cy="1371600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 txBox="1"/>
          <p:nvPr/>
        </p:nvSpPr>
        <p:spPr>
          <a:xfrm>
            <a:off x="777240" y="4860911"/>
            <a:ext cx="466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Spend on Poor/Average Ads</a:t>
            </a:r>
            <a:endParaRPr/>
          </a:p>
        </p:txBody>
      </p:sp>
      <p:sp>
        <p:nvSpPr>
          <p:cNvPr id="332" name="Google Shape;332;p8"/>
          <p:cNvSpPr txBox="1"/>
          <p:nvPr/>
        </p:nvSpPr>
        <p:spPr>
          <a:xfrm>
            <a:off x="777240" y="5135231"/>
            <a:ext cx="46635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2025: £265,869 total spend — same ads running throughout</a:t>
            </a:r>
            <a:b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2026: £175,467 total spend — same ads, but at nearly double the budget</a:t>
            </a:r>
            <a:b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ads haven't been rewritten as spend has scaled. The same Poor-rated ads that ran at £15K/month are now running at £58K/month.</a:t>
            </a:r>
            <a:endParaRPr/>
          </a:p>
        </p:txBody>
      </p:sp>
      <p:sp>
        <p:nvSpPr>
          <p:cNvPr id="333" name="Google Shape;333;p8"/>
          <p:cNvSpPr/>
          <p:nvPr/>
        </p:nvSpPr>
        <p:spPr>
          <a:xfrm>
            <a:off x="5852150" y="4769481"/>
            <a:ext cx="5760600" cy="1371600"/>
          </a:xfrm>
          <a:prstGeom prst="rect">
            <a:avLst/>
          </a:prstGeom>
          <a:solidFill>
            <a:srgbClr val="E8F0FE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 txBox="1"/>
          <p:nvPr/>
        </p:nvSpPr>
        <p:spPr>
          <a:xfrm>
            <a:off x="6080750" y="4815199"/>
            <a:ext cx="53034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Recommendation: </a:t>
            </a:r>
            <a:endParaRPr b="1" sz="1200">
              <a:solidFill>
                <a:srgbClr val="1A237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Char char="●"/>
            </a:pPr>
            <a:r>
              <a:rPr b="1" lang="en-US" sz="12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Rewrite all Poor and Average ads. </a:t>
            </a:r>
            <a:endParaRPr b="1" sz="1200">
              <a:solidFill>
                <a:srgbClr val="1A237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Char char="●"/>
            </a:pPr>
            <a:r>
              <a:rPr b="1" lang="en-US" sz="12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Match headlines to search intent. </a:t>
            </a:r>
            <a:endParaRPr b="1" sz="1200">
              <a:solidFill>
                <a:srgbClr val="1A237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Char char="●"/>
            </a:pPr>
            <a:r>
              <a:rPr b="1" lang="en-US" sz="12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Test 2-3 RSA variants per ad group.</a:t>
            </a:r>
            <a:endParaRPr b="1" sz="1200">
              <a:solidFill>
                <a:srgbClr val="1A237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This is the #1 lever for reducing CPA. </a:t>
            </a:r>
            <a:endParaRPr b="1" sz="1200">
              <a:solidFill>
                <a:srgbClr val="1A237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Better ads = higher QS = lower CPCs = more patients for the same budget.</a:t>
            </a:r>
            <a:endParaRPr b="1" sz="1200">
              <a:solidFill>
                <a:srgbClr val="1A2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ct_logo_official.png" id="339" name="Google Shape;33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8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  |  christopherhoole.com  |  Confidential</a:t>
            </a:r>
            <a:endParaRPr/>
          </a:p>
        </p:txBody>
      </p:sp>
      <p:sp>
        <p:nvSpPr>
          <p:cNvPr id="341" name="Google Shape;341;p8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9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Landing Page Performance</a:t>
            </a:r>
            <a:endParaRPr/>
          </a:p>
        </p:txBody>
      </p:sp>
      <p:sp>
        <p:nvSpPr>
          <p:cNvPr id="351" name="Google Shape;351;p9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CPA varies 7x+ across landing pages — and has worsened year-on-year on the top pages</a:t>
            </a:r>
            <a:endParaRPr sz="1200"/>
          </a:p>
        </p:txBody>
      </p:sp>
      <p:sp>
        <p:nvSpPr>
          <p:cNvPr id="352" name="Google Shape;352;p9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2025 vs 2026</a:t>
            </a:r>
            <a:endParaRPr sz="1200"/>
          </a:p>
        </p:txBody>
      </p:sp>
      <p:pic>
        <p:nvPicPr>
          <p:cNvPr descr="lp_cpa_yoy.png" id="354" name="Google Shape;35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188720"/>
            <a:ext cx="731520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9"/>
          <p:cNvSpPr/>
          <p:nvPr/>
        </p:nvSpPr>
        <p:spPr>
          <a:xfrm>
            <a:off x="8138160" y="1188720"/>
            <a:ext cx="3474720" cy="1463040"/>
          </a:xfrm>
          <a:prstGeom prst="rect">
            <a:avLst/>
          </a:prstGeom>
          <a:solidFill>
            <a:srgbClr val="E6F4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8138160" y="1188720"/>
            <a:ext cx="54864" cy="1463040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 txBox="1"/>
          <p:nvPr/>
        </p:nvSpPr>
        <p:spPr>
          <a:xfrm>
            <a:off x="8366760" y="12801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Best Performer</a:t>
            </a:r>
            <a:endParaRPr/>
          </a:p>
        </p:txBody>
      </p:sp>
      <p:sp>
        <p:nvSpPr>
          <p:cNvPr id="358" name="Google Shape;358;p9"/>
          <p:cNvSpPr txBox="1"/>
          <p:nvPr/>
        </p:nvSpPr>
        <p:spPr>
          <a:xfrm>
            <a:off x="8366750" y="1554475"/>
            <a:ext cx="3182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/dental-implants-offer: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●"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2025: £67 CPA, 6.8% CVR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●"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2026: £34 CPA, 24.7% CVR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Improved as Financing ad group sends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cost-conscious traffic here.</a:t>
            </a:r>
            <a:endParaRPr/>
          </a:p>
        </p:txBody>
      </p:sp>
      <p:sp>
        <p:nvSpPr>
          <p:cNvPr id="359" name="Google Shape;359;p9"/>
          <p:cNvSpPr/>
          <p:nvPr/>
        </p:nvSpPr>
        <p:spPr>
          <a:xfrm>
            <a:off x="8138160" y="2834640"/>
            <a:ext cx="3474720" cy="1828800"/>
          </a:xfrm>
          <a:prstGeom prst="rect">
            <a:avLst/>
          </a:prstGeom>
          <a:solidFill>
            <a:srgbClr val="FCE8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8138160" y="2834640"/>
            <a:ext cx="54864" cy="1828800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 txBox="1"/>
          <p:nvPr/>
        </p:nvSpPr>
        <p:spPr>
          <a:xfrm>
            <a:off x="8366760" y="292608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Worst Performer</a:t>
            </a:r>
            <a:endParaRPr/>
          </a:p>
        </p:txBody>
      </p:sp>
      <p:sp>
        <p:nvSpPr>
          <p:cNvPr id="362" name="Google Shape;362;p9"/>
          <p:cNvSpPr txBox="1"/>
          <p:nvPr/>
        </p:nvSpPr>
        <p:spPr>
          <a:xfrm>
            <a:off x="8366760" y="3200400"/>
            <a:ext cx="3108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/teeth-implants (highest spend):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●"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2025: £82 CPA, 9.3% CVR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●"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2026: £111 CPA, 8.5% CVR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CPA risen 35% YoY despite receiving £31K in 2026,  the most of any page.</a:t>
            </a:r>
            <a:endParaRPr/>
          </a:p>
        </p:txBody>
      </p:sp>
      <p:sp>
        <p:nvSpPr>
          <p:cNvPr id="363" name="Google Shape;363;p9"/>
          <p:cNvSpPr/>
          <p:nvPr/>
        </p:nvSpPr>
        <p:spPr>
          <a:xfrm>
            <a:off x="548640" y="4846320"/>
            <a:ext cx="5303520" cy="1097280"/>
          </a:xfrm>
          <a:prstGeom prst="rect">
            <a:avLst/>
          </a:prstGeom>
          <a:solidFill>
            <a:srgbClr val="E8F0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548640" y="4846320"/>
            <a:ext cx="54864" cy="1097280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 txBox="1"/>
          <p:nvPr/>
        </p:nvSpPr>
        <p:spPr>
          <a:xfrm>
            <a:off x="777240" y="493776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The Good News</a:t>
            </a:r>
            <a:endParaRPr/>
          </a:p>
        </p:txBody>
      </p:sp>
      <p:sp>
        <p:nvSpPr>
          <p:cNvPr id="366" name="Google Shape;366;p9"/>
          <p:cNvSpPr txBox="1"/>
          <p:nvPr/>
        </p:nvSpPr>
        <p:spPr>
          <a:xfrm>
            <a:off x="777240" y="5212080"/>
            <a:ext cx="4937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QS data confirms landing pages score well (71% Above Average both years). </a:t>
            </a:r>
            <a:endParaRPr b="0"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pages aren't the problem — it's which traffic reaches which page.</a:t>
            </a:r>
            <a:endParaRPr/>
          </a:p>
        </p:txBody>
      </p:sp>
      <p:sp>
        <p:nvSpPr>
          <p:cNvPr id="367" name="Google Shape;367;p9"/>
          <p:cNvSpPr/>
          <p:nvPr/>
        </p:nvSpPr>
        <p:spPr>
          <a:xfrm>
            <a:off x="6217925" y="4846330"/>
            <a:ext cx="5394900" cy="1097400"/>
          </a:xfrm>
          <a:prstGeom prst="rect">
            <a:avLst/>
          </a:prstGeom>
          <a:solidFill>
            <a:srgbClr val="E8F0FE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 txBox="1"/>
          <p:nvPr/>
        </p:nvSpPr>
        <p:spPr>
          <a:xfrm>
            <a:off x="6446525" y="4892062"/>
            <a:ext cx="4937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Recommendation: </a:t>
            </a:r>
            <a:endParaRPr b="1" sz="1100">
              <a:solidFill>
                <a:srgbClr val="1A237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Route traffic to the best-converting pages. </a:t>
            </a:r>
            <a:endParaRPr b="1" sz="1100">
              <a:solidFill>
                <a:srgbClr val="1A237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/dental-implants-offer at £34 CPA should receive more traffic than /teeth-implants at £111.</a:t>
            </a: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ct_logo_official.png" id="373" name="Google Shape;37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9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  |  christopherhoole.com  |  Confidential</a:t>
            </a:r>
            <a:endParaRPr/>
          </a:p>
        </p:txBody>
      </p:sp>
      <p:sp>
        <p:nvSpPr>
          <p:cNvPr id="375" name="Google Shape;375;p9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0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Change History</a:t>
            </a:r>
            <a:endParaRPr/>
          </a:p>
        </p:txBody>
      </p:sp>
      <p:sp>
        <p:nvSpPr>
          <p:cNvPr id="385" name="Google Shape;385;p10"/>
          <p:cNvSpPr txBox="1"/>
          <p:nvPr/>
        </p:nvSpPr>
        <p:spPr>
          <a:xfrm>
            <a:off x="548640" y="777240"/>
            <a:ext cx="822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2,543 changes — 89% by one person, 24 by auto-apply</a:t>
            </a:r>
            <a:endParaRPr sz="1200"/>
          </a:p>
        </p:txBody>
      </p:sp>
      <p:sp>
        <p:nvSpPr>
          <p:cNvPr id="386" name="Google Shape;386;p10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Account Management</a:t>
            </a:r>
            <a:endParaRPr sz="1200"/>
          </a:p>
        </p:txBody>
      </p:sp>
      <p:sp>
        <p:nvSpPr>
          <p:cNvPr id="388" name="Google Shape;388;p10"/>
          <p:cNvSpPr txBox="1"/>
          <p:nvPr/>
        </p:nvSpPr>
        <p:spPr>
          <a:xfrm>
            <a:off x="548640" y="109728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Who Manages the Account</a:t>
            </a:r>
            <a:endParaRPr/>
          </a:p>
        </p:txBody>
      </p:sp>
      <p:graphicFrame>
        <p:nvGraphicFramePr>
          <p:cNvPr id="389" name="Google Shape;389;p10"/>
          <p:cNvGraphicFramePr/>
          <p:nvPr/>
        </p:nvGraphicFramePr>
        <p:xfrm>
          <a:off x="603540" y="1417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{5F478FAD-347B-4F49-8540-2B5B95D65749}</a:tableStyleId>
              </a:tblPr>
              <a:tblGrid>
                <a:gridCol w="2383850"/>
                <a:gridCol w="1144150"/>
                <a:gridCol w="172050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Changes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giulio.zanchetta@majestico.it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2,264 (89%)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In-house (Giulio)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taranjeet@kaumediagroup.com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166 (7%)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Previous agency (KMG)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nav@kaumediagroup.com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Previous agency (KMG)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Recommendations Auto-Apply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system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junad@kaumediagroup.com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Previous agency (KMG)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sarahm@kaumediagroup.com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Previous agency (KMG)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Ads System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system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390" name="Google Shape;390;p10"/>
          <p:cNvSpPr txBox="1"/>
          <p:nvPr/>
        </p:nvSpPr>
        <p:spPr>
          <a:xfrm>
            <a:off x="6217920" y="109728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What's Being Changed</a:t>
            </a:r>
            <a:endParaRPr/>
          </a:p>
        </p:txBody>
      </p:sp>
      <p:graphicFrame>
        <p:nvGraphicFramePr>
          <p:cNvPr id="391" name="Google Shape;391;p10"/>
          <p:cNvGraphicFramePr/>
          <p:nvPr/>
        </p:nvGraphicFramePr>
        <p:xfrm>
          <a:off x="6272820" y="1417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{5F478FAD-347B-4F49-8540-2B5B95D65749}</a:tableStyleId>
              </a:tblPr>
              <a:tblGrid>
                <a:gridCol w="1568800"/>
                <a:gridCol w="936625"/>
                <a:gridCol w="2834550"/>
              </a:tblGrid>
              <a:tr h="28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Assessment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</a:tr>
              <a:tr h="28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Keywords added/paused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1,315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Highest activity — frequent keyword management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</a:tr>
              <a:tr h="28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Campaign changes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Many campaigns created and paused over time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8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Location, device, audience changes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</a:tr>
              <a:tr h="28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 changes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 creation and modification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8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Bid strategy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Multiple strategy changes over time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</a:tr>
              <a:tr h="28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Budget changes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Frequent budget adjustments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8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Assets (PMax)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PMax asset group management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FA"/>
                    </a:solidFill>
                  </a:tcPr>
                </a:tc>
              </a:tr>
              <a:tr h="28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Negative keywords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Negative keyword additions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2" name="Google Shape;392;p10"/>
          <p:cNvSpPr/>
          <p:nvPr/>
        </p:nvSpPr>
        <p:spPr>
          <a:xfrm>
            <a:off x="548640" y="4541082"/>
            <a:ext cx="5303400" cy="1645800"/>
          </a:xfrm>
          <a:prstGeom prst="rect">
            <a:avLst/>
          </a:prstGeom>
          <a:solidFill>
            <a:srgbClr val="E8F0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548640" y="4541082"/>
            <a:ext cx="54900" cy="1645800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 txBox="1"/>
          <p:nvPr/>
        </p:nvSpPr>
        <p:spPr>
          <a:xfrm>
            <a:off x="777240" y="4632522"/>
            <a:ext cx="493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Key Observation</a:t>
            </a:r>
            <a:endParaRPr/>
          </a:p>
        </p:txBody>
      </p:sp>
      <p:sp>
        <p:nvSpPr>
          <p:cNvPr id="395" name="Google Shape;395;p10"/>
          <p:cNvSpPr txBox="1"/>
          <p:nvPr/>
        </p:nvSpPr>
        <p:spPr>
          <a:xfrm>
            <a:off x="777240" y="4906842"/>
            <a:ext cx="4937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Giulio is doing the work of a full-time PPC specialist alongside his other responsibilities. </a:t>
            </a:r>
            <a:endParaRPr b="0"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2,264 changes shows significant effort and engagement with the account. </a:t>
            </a:r>
            <a:endParaRPr b="0"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issue isn't lack of activity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it's that the foundations (conversion tracking, ad quality, negative keywords) need specialist attention that goes beyond day-to-day management.</a:t>
            </a: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6217920" y="4541082"/>
            <a:ext cx="5394900" cy="1645800"/>
          </a:xfrm>
          <a:prstGeom prst="rect">
            <a:avLst/>
          </a:prstGeom>
          <a:solidFill>
            <a:srgbClr val="FCE8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6217920" y="4541082"/>
            <a:ext cx="54900" cy="1645800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 txBox="1"/>
          <p:nvPr/>
        </p:nvSpPr>
        <p:spPr>
          <a:xfrm>
            <a:off x="6446520" y="4632522"/>
            <a:ext cx="502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Auto-Apply: 24 Changes</a:t>
            </a:r>
            <a:endParaRPr/>
          </a:p>
        </p:txBody>
      </p:sp>
      <p:sp>
        <p:nvSpPr>
          <p:cNvPr id="399" name="Google Shape;399;p10"/>
          <p:cNvSpPr txBox="1"/>
          <p:nvPr/>
        </p:nvSpPr>
        <p:spPr>
          <a:xfrm>
            <a:off x="6446520" y="4906842"/>
            <a:ext cx="50292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Google auto-removed keywords including [low cost dental implants], [cheapest dental implants], [all on 6 dental implants], [implant teeth cost], and [replace teeth]. </a:t>
            </a:r>
            <a:endParaRPr b="0"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Several of these are high-intent keywords that should be in the account. </a:t>
            </a:r>
            <a:endParaRPr b="0"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Auto-apply is removing keywords without human oversight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I</a:t>
            </a: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recommend disabling.</a:t>
            </a:r>
            <a:endParaRPr/>
          </a:p>
        </p:txBody>
      </p:sp>
      <p:sp>
        <p:nvSpPr>
          <p:cNvPr id="400" name="Google Shape;400;p10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ct_logo_official.png" id="404" name="Google Shape;40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0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  |  christopherhoole.com  |  Confidential</a:t>
            </a:r>
            <a:endParaRPr/>
          </a:p>
        </p:txBody>
      </p:sp>
      <p:sp>
        <p:nvSpPr>
          <p:cNvPr id="406" name="Google Shape;406;p10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Issues Summary — Prioritised</a:t>
            </a:r>
            <a:endParaRPr/>
          </a:p>
        </p:txBody>
      </p:sp>
      <p:sp>
        <p:nvSpPr>
          <p:cNvPr id="416" name="Google Shape;416;p11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12 Issues Identified</a:t>
            </a:r>
            <a:endParaRPr sz="1200"/>
          </a:p>
        </p:txBody>
      </p:sp>
      <p:sp>
        <p:nvSpPr>
          <p:cNvPr id="418" name="Google Shape;418;p11"/>
          <p:cNvSpPr/>
          <p:nvPr/>
        </p:nvSpPr>
        <p:spPr>
          <a:xfrm>
            <a:off x="548650" y="1097275"/>
            <a:ext cx="3474600" cy="4185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548650" y="1097275"/>
            <a:ext cx="54900" cy="4185600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1"/>
          <p:cNvSpPr txBox="1"/>
          <p:nvPr/>
        </p:nvSpPr>
        <p:spPr>
          <a:xfrm>
            <a:off x="731520" y="12344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Critical (Fix Immediately)</a:t>
            </a:r>
            <a:endParaRPr/>
          </a:p>
        </p:txBody>
      </p:sp>
      <p:sp>
        <p:nvSpPr>
          <p:cNvPr id="421" name="Google Shape;421;p11"/>
          <p:cNvSpPr txBox="1"/>
          <p:nvPr/>
        </p:nvSpPr>
        <p:spPr>
          <a:xfrm>
            <a:off x="731525" y="1645924"/>
            <a:ext cx="31089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1. Ghost conversions (KMG)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1,511 phantom conversions misleading the bidding algorithm. Confirmed by Giulio as legacy data.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2. ROAS on arbitrary £300 values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Algorithm chasing sparse booking signals instead of optimising for lead volume.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3. 90% of ads Poor/Average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Directly causing Below Average ad relevance on 71% of keywords. Same ads, never rewritten.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4. Dengro Lead attribution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May include non-ad leads, inflating Google Ads credit. Pending verification.</a:t>
            </a:r>
            <a:endParaRPr/>
          </a:p>
        </p:txBody>
      </p:sp>
      <p:sp>
        <p:nvSpPr>
          <p:cNvPr id="422" name="Google Shape;422;p11"/>
          <p:cNvSpPr/>
          <p:nvPr/>
        </p:nvSpPr>
        <p:spPr>
          <a:xfrm>
            <a:off x="4297687" y="1097275"/>
            <a:ext cx="3474600" cy="4185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4297687" y="1097275"/>
            <a:ext cx="54900" cy="4185600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 txBox="1"/>
          <p:nvPr/>
        </p:nvSpPr>
        <p:spPr>
          <a:xfrm>
            <a:off x="4480560" y="12344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BBC05"/>
                </a:solidFill>
                <a:latin typeface="Calibri"/>
                <a:ea typeface="Calibri"/>
                <a:cs typeface="Calibri"/>
                <a:sym typeface="Calibri"/>
              </a:rPr>
              <a:t>Important (Fix in 30 Days)</a:t>
            </a:r>
            <a:endParaRPr/>
          </a:p>
        </p:txBody>
      </p:sp>
      <p:sp>
        <p:nvSpPr>
          <p:cNvPr id="425" name="Google Shape;425;p11"/>
          <p:cNvSpPr txBox="1"/>
          <p:nvPr/>
        </p:nvSpPr>
        <p:spPr>
          <a:xfrm>
            <a:off x="4480550" y="1645925"/>
            <a:ext cx="3108900" cy="30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5. No device bid adjustments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Desktop £67→£92 vs mobile £42→£56. Gap widening.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6. No ad schedule adjustments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7am: £56→£74 CPA (worst both years). No scheduling exists.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7. No day-of-week adjustments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Sunday: £45→£68 CPA, 4.1% CVR (lowest). Emerging problem.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8. 47 campaigns (43 paused)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Structural confusion from legacy agencies. Remove all paused 6+ months.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9. Auto-apply enabled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24 keyword removals without human review. Disable immediately.</a:t>
            </a:r>
            <a:endParaRPr/>
          </a:p>
        </p:txBody>
      </p:sp>
      <p:sp>
        <p:nvSpPr>
          <p:cNvPr id="426" name="Google Shape;426;p11"/>
          <p:cNvSpPr/>
          <p:nvPr/>
        </p:nvSpPr>
        <p:spPr>
          <a:xfrm>
            <a:off x="8046724" y="1097275"/>
            <a:ext cx="3566100" cy="4185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8046724" y="1097275"/>
            <a:ext cx="54900" cy="4185600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 txBox="1"/>
          <p:nvPr/>
        </p:nvSpPr>
        <p:spPr>
          <a:xfrm>
            <a:off x="8229600" y="123444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Monitor (Ongoing)</a:t>
            </a:r>
            <a:endParaRPr/>
          </a:p>
        </p:txBody>
      </p:sp>
      <p:sp>
        <p:nvSpPr>
          <p:cNvPr id="429" name="Google Shape;429;p11"/>
          <p:cNvSpPr txBox="1"/>
          <p:nvPr/>
        </p:nvSpPr>
        <p:spPr>
          <a:xfrm>
            <a:off x="8229600" y="1645924"/>
            <a:ext cx="3200400" cy="18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10. 784 broad match negatives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Account-level lists may block legitimate traffic. Full audit needed. Replace with phrase/exact.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11. Landing page CPA variance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7x+ range (£18–£142 in 2026). Optimise traffic routing to best-converting pages.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12. Quality Score declining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Weighted avg: 6.9→6.4. Ad relevance is the driver. Ad rewrites will address this.</a:t>
            </a:r>
            <a:endParaRPr/>
          </a:p>
        </p:txBody>
      </p:sp>
      <p:sp>
        <p:nvSpPr>
          <p:cNvPr id="430" name="Google Shape;430;p11"/>
          <p:cNvSpPr/>
          <p:nvPr/>
        </p:nvSpPr>
        <p:spPr>
          <a:xfrm>
            <a:off x="548640" y="5838202"/>
            <a:ext cx="11064300" cy="365700"/>
          </a:xfrm>
          <a:prstGeom prst="rect">
            <a:avLst/>
          </a:prstGeom>
          <a:solidFill>
            <a:srgbClr val="E8F0FE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 txBox="1"/>
          <p:nvPr/>
        </p:nvSpPr>
        <p:spPr>
          <a:xfrm>
            <a:off x="777240" y="5883922"/>
            <a:ext cx="10607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The 4 Critical issues affect every conversion and every pound spent. Fixing them is the foundation for everything else.</a:t>
            </a:r>
            <a:endParaRPr sz="1200"/>
          </a:p>
        </p:txBody>
      </p:sp>
      <p:sp>
        <p:nvSpPr>
          <p:cNvPr id="432" name="Google Shape;432;p11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ct_logo_official.png" id="436" name="Google Shape;4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1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  |  christopherhoole.com  |  Confidential</a:t>
            </a:r>
            <a:endParaRPr/>
          </a:p>
        </p:txBody>
      </p:sp>
      <p:sp>
        <p:nvSpPr>
          <p:cNvPr id="438" name="Google Shape;438;p11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2"/>
          <p:cNvSpPr/>
          <p:nvPr/>
        </p:nvSpPr>
        <p:spPr>
          <a:xfrm>
            <a:off x="0" y="0"/>
            <a:ext cx="3047695" cy="64008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3047695" y="0"/>
            <a:ext cx="3047695" cy="64008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6095390" y="0"/>
            <a:ext cx="3047695" cy="64008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9143085" y="0"/>
            <a:ext cx="3047695" cy="64008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ct_logo_official.png" id="448" name="Google Shape;44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45720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2"/>
          <p:cNvSpPr txBox="1"/>
          <p:nvPr/>
        </p:nvSpPr>
        <p:spPr>
          <a:xfrm>
            <a:off x="548640" y="1280160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What's Next</a:t>
            </a:r>
            <a:endParaRPr/>
          </a:p>
        </p:txBody>
      </p:sp>
      <p:sp>
        <p:nvSpPr>
          <p:cNvPr id="450" name="Google Shape;450;p12"/>
          <p:cNvSpPr/>
          <p:nvPr/>
        </p:nvSpPr>
        <p:spPr>
          <a:xfrm>
            <a:off x="548640" y="2011680"/>
            <a:ext cx="2286000" cy="45720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 txBox="1"/>
          <p:nvPr/>
        </p:nvSpPr>
        <p:spPr>
          <a:xfrm>
            <a:off x="548640" y="21945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These issues become the foundation for Report 3</a:t>
            </a:r>
            <a:endParaRPr/>
          </a:p>
        </p:txBody>
      </p:sp>
      <p:sp>
        <p:nvSpPr>
          <p:cNvPr id="452" name="Google Shape;452;p12"/>
          <p:cNvSpPr/>
          <p:nvPr/>
        </p:nvSpPr>
        <p:spPr>
          <a:xfrm>
            <a:off x="548640" y="260604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548640" y="2606040"/>
            <a:ext cx="54864" cy="457200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 txBox="1"/>
          <p:nvPr/>
        </p:nvSpPr>
        <p:spPr>
          <a:xfrm>
            <a:off x="777240" y="2679192"/>
            <a:ext cx="4572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1" lang="en-US" sz="12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Remove KMG ghost conversion actions</a:t>
            </a:r>
            <a:endParaRPr sz="1200"/>
          </a:p>
        </p:txBody>
      </p:sp>
      <p:sp>
        <p:nvSpPr>
          <p:cNvPr id="455" name="Google Shape;455;p12"/>
          <p:cNvSpPr/>
          <p:nvPr/>
        </p:nvSpPr>
        <p:spPr>
          <a:xfrm>
            <a:off x="548640" y="315468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548640" y="3154680"/>
            <a:ext cx="54864" cy="457200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 txBox="1"/>
          <p:nvPr/>
        </p:nvSpPr>
        <p:spPr>
          <a:xfrm>
            <a:off x="777240" y="3227832"/>
            <a:ext cx="4572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1" lang="en-US" sz="12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Move soft signals to Secondary</a:t>
            </a:r>
            <a:endParaRPr sz="1200"/>
          </a:p>
        </p:txBody>
      </p:sp>
      <p:sp>
        <p:nvSpPr>
          <p:cNvPr id="458" name="Google Shape;458;p12"/>
          <p:cNvSpPr/>
          <p:nvPr/>
        </p:nvSpPr>
        <p:spPr>
          <a:xfrm>
            <a:off x="548640" y="370332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548640" y="3703320"/>
            <a:ext cx="54864" cy="457200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2"/>
          <p:cNvSpPr txBox="1"/>
          <p:nvPr/>
        </p:nvSpPr>
        <p:spPr>
          <a:xfrm>
            <a:off x="777240" y="3776472"/>
            <a:ext cx="4572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BBC05"/>
                </a:solidFill>
                <a:latin typeface="Calibri"/>
                <a:ea typeface="Calibri"/>
                <a:cs typeface="Calibri"/>
                <a:sym typeface="Calibri"/>
              </a:rPr>
              <a:t>3.  </a:t>
            </a:r>
            <a:r>
              <a:rPr b="1" lang="en-US" sz="12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Verify Dengro Offline Lead attribution</a:t>
            </a:r>
            <a:endParaRPr sz="1200"/>
          </a:p>
        </p:txBody>
      </p:sp>
      <p:sp>
        <p:nvSpPr>
          <p:cNvPr id="461" name="Google Shape;461;p12"/>
          <p:cNvSpPr/>
          <p:nvPr/>
        </p:nvSpPr>
        <p:spPr>
          <a:xfrm>
            <a:off x="548640" y="425196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548640" y="4251960"/>
            <a:ext cx="54864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2"/>
          <p:cNvSpPr txBox="1"/>
          <p:nvPr/>
        </p:nvSpPr>
        <p:spPr>
          <a:xfrm>
            <a:off x="777240" y="4325112"/>
            <a:ext cx="4572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4.  </a:t>
            </a:r>
            <a:r>
              <a:rPr b="1" lang="en-US" sz="12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Rewrite all Poor/Average ads</a:t>
            </a:r>
            <a:endParaRPr sz="1200"/>
          </a:p>
        </p:txBody>
      </p:sp>
      <p:sp>
        <p:nvSpPr>
          <p:cNvPr id="464" name="Google Shape;464;p12"/>
          <p:cNvSpPr/>
          <p:nvPr/>
        </p:nvSpPr>
        <p:spPr>
          <a:xfrm>
            <a:off x="548640" y="480060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548640" y="4800600"/>
            <a:ext cx="54864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2"/>
          <p:cNvSpPr txBox="1"/>
          <p:nvPr/>
        </p:nvSpPr>
        <p:spPr>
          <a:xfrm>
            <a:off x="777240" y="4873752"/>
            <a:ext cx="4572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5.  </a:t>
            </a:r>
            <a:r>
              <a:rPr b="1" lang="en-US" sz="12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Evaluate bid strategy: tCPA vs tROAS</a:t>
            </a:r>
            <a:endParaRPr sz="1200"/>
          </a:p>
        </p:txBody>
      </p:sp>
      <p:sp>
        <p:nvSpPr>
          <p:cNvPr id="467" name="Google Shape;467;p12"/>
          <p:cNvSpPr/>
          <p:nvPr/>
        </p:nvSpPr>
        <p:spPr>
          <a:xfrm>
            <a:off x="548640" y="534924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548640" y="5349240"/>
            <a:ext cx="54864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2"/>
          <p:cNvSpPr txBox="1"/>
          <p:nvPr/>
        </p:nvSpPr>
        <p:spPr>
          <a:xfrm>
            <a:off x="777240" y="5422392"/>
            <a:ext cx="4572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6.  </a:t>
            </a:r>
            <a:r>
              <a:rPr b="1" lang="en-US" sz="12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Clean up 43 paused campaigns</a:t>
            </a:r>
            <a:endParaRPr sz="1200"/>
          </a:p>
        </p:txBody>
      </p:sp>
      <p:sp>
        <p:nvSpPr>
          <p:cNvPr id="470" name="Google Shape;470;p12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2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2"/>
          <p:cNvSpPr txBox="1"/>
          <p:nvPr/>
        </p:nvSpPr>
        <p:spPr>
          <a:xfrm>
            <a:off x="6492240" y="5486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Coming Next</a:t>
            </a:r>
            <a:endParaRPr/>
          </a:p>
        </p:txBody>
      </p:sp>
      <p:sp>
        <p:nvSpPr>
          <p:cNvPr id="473" name="Google Shape;473;p12"/>
          <p:cNvSpPr txBox="1"/>
          <p:nvPr/>
        </p:nvSpPr>
        <p:spPr>
          <a:xfrm>
            <a:off x="6492250" y="914400"/>
            <a:ext cx="4937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Report 3:</a:t>
            </a:r>
            <a:br>
              <a:rPr b="1" lang="en-US" sz="4000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4000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Restructure Plan</a:t>
            </a:r>
            <a:endParaRPr/>
          </a:p>
        </p:txBody>
      </p:sp>
      <p:sp>
        <p:nvSpPr>
          <p:cNvPr id="474" name="Google Shape;474;p12"/>
          <p:cNvSpPr txBox="1"/>
          <p:nvPr/>
        </p:nvSpPr>
        <p:spPr>
          <a:xfrm>
            <a:off x="6492240" y="2097959"/>
            <a:ext cx="4937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Proposed campaign structure, bid strategy, conversion tracking fixes, ad copy plan, and projected CPA targets.</a:t>
            </a:r>
            <a:endParaRPr/>
          </a:p>
        </p:txBody>
      </p:sp>
      <p:sp>
        <p:nvSpPr>
          <p:cNvPr id="475" name="Google Shape;475;p12"/>
          <p:cNvSpPr/>
          <p:nvPr/>
        </p:nvSpPr>
        <p:spPr>
          <a:xfrm>
            <a:off x="6217920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2"/>
          <p:cNvSpPr/>
          <p:nvPr/>
        </p:nvSpPr>
        <p:spPr>
          <a:xfrm>
            <a:off x="6217920" y="2926080"/>
            <a:ext cx="54864" cy="1051560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2"/>
          <p:cNvSpPr txBox="1"/>
          <p:nvPr/>
        </p:nvSpPr>
        <p:spPr>
          <a:xfrm>
            <a:off x="6355080" y="3035808"/>
            <a:ext cx="14447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78" name="Google Shape;478;p12"/>
          <p:cNvSpPr txBox="1"/>
          <p:nvPr/>
        </p:nvSpPr>
        <p:spPr>
          <a:xfrm>
            <a:off x="6355080" y="3474720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Critical Issues</a:t>
            </a:r>
            <a:endParaRPr/>
          </a:p>
        </p:txBody>
      </p:sp>
      <p:sp>
        <p:nvSpPr>
          <p:cNvPr id="479" name="Google Shape;479;p12"/>
          <p:cNvSpPr/>
          <p:nvPr/>
        </p:nvSpPr>
        <p:spPr>
          <a:xfrm>
            <a:off x="8074152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8074152" y="2926080"/>
            <a:ext cx="54864" cy="1051560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2"/>
          <p:cNvSpPr txBox="1"/>
          <p:nvPr/>
        </p:nvSpPr>
        <p:spPr>
          <a:xfrm>
            <a:off x="8211312" y="3035808"/>
            <a:ext cx="14447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BBC0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82" name="Google Shape;482;p12"/>
          <p:cNvSpPr txBox="1"/>
          <p:nvPr/>
        </p:nvSpPr>
        <p:spPr>
          <a:xfrm>
            <a:off x="8211312" y="3474720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Important Issues</a:t>
            </a:r>
            <a:endParaRPr/>
          </a:p>
        </p:txBody>
      </p:sp>
      <p:sp>
        <p:nvSpPr>
          <p:cNvPr id="483" name="Google Shape;483;p12"/>
          <p:cNvSpPr/>
          <p:nvPr/>
        </p:nvSpPr>
        <p:spPr>
          <a:xfrm>
            <a:off x="9939528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9939528" y="2926080"/>
            <a:ext cx="54864" cy="1051560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2"/>
          <p:cNvSpPr txBox="1"/>
          <p:nvPr/>
        </p:nvSpPr>
        <p:spPr>
          <a:xfrm>
            <a:off x="10076688" y="3035808"/>
            <a:ext cx="14447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Report 3</a:t>
            </a:r>
            <a:endParaRPr/>
          </a:p>
        </p:txBody>
      </p:sp>
      <p:sp>
        <p:nvSpPr>
          <p:cNvPr id="486" name="Google Shape;486;p12"/>
          <p:cNvSpPr txBox="1"/>
          <p:nvPr/>
        </p:nvSpPr>
        <p:spPr>
          <a:xfrm>
            <a:off x="10076688" y="3474720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Coming Next</a:t>
            </a:r>
            <a:endParaRPr/>
          </a:p>
        </p:txBody>
      </p:sp>
      <p:sp>
        <p:nvSpPr>
          <p:cNvPr id="487" name="Google Shape;487;p12"/>
          <p:cNvSpPr/>
          <p:nvPr/>
        </p:nvSpPr>
        <p:spPr>
          <a:xfrm>
            <a:off x="0" y="6400800"/>
            <a:ext cx="3047695" cy="36576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3047695" y="6400800"/>
            <a:ext cx="3047695" cy="36576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6095390" y="6400800"/>
            <a:ext cx="3047695" cy="36576"/>
          </a:xfrm>
          <a:prstGeom prst="rect">
            <a:avLst/>
          </a:prstGeom>
          <a:solidFill>
            <a:srgbClr val="FBBC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9143085" y="6400800"/>
            <a:ext cx="3047695" cy="36576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