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Waste Spend
Analysis</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Data: 2025 (full year) + 2026 (Q1, Jan–Apr)</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Identified Waste (Search Terms)</a:t>
            </a:r>
          </a:p>
        </p:txBody>
      </p:sp>
      <p:sp>
        <p:nvSpPr>
          <p:cNvPr id="17" name="TextBox 16"/>
          <p:cNvSpPr txBox="1"/>
          <p:nvPr/>
        </p:nvSpPr>
        <p:spPr>
          <a:xfrm>
            <a:off x="6492240" y="914400"/>
            <a:ext cx="4937760" cy="731520"/>
          </a:xfrm>
          <a:prstGeom prst="rect">
            <a:avLst/>
          </a:prstGeom>
          <a:noFill/>
        </p:spPr>
        <p:txBody>
          <a:bodyPr wrap="square">
            <a:spAutoFit/>
          </a:bodyPr>
          <a:lstStyle/>
          <a:p>
            <a:pPr algn="l"/>
            <a:r>
              <a:rPr sz="4400" b="1">
                <a:solidFill>
                  <a:srgbClr val="EA4335"/>
                </a:solidFill>
                <a:latin typeface="Calibri"/>
              </a:rPr>
              <a:t>£146,076</a:t>
            </a:r>
          </a:p>
        </p:txBody>
      </p:sp>
      <p:sp>
        <p:nvSpPr>
          <p:cNvPr id="18" name="TextBox 17"/>
          <p:cNvSpPr txBox="1"/>
          <p:nvPr/>
        </p:nvSpPr>
        <p:spPr>
          <a:xfrm>
            <a:off x="6492240" y="1645920"/>
            <a:ext cx="4937760" cy="457200"/>
          </a:xfrm>
          <a:prstGeom prst="rect">
            <a:avLst/>
          </a:prstGeom>
          <a:noFill/>
        </p:spPr>
        <p:txBody>
          <a:bodyPr wrap="square">
            <a:spAutoFit/>
          </a:bodyPr>
          <a:lstStyle/>
          <a:p>
            <a:pPr algn="l"/>
            <a:r>
              <a:rPr sz="1100" b="0">
                <a:solidFill>
                  <a:srgbClr val="1A1A1A"/>
                </a:solidFill>
                <a:latin typeface="Calibri"/>
              </a:rPr>
              <a:t>2025: £86,727 (47%)  |  2026 Q1: £59,349 (49%)  |  Waste rate increasing</a:t>
            </a:r>
          </a:p>
        </p:txBody>
      </p:sp>
      <p:sp>
        <p:nvSpPr>
          <p:cNvPr id="19" name="Rectangle 18"/>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035808"/>
            <a:ext cx="1444752" cy="411480"/>
          </a:xfrm>
          <a:prstGeom prst="rect">
            <a:avLst/>
          </a:prstGeom>
          <a:noFill/>
        </p:spPr>
        <p:txBody>
          <a:bodyPr wrap="square">
            <a:spAutoFit/>
          </a:bodyPr>
          <a:lstStyle/>
          <a:p>
            <a:pPr algn="l"/>
            <a:r>
              <a:rPr sz="2200" b="1">
                <a:solidFill>
                  <a:srgbClr val="EA4335"/>
                </a:solidFill>
                <a:latin typeface="Calibri"/>
              </a:rPr>
              <a:t>£46→£64</a:t>
            </a:r>
          </a:p>
        </p:txBody>
      </p:sp>
      <p:sp>
        <p:nvSpPr>
          <p:cNvPr id="22" name="TextBox 21"/>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Non-Brand CPA (YoY)</a:t>
            </a:r>
          </a:p>
        </p:txBody>
      </p:sp>
      <p:sp>
        <p:nvSpPr>
          <p:cNvPr id="23" name="Rectangle 22"/>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£441,336</a:t>
            </a:r>
          </a:p>
        </p:txBody>
      </p:sp>
      <p:sp>
        <p:nvSpPr>
          <p:cNvPr id="26" name="TextBox 25"/>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Total Spend Analysed</a:t>
            </a:r>
          </a:p>
        </p:txBody>
      </p:sp>
      <p:sp>
        <p:nvSpPr>
          <p:cNvPr id="27" name="Rectangle 26"/>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39528"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76688" y="3035808"/>
            <a:ext cx="1444752" cy="411480"/>
          </a:xfrm>
          <a:prstGeom prst="rect">
            <a:avLst/>
          </a:prstGeom>
          <a:noFill/>
        </p:spPr>
        <p:txBody>
          <a:bodyPr wrap="square">
            <a:spAutoFit/>
          </a:bodyPr>
          <a:lstStyle/>
          <a:p>
            <a:pPr algn="l"/>
            <a:r>
              <a:rPr sz="2200" b="1">
                <a:solidFill>
                  <a:srgbClr val="34A853"/>
                </a:solidFill>
                <a:latin typeface="Calibri"/>
              </a:rPr>
              <a:t>8,959</a:t>
            </a:r>
          </a:p>
        </p:txBody>
      </p:sp>
      <p:sp>
        <p:nvSpPr>
          <p:cNvPr id="30" name="TextBox 29"/>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Total Conversions</a:t>
            </a:r>
          </a:p>
        </p:txBody>
      </p:sp>
      <p:sp>
        <p:nvSpPr>
          <p:cNvPr id="31" name="Rectangle 30"/>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Executive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+ 2026 (Q1)</a:t>
            </a:r>
          </a:p>
        </p:txBody>
      </p:sp>
      <p:sp>
        <p:nvSpPr>
          <p:cNvPr id="9" name="Rectangle 8"/>
          <p:cNvSpPr/>
          <p:nvPr/>
        </p:nvSpPr>
        <p:spPr>
          <a:xfrm>
            <a:off x="54864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97280"/>
            <a:ext cx="54864" cy="9601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188720"/>
            <a:ext cx="2286000" cy="457200"/>
          </a:xfrm>
          <a:prstGeom prst="rect">
            <a:avLst/>
          </a:prstGeom>
          <a:noFill/>
        </p:spPr>
        <p:txBody>
          <a:bodyPr wrap="square">
            <a:spAutoFit/>
          </a:bodyPr>
          <a:lstStyle/>
          <a:p>
            <a:pPr algn="l"/>
            <a:r>
              <a:rPr sz="2200" b="1">
                <a:solidFill>
                  <a:srgbClr val="1A237E"/>
                </a:solidFill>
                <a:latin typeface="Calibri"/>
              </a:rPr>
              <a:t>£441,336</a:t>
            </a:r>
          </a:p>
        </p:txBody>
      </p:sp>
      <p:sp>
        <p:nvSpPr>
          <p:cNvPr id="12" name="TextBox 11"/>
          <p:cNvSpPr txBox="1"/>
          <p:nvPr/>
        </p:nvSpPr>
        <p:spPr>
          <a:xfrm>
            <a:off x="731520" y="1645920"/>
            <a:ext cx="2286000" cy="320040"/>
          </a:xfrm>
          <a:prstGeom prst="rect">
            <a:avLst/>
          </a:prstGeom>
          <a:noFill/>
        </p:spPr>
        <p:txBody>
          <a:bodyPr wrap="square">
            <a:spAutoFit/>
          </a:bodyPr>
          <a:lstStyle/>
          <a:p>
            <a:pPr algn="l"/>
            <a:r>
              <a:rPr sz="1100" b="0">
                <a:solidFill>
                  <a:srgbClr val="1A1A1A"/>
                </a:solidFill>
                <a:latin typeface="Calibri"/>
              </a:rPr>
              <a:t>Total Spend Analysed</a:t>
            </a:r>
          </a:p>
        </p:txBody>
      </p:sp>
      <p:sp>
        <p:nvSpPr>
          <p:cNvPr id="13" name="Rectangle 12"/>
          <p:cNvSpPr/>
          <p:nvPr/>
        </p:nvSpPr>
        <p:spPr>
          <a:xfrm>
            <a:off x="338328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188720"/>
            <a:ext cx="2286000" cy="457200"/>
          </a:xfrm>
          <a:prstGeom prst="rect">
            <a:avLst/>
          </a:prstGeom>
          <a:noFill/>
        </p:spPr>
        <p:txBody>
          <a:bodyPr wrap="square">
            <a:spAutoFit/>
          </a:bodyPr>
          <a:lstStyle/>
          <a:p>
            <a:pPr algn="l"/>
            <a:r>
              <a:rPr sz="2200" b="1">
                <a:solidFill>
                  <a:srgbClr val="EA4335"/>
                </a:solidFill>
                <a:latin typeface="Calibri"/>
              </a:rPr>
              <a:t>£146,076</a:t>
            </a:r>
          </a:p>
        </p:txBody>
      </p:sp>
      <p:sp>
        <p:nvSpPr>
          <p:cNvPr id="16" name="TextBox 15"/>
          <p:cNvSpPr txBox="1"/>
          <p:nvPr/>
        </p:nvSpPr>
        <p:spPr>
          <a:xfrm>
            <a:off x="3566160" y="1645920"/>
            <a:ext cx="2286000" cy="320040"/>
          </a:xfrm>
          <a:prstGeom prst="rect">
            <a:avLst/>
          </a:prstGeom>
          <a:noFill/>
        </p:spPr>
        <p:txBody>
          <a:bodyPr wrap="square">
            <a:spAutoFit/>
          </a:bodyPr>
          <a:lstStyle/>
          <a:p>
            <a:pPr algn="l"/>
            <a:r>
              <a:rPr sz="1100" b="0">
                <a:solidFill>
                  <a:srgbClr val="1A1A1A"/>
                </a:solidFill>
                <a:latin typeface="Calibri"/>
              </a:rPr>
              <a:t>Search Term Waste (0 Conv)</a:t>
            </a:r>
          </a:p>
        </p:txBody>
      </p:sp>
      <p:sp>
        <p:nvSpPr>
          <p:cNvPr id="17" name="Rectangle 16"/>
          <p:cNvSpPr/>
          <p:nvPr/>
        </p:nvSpPr>
        <p:spPr>
          <a:xfrm>
            <a:off x="621792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88720"/>
            <a:ext cx="2286000" cy="457200"/>
          </a:xfrm>
          <a:prstGeom prst="rect">
            <a:avLst/>
          </a:prstGeom>
          <a:noFill/>
        </p:spPr>
        <p:txBody>
          <a:bodyPr wrap="square">
            <a:spAutoFit/>
          </a:bodyPr>
          <a:lstStyle/>
          <a:p>
            <a:pPr algn="l"/>
            <a:r>
              <a:rPr sz="2200" b="1">
                <a:solidFill>
                  <a:srgbClr val="FBBC05"/>
                </a:solidFill>
                <a:latin typeface="Calibri"/>
              </a:rPr>
              <a:t>£46 → £64</a:t>
            </a:r>
          </a:p>
        </p:txBody>
      </p:sp>
      <p:sp>
        <p:nvSpPr>
          <p:cNvPr id="20" name="TextBox 19"/>
          <p:cNvSpPr txBox="1"/>
          <p:nvPr/>
        </p:nvSpPr>
        <p:spPr>
          <a:xfrm>
            <a:off x="6400800" y="1645920"/>
            <a:ext cx="2286000" cy="320040"/>
          </a:xfrm>
          <a:prstGeom prst="rect">
            <a:avLst/>
          </a:prstGeom>
          <a:noFill/>
        </p:spPr>
        <p:txBody>
          <a:bodyPr wrap="square">
            <a:spAutoFit/>
          </a:bodyPr>
          <a:lstStyle/>
          <a:p>
            <a:pPr algn="l"/>
            <a:r>
              <a:rPr sz="1100" b="0">
                <a:solidFill>
                  <a:srgbClr val="1A1A1A"/>
                </a:solidFill>
                <a:latin typeface="Calibri"/>
              </a:rPr>
              <a:t>Non-Brand CPA (YoY)</a:t>
            </a:r>
          </a:p>
        </p:txBody>
      </p:sp>
      <p:sp>
        <p:nvSpPr>
          <p:cNvPr id="21" name="Rectangle 20"/>
          <p:cNvSpPr/>
          <p:nvPr/>
        </p:nvSpPr>
        <p:spPr>
          <a:xfrm>
            <a:off x="905256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188720"/>
            <a:ext cx="2286000" cy="457200"/>
          </a:xfrm>
          <a:prstGeom prst="rect">
            <a:avLst/>
          </a:prstGeom>
          <a:noFill/>
        </p:spPr>
        <p:txBody>
          <a:bodyPr wrap="square">
            <a:spAutoFit/>
          </a:bodyPr>
          <a:lstStyle/>
          <a:p>
            <a:pPr algn="l"/>
            <a:r>
              <a:rPr sz="2200" b="1">
                <a:solidFill>
                  <a:srgbClr val="34A853"/>
                </a:solidFill>
                <a:latin typeface="Calibri"/>
              </a:rPr>
              <a:t>8,959</a:t>
            </a:r>
          </a:p>
        </p:txBody>
      </p:sp>
      <p:sp>
        <p:nvSpPr>
          <p:cNvPr id="24" name="TextBox 23"/>
          <p:cNvSpPr txBox="1"/>
          <p:nvPr/>
        </p:nvSpPr>
        <p:spPr>
          <a:xfrm>
            <a:off x="9235440" y="1645920"/>
            <a:ext cx="2286000" cy="320040"/>
          </a:xfrm>
          <a:prstGeom prst="rect">
            <a:avLst/>
          </a:prstGeom>
          <a:noFill/>
        </p:spPr>
        <p:txBody>
          <a:bodyPr wrap="square">
            <a:spAutoFit/>
          </a:bodyPr>
          <a:lstStyle/>
          <a:p>
            <a:pPr algn="l"/>
            <a:r>
              <a:rPr sz="1100" b="0">
                <a:solidFill>
                  <a:srgbClr val="1A1A1A"/>
                </a:solidFill>
                <a:latin typeface="Calibri"/>
              </a:rPr>
              <a:t>Total Conversions</a:t>
            </a:r>
          </a:p>
        </p:txBody>
      </p:sp>
      <p:sp>
        <p:nvSpPr>
          <p:cNvPr id="25" name="TextBox 24"/>
          <p:cNvSpPr txBox="1"/>
          <p:nvPr/>
        </p:nvSpPr>
        <p:spPr>
          <a:xfrm>
            <a:off x="548640" y="2377440"/>
            <a:ext cx="5486400" cy="320040"/>
          </a:xfrm>
          <a:prstGeom prst="rect">
            <a:avLst/>
          </a:prstGeom>
          <a:noFill/>
        </p:spPr>
        <p:txBody>
          <a:bodyPr wrap="square">
            <a:spAutoFit/>
          </a:bodyPr>
          <a:lstStyle/>
          <a:p>
            <a:pPr algn="l"/>
            <a:r>
              <a:rPr sz="1400" b="1">
                <a:solidFill>
                  <a:srgbClr val="1A237E"/>
                </a:solidFill>
                <a:latin typeface="Calibri"/>
              </a:rPr>
              <a:t>Key Findings</a:t>
            </a:r>
          </a:p>
        </p:txBody>
      </p:sp>
      <p:sp>
        <p:nvSpPr>
          <p:cNvPr id="26" name="TextBox 25"/>
          <p:cNvSpPr txBox="1"/>
          <p:nvPr/>
        </p:nvSpPr>
        <p:spPr>
          <a:xfrm>
            <a:off x="640080" y="2743200"/>
            <a:ext cx="10515600" cy="2377440"/>
          </a:xfrm>
          <a:prstGeom prst="rect">
            <a:avLst/>
          </a:prstGeom>
          <a:noFill/>
        </p:spPr>
        <p:txBody>
          <a:bodyPr wrap="square">
            <a:spAutoFit/>
          </a:bodyPr>
          <a:lstStyle/>
          <a:p>
            <a:pPr>
              <a:spcAft>
                <a:spcPts val="500"/>
              </a:spcAft>
            </a:pPr>
            <a:r>
              <a:rPr sz="1100" b="0">
                <a:solidFill>
                  <a:srgbClr val="1A1A1A"/>
                </a:solidFill>
                <a:latin typeface="Calibri"/>
              </a:rPr>
              <a:t>Non-brand CPA has increased 40% year-on-year (£46 → £64) while monthly spend has nearly doubled.</a:t>
            </a:r>
          </a:p>
          <a:p>
            <a:pPr>
              <a:spcAft>
                <a:spcPts val="500"/>
              </a:spcAft>
            </a:pPr>
            <a:r>
              <a:rPr sz="1100" b="0">
                <a:solidFill>
                  <a:srgbClr val="1A1A1A"/>
                </a:solidFill>
                <a:latin typeface="Calibri"/>
              </a:rPr>
              <a:t>£59,349 spent on zero-conversion search terms in Q1 2026 alone — 49% of all tracked search term spend generated no patient enquiries.</a:t>
            </a:r>
          </a:p>
          <a:p>
            <a:pPr>
              <a:spcAft>
                <a:spcPts val="500"/>
              </a:spcAft>
            </a:pPr>
            <a:r>
              <a:rPr sz="1100" b="0">
                <a:solidFill>
                  <a:srgbClr val="1A1A1A"/>
                </a:solidFill>
                <a:latin typeface="Calibri"/>
              </a:rPr>
              <a:t>PMax search term waste has risen from 53% to 60% year-on-year — the campaign is scaling but efficiency is declining.</a:t>
            </a:r>
          </a:p>
          <a:p>
            <a:pPr>
              <a:spcAft>
                <a:spcPts val="500"/>
              </a:spcAft>
            </a:pPr>
            <a:r>
              <a:rPr sz="1100" b="0">
                <a:solidFill>
                  <a:srgbClr val="1A1A1A"/>
                </a:solidFill>
                <a:latin typeface="Calibri"/>
              </a:rPr>
              <a:t>Desktop CPA is £92 vs mobile £56 (64% higher) with no device bid adjustments in place.</a:t>
            </a:r>
          </a:p>
          <a:p>
            <a:pPr>
              <a:spcAft>
                <a:spcPts val="500"/>
              </a:spcAft>
            </a:pPr>
            <a:r>
              <a:rPr sz="1100" b="0">
                <a:solidFill>
                  <a:srgbClr val="1A1A1A"/>
                </a:solidFill>
                <a:latin typeface="Calibri"/>
              </a:rPr>
              <a:t>17 keywords are running at CPA above £150 in 2026, spending £14,959 at 2-5x the account average.</a:t>
            </a:r>
          </a:p>
        </p:txBody>
      </p:sp>
      <p:sp>
        <p:nvSpPr>
          <p:cNvPr id="27" name="Rectangle 26"/>
          <p:cNvSpPr/>
          <p:nvPr/>
        </p:nvSpPr>
        <p:spPr>
          <a:xfrm>
            <a:off x="548640" y="5349240"/>
            <a:ext cx="11091672" cy="6400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94960"/>
            <a:ext cx="10634472" cy="548640"/>
          </a:xfrm>
          <a:prstGeom prst="rect">
            <a:avLst/>
          </a:prstGeom>
          <a:noFill/>
        </p:spPr>
        <p:txBody>
          <a:bodyPr wrap="square">
            <a:spAutoFit/>
          </a:bodyPr>
          <a:lstStyle/>
          <a:p>
            <a:pPr algn="l"/>
            <a:r>
              <a:rPr sz="1100" b="1">
                <a:solidFill>
                  <a:srgbClr val="1A237E"/>
                </a:solidFill>
                <a:latin typeface="Calibri"/>
              </a:rPr>
              <a:t>This report identifies two types of waste: money that generated nothing (zero-conversion spend) and money that could work harder (high-CPA inefficiency). Both represent growth opportunity.</a:t>
            </a:r>
          </a:p>
        </p:txBody>
      </p:sp>
      <p:sp>
        <p:nvSpPr>
          <p:cNvPr id="29" name="Rectangle 2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34" name="TextBox 3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5" name="TextBox 3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Year-on-Year CPA Comparison</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Non-brand CPA has increased across every campaign type and device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yoy_cpa.png"/>
          <p:cNvPicPr>
            <a:picLocks noChangeAspect="1"/>
          </p:cNvPicPr>
          <p:nvPr/>
        </p:nvPicPr>
        <p:blipFill>
          <a:blip r:embed="rId2"/>
          <a:stretch>
            <a:fillRect/>
          </a:stretch>
        </p:blipFill>
        <p:spPr>
          <a:xfrm>
            <a:off x="548640" y="1188720"/>
            <a:ext cx="6858000" cy="3657600"/>
          </a:xfrm>
          <a:prstGeom prst="rect">
            <a:avLst/>
          </a:prstGeom>
        </p:spPr>
      </p:pic>
      <p:sp>
        <p:nvSpPr>
          <p:cNvPr id="11" name="Rectangle 10"/>
          <p:cNvSpPr/>
          <p:nvPr/>
        </p:nvSpPr>
        <p:spPr>
          <a:xfrm>
            <a:off x="7680960" y="11887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6459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28600"/>
          </a:xfrm>
          <a:prstGeom prst="rect">
            <a:avLst/>
          </a:prstGeom>
          <a:noFill/>
        </p:spPr>
        <p:txBody>
          <a:bodyPr wrap="square">
            <a:spAutoFit/>
          </a:bodyPr>
          <a:lstStyle/>
          <a:p>
            <a:pPr algn="l"/>
            <a:r>
              <a:rPr sz="1100" b="1">
                <a:solidFill>
                  <a:srgbClr val="34A853"/>
                </a:solidFill>
                <a:latin typeface="Calibri"/>
              </a:rPr>
              <a:t>2025 (Full Year)</a:t>
            </a:r>
          </a:p>
        </p:txBody>
      </p:sp>
      <p:sp>
        <p:nvSpPr>
          <p:cNvPr id="14" name="TextBox 13"/>
          <p:cNvSpPr txBox="1"/>
          <p:nvPr/>
        </p:nvSpPr>
        <p:spPr>
          <a:xfrm>
            <a:off x="7909560" y="1554480"/>
            <a:ext cx="3566160" cy="274320"/>
          </a:xfrm>
          <a:prstGeom prst="rect">
            <a:avLst/>
          </a:prstGeom>
          <a:noFill/>
        </p:spPr>
        <p:txBody>
          <a:bodyPr wrap="square">
            <a:spAutoFit/>
          </a:bodyPr>
          <a:lstStyle/>
          <a:p>
            <a:pPr algn="l"/>
            <a:r>
              <a:rPr sz="1800" b="1">
                <a:solidFill>
                  <a:srgbClr val="34A853"/>
                </a:solidFill>
                <a:latin typeface="Calibri"/>
              </a:rPr>
              <a:t>£46 Non-Brand CPA</a:t>
            </a:r>
          </a:p>
        </p:txBody>
      </p:sp>
      <p:sp>
        <p:nvSpPr>
          <p:cNvPr id="15" name="TextBox 14"/>
          <p:cNvSpPr txBox="1"/>
          <p:nvPr/>
        </p:nvSpPr>
        <p:spPr>
          <a:xfrm>
            <a:off x="7909560" y="1874519"/>
            <a:ext cx="3566160" cy="731520"/>
          </a:xfrm>
          <a:prstGeom prst="rect">
            <a:avLst/>
          </a:prstGeom>
          <a:noFill/>
        </p:spPr>
        <p:txBody>
          <a:bodyPr wrap="square">
            <a:spAutoFit/>
          </a:bodyPr>
          <a:lstStyle/>
          <a:p>
            <a:pPr algn="l"/>
            <a:r>
              <a:rPr sz="1100" b="0">
                <a:solidFill>
                  <a:srgbClr val="1A1A1A"/>
                </a:solidFill>
                <a:latin typeface="Calibri"/>
              </a:rPr>
              <a:t>£265,869 total spend
6,070 conversions
15 active campaigns</a:t>
            </a:r>
          </a:p>
        </p:txBody>
      </p:sp>
      <p:sp>
        <p:nvSpPr>
          <p:cNvPr id="16" name="Rectangle 15"/>
          <p:cNvSpPr/>
          <p:nvPr/>
        </p:nvSpPr>
        <p:spPr>
          <a:xfrm>
            <a:off x="7680960" y="30175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017520"/>
            <a:ext cx="54864" cy="16459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108960"/>
            <a:ext cx="3566160" cy="228600"/>
          </a:xfrm>
          <a:prstGeom prst="rect">
            <a:avLst/>
          </a:prstGeom>
          <a:noFill/>
        </p:spPr>
        <p:txBody>
          <a:bodyPr wrap="square">
            <a:spAutoFit/>
          </a:bodyPr>
          <a:lstStyle/>
          <a:p>
            <a:pPr algn="l"/>
            <a:r>
              <a:rPr sz="1100" b="1">
                <a:solidFill>
                  <a:srgbClr val="EA4335"/>
                </a:solidFill>
                <a:latin typeface="Calibri"/>
              </a:rPr>
              <a:t>2026 (Q1, Jan–Apr)</a:t>
            </a:r>
          </a:p>
        </p:txBody>
      </p:sp>
      <p:sp>
        <p:nvSpPr>
          <p:cNvPr id="19" name="TextBox 18"/>
          <p:cNvSpPr txBox="1"/>
          <p:nvPr/>
        </p:nvSpPr>
        <p:spPr>
          <a:xfrm>
            <a:off x="7909560" y="3383280"/>
            <a:ext cx="3566160" cy="274320"/>
          </a:xfrm>
          <a:prstGeom prst="rect">
            <a:avLst/>
          </a:prstGeom>
          <a:noFill/>
        </p:spPr>
        <p:txBody>
          <a:bodyPr wrap="square">
            <a:spAutoFit/>
          </a:bodyPr>
          <a:lstStyle/>
          <a:p>
            <a:pPr algn="l"/>
            <a:r>
              <a:rPr sz="1800" b="1">
                <a:solidFill>
                  <a:srgbClr val="EA4335"/>
                </a:solidFill>
                <a:latin typeface="Calibri"/>
              </a:rPr>
              <a:t>£64 Non-Brand CPA</a:t>
            </a:r>
          </a:p>
        </p:txBody>
      </p:sp>
      <p:sp>
        <p:nvSpPr>
          <p:cNvPr id="20" name="TextBox 19"/>
          <p:cNvSpPr txBox="1"/>
          <p:nvPr/>
        </p:nvSpPr>
        <p:spPr>
          <a:xfrm>
            <a:off x="7909560" y="3703320"/>
            <a:ext cx="3566160" cy="731520"/>
          </a:xfrm>
          <a:prstGeom prst="rect">
            <a:avLst/>
          </a:prstGeom>
          <a:noFill/>
        </p:spPr>
        <p:txBody>
          <a:bodyPr wrap="square">
            <a:spAutoFit/>
          </a:bodyPr>
          <a:lstStyle/>
          <a:p>
            <a:pPr algn="l"/>
            <a:r>
              <a:rPr sz="1100" b="0">
                <a:solidFill>
                  <a:srgbClr val="1A1A1A"/>
                </a:solidFill>
                <a:latin typeface="Calibri"/>
              </a:rPr>
              <a:t>£175,467 total spend (annualised £526,400)
2,889 conversions
4 active campaigns</a:t>
            </a:r>
          </a:p>
        </p:txBody>
      </p:sp>
      <p:sp>
        <p:nvSpPr>
          <p:cNvPr id="21" name="Rectangle 20"/>
          <p:cNvSpPr/>
          <p:nvPr/>
        </p:nvSpPr>
        <p:spPr>
          <a:xfrm>
            <a:off x="548640" y="5074920"/>
            <a:ext cx="11064240" cy="9144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074920"/>
            <a:ext cx="54864" cy="9144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66360"/>
            <a:ext cx="10698480" cy="274320"/>
          </a:xfrm>
          <a:prstGeom prst="rect">
            <a:avLst/>
          </a:prstGeom>
          <a:noFill/>
        </p:spPr>
        <p:txBody>
          <a:bodyPr wrap="square">
            <a:spAutoFit/>
          </a:bodyPr>
          <a:lstStyle/>
          <a:p>
            <a:pPr algn="l"/>
            <a:r>
              <a:rPr sz="1400" b="1">
                <a:solidFill>
                  <a:srgbClr val="1A237E"/>
                </a:solidFill>
                <a:latin typeface="Calibri"/>
              </a:rPr>
              <a:t>The Pattern</a:t>
            </a:r>
          </a:p>
        </p:txBody>
      </p:sp>
      <p:sp>
        <p:nvSpPr>
          <p:cNvPr id="24" name="TextBox 23"/>
          <p:cNvSpPr txBox="1"/>
          <p:nvPr/>
        </p:nvSpPr>
        <p:spPr>
          <a:xfrm>
            <a:off x="777240" y="5440680"/>
            <a:ext cx="10698480" cy="457200"/>
          </a:xfrm>
          <a:prstGeom prst="rect">
            <a:avLst/>
          </a:prstGeom>
          <a:noFill/>
        </p:spPr>
        <p:txBody>
          <a:bodyPr wrap="square">
            <a:spAutoFit/>
          </a:bodyPr>
          <a:lstStyle/>
          <a:p>
            <a:pPr algn="l"/>
            <a:r>
              <a:rPr sz="1100" b="0">
                <a:solidFill>
                  <a:srgbClr val="1A1A1A"/>
                </a:solidFill>
                <a:latin typeface="Calibri"/>
              </a:rPr>
              <a:t>Spend has nearly doubled but CPA has risen 40%. The account is scaling aggressively but efficiency is declining — meaning more money is being spent to acquire each patient. This is the core issue the optimisations in this report address.</a:t>
            </a:r>
          </a:p>
        </p:txBody>
      </p:sp>
      <p:sp>
        <p:nvSpPr>
          <p:cNvPr id="25" name="Rectangle 2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30" name="TextBox 2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1" name="TextBox 3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Search Term Waste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£59,349 spent on zero-conversion search terms in Q1 2026 (49% of search term spend)</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2026 Focus</a:t>
            </a:r>
          </a:p>
        </p:txBody>
      </p:sp>
      <p:graphicFrame>
        <p:nvGraphicFramePr>
          <p:cNvPr id="10" name="Table 9"/>
          <p:cNvGraphicFramePr>
            <a:graphicFrameLocks noGrp="1"/>
          </p:cNvGraphicFramePr>
          <p:nvPr/>
        </p:nvGraphicFramePr>
        <p:xfrm>
          <a:off x="548640" y="1188720"/>
          <a:ext cx="7132320" cy="4572000"/>
        </p:xfrm>
        <a:graphic>
          <a:graphicData uri="http://schemas.openxmlformats.org/drawingml/2006/table">
            <a:tbl>
              <a:tblPr firstRow="1" bandRow="1">
                <a:tableStyleId>{5C22544A-7EE6-4342-B048-85BDC9FD1C3A}</a:tableStyleId>
              </a:tblPr>
              <a:tblGrid>
                <a:gridCol w="2926080"/>
                <a:gridCol w="731520"/>
                <a:gridCol w="548640"/>
                <a:gridCol w="2926080"/>
              </a:tblGrid>
              <a:tr h="285750">
                <a:tc>
                  <a:txBody>
                    <a:bodyPr/>
                    <a:lstStyle/>
                    <a:p>
                      <a:pPr>
                        <a:defRPr sz="1000" b="1">
                          <a:solidFill>
                            <a:srgbClr val="FFFFFF"/>
                          </a:solidFill>
                          <a:latin typeface="Calibri"/>
                        </a:defRPr>
                      </a:pPr>
                      <a:r>
                        <a:t>Search Term</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c>
                  <a:txBody>
                    <a:bodyPr/>
                    <a:lstStyle/>
                    <a:p>
                      <a:pPr>
                        <a:defRPr sz="1000" b="1">
                          <a:solidFill>
                            <a:srgbClr val="FFFFFF"/>
                          </a:solidFill>
                          <a:latin typeface="Calibri"/>
                        </a:defRPr>
                      </a:pPr>
                      <a:r>
                        <a:t>Campaign</a:t>
                      </a:r>
                    </a:p>
                  </a:txBody>
                  <a:tcPr>
                    <a:solidFill>
                      <a:srgbClr val="1A237E"/>
                    </a:solidFill>
                  </a:tcPr>
                </a:tc>
              </a:tr>
              <a:tr h="285750">
                <a:tc>
                  <a:txBody>
                    <a:bodyPr/>
                    <a:lstStyle/>
                    <a:p>
                      <a:pPr>
                        <a:defRPr sz="1000">
                          <a:solidFill>
                            <a:srgbClr val="1A1A1A"/>
                          </a:solidFill>
                          <a:latin typeface="Calibri"/>
                        </a:defRPr>
                      </a:pPr>
                      <a:r>
                        <a:t>best dental implants near me</a:t>
                      </a:r>
                    </a:p>
                  </a:txBody>
                  <a:tcPr>
                    <a:solidFill>
                      <a:srgbClr val="F5F6FA"/>
                    </a:solidFill>
                  </a:tcPr>
                </a:tc>
                <a:tc>
                  <a:txBody>
                    <a:bodyPr/>
                    <a:lstStyle/>
                    <a:p>
                      <a:pPr>
                        <a:defRPr sz="1000">
                          <a:solidFill>
                            <a:srgbClr val="1A1A1A"/>
                          </a:solidFill>
                          <a:latin typeface="Calibri"/>
                        </a:defRPr>
                      </a:pPr>
                      <a:r>
                        <a:t>£193</a:t>
                      </a:r>
                    </a:p>
                  </a:txBody>
                  <a:tcPr>
                    <a:solidFill>
                      <a:srgbClr val="F5F6FA"/>
                    </a:solidFill>
                  </a:tcPr>
                </a:tc>
                <a:tc>
                  <a:txBody>
                    <a:bodyPr/>
                    <a:lstStyle/>
                    <a:p>
                      <a:pPr>
                        <a:defRPr sz="1000">
                          <a:solidFill>
                            <a:srgbClr val="1A1A1A"/>
                          </a:solidFill>
                          <a:latin typeface="Calibri"/>
                        </a:defRPr>
                      </a:pPr>
                      <a:r>
                        <a:t>11</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implant clinics</a:t>
                      </a:r>
                    </a:p>
                  </a:txBody>
                  <a:tcPr>
                    <a:solidFill>
                      <a:srgbClr val="FFFFFF"/>
                    </a:solidFill>
                  </a:tcPr>
                </a:tc>
                <a:tc>
                  <a:txBody>
                    <a:bodyPr/>
                    <a:lstStyle/>
                    <a:p>
                      <a:pPr>
                        <a:defRPr sz="1000">
                          <a:solidFill>
                            <a:srgbClr val="1A1A1A"/>
                          </a:solidFill>
                          <a:latin typeface="Calibri"/>
                        </a:defRPr>
                      </a:pPr>
                      <a:r>
                        <a:t>£152</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 for implants near me</a:t>
                      </a:r>
                    </a:p>
                  </a:txBody>
                  <a:tcPr>
                    <a:solidFill>
                      <a:srgbClr val="F5F6FA"/>
                    </a:solidFill>
                  </a:tcPr>
                </a:tc>
                <a:tc>
                  <a:txBody>
                    <a:bodyPr/>
                    <a:lstStyle/>
                    <a:p>
                      <a:pPr>
                        <a:defRPr sz="1000">
                          <a:solidFill>
                            <a:srgbClr val="1A1A1A"/>
                          </a:solidFill>
                          <a:latin typeface="Calibri"/>
                        </a:defRPr>
                      </a:pPr>
                      <a:r>
                        <a:t>£147</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by design hammersmith reviews</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41</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tooth implant cost</a:t>
                      </a:r>
                    </a:p>
                  </a:txBody>
                  <a:tcPr>
                    <a:solidFill>
                      <a:srgbClr val="F5F6FA"/>
                    </a:solidFill>
                  </a:tcPr>
                </a:tc>
                <a:tc>
                  <a:txBody>
                    <a:bodyPr/>
                    <a:lstStyle/>
                    <a:p>
                      <a:pPr>
                        <a:defRPr sz="1000">
                          <a:solidFill>
                            <a:srgbClr val="1A1A1A"/>
                          </a:solidFill>
                          <a:latin typeface="Calibri"/>
                        </a:defRPr>
                      </a:pPr>
                      <a:r>
                        <a:t>£142</a:t>
                      </a:r>
                    </a:p>
                  </a:txBody>
                  <a:tcPr>
                    <a:solidFill>
                      <a:srgbClr val="F5F6FA"/>
                    </a:solidFill>
                  </a:tcPr>
                </a:tc>
                <a:tc>
                  <a:txBody>
                    <a:bodyPr/>
                    <a:lstStyle/>
                    <a:p>
                      <a:pPr>
                        <a:defRPr sz="1000">
                          <a:solidFill>
                            <a:srgbClr val="1A1A1A"/>
                          </a:solidFill>
                          <a:latin typeface="Calibri"/>
                        </a:defRPr>
                      </a:pPr>
                      <a:r>
                        <a:t>36</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full dental implants</a:t>
                      </a:r>
                    </a:p>
                  </a:txBody>
                  <a:tcPr>
                    <a:solidFill>
                      <a:srgbClr val="FFFFFF"/>
                    </a:solidFill>
                  </a:tcPr>
                </a:tc>
                <a:tc>
                  <a:txBody>
                    <a:bodyPr/>
                    <a:lstStyle/>
                    <a:p>
                      <a:pPr>
                        <a:defRPr sz="1000">
                          <a:solidFill>
                            <a:srgbClr val="1A1A1A"/>
                          </a:solidFill>
                          <a:latin typeface="Calibri"/>
                        </a:defRPr>
                      </a:pPr>
                      <a:r>
                        <a:t>£136</a:t>
                      </a:r>
                    </a:p>
                  </a:txBody>
                  <a:tcPr>
                    <a:solidFill>
                      <a:srgbClr val="FFFFFF"/>
                    </a:solidFill>
                  </a:tcPr>
                </a:tc>
                <a:tc>
                  <a:txBody>
                    <a:bodyPr/>
                    <a:lstStyle/>
                    <a:p>
                      <a:pPr>
                        <a:defRPr sz="1000">
                          <a:solidFill>
                            <a:srgbClr val="1A1A1A"/>
                          </a:solidFill>
                          <a:latin typeface="Calibri"/>
                        </a:defRPr>
                      </a:pPr>
                      <a:r>
                        <a:t>12</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full arch dental implants</a:t>
                      </a:r>
                    </a:p>
                  </a:txBody>
                  <a:tcPr>
                    <a:solidFill>
                      <a:srgbClr val="F5F6FA"/>
                    </a:solidFill>
                  </a:tcPr>
                </a:tc>
                <a:tc>
                  <a:txBody>
                    <a:bodyPr/>
                    <a:lstStyle/>
                    <a:p>
                      <a:pPr>
                        <a:defRPr sz="1000">
                          <a:solidFill>
                            <a:srgbClr val="1A1A1A"/>
                          </a:solidFill>
                          <a:latin typeface="Calibri"/>
                        </a:defRPr>
                      </a:pPr>
                      <a:r>
                        <a:t>£134</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teeth in a day</a:t>
                      </a:r>
                    </a:p>
                  </a:txBody>
                  <a:tcPr>
                    <a:solidFill>
                      <a:srgbClr val="FFFFFF"/>
                    </a:solidFill>
                  </a:tcPr>
                </a:tc>
                <a:tc>
                  <a:txBody>
                    <a:bodyPr/>
                    <a:lstStyle/>
                    <a:p>
                      <a:pPr>
                        <a:defRPr sz="1000">
                          <a:solidFill>
                            <a:srgbClr val="1A1A1A"/>
                          </a:solidFill>
                          <a:latin typeface="Calibri"/>
                        </a:defRPr>
                      </a:pPr>
                      <a:r>
                        <a:t>£130</a:t>
                      </a:r>
                    </a:p>
                  </a:txBody>
                  <a:tcPr>
                    <a:solidFill>
                      <a:srgbClr val="FFFFFF"/>
                    </a:solidFill>
                  </a:tcPr>
                </a:tc>
                <a:tc>
                  <a:txBody>
                    <a:bodyPr/>
                    <a:lstStyle/>
                    <a:p>
                      <a:pPr>
                        <a:defRPr sz="1000">
                          <a:solidFill>
                            <a:srgbClr val="1A1A1A"/>
                          </a:solidFill>
                          <a:latin typeface="Calibri"/>
                        </a:defRPr>
                      </a:pPr>
                      <a:r>
                        <a:t>10</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best implant dentist london</a:t>
                      </a:r>
                    </a:p>
                  </a:txBody>
                  <a:tcPr>
                    <a:solidFill>
                      <a:srgbClr val="F5F6FA"/>
                    </a:solidFill>
                  </a:tcPr>
                </a:tc>
                <a:tc>
                  <a:txBody>
                    <a:bodyPr/>
                    <a:lstStyle/>
                    <a:p>
                      <a:pPr>
                        <a:defRPr sz="1000">
                          <a:solidFill>
                            <a:srgbClr val="1A1A1A"/>
                          </a:solidFill>
                          <a:latin typeface="Calibri"/>
                        </a:defRPr>
                      </a:pPr>
                      <a:r>
                        <a:t>£124</a:t>
                      </a:r>
                    </a:p>
                  </a:txBody>
                  <a:tcPr>
                    <a:solidFill>
                      <a:srgbClr val="F5F6FA"/>
                    </a:solidFill>
                  </a:tcPr>
                </a:tc>
                <a:tc>
                  <a:txBody>
                    <a:bodyPr/>
                    <a:lstStyle/>
                    <a:p>
                      <a:pPr>
                        <a:defRPr sz="1000">
                          <a:solidFill>
                            <a:srgbClr val="1A1A1A"/>
                          </a:solidFill>
                          <a:latin typeface="Calibri"/>
                        </a:defRPr>
                      </a:pPr>
                      <a:r>
                        <a:t>13</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r h="285750">
                <a:tc>
                  <a:txBody>
                    <a:bodyPr/>
                    <a:lstStyle/>
                    <a:p>
                      <a:pPr>
                        <a:defRPr sz="1000">
                          <a:solidFill>
                            <a:srgbClr val="1A1A1A"/>
                          </a:solidFill>
                          <a:latin typeface="Calibri"/>
                        </a:defRPr>
                      </a:pPr>
                      <a:r>
                        <a:t>dental implants near me</a:t>
                      </a:r>
                    </a:p>
                  </a:txBody>
                  <a:tcPr>
                    <a:solidFill>
                      <a:srgbClr val="FFFFFF"/>
                    </a:solidFill>
                  </a:tcPr>
                </a:tc>
                <a:tc>
                  <a:txBody>
                    <a:bodyPr/>
                    <a:lstStyle/>
                    <a:p>
                      <a:pPr>
                        <a:defRPr sz="1000">
                          <a:solidFill>
                            <a:srgbClr val="1A1A1A"/>
                          </a:solidFill>
                          <a:latin typeface="Calibri"/>
                        </a:defRPr>
                      </a:pPr>
                      <a:r>
                        <a:t>£123</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dentists that do implants</a:t>
                      </a:r>
                    </a:p>
                  </a:txBody>
                  <a:tcPr>
                    <a:solidFill>
                      <a:srgbClr val="F5F6FA"/>
                    </a:solidFill>
                  </a:tcPr>
                </a:tc>
                <a:tc>
                  <a:txBody>
                    <a:bodyPr/>
                    <a:lstStyle/>
                    <a:p>
                      <a:pPr>
                        <a:defRPr sz="1000">
                          <a:solidFill>
                            <a:srgbClr val="1A1A1A"/>
                          </a:solidFill>
                          <a:latin typeface="Calibri"/>
                        </a:defRPr>
                      </a:pPr>
                      <a:r>
                        <a:t>£123</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all on 4</a:t>
                      </a:r>
                    </a:p>
                  </a:txBody>
                  <a:tcPr>
                    <a:solidFill>
                      <a:srgbClr val="FFFFFF"/>
                    </a:solidFill>
                  </a:tcPr>
                </a:tc>
                <a:tc>
                  <a:txBody>
                    <a:bodyPr/>
                    <a:lstStyle/>
                    <a:p>
                      <a:pPr>
                        <a:defRPr sz="1000">
                          <a:solidFill>
                            <a:srgbClr val="1A1A1A"/>
                          </a:solidFill>
                          <a:latin typeface="Calibri"/>
                        </a:defRPr>
                      </a:pPr>
                      <a:r>
                        <a:t>£121</a:t>
                      </a:r>
                    </a:p>
                  </a:txBody>
                  <a:tcPr>
                    <a:solidFill>
                      <a:srgbClr val="FFFFFF"/>
                    </a:solidFill>
                  </a:tcPr>
                </a:tc>
                <a:tc>
                  <a:txBody>
                    <a:bodyPr/>
                    <a:lstStyle/>
                    <a:p>
                      <a:pPr>
                        <a:defRPr sz="1000">
                          <a:solidFill>
                            <a:srgbClr val="1A1A1A"/>
                          </a:solidFill>
                          <a:latin typeface="Calibri"/>
                        </a:defRPr>
                      </a:pPr>
                      <a:r>
                        <a:t>14</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implants dental</a:t>
                      </a:r>
                    </a:p>
                  </a:txBody>
                  <a:tcPr>
                    <a:solidFill>
                      <a:srgbClr val="F5F6FA"/>
                    </a:solidFill>
                  </a:tcPr>
                </a:tc>
                <a:tc>
                  <a:txBody>
                    <a:bodyPr/>
                    <a:lstStyle/>
                    <a:p>
                      <a:pPr>
                        <a:defRPr sz="1000">
                          <a:solidFill>
                            <a:srgbClr val="1A1A1A"/>
                          </a:solidFill>
                          <a:latin typeface="Calibri"/>
                        </a:defRPr>
                      </a:pPr>
                      <a:r>
                        <a:t>£106</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what is all on 4 dental implants</a:t>
                      </a:r>
                    </a:p>
                  </a:txBody>
                  <a:tcPr>
                    <a:solidFill>
                      <a:srgbClr val="FFFFFF"/>
                    </a:solidFill>
                  </a:tcPr>
                </a:tc>
                <a:tc>
                  <a:txBody>
                    <a:bodyPr/>
                    <a:lstStyle/>
                    <a:p>
                      <a:pPr>
                        <a:defRPr sz="1000">
                          <a:solidFill>
                            <a:srgbClr val="1A1A1A"/>
                          </a:solidFill>
                          <a:latin typeface="Calibri"/>
                        </a:defRPr>
                      </a:pPr>
                      <a:r>
                        <a:t>£106</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brighton implant clinic</a:t>
                      </a:r>
                    </a:p>
                  </a:txBody>
                  <a:tcPr>
                    <a:solidFill>
                      <a:srgbClr val="F5F6FA"/>
                    </a:solidFill>
                  </a:tcPr>
                </a:tc>
                <a:tc>
                  <a:txBody>
                    <a:bodyPr/>
                    <a:lstStyle/>
                    <a:p>
                      <a:pPr>
                        <a:defRPr sz="1000">
                          <a:solidFill>
                            <a:srgbClr val="1A1A1A"/>
                          </a:solidFill>
                          <a:latin typeface="Calibri"/>
                        </a:defRPr>
                      </a:pPr>
                      <a:r>
                        <a:t>£105</a:t>
                      </a:r>
                    </a:p>
                  </a:txBody>
                  <a:tcPr>
                    <a:solidFill>
                      <a:srgbClr val="F5F6FA"/>
                    </a:solidFill>
                  </a:tcPr>
                </a:tc>
                <a:tc>
                  <a:txBody>
                    <a:bodyPr/>
                    <a:lstStyle/>
                    <a:p>
                      <a:pPr>
                        <a:defRPr sz="1000">
                          <a:solidFill>
                            <a:srgbClr val="1A1A1A"/>
                          </a:solidFill>
                          <a:latin typeface="Calibri"/>
                        </a:defRPr>
                      </a:pPr>
                      <a:r>
                        <a:t>27</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bl>
          </a:graphicData>
        </a:graphic>
      </p:graphicFrame>
      <p:pic>
        <p:nvPicPr>
          <p:cNvPr id="11" name="Picture 10" descr="st_waste_yoy.png"/>
          <p:cNvPicPr>
            <a:picLocks noChangeAspect="1"/>
          </p:cNvPicPr>
          <p:nvPr/>
        </p:nvPicPr>
        <p:blipFill>
          <a:blip r:embed="rId2"/>
          <a:stretch>
            <a:fillRect/>
          </a:stretch>
        </p:blipFill>
        <p:spPr>
          <a:xfrm>
            <a:off x="7955279" y="1188720"/>
            <a:ext cx="3657600" cy="2560320"/>
          </a:xfrm>
          <a:prstGeom prst="rect">
            <a:avLst/>
          </a:prstGeom>
        </p:spPr>
      </p:pic>
      <p:sp>
        <p:nvSpPr>
          <p:cNvPr id="12" name="Rectangle 11"/>
          <p:cNvSpPr/>
          <p:nvPr/>
        </p:nvSpPr>
        <p:spPr>
          <a:xfrm>
            <a:off x="7955279" y="3931920"/>
            <a:ext cx="365760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4023360"/>
            <a:ext cx="3291840" cy="274320"/>
          </a:xfrm>
          <a:prstGeom prst="rect">
            <a:avLst/>
          </a:prstGeom>
          <a:noFill/>
        </p:spPr>
        <p:txBody>
          <a:bodyPr wrap="square">
            <a:spAutoFit/>
          </a:bodyPr>
          <a:lstStyle/>
          <a:p>
            <a:pPr algn="l"/>
            <a:r>
              <a:rPr sz="1400" b="1">
                <a:solidFill>
                  <a:srgbClr val="1A237E"/>
                </a:solidFill>
                <a:latin typeface="Calibri"/>
              </a:rPr>
              <a:t>Year-on-Year Trend</a:t>
            </a:r>
          </a:p>
        </p:txBody>
      </p:sp>
      <p:sp>
        <p:nvSpPr>
          <p:cNvPr id="15" name="TextBox 14"/>
          <p:cNvSpPr txBox="1"/>
          <p:nvPr/>
        </p:nvSpPr>
        <p:spPr>
          <a:xfrm>
            <a:off x="8183879" y="4297680"/>
            <a:ext cx="3291840" cy="1371600"/>
          </a:xfrm>
          <a:prstGeom prst="rect">
            <a:avLst/>
          </a:prstGeom>
          <a:noFill/>
        </p:spPr>
        <p:txBody>
          <a:bodyPr wrap="square">
            <a:spAutoFit/>
          </a:bodyPr>
          <a:lstStyle/>
          <a:p>
            <a:pPr algn="l"/>
            <a:r>
              <a:rPr sz="1100" b="0">
                <a:solidFill>
                  <a:srgbClr val="1A1A1A"/>
                </a:solidFill>
                <a:latin typeface="Calibri"/>
              </a:rPr>
              <a:t>2025: £86,727 wasted (47% of ST spend)
2026: £59,349 wasted (49% of ST spend)
The waste rate is increasing — nearly half of all search term spend now generates zero patient enquiries.</a:t>
            </a:r>
          </a:p>
        </p:txBody>
      </p:sp>
      <p:sp>
        <p:nvSpPr>
          <p:cNvPr id="16" name="Rectangle 15"/>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1" name="TextBox 20"/>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2" name="TextBox 21"/>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Waste by Category</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Zero-conversion search terms grouped by intent type — 2025 vs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waste_cats_yoy.png"/>
          <p:cNvPicPr>
            <a:picLocks noChangeAspect="1"/>
          </p:cNvPicPr>
          <p:nvPr/>
        </p:nvPicPr>
        <p:blipFill>
          <a:blip r:embed="rId2"/>
          <a:stretch>
            <a:fillRect/>
          </a:stretch>
        </p:blipFill>
        <p:spPr>
          <a:xfrm>
            <a:off x="548640" y="1188720"/>
            <a:ext cx="6858000" cy="3657600"/>
          </a:xfrm>
          <a:prstGeom prst="rect">
            <a:avLst/>
          </a:prstGeom>
        </p:spPr>
      </p:pic>
      <p:sp>
        <p:nvSpPr>
          <p:cNvPr id="11" name="TextBox 10"/>
          <p:cNvSpPr txBox="1"/>
          <p:nvPr/>
        </p:nvSpPr>
        <p:spPr>
          <a:xfrm>
            <a:off x="7589520" y="1188720"/>
            <a:ext cx="4023360" cy="274320"/>
          </a:xfrm>
          <a:prstGeom prst="rect">
            <a:avLst/>
          </a:prstGeom>
          <a:noFill/>
        </p:spPr>
        <p:txBody>
          <a:bodyPr wrap="square">
            <a:spAutoFit/>
          </a:bodyPr>
          <a:lstStyle/>
          <a:p>
            <a:pPr algn="l"/>
            <a:r>
              <a:rPr sz="1400" b="1">
                <a:solidFill>
                  <a:srgbClr val="1A237E"/>
                </a:solidFill>
                <a:latin typeface="Calibri"/>
              </a:rPr>
              <a:t>2025 vs 2026 Totals</a:t>
            </a:r>
          </a:p>
        </p:txBody>
      </p:sp>
      <p:sp>
        <p:nvSpPr>
          <p:cNvPr id="12" name="TextBox 11"/>
          <p:cNvSpPr txBox="1"/>
          <p:nvPr/>
        </p:nvSpPr>
        <p:spPr>
          <a:xfrm>
            <a:off x="7589520" y="1554480"/>
            <a:ext cx="4023360" cy="3291840"/>
          </a:xfrm>
          <a:prstGeom prst="rect">
            <a:avLst/>
          </a:prstGeom>
          <a:noFill/>
        </p:spPr>
        <p:txBody>
          <a:bodyPr wrap="square">
            <a:spAutoFit/>
          </a:bodyPr>
          <a:lstStyle/>
          <a:p>
            <a:pPr>
              <a:spcAft>
                <a:spcPts val="500"/>
              </a:spcAft>
            </a:pPr>
            <a:r>
              <a:rPr sz="1000" b="0">
                <a:solidFill>
                  <a:srgbClr val="1A1A1A"/>
                </a:solidFill>
                <a:latin typeface="Calibri"/>
              </a:rPr>
              <a:t>Other Non-Converting:  £57,191 → £36,260</a:t>
            </a:r>
          </a:p>
          <a:p>
            <a:pPr>
              <a:spcAft>
                <a:spcPts val="500"/>
              </a:spcAft>
            </a:pPr>
            <a:r>
              <a:rPr sz="1000" b="0">
                <a:solidFill>
                  <a:srgbClr val="1A1A1A"/>
                </a:solidFill>
                <a:latin typeface="Calibri"/>
              </a:rPr>
              <a:t>Price Research (No Location):  £20,540 → £14,078</a:t>
            </a:r>
          </a:p>
          <a:p>
            <a:pPr>
              <a:spcAft>
                <a:spcPts val="500"/>
              </a:spcAft>
            </a:pPr>
            <a:r>
              <a:rPr sz="1000" b="0">
                <a:solidFill>
                  <a:srgbClr val="1A1A1A"/>
                </a:solidFill>
                <a:latin typeface="Calibri"/>
              </a:rPr>
              <a:t>Wrong Treatment Type:  £3,112 → £3,001</a:t>
            </a:r>
          </a:p>
          <a:p>
            <a:pPr>
              <a:spcAft>
                <a:spcPts val="500"/>
              </a:spcAft>
            </a:pPr>
            <a:r>
              <a:rPr sz="1000" b="0">
                <a:solidFill>
                  <a:srgbClr val="1A1A1A"/>
                </a:solidFill>
                <a:latin typeface="Calibri"/>
              </a:rPr>
              <a:t>Competitor / Dental Tourism:  £1,724 → £1,629</a:t>
            </a:r>
          </a:p>
          <a:p>
            <a:pPr>
              <a:spcAft>
                <a:spcPts val="500"/>
              </a:spcAft>
            </a:pPr>
            <a:r>
              <a:rPr sz="1000" b="0">
                <a:solidFill>
                  <a:srgbClr val="1A1A1A"/>
                </a:solidFill>
                <a:latin typeface="Calibri"/>
              </a:rPr>
              <a:t>NHS / Free Treatment:  £1,378 → £706</a:t>
            </a:r>
          </a:p>
          <a:p>
            <a:pPr>
              <a:spcAft>
                <a:spcPts val="500"/>
              </a:spcAft>
            </a:pPr>
            <a:r>
              <a:rPr sz="1000" b="0">
                <a:solidFill>
                  <a:srgbClr val="1A1A1A"/>
                </a:solidFill>
                <a:latin typeface="Calibri"/>
              </a:rPr>
              <a:t>Informational / Research:  £1,092 → £2,217</a:t>
            </a:r>
          </a:p>
          <a:p>
            <a:pPr>
              <a:spcAft>
                <a:spcPts val="500"/>
              </a:spcAft>
            </a:pPr>
            <a:r>
              <a:rPr sz="1000" b="0">
                <a:solidFill>
                  <a:srgbClr val="1A1A1A"/>
                </a:solidFill>
                <a:latin typeface="Calibri"/>
              </a:rPr>
              <a:t>Wrong Location:  £547 → £812</a:t>
            </a:r>
          </a:p>
        </p:txBody>
      </p:sp>
      <p:sp>
        <p:nvSpPr>
          <p:cNvPr id="13" name="Rectangle 12"/>
          <p:cNvSpPr/>
          <p:nvPr/>
        </p:nvSpPr>
        <p:spPr>
          <a:xfrm>
            <a:off x="548640" y="5074920"/>
            <a:ext cx="11091672" cy="73152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20640"/>
            <a:ext cx="10634472" cy="640080"/>
          </a:xfrm>
          <a:prstGeom prst="rect">
            <a:avLst/>
          </a:prstGeom>
          <a:noFill/>
        </p:spPr>
        <p:txBody>
          <a:bodyPr wrap="square">
            <a:spAutoFit/>
          </a:bodyPr>
          <a:lstStyle/>
          <a:p>
            <a:pPr algn="l"/>
            <a:r>
              <a:rPr sz="1100" b="1">
                <a:solidFill>
                  <a:srgbClr val="1A237E"/>
                </a:solidFill>
                <a:latin typeface="Calibri"/>
              </a:rPr>
              <a:t>"Other Non-Converting" (£57,191 in 2025, £36,260 in 2026) includes relevant dental terms that didn't convert — these need landing page and ad copy work, not just negative keywords. "Price Research" (£20,540 → £14,078) are blockable with negative keywords.</a:t>
            </a:r>
          </a:p>
        </p:txBody>
      </p:sp>
      <p:sp>
        <p:nvSpPr>
          <p:cNvPr id="15" name="Rectangle 1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0" name="TextBox 1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1" name="TextBox 2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PMax Campaign — Rising Waste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60% of PMax search term spend in 2026 generated zero conversions, up from 53% in 2025</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Performance Max</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4285F4"/>
                </a:solidFill>
                <a:latin typeface="Calibri"/>
              </a:rPr>
              <a:t>£93,550</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2026 PMax Spend</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FBBC05"/>
                </a:solidFill>
                <a:latin typeface="Calibri"/>
              </a:rPr>
              <a:t>£52</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2026 PMax CPA</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EA4335"/>
                </a:solidFill>
                <a:latin typeface="Calibri"/>
              </a:rPr>
              <a:t>£32,072</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2026 Zero-Conv ST Spend</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EA4335"/>
                </a:solidFill>
                <a:latin typeface="Calibri"/>
              </a:rPr>
              <a:t>60%</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Waste Rate</a:t>
            </a:r>
          </a:p>
        </p:txBody>
      </p:sp>
      <p:pic>
        <p:nvPicPr>
          <p:cNvPr id="26" name="Picture 25" descr="pmax_waste_yoy.png"/>
          <p:cNvPicPr>
            <a:picLocks noChangeAspect="1"/>
          </p:cNvPicPr>
          <p:nvPr/>
        </p:nvPicPr>
        <p:blipFill>
          <a:blip r:embed="rId2"/>
          <a:stretch>
            <a:fillRect/>
          </a:stretch>
        </p:blipFill>
        <p:spPr>
          <a:xfrm>
            <a:off x="548640" y="2377440"/>
            <a:ext cx="4114800" cy="2743200"/>
          </a:xfrm>
          <a:prstGeom prst="rect">
            <a:avLst/>
          </a:prstGeom>
        </p:spPr>
      </p:pic>
      <p:sp>
        <p:nvSpPr>
          <p:cNvPr id="27" name="Rectangle 26"/>
          <p:cNvSpPr/>
          <p:nvPr/>
        </p:nvSpPr>
        <p:spPr>
          <a:xfrm>
            <a:off x="4937760" y="2377440"/>
            <a:ext cx="6675120" cy="12801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37760" y="2377440"/>
            <a:ext cx="54864" cy="1280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66360" y="2468880"/>
            <a:ext cx="6309360" cy="274320"/>
          </a:xfrm>
          <a:prstGeom prst="rect">
            <a:avLst/>
          </a:prstGeom>
          <a:noFill/>
        </p:spPr>
        <p:txBody>
          <a:bodyPr wrap="square">
            <a:spAutoFit/>
          </a:bodyPr>
          <a:lstStyle/>
          <a:p>
            <a:pPr algn="l"/>
            <a:r>
              <a:rPr sz="1400" b="1">
                <a:solidFill>
                  <a:srgbClr val="1A237E"/>
                </a:solidFill>
                <a:latin typeface="Calibri"/>
              </a:rPr>
              <a:t>Why PMax Waste Is High</a:t>
            </a:r>
          </a:p>
        </p:txBody>
      </p:sp>
      <p:sp>
        <p:nvSpPr>
          <p:cNvPr id="30" name="TextBox 29"/>
          <p:cNvSpPr txBox="1"/>
          <p:nvPr/>
        </p:nvSpPr>
        <p:spPr>
          <a:xfrm>
            <a:off x="5166360" y="2743200"/>
            <a:ext cx="6309360" cy="822960"/>
          </a:xfrm>
          <a:prstGeom prst="rect">
            <a:avLst/>
          </a:prstGeom>
          <a:noFill/>
        </p:spPr>
        <p:txBody>
          <a:bodyPr wrap="square">
            <a:spAutoFit/>
          </a:bodyPr>
          <a:lstStyle/>
          <a:p>
            <a:pPr algn="l"/>
            <a:r>
              <a:rPr sz="1100" b="0">
                <a:solidFill>
                  <a:srgbClr val="1A1A1A"/>
                </a:solidFill>
                <a:latin typeface="Calibri"/>
              </a:rPr>
              <a:t>Performance Max campaigns show ads across Search, Display, YouTube, Gmail, and Maps. Many search terms triggered by PMax are broad and irrelevant — but unlike Search campaigns, you have limited control over which terms PMax targets. Negative keywords can only be applied at account level for PMax.</a:t>
            </a:r>
          </a:p>
        </p:txBody>
      </p:sp>
      <p:sp>
        <p:nvSpPr>
          <p:cNvPr id="31" name="Rectangle 30"/>
          <p:cNvSpPr/>
          <p:nvPr/>
        </p:nvSpPr>
        <p:spPr>
          <a:xfrm>
            <a:off x="4937760" y="3840480"/>
            <a:ext cx="66751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37760" y="384048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66360" y="3931920"/>
            <a:ext cx="6309360" cy="274320"/>
          </a:xfrm>
          <a:prstGeom prst="rect">
            <a:avLst/>
          </a:prstGeom>
          <a:noFill/>
        </p:spPr>
        <p:txBody>
          <a:bodyPr wrap="square">
            <a:spAutoFit/>
          </a:bodyPr>
          <a:lstStyle/>
          <a:p>
            <a:pPr algn="l"/>
            <a:r>
              <a:rPr sz="1400" b="1">
                <a:solidFill>
                  <a:srgbClr val="1A237E"/>
                </a:solidFill>
                <a:latin typeface="Calibri"/>
              </a:rPr>
              <a:t>The Concern</a:t>
            </a:r>
          </a:p>
        </p:txBody>
      </p:sp>
      <p:sp>
        <p:nvSpPr>
          <p:cNvPr id="34" name="TextBox 33"/>
          <p:cNvSpPr txBox="1"/>
          <p:nvPr/>
        </p:nvSpPr>
        <p:spPr>
          <a:xfrm>
            <a:off x="5166360" y="4206240"/>
            <a:ext cx="6309360" cy="822960"/>
          </a:xfrm>
          <a:prstGeom prst="rect">
            <a:avLst/>
          </a:prstGeom>
          <a:noFill/>
        </p:spPr>
        <p:txBody>
          <a:bodyPr wrap="square">
            <a:spAutoFit/>
          </a:bodyPr>
          <a:lstStyle/>
          <a:p>
            <a:pPr algn="l"/>
            <a:r>
              <a:rPr sz="1100" b="0">
                <a:solidFill>
                  <a:srgbClr val="1A1A1A"/>
                </a:solidFill>
                <a:latin typeface="Calibri"/>
              </a:rPr>
              <a:t>PMax CPA has risen from £26 in 2025 to £52 in 2026 — a 101% increase. As the campaign scales, it's reaching into less relevant search territory. The account-level negative keyword lists (currently 784 broad match) need a full audit to protect PMax from irrelevant traffic.</a:t>
            </a:r>
          </a:p>
        </p:txBody>
      </p:sp>
      <p:sp>
        <p:nvSpPr>
          <p:cNvPr id="35" name="Rectangle 3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40" name="TextBox 3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1" name="TextBox 4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Keyword Inefficiency</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 waste: £3,296 (2025) + £2,402 (2026)  |  High-CPA keywords: £4,118 (2025) + £14,959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High-CPA Keywords</a:t>
            </a:r>
          </a:p>
        </p:txBody>
      </p:sp>
      <p:sp>
        <p:nvSpPr>
          <p:cNvPr id="10" name="TextBox 9"/>
          <p:cNvSpPr txBox="1"/>
          <p:nvPr/>
        </p:nvSpPr>
        <p:spPr>
          <a:xfrm>
            <a:off x="548640" y="1097280"/>
            <a:ext cx="5303520" cy="274320"/>
          </a:xfrm>
          <a:prstGeom prst="rect">
            <a:avLst/>
          </a:prstGeom>
          <a:noFill/>
        </p:spPr>
        <p:txBody>
          <a:bodyPr wrap="square">
            <a:spAutoFit/>
          </a:bodyPr>
          <a:lstStyle/>
          <a:p>
            <a:pPr algn="l"/>
            <a:r>
              <a:rPr sz="1400" b="1">
                <a:solidFill>
                  <a:srgbClr val="1A237E"/>
                </a:solidFill>
                <a:latin typeface="Calibri"/>
              </a:rPr>
              <a:t>Angle 1: Zero Conversions</a:t>
            </a:r>
          </a:p>
        </p:txBody>
      </p:sp>
      <p:graphicFrame>
        <p:nvGraphicFramePr>
          <p:cNvPr id="11" name="Table 10"/>
          <p:cNvGraphicFramePr>
            <a:graphicFrameLocks noGrp="1"/>
          </p:cNvGraphicFramePr>
          <p:nvPr/>
        </p:nvGraphicFramePr>
        <p:xfrm>
          <a:off x="548640" y="1417320"/>
          <a:ext cx="5303520" cy="2286000"/>
        </p:xfrm>
        <a:graphic>
          <a:graphicData uri="http://schemas.openxmlformats.org/drawingml/2006/table">
            <a:tbl>
              <a:tblPr firstRow="1" bandRow="1">
                <a:tableStyleId>{5C22544A-7EE6-4342-B048-85BDC9FD1C3A}</a:tableStyleId>
              </a:tblPr>
              <a:tblGrid>
                <a:gridCol w="3474720"/>
                <a:gridCol w="914400"/>
                <a:gridCol w="91440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r>
              <a:tr h="254000">
                <a:tc>
                  <a:txBody>
                    <a:bodyPr/>
                    <a:lstStyle/>
                    <a:p>
                      <a:pPr>
                        <a:defRPr sz="1000">
                          <a:solidFill>
                            <a:srgbClr val="1A1A1A"/>
                          </a:solidFill>
                          <a:latin typeface="Calibri"/>
                        </a:defRPr>
                      </a:pPr>
                      <a:r>
                        <a:t>[all in one day dental implants]</a:t>
                      </a:r>
                    </a:p>
                  </a:txBody>
                  <a:tcPr>
                    <a:solidFill>
                      <a:srgbClr val="F5F6FA"/>
                    </a:solidFill>
                  </a:tcPr>
                </a:tc>
                <a:tc>
                  <a:txBody>
                    <a:bodyPr/>
                    <a:lstStyle/>
                    <a:p>
                      <a:pPr>
                        <a:defRPr sz="1000">
                          <a:solidFill>
                            <a:srgbClr val="1A1A1A"/>
                          </a:solidFill>
                          <a:latin typeface="Calibri"/>
                        </a:defRPr>
                      </a:pPr>
                      <a:r>
                        <a:t>£335</a:t>
                      </a:r>
                    </a:p>
                  </a:txBody>
                  <a:tcPr>
                    <a:solidFill>
                      <a:srgbClr val="F5F6FA"/>
                    </a:solidFill>
                  </a:tcPr>
                </a:tc>
                <a:tc>
                  <a:txBody>
                    <a:bodyPr/>
                    <a:lstStyle/>
                    <a:p>
                      <a:pPr>
                        <a:defRPr sz="1000">
                          <a:solidFill>
                            <a:srgbClr val="1A1A1A"/>
                          </a:solidFill>
                          <a:latin typeface="Calibri"/>
                        </a:defRPr>
                      </a:pPr>
                      <a:r>
                        <a:t>33</a:t>
                      </a:r>
                    </a:p>
                  </a:txBody>
                  <a:tcPr>
                    <a:solidFill>
                      <a:srgbClr val="F5F6FA"/>
                    </a:solidFill>
                  </a:tcPr>
                </a:tc>
              </a:tr>
              <a:tr h="254000">
                <a:tc>
                  <a:txBody>
                    <a:bodyPr/>
                    <a:lstStyle/>
                    <a:p>
                      <a:pPr>
                        <a:defRPr sz="1000">
                          <a:solidFill>
                            <a:srgbClr val="1A1A1A"/>
                          </a:solidFill>
                          <a:latin typeface="Calibri"/>
                        </a:defRPr>
                      </a:pPr>
                      <a:r>
                        <a:t>[low cost full dental implants]</a:t>
                      </a:r>
                    </a:p>
                  </a:txBody>
                  <a:tcPr>
                    <a:solidFill>
                      <a:srgbClr val="FFFFFF"/>
                    </a:solidFill>
                  </a:tcPr>
                </a:tc>
                <a:tc>
                  <a:txBody>
                    <a:bodyPr/>
                    <a:lstStyle/>
                    <a:p>
                      <a:pPr>
                        <a:defRPr sz="1000">
                          <a:solidFill>
                            <a:srgbClr val="1A1A1A"/>
                          </a:solidFill>
                          <a:latin typeface="Calibri"/>
                        </a:defRPr>
                      </a:pPr>
                      <a:r>
                        <a:t>£198</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r>
              <a:tr h="254000">
                <a:tc>
                  <a:txBody>
                    <a:bodyPr/>
                    <a:lstStyle/>
                    <a:p>
                      <a:pPr>
                        <a:defRPr sz="1000">
                          <a:solidFill>
                            <a:srgbClr val="1A1A1A"/>
                          </a:solidFill>
                          <a:latin typeface="Calibri"/>
                        </a:defRPr>
                      </a:pPr>
                      <a:r>
                        <a:t>[cheap all on 4 dental implants]</a:t>
                      </a:r>
                    </a:p>
                  </a:txBody>
                  <a:tcPr>
                    <a:solidFill>
                      <a:srgbClr val="F5F6FA"/>
                    </a:solidFill>
                  </a:tcPr>
                </a:tc>
                <a:tc>
                  <a:txBody>
                    <a:bodyPr/>
                    <a:lstStyle/>
                    <a:p>
                      <a:pPr>
                        <a:defRPr sz="1000">
                          <a:solidFill>
                            <a:srgbClr val="1A1A1A"/>
                          </a:solidFill>
                          <a:latin typeface="Calibri"/>
                        </a:defRPr>
                      </a:pPr>
                      <a:r>
                        <a:t>£181</a:t>
                      </a:r>
                    </a:p>
                  </a:txBody>
                  <a:tcPr>
                    <a:solidFill>
                      <a:srgbClr val="F5F6FA"/>
                    </a:solidFill>
                  </a:tcPr>
                </a:tc>
                <a:tc>
                  <a:txBody>
                    <a:bodyPr/>
                    <a:lstStyle/>
                    <a:p>
                      <a:pPr>
                        <a:defRPr sz="1000">
                          <a:solidFill>
                            <a:srgbClr val="1A1A1A"/>
                          </a:solidFill>
                          <a:latin typeface="Calibri"/>
                        </a:defRPr>
                      </a:pPr>
                      <a:r>
                        <a:t>12</a:t>
                      </a:r>
                    </a:p>
                  </a:txBody>
                  <a:tcPr>
                    <a:solidFill>
                      <a:srgbClr val="F5F6FA"/>
                    </a:solidFill>
                  </a:tcPr>
                </a:tc>
              </a:tr>
              <a:tr h="254000">
                <a:tc>
                  <a:txBody>
                    <a:bodyPr/>
                    <a:lstStyle/>
                    <a:p>
                      <a:pPr>
                        <a:defRPr sz="1000">
                          <a:solidFill>
                            <a:srgbClr val="1A1A1A"/>
                          </a:solidFill>
                          <a:latin typeface="Calibri"/>
                        </a:defRPr>
                      </a:pPr>
                      <a:r>
                        <a:t>[all on 4 dental implants price]</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21</a:t>
                      </a:r>
                    </a:p>
                  </a:txBody>
                  <a:tcPr>
                    <a:solidFill>
                      <a:srgbClr val="FFFFFF"/>
                    </a:solidFill>
                  </a:tcPr>
                </a:tc>
              </a:tr>
              <a:tr h="254000">
                <a:tc>
                  <a:txBody>
                    <a:bodyPr/>
                    <a:lstStyle/>
                    <a:p>
                      <a:pPr>
                        <a:defRPr sz="1000">
                          <a:solidFill>
                            <a:srgbClr val="1A1A1A"/>
                          </a:solidFill>
                          <a:latin typeface="Calibri"/>
                        </a:defRPr>
                      </a:pPr>
                      <a:r>
                        <a:t>[get new teeth]</a:t>
                      </a:r>
                    </a:p>
                  </a:txBody>
                  <a:tcPr>
                    <a:solidFill>
                      <a:srgbClr val="F5F6FA"/>
                    </a:solidFill>
                  </a:tcPr>
                </a:tc>
                <a:tc>
                  <a:txBody>
                    <a:bodyPr/>
                    <a:lstStyle/>
                    <a:p>
                      <a:pPr>
                        <a:defRPr sz="1000">
                          <a:solidFill>
                            <a:srgbClr val="1A1A1A"/>
                          </a:solidFill>
                          <a:latin typeface="Calibri"/>
                        </a:defRPr>
                      </a:pPr>
                      <a:r>
                        <a:t>£113</a:t>
                      </a:r>
                    </a:p>
                  </a:txBody>
                  <a:tcPr>
                    <a:solidFill>
                      <a:srgbClr val="F5F6FA"/>
                    </a:solidFill>
                  </a:tcPr>
                </a:tc>
                <a:tc>
                  <a:txBody>
                    <a:bodyPr/>
                    <a:lstStyle/>
                    <a:p>
                      <a:pPr>
                        <a:defRPr sz="1000">
                          <a:solidFill>
                            <a:srgbClr val="1A1A1A"/>
                          </a:solidFill>
                          <a:latin typeface="Calibri"/>
                        </a:defRPr>
                      </a:pPr>
                      <a:r>
                        <a:t>14</a:t>
                      </a:r>
                    </a:p>
                  </a:txBody>
                  <a:tcPr>
                    <a:solidFill>
                      <a:srgbClr val="F5F6FA"/>
                    </a:solidFill>
                  </a:tcPr>
                </a:tc>
              </a:tr>
              <a:tr h="254000">
                <a:tc>
                  <a:txBody>
                    <a:bodyPr/>
                    <a:lstStyle/>
                    <a:p>
                      <a:pPr>
                        <a:defRPr sz="1000">
                          <a:solidFill>
                            <a:srgbClr val="1A1A1A"/>
                          </a:solidFill>
                          <a:latin typeface="Calibri"/>
                        </a:defRPr>
                      </a:pPr>
                      <a:r>
                        <a:t>[best way to replace teeth]</a:t>
                      </a:r>
                    </a:p>
                  </a:txBody>
                  <a:tcPr>
                    <a:solidFill>
                      <a:srgbClr val="FFFFFF"/>
                    </a:solidFill>
                  </a:tcPr>
                </a:tc>
                <a:tc>
                  <a:txBody>
                    <a:bodyPr/>
                    <a:lstStyle/>
                    <a:p>
                      <a:pPr>
                        <a:defRPr sz="1000">
                          <a:solidFill>
                            <a:srgbClr val="1A1A1A"/>
                          </a:solidFill>
                          <a:latin typeface="Calibri"/>
                        </a:defRPr>
                      </a:pPr>
                      <a:r>
                        <a:t>£97</a:t>
                      </a:r>
                    </a:p>
                  </a:txBody>
                  <a:tcPr>
                    <a:solidFill>
                      <a:srgbClr val="FFFFFF"/>
                    </a:solidFill>
                  </a:tcPr>
                </a:tc>
                <a:tc>
                  <a:txBody>
                    <a:bodyPr/>
                    <a:lstStyle/>
                    <a:p>
                      <a:pPr>
                        <a:defRPr sz="1000">
                          <a:solidFill>
                            <a:srgbClr val="1A1A1A"/>
                          </a:solidFill>
                          <a:latin typeface="Calibri"/>
                        </a:defRPr>
                      </a:pPr>
                      <a:r>
                        <a:t>17</a:t>
                      </a:r>
                    </a:p>
                  </a:txBody>
                  <a:tcPr>
                    <a:solidFill>
                      <a:srgbClr val="FFFFFF"/>
                    </a:solidFill>
                  </a:tcPr>
                </a:tc>
              </a:tr>
              <a:tr h="254000">
                <a:tc>
                  <a:txBody>
                    <a:bodyPr/>
                    <a:lstStyle/>
                    <a:p>
                      <a:pPr>
                        <a:defRPr sz="1000">
                          <a:solidFill>
                            <a:srgbClr val="1A1A1A"/>
                          </a:solidFill>
                          <a:latin typeface="Calibri"/>
                        </a:defRPr>
                      </a:pPr>
                      <a:r>
                        <a:t>[dental implants for the whole mouth]</a:t>
                      </a:r>
                    </a:p>
                  </a:txBody>
                  <a:tcPr>
                    <a:solidFill>
                      <a:srgbClr val="F5F6FA"/>
                    </a:solidFill>
                  </a:tcPr>
                </a:tc>
                <a:tc>
                  <a:txBody>
                    <a:bodyPr/>
                    <a:lstStyle/>
                    <a:p>
                      <a:pPr>
                        <a:defRPr sz="1000">
                          <a:solidFill>
                            <a:srgbClr val="1A1A1A"/>
                          </a:solidFill>
                          <a:latin typeface="Calibri"/>
                        </a:defRPr>
                      </a:pPr>
                      <a:r>
                        <a:t>£89</a:t>
                      </a:r>
                    </a:p>
                  </a:txBody>
                  <a:tcPr>
                    <a:solidFill>
                      <a:srgbClr val="F5F6FA"/>
                    </a:solidFill>
                  </a:tcPr>
                </a:tc>
                <a:tc>
                  <a:txBody>
                    <a:bodyPr/>
                    <a:lstStyle/>
                    <a:p>
                      <a:pPr>
                        <a:defRPr sz="1000">
                          <a:solidFill>
                            <a:srgbClr val="1A1A1A"/>
                          </a:solidFill>
                          <a:latin typeface="Calibri"/>
                        </a:defRPr>
                      </a:pPr>
                      <a:r>
                        <a:t>8</a:t>
                      </a:r>
                    </a:p>
                  </a:txBody>
                  <a:tcPr>
                    <a:solidFill>
                      <a:srgbClr val="F5F6FA"/>
                    </a:solidFill>
                  </a:tcPr>
                </a:tc>
              </a:tr>
              <a:tr h="254000">
                <a:tc>
                  <a:txBody>
                    <a:bodyPr/>
                    <a:lstStyle/>
                    <a:p>
                      <a:pPr>
                        <a:defRPr sz="1000">
                          <a:solidFill>
                            <a:srgbClr val="1A1A1A"/>
                          </a:solidFill>
                          <a:latin typeface="Calibri"/>
                        </a:defRPr>
                      </a:pPr>
                      <a:r>
                        <a:t>[getting full dental implants]</a:t>
                      </a:r>
                    </a:p>
                  </a:txBody>
                  <a:tcPr>
                    <a:solidFill>
                      <a:srgbClr val="FFFFFF"/>
                    </a:solidFill>
                  </a:tcPr>
                </a:tc>
                <a:tc>
                  <a:txBody>
                    <a:bodyPr/>
                    <a:lstStyle/>
                    <a:p>
                      <a:pPr>
                        <a:defRPr sz="1000">
                          <a:solidFill>
                            <a:srgbClr val="1A1A1A"/>
                          </a:solidFill>
                          <a:latin typeface="Calibri"/>
                        </a:defRPr>
                      </a:pPr>
                      <a:r>
                        <a:t>£84</a:t>
                      </a:r>
                    </a:p>
                  </a:txBody>
                  <a:tcPr>
                    <a:solidFill>
                      <a:srgbClr val="FFFFFF"/>
                    </a:solidFill>
                  </a:tcPr>
                </a:tc>
                <a:tc>
                  <a:txBody>
                    <a:bodyPr/>
                    <a:lstStyle/>
                    <a:p>
                      <a:pPr>
                        <a:defRPr sz="1000">
                          <a:solidFill>
                            <a:srgbClr val="1A1A1A"/>
                          </a:solidFill>
                          <a:latin typeface="Calibri"/>
                        </a:defRPr>
                      </a:pPr>
                      <a:r>
                        <a:t>7</a:t>
                      </a:r>
                    </a:p>
                  </a:txBody>
                  <a:tcPr>
                    <a:solidFill>
                      <a:srgbClr val="FFFFFF"/>
                    </a:solidFill>
                  </a:tcPr>
                </a:tc>
              </a:tr>
            </a:tbl>
          </a:graphicData>
        </a:graphic>
      </p:graphicFrame>
      <p:sp>
        <p:nvSpPr>
          <p:cNvPr id="12" name="TextBox 11"/>
          <p:cNvSpPr txBox="1"/>
          <p:nvPr/>
        </p:nvSpPr>
        <p:spPr>
          <a:xfrm>
            <a:off x="6217920" y="1097280"/>
            <a:ext cx="5303520" cy="274320"/>
          </a:xfrm>
          <a:prstGeom prst="rect">
            <a:avLst/>
          </a:prstGeom>
          <a:noFill/>
        </p:spPr>
        <p:txBody>
          <a:bodyPr wrap="square">
            <a:spAutoFit/>
          </a:bodyPr>
          <a:lstStyle/>
          <a:p>
            <a:pPr algn="l"/>
            <a:r>
              <a:rPr sz="1400" b="1">
                <a:solidFill>
                  <a:srgbClr val="1A237E"/>
                </a:solidFill>
                <a:latin typeface="Calibri"/>
              </a:rPr>
              <a:t>Angle 2: CPA Above £150</a:t>
            </a:r>
          </a:p>
        </p:txBody>
      </p:sp>
      <p:graphicFrame>
        <p:nvGraphicFramePr>
          <p:cNvPr id="13" name="Table 12"/>
          <p:cNvGraphicFramePr>
            <a:graphicFrameLocks noGrp="1"/>
          </p:cNvGraphicFramePr>
          <p:nvPr/>
        </p:nvGraphicFramePr>
        <p:xfrm>
          <a:off x="6217920" y="1417320"/>
          <a:ext cx="5303520" cy="2286000"/>
        </p:xfrm>
        <a:graphic>
          <a:graphicData uri="http://schemas.openxmlformats.org/drawingml/2006/table">
            <a:tbl>
              <a:tblPr firstRow="1" bandRow="1">
                <a:tableStyleId>{5C22544A-7EE6-4342-B048-85BDC9FD1C3A}</a:tableStyleId>
              </a:tblPr>
              <a:tblGrid>
                <a:gridCol w="2743200"/>
                <a:gridCol w="914400"/>
                <a:gridCol w="640080"/>
                <a:gridCol w="100584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54000">
                <a:tc>
                  <a:txBody>
                    <a:bodyPr/>
                    <a:lstStyle/>
                    <a:p>
                      <a:pPr>
                        <a:defRPr sz="1000">
                          <a:solidFill>
                            <a:srgbClr val="1A1A1A"/>
                          </a:solidFill>
                          <a:latin typeface="Calibri"/>
                        </a:defRPr>
                      </a:pPr>
                      <a:r>
                        <a:t>[dental replacement near me]</a:t>
                      </a:r>
                    </a:p>
                  </a:txBody>
                  <a:tcPr>
                    <a:solidFill>
                      <a:srgbClr val="F5F6FA"/>
                    </a:solidFill>
                  </a:tcPr>
                </a:tc>
                <a:tc>
                  <a:txBody>
                    <a:bodyPr/>
                    <a:lstStyle/>
                    <a:p>
                      <a:pPr>
                        <a:defRPr sz="1000">
                          <a:solidFill>
                            <a:srgbClr val="1A1A1A"/>
                          </a:solidFill>
                          <a:latin typeface="Calibri"/>
                        </a:defRPr>
                      </a:pPr>
                      <a:r>
                        <a:t>£5,224</a:t>
                      </a:r>
                    </a:p>
                  </a:txBody>
                  <a:tcPr>
                    <a:solidFill>
                      <a:srgbClr val="F5F6FA"/>
                    </a:solidFill>
                  </a:tcPr>
                </a:tc>
                <a:tc>
                  <a:txBody>
                    <a:bodyPr/>
                    <a:lstStyle/>
                    <a:p>
                      <a:pPr>
                        <a:defRPr sz="1000">
                          <a:solidFill>
                            <a:srgbClr val="1A1A1A"/>
                          </a:solidFill>
                          <a:latin typeface="Calibri"/>
                        </a:defRPr>
                      </a:pPr>
                      <a:r>
                        <a:t>31</a:t>
                      </a:r>
                    </a:p>
                  </a:txBody>
                  <a:tcPr>
                    <a:solidFill>
                      <a:srgbClr val="F5F6FA"/>
                    </a:solidFill>
                  </a:tcPr>
                </a:tc>
                <a:tc>
                  <a:txBody>
                    <a:bodyPr/>
                    <a:lstStyle/>
                    <a:p>
                      <a:pPr>
                        <a:defRPr sz="1000">
                          <a:solidFill>
                            <a:srgbClr val="1A1A1A"/>
                          </a:solidFill>
                          <a:latin typeface="Calibri"/>
                        </a:defRPr>
                      </a:pPr>
                      <a:r>
                        <a:t>£170</a:t>
                      </a:r>
                    </a:p>
                  </a:txBody>
                  <a:tcPr>
                    <a:solidFill>
                      <a:srgbClr val="F5F6FA"/>
                    </a:solidFill>
                  </a:tcPr>
                </a:tc>
              </a:tr>
              <a:tr h="254000">
                <a:tc>
                  <a:txBody>
                    <a:bodyPr/>
                    <a:lstStyle/>
                    <a:p>
                      <a:pPr>
                        <a:defRPr sz="1000">
                          <a:solidFill>
                            <a:srgbClr val="1A1A1A"/>
                          </a:solidFill>
                          <a:latin typeface="Calibri"/>
                        </a:defRPr>
                      </a:pPr>
                      <a:r>
                        <a:t>[all on 4 implants]</a:t>
                      </a:r>
                    </a:p>
                  </a:txBody>
                  <a:tcPr>
                    <a:solidFill>
                      <a:srgbClr val="FFFFFF"/>
                    </a:solidFill>
                  </a:tcPr>
                </a:tc>
                <a:tc>
                  <a:txBody>
                    <a:bodyPr/>
                    <a:lstStyle/>
                    <a:p>
                      <a:pPr>
                        <a:defRPr sz="1000">
                          <a:solidFill>
                            <a:srgbClr val="1A1A1A"/>
                          </a:solidFill>
                          <a:latin typeface="Calibri"/>
                        </a:defRPr>
                      </a:pPr>
                      <a:r>
                        <a:t>£2,806</a:t>
                      </a:r>
                    </a:p>
                  </a:txBody>
                  <a:tcPr>
                    <a:solidFill>
                      <a:srgbClr val="FFFFFF"/>
                    </a:solidFill>
                  </a:tcPr>
                </a:tc>
                <a:tc>
                  <a:txBody>
                    <a:bodyPr/>
                    <a:lstStyle/>
                    <a:p>
                      <a:pPr>
                        <a:defRPr sz="1000">
                          <a:solidFill>
                            <a:srgbClr val="1A1A1A"/>
                          </a:solidFill>
                          <a:latin typeface="Calibri"/>
                        </a:defRPr>
                      </a:pPr>
                      <a:r>
                        <a:t>16</a:t>
                      </a:r>
                    </a:p>
                  </a:txBody>
                  <a:tcPr>
                    <a:solidFill>
                      <a:srgbClr val="FFFFFF"/>
                    </a:solidFill>
                  </a:tcPr>
                </a:tc>
                <a:tc>
                  <a:txBody>
                    <a:bodyPr/>
                    <a:lstStyle/>
                    <a:p>
                      <a:pPr>
                        <a:defRPr sz="1000">
                          <a:solidFill>
                            <a:srgbClr val="1A1A1A"/>
                          </a:solidFill>
                          <a:latin typeface="Calibri"/>
                        </a:defRPr>
                      </a:pPr>
                      <a:r>
                        <a:t>£175</a:t>
                      </a:r>
                    </a:p>
                  </a:txBody>
                  <a:tcPr>
                    <a:solidFill>
                      <a:srgbClr val="FFFFFF"/>
                    </a:solidFill>
                  </a:tcPr>
                </a:tc>
              </a:tr>
              <a:tr h="254000">
                <a:tc>
                  <a:txBody>
                    <a:bodyPr/>
                    <a:lstStyle/>
                    <a:p>
                      <a:pPr>
                        <a:defRPr sz="1000">
                          <a:solidFill>
                            <a:srgbClr val="1A1A1A"/>
                          </a:solidFill>
                          <a:latin typeface="Calibri"/>
                        </a:defRPr>
                      </a:pPr>
                      <a:r>
                        <a:t>[dental implants close to me]</a:t>
                      </a:r>
                    </a:p>
                  </a:txBody>
                  <a:tcPr>
                    <a:solidFill>
                      <a:srgbClr val="F5F6FA"/>
                    </a:solidFill>
                  </a:tcPr>
                </a:tc>
                <a:tc>
                  <a:txBody>
                    <a:bodyPr/>
                    <a:lstStyle/>
                    <a:p>
                      <a:pPr>
                        <a:defRPr sz="1000">
                          <a:solidFill>
                            <a:srgbClr val="1A1A1A"/>
                          </a:solidFill>
                          <a:latin typeface="Calibri"/>
                        </a:defRPr>
                      </a:pPr>
                      <a:r>
                        <a:t>£2,463</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c>
                  <a:txBody>
                    <a:bodyPr/>
                    <a:lstStyle/>
                    <a:p>
                      <a:pPr>
                        <a:defRPr sz="1000">
                          <a:solidFill>
                            <a:srgbClr val="1A1A1A"/>
                          </a:solidFill>
                          <a:latin typeface="Calibri"/>
                        </a:defRPr>
                      </a:pPr>
                      <a:r>
                        <a:t>£160</a:t>
                      </a:r>
                    </a:p>
                  </a:txBody>
                  <a:tcPr>
                    <a:solidFill>
                      <a:srgbClr val="F5F6FA"/>
                    </a:solidFill>
                  </a:tcPr>
                </a:tc>
              </a:tr>
              <a:tr h="254000">
                <a:tc>
                  <a:txBody>
                    <a:bodyPr/>
                    <a:lstStyle/>
                    <a:p>
                      <a:pPr>
                        <a:defRPr sz="1000">
                          <a:solidFill>
                            <a:srgbClr val="1A1A1A"/>
                          </a:solidFill>
                          <a:latin typeface="Calibri"/>
                        </a:defRPr>
                      </a:pPr>
                      <a:r>
                        <a:t>[cheap full dental implants]</a:t>
                      </a:r>
                    </a:p>
                  </a:txBody>
                  <a:tcPr>
                    <a:solidFill>
                      <a:srgbClr val="FFFFFF"/>
                    </a:solidFill>
                  </a:tcPr>
                </a:tc>
                <a:tc>
                  <a:txBody>
                    <a:bodyPr/>
                    <a:lstStyle/>
                    <a:p>
                      <a:pPr>
                        <a:defRPr sz="1000">
                          <a:solidFill>
                            <a:srgbClr val="1A1A1A"/>
                          </a:solidFill>
                          <a:latin typeface="Calibri"/>
                        </a:defRPr>
                      </a:pPr>
                      <a:r>
                        <a:t>£796</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£199</a:t>
                      </a:r>
                    </a:p>
                  </a:txBody>
                  <a:tcPr>
                    <a:solidFill>
                      <a:srgbClr val="FFFFFF"/>
                    </a:solidFill>
                  </a:tcPr>
                </a:tc>
              </a:tr>
              <a:tr h="254000">
                <a:tc>
                  <a:txBody>
                    <a:bodyPr/>
                    <a:lstStyle/>
                    <a:p>
                      <a:pPr>
                        <a:defRPr sz="1000">
                          <a:solidFill>
                            <a:srgbClr val="1A1A1A"/>
                          </a:solidFill>
                          <a:latin typeface="Calibri"/>
                        </a:defRPr>
                      </a:pPr>
                      <a:r>
                        <a:t>[all 4 on one dental implants]</a:t>
                      </a:r>
                    </a:p>
                  </a:txBody>
                  <a:tcPr>
                    <a:solidFill>
                      <a:srgbClr val="F5F6FA"/>
                    </a:solidFill>
                  </a:tcPr>
                </a:tc>
                <a:tc>
                  <a:txBody>
                    <a:bodyPr/>
                    <a:lstStyle/>
                    <a:p>
                      <a:pPr>
                        <a:defRPr sz="1000">
                          <a:solidFill>
                            <a:srgbClr val="1A1A1A"/>
                          </a:solidFill>
                          <a:latin typeface="Calibri"/>
                        </a:defRPr>
                      </a:pPr>
                      <a:r>
                        <a:t>£778</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£259</a:t>
                      </a:r>
                    </a:p>
                  </a:txBody>
                  <a:tcPr>
                    <a:solidFill>
                      <a:srgbClr val="F5F6FA"/>
                    </a:solidFill>
                  </a:tcPr>
                </a:tc>
              </a:tr>
              <a:tr h="254000">
                <a:tc>
                  <a:txBody>
                    <a:bodyPr/>
                    <a:lstStyle/>
                    <a:p>
                      <a:pPr>
                        <a:defRPr sz="1000">
                          <a:solidFill>
                            <a:srgbClr val="1A1A1A"/>
                          </a:solidFill>
                          <a:latin typeface="Calibri"/>
                        </a:defRPr>
                      </a:pPr>
                      <a:r>
                        <a:t>[replace all teeth]</a:t>
                      </a:r>
                    </a:p>
                  </a:txBody>
                  <a:tcPr>
                    <a:solidFill>
                      <a:srgbClr val="FFFFFF"/>
                    </a:solidFill>
                  </a:tcPr>
                </a:tc>
                <a:tc>
                  <a:txBody>
                    <a:bodyPr/>
                    <a:lstStyle/>
                    <a:p>
                      <a:pPr>
                        <a:defRPr sz="1000">
                          <a:solidFill>
                            <a:srgbClr val="1A1A1A"/>
                          </a:solidFill>
                          <a:latin typeface="Calibri"/>
                        </a:defRPr>
                      </a:pPr>
                      <a:r>
                        <a:t>£472</a:t>
                      </a:r>
                    </a:p>
                  </a:txBody>
                  <a:tcPr>
                    <a:solidFill>
                      <a:srgbClr val="FFFFFF"/>
                    </a:solidFill>
                  </a:tcPr>
                </a:tc>
                <a:tc>
                  <a:txBody>
                    <a:bodyPr/>
                    <a:lstStyle/>
                    <a:p>
                      <a:pPr>
                        <a:defRPr sz="1000">
                          <a:solidFill>
                            <a:srgbClr val="1A1A1A"/>
                          </a:solidFill>
                          <a:latin typeface="Calibri"/>
                        </a:defRPr>
                      </a:pPr>
                      <a:r>
                        <a:t>2</a:t>
                      </a:r>
                    </a:p>
                  </a:txBody>
                  <a:tcPr>
                    <a:solidFill>
                      <a:srgbClr val="FFFFFF"/>
                    </a:solidFill>
                  </a:tcPr>
                </a:tc>
                <a:tc>
                  <a:txBody>
                    <a:bodyPr/>
                    <a:lstStyle/>
                    <a:p>
                      <a:pPr>
                        <a:defRPr sz="1000">
                          <a:solidFill>
                            <a:srgbClr val="1A1A1A"/>
                          </a:solidFill>
                          <a:latin typeface="Calibri"/>
                        </a:defRPr>
                      </a:pPr>
                      <a:r>
                        <a:t>£189</a:t>
                      </a:r>
                    </a:p>
                  </a:txBody>
                  <a:tcPr>
                    <a:solidFill>
                      <a:srgbClr val="FFFFFF"/>
                    </a:solidFill>
                  </a:tcPr>
                </a:tc>
              </a:tr>
              <a:tr h="254000">
                <a:tc>
                  <a:txBody>
                    <a:bodyPr/>
                    <a:lstStyle/>
                    <a:p>
                      <a:pPr>
                        <a:defRPr sz="1000">
                          <a:solidFill>
                            <a:srgbClr val="1A1A1A"/>
                          </a:solidFill>
                          <a:latin typeface="Calibri"/>
                        </a:defRPr>
                      </a:pPr>
                      <a:r>
                        <a:t>[low cost dental implants in my area]</a:t>
                      </a:r>
                    </a:p>
                  </a:txBody>
                  <a:tcPr>
                    <a:solidFill>
                      <a:srgbClr val="F5F6FA"/>
                    </a:solidFill>
                  </a:tcPr>
                </a:tc>
                <a:tc>
                  <a:txBody>
                    <a:bodyPr/>
                    <a:lstStyle/>
                    <a:p>
                      <a:pPr>
                        <a:defRPr sz="1000">
                          <a:solidFill>
                            <a:srgbClr val="1A1A1A"/>
                          </a:solidFill>
                          <a:latin typeface="Calibri"/>
                        </a:defRPr>
                      </a:pPr>
                      <a:r>
                        <a:t>£321</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£161</a:t>
                      </a:r>
                    </a:p>
                  </a:txBody>
                  <a:tcPr>
                    <a:solidFill>
                      <a:srgbClr val="F5F6FA"/>
                    </a:solidFill>
                  </a:tcPr>
                </a:tc>
              </a:tr>
              <a:tr h="254000">
                <a:tc>
                  <a:txBody>
                    <a:bodyPr/>
                    <a:lstStyle/>
                    <a:p>
                      <a:pPr>
                        <a:defRPr sz="1000">
                          <a:solidFill>
                            <a:srgbClr val="1A1A1A"/>
                          </a:solidFill>
                          <a:latin typeface="Calibri"/>
                        </a:defRPr>
                      </a:pPr>
                      <a:r>
                        <a:t>[price of all on four dental implants]</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c>
                  <a:txBody>
                    <a:bodyPr/>
                    <a:lstStyle/>
                    <a:p>
                      <a:pPr>
                        <a:defRPr sz="1000">
                          <a:solidFill>
                            <a:srgbClr val="1A1A1A"/>
                          </a:solidFill>
                          <a:latin typeface="Calibri"/>
                        </a:defRPr>
                      </a:pPr>
                      <a:r>
                        <a:t>1</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r>
            </a:tbl>
          </a:graphicData>
        </a:graphic>
      </p:graphicFrame>
      <p:sp>
        <p:nvSpPr>
          <p:cNvPr id="14" name="Rectangle 13"/>
          <p:cNvSpPr/>
          <p:nvPr/>
        </p:nvSpPr>
        <p:spPr>
          <a:xfrm>
            <a:off x="548640" y="393192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23360"/>
            <a:ext cx="4937760" cy="274320"/>
          </a:xfrm>
          <a:prstGeom prst="rect">
            <a:avLst/>
          </a:prstGeom>
          <a:noFill/>
        </p:spPr>
        <p:txBody>
          <a:bodyPr wrap="square">
            <a:spAutoFit/>
          </a:bodyPr>
          <a:lstStyle/>
          <a:p>
            <a:pPr algn="l"/>
            <a:r>
              <a:rPr sz="1400" b="1">
                <a:solidFill>
                  <a:srgbClr val="1A237E"/>
                </a:solidFill>
                <a:latin typeface="Calibri"/>
              </a:rPr>
              <a:t>Zero-Conv Keywords: Both Years</a:t>
            </a:r>
          </a:p>
        </p:txBody>
      </p:sp>
      <p:sp>
        <p:nvSpPr>
          <p:cNvPr id="17" name="TextBox 16"/>
          <p:cNvSpPr txBox="1"/>
          <p:nvPr/>
        </p:nvSpPr>
        <p:spPr>
          <a:xfrm>
            <a:off x="777240" y="4297680"/>
            <a:ext cx="4937760" cy="1371600"/>
          </a:xfrm>
          <a:prstGeom prst="rect">
            <a:avLst/>
          </a:prstGeom>
          <a:noFill/>
        </p:spPr>
        <p:txBody>
          <a:bodyPr wrap="square">
            <a:spAutoFit/>
          </a:bodyPr>
          <a:lstStyle/>
          <a:p>
            <a:pPr algn="l"/>
            <a:r>
              <a:rPr sz="1100" b="0">
                <a:solidFill>
                  <a:srgbClr val="1A1A1A"/>
                </a:solidFill>
                <a:latin typeface="Calibri"/>
              </a:rPr>
              <a:t>2025: 76 keywords, £3,296 wasted
2026: 53 keywords, £2,402 wasted
These should be paused and budget redirected to converting keywords.</a:t>
            </a:r>
          </a:p>
        </p:txBody>
      </p:sp>
      <p:sp>
        <p:nvSpPr>
          <p:cNvPr id="18" name="Rectangle 17"/>
          <p:cNvSpPr/>
          <p:nvPr/>
        </p:nvSpPr>
        <p:spPr>
          <a:xfrm>
            <a:off x="6217920" y="3931920"/>
            <a:ext cx="5303520" cy="18288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931920"/>
            <a:ext cx="54864" cy="18288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023360"/>
            <a:ext cx="4937760" cy="274320"/>
          </a:xfrm>
          <a:prstGeom prst="rect">
            <a:avLst/>
          </a:prstGeom>
          <a:noFill/>
        </p:spPr>
        <p:txBody>
          <a:bodyPr wrap="square">
            <a:spAutoFit/>
          </a:bodyPr>
          <a:lstStyle/>
          <a:p>
            <a:pPr algn="l"/>
            <a:r>
              <a:rPr sz="1400" b="1">
                <a:solidFill>
                  <a:srgbClr val="1A237E"/>
                </a:solidFill>
                <a:latin typeface="Calibri"/>
              </a:rPr>
              <a:t>High-CPA Keywords: Both Years</a:t>
            </a:r>
          </a:p>
        </p:txBody>
      </p:sp>
      <p:sp>
        <p:nvSpPr>
          <p:cNvPr id="21" name="TextBox 20"/>
          <p:cNvSpPr txBox="1"/>
          <p:nvPr/>
        </p:nvSpPr>
        <p:spPr>
          <a:xfrm>
            <a:off x="6446520" y="4297680"/>
            <a:ext cx="4937760" cy="1371600"/>
          </a:xfrm>
          <a:prstGeom prst="rect">
            <a:avLst/>
          </a:prstGeom>
          <a:noFill/>
        </p:spPr>
        <p:txBody>
          <a:bodyPr wrap="square">
            <a:spAutoFit/>
          </a:bodyPr>
          <a:lstStyle/>
          <a:p>
            <a:pPr algn="l"/>
            <a:r>
              <a:rPr sz="1100" b="0">
                <a:solidFill>
                  <a:srgbClr val="1A1A1A"/>
                </a:solidFill>
                <a:latin typeface="Calibri"/>
              </a:rPr>
              <a:t>2025: 12 keywords at £150+ CPA, £4,118 spent
2026: 17 keywords at £150+ CPA, £14,959 spent
The problem is growing — 3.6x more spend on high-CPA keywords in 2026.</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Device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 device bid adjustments despite significant and widening CPA gaps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device_yoy.png"/>
          <p:cNvPicPr>
            <a:picLocks noChangeAspect="1"/>
          </p:cNvPicPr>
          <p:nvPr/>
        </p:nvPicPr>
        <p:blipFill>
          <a:blip r:embed="rId2"/>
          <a:stretch>
            <a:fillRect/>
          </a:stretch>
        </p:blipFill>
        <p:spPr>
          <a:xfrm>
            <a:off x="548640" y="1188720"/>
            <a:ext cx="6400800" cy="3200400"/>
          </a:xfrm>
          <a:prstGeom prst="rect">
            <a:avLst/>
          </a:prstGeom>
        </p:spPr>
      </p:pic>
      <p:graphicFrame>
        <p:nvGraphicFramePr>
          <p:cNvPr id="11" name="Table 10"/>
          <p:cNvGraphicFramePr>
            <a:graphicFrameLocks noGrp="1"/>
          </p:cNvGraphicFramePr>
          <p:nvPr/>
        </p:nvGraphicFramePr>
        <p:xfrm>
          <a:off x="7223760" y="1188720"/>
          <a:ext cx="3657600" cy="1645920"/>
        </p:xfrm>
        <a:graphic>
          <a:graphicData uri="http://schemas.openxmlformats.org/drawingml/2006/table">
            <a:tbl>
              <a:tblPr firstRow="1" bandRow="1">
                <a:tableStyleId>{5C22544A-7EE6-4342-B048-85BDC9FD1C3A}</a:tableStyleId>
              </a:tblPr>
              <a:tblGrid>
                <a:gridCol w="822960"/>
                <a:gridCol w="731520"/>
                <a:gridCol w="731520"/>
                <a:gridCol w="731520"/>
                <a:gridCol w="640080"/>
              </a:tblGrid>
              <a:tr h="411480">
                <a:tc>
                  <a:txBody>
                    <a:bodyPr/>
                    <a:lstStyle/>
                    <a:p>
                      <a:pPr>
                        <a:defRPr sz="1000" b="1">
                          <a:solidFill>
                            <a:srgbClr val="FFFFFF"/>
                          </a:solidFill>
                          <a:latin typeface="Calibri"/>
                        </a:defRPr>
                      </a:pPr>
                      <a:r>
                        <a:t>Device</a:t>
                      </a:r>
                    </a:p>
                  </a:txBody>
                  <a:tcPr>
                    <a:solidFill>
                      <a:srgbClr val="1A237E"/>
                    </a:solidFill>
                  </a:tcPr>
                </a:tc>
                <a:tc>
                  <a:txBody>
                    <a:bodyPr/>
                    <a:lstStyle/>
                    <a:p>
                      <a:pPr>
                        <a:defRPr sz="1000" b="1">
                          <a:solidFill>
                            <a:srgbClr val="FFFFFF"/>
                          </a:solidFill>
                          <a:latin typeface="Calibri"/>
                        </a:defRPr>
                      </a:pPr>
                      <a:r>
                        <a:t>2025 CPA</a:t>
                      </a:r>
                    </a:p>
                  </a:txBody>
                  <a:tcPr>
                    <a:solidFill>
                      <a:srgbClr val="1A237E"/>
                    </a:solidFill>
                  </a:tcPr>
                </a:tc>
                <a:tc>
                  <a:txBody>
                    <a:bodyPr/>
                    <a:lstStyle/>
                    <a:p>
                      <a:pPr>
                        <a:defRPr sz="1000" b="1">
                          <a:solidFill>
                            <a:srgbClr val="FFFFFF"/>
                          </a:solidFill>
                          <a:latin typeface="Calibri"/>
                        </a:defRPr>
                      </a:pPr>
                      <a:r>
                        <a:t>2026 CPA</a:t>
                      </a:r>
                    </a:p>
                  </a:txBody>
                  <a:tcPr>
                    <a:solidFill>
                      <a:srgbClr val="1A237E"/>
                    </a:solidFill>
                  </a:tcPr>
                </a:tc>
                <a:tc>
                  <a:txBody>
                    <a:bodyPr/>
                    <a:lstStyle/>
                    <a:p>
                      <a:pPr>
                        <a:defRPr sz="1000" b="1">
                          <a:solidFill>
                            <a:srgbClr val="FFFFFF"/>
                          </a:solidFill>
                          <a:latin typeface="Calibri"/>
                        </a:defRPr>
                      </a:pPr>
                      <a:r>
                        <a:t>Change</a:t>
                      </a:r>
                    </a:p>
                  </a:txBody>
                  <a:tcPr>
                    <a:solidFill>
                      <a:srgbClr val="1A237E"/>
                    </a:solidFill>
                  </a:tcPr>
                </a:tc>
                <a:tc>
                  <a:txBody>
                    <a:bodyPr/>
                    <a:lstStyle/>
                    <a:p>
                      <a:pPr>
                        <a:defRPr sz="1000" b="1">
                          <a:solidFill>
                            <a:srgbClr val="FFFFFF"/>
                          </a:solidFill>
                          <a:latin typeface="Calibri"/>
                        </a:defRPr>
                      </a:pPr>
                      <a:r>
                        <a:t>Bid Adj.</a:t>
                      </a:r>
                    </a:p>
                  </a:txBody>
                  <a:tcPr>
                    <a:solidFill>
                      <a:srgbClr val="1A237E"/>
                    </a:solidFill>
                  </a:tcPr>
                </a:tc>
              </a:tr>
              <a:tr h="411480">
                <a:tc>
                  <a:txBody>
                    <a:bodyPr/>
                    <a:lstStyle/>
                    <a:p>
                      <a:pPr>
                        <a:defRPr sz="1000">
                          <a:solidFill>
                            <a:srgbClr val="1A1A1A"/>
                          </a:solidFill>
                          <a:latin typeface="Calibri"/>
                        </a:defRPr>
                      </a:pPr>
                      <a:r>
                        <a:t>Mobile</a:t>
                      </a:r>
                    </a:p>
                  </a:txBody>
                  <a:tcPr>
                    <a:solidFill>
                      <a:srgbClr val="F5F6FA"/>
                    </a:solidFill>
                  </a:tcPr>
                </a:tc>
                <a:tc>
                  <a:txBody>
                    <a:bodyPr/>
                    <a:lstStyle/>
                    <a:p>
                      <a:pPr>
                        <a:defRPr sz="1000">
                          <a:solidFill>
                            <a:srgbClr val="1A1A1A"/>
                          </a:solidFill>
                          <a:latin typeface="Calibri"/>
                        </a:defRPr>
                      </a:pPr>
                      <a:r>
                        <a:t>£42</a:t>
                      </a:r>
                    </a:p>
                  </a:txBody>
                  <a:tcPr>
                    <a:solidFill>
                      <a:srgbClr val="F5F6FA"/>
                    </a:solidFill>
                  </a:tcPr>
                </a:tc>
                <a:tc>
                  <a:txBody>
                    <a:bodyPr/>
                    <a:lstStyle/>
                    <a:p>
                      <a:pPr>
                        <a:defRPr sz="1000">
                          <a:solidFill>
                            <a:srgbClr val="1A1A1A"/>
                          </a:solidFill>
                          <a:latin typeface="Calibri"/>
                        </a:defRPr>
                      </a:pPr>
                      <a:r>
                        <a:t>£56</a:t>
                      </a:r>
                    </a:p>
                  </a:txBody>
                  <a:tcPr>
                    <a:solidFill>
                      <a:srgbClr val="F5F6FA"/>
                    </a:solidFill>
                  </a:tcPr>
                </a:tc>
                <a:tc>
                  <a:txBody>
                    <a:bodyPr/>
                    <a:lstStyle/>
                    <a:p>
                      <a:pPr>
                        <a:defRPr sz="1000">
                          <a:solidFill>
                            <a:srgbClr val="1A1A1A"/>
                          </a:solidFill>
                          <a:latin typeface="Calibri"/>
                        </a:defRPr>
                      </a:pPr>
                      <a:r>
                        <a:t>+34%</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r h="411480">
                <a:tc>
                  <a:txBody>
                    <a:bodyPr/>
                    <a:lstStyle/>
                    <a:p>
                      <a:pPr>
                        <a:defRPr sz="1000">
                          <a:solidFill>
                            <a:srgbClr val="1A1A1A"/>
                          </a:solidFill>
                          <a:latin typeface="Calibri"/>
                        </a:defRPr>
                      </a:pPr>
                      <a:r>
                        <a:t>Desktop</a:t>
                      </a:r>
                    </a:p>
                  </a:txBody>
                  <a:tcPr>
                    <a:solidFill>
                      <a:srgbClr val="FFFFFF"/>
                    </a:solidFill>
                  </a:tcPr>
                </a:tc>
                <a:tc>
                  <a:txBody>
                    <a:bodyPr/>
                    <a:lstStyle/>
                    <a:p>
                      <a:pPr>
                        <a:defRPr sz="1000">
                          <a:solidFill>
                            <a:srgbClr val="1A1A1A"/>
                          </a:solidFill>
                          <a:latin typeface="Calibri"/>
                        </a:defRPr>
                      </a:pPr>
                      <a:r>
                        <a:t>£67</a:t>
                      </a:r>
                    </a:p>
                  </a:txBody>
                  <a:tcPr>
                    <a:solidFill>
                      <a:srgbClr val="FFFFFF"/>
                    </a:solidFill>
                  </a:tcPr>
                </a:tc>
                <a:tc>
                  <a:txBody>
                    <a:bodyPr/>
                    <a:lstStyle/>
                    <a:p>
                      <a:pPr>
                        <a:defRPr sz="1000">
                          <a:solidFill>
                            <a:srgbClr val="1A1A1A"/>
                          </a:solidFill>
                          <a:latin typeface="Calibri"/>
                        </a:defRPr>
                      </a:pPr>
                      <a:r>
                        <a:t>£92</a:t>
                      </a:r>
                    </a:p>
                  </a:txBody>
                  <a:tcPr>
                    <a:solidFill>
                      <a:srgbClr val="FFFFFF"/>
                    </a:solidFill>
                  </a:tcPr>
                </a:tc>
                <a:tc>
                  <a:txBody>
                    <a:bodyPr/>
                    <a:lstStyle/>
                    <a:p>
                      <a:pPr>
                        <a:defRPr sz="1000">
                          <a:solidFill>
                            <a:srgbClr val="1A1A1A"/>
                          </a:solidFill>
                          <a:latin typeface="Calibri"/>
                        </a:defRPr>
                      </a:pPr>
                      <a:r>
                        <a:t>+37%</a:t>
                      </a:r>
                    </a:p>
                  </a:txBody>
                  <a:tcPr>
                    <a:solidFill>
                      <a:srgbClr val="FFFFFF"/>
                    </a:solidFill>
                  </a:tcPr>
                </a:tc>
                <a:tc>
                  <a:txBody>
                    <a:bodyPr/>
                    <a:lstStyle/>
                    <a:p>
                      <a:pPr>
                        <a:defRPr sz="1000">
                          <a:solidFill>
                            <a:srgbClr val="1A1A1A"/>
                          </a:solidFill>
                          <a:latin typeface="Calibri"/>
                        </a:defRPr>
                      </a:pPr>
                      <a:r>
                        <a:t>None</a:t>
                      </a:r>
                    </a:p>
                  </a:txBody>
                  <a:tcPr>
                    <a:solidFill>
                      <a:srgbClr val="FFFFFF"/>
                    </a:solidFill>
                  </a:tcPr>
                </a:tc>
              </a:tr>
              <a:tr h="411480">
                <a:tc>
                  <a:txBody>
                    <a:bodyPr/>
                    <a:lstStyle/>
                    <a:p>
                      <a:pPr>
                        <a:defRPr sz="1000">
                          <a:solidFill>
                            <a:srgbClr val="1A1A1A"/>
                          </a:solidFill>
                          <a:latin typeface="Calibri"/>
                        </a:defRPr>
                      </a:pPr>
                      <a:r>
                        <a:t>Tablet</a:t>
                      </a:r>
                    </a:p>
                  </a:txBody>
                  <a:tcPr>
                    <a:solidFill>
                      <a:srgbClr val="F5F6FA"/>
                    </a:solidFill>
                  </a:tcPr>
                </a:tc>
                <a:tc>
                  <a:txBody>
                    <a:bodyPr/>
                    <a:lstStyle/>
                    <a:p>
                      <a:pPr>
                        <a:defRPr sz="1000">
                          <a:solidFill>
                            <a:srgbClr val="1A1A1A"/>
                          </a:solidFill>
                          <a:latin typeface="Calibri"/>
                        </a:defRPr>
                      </a:pPr>
                      <a:r>
                        <a:t>£44</a:t>
                      </a:r>
                    </a:p>
                  </a:txBody>
                  <a:tcPr>
                    <a:solidFill>
                      <a:srgbClr val="F5F6FA"/>
                    </a:solidFill>
                  </a:tcPr>
                </a:tc>
                <a:tc>
                  <a:txBody>
                    <a:bodyPr/>
                    <a:lstStyle/>
                    <a:p>
                      <a:pPr>
                        <a:defRPr sz="1000">
                          <a:solidFill>
                            <a:srgbClr val="1A1A1A"/>
                          </a:solidFill>
                          <a:latin typeface="Calibri"/>
                        </a:defRPr>
                      </a:pPr>
                      <a:r>
                        <a:t>£73</a:t>
                      </a:r>
                    </a:p>
                  </a:txBody>
                  <a:tcPr>
                    <a:solidFill>
                      <a:srgbClr val="F5F6FA"/>
                    </a:solidFill>
                  </a:tcPr>
                </a:tc>
                <a:tc>
                  <a:txBody>
                    <a:bodyPr/>
                    <a:lstStyle/>
                    <a:p>
                      <a:pPr>
                        <a:defRPr sz="1000">
                          <a:solidFill>
                            <a:srgbClr val="1A1A1A"/>
                          </a:solidFill>
                          <a:latin typeface="Calibri"/>
                        </a:defRPr>
                      </a:pPr>
                      <a:r>
                        <a:t>+66%</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bl>
          </a:graphicData>
        </a:graphic>
      </p:graphicFrame>
      <p:sp>
        <p:nvSpPr>
          <p:cNvPr id="12" name="Rectangle 11"/>
          <p:cNvSpPr/>
          <p:nvPr/>
        </p:nvSpPr>
        <p:spPr>
          <a:xfrm>
            <a:off x="7223760" y="3017520"/>
            <a:ext cx="4389120" cy="109728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0" y="3017520"/>
            <a:ext cx="54864" cy="10972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3108960"/>
            <a:ext cx="4023360" cy="274320"/>
          </a:xfrm>
          <a:prstGeom prst="rect">
            <a:avLst/>
          </a:prstGeom>
          <a:noFill/>
        </p:spPr>
        <p:txBody>
          <a:bodyPr wrap="square">
            <a:spAutoFit/>
          </a:bodyPr>
          <a:lstStyle/>
          <a:p>
            <a:pPr algn="l"/>
            <a:r>
              <a:rPr sz="1400" b="1">
                <a:solidFill>
                  <a:srgbClr val="1A237E"/>
                </a:solidFill>
                <a:latin typeface="Calibri"/>
              </a:rPr>
              <a:t>Desktop Premium Widening</a:t>
            </a:r>
          </a:p>
        </p:txBody>
      </p:sp>
      <p:sp>
        <p:nvSpPr>
          <p:cNvPr id="15" name="TextBox 14"/>
          <p:cNvSpPr txBox="1"/>
          <p:nvPr/>
        </p:nvSpPr>
        <p:spPr>
          <a:xfrm>
            <a:off x="7452360" y="3383280"/>
            <a:ext cx="4023360" cy="640080"/>
          </a:xfrm>
          <a:prstGeom prst="rect">
            <a:avLst/>
          </a:prstGeom>
          <a:noFill/>
        </p:spPr>
        <p:txBody>
          <a:bodyPr wrap="square">
            <a:spAutoFit/>
          </a:bodyPr>
          <a:lstStyle/>
          <a:p>
            <a:pPr algn="l"/>
            <a:r>
              <a:rPr sz="1100" b="0">
                <a:solidFill>
                  <a:srgbClr val="1A1A1A"/>
                </a:solidFill>
                <a:latin typeface="Calibri"/>
              </a:rPr>
              <a:t>Desktop CPA is 64% higher than mobile in 2026 (was 60% in 2025). The gap is growing.</a:t>
            </a:r>
          </a:p>
        </p:txBody>
      </p:sp>
      <p:sp>
        <p:nvSpPr>
          <p:cNvPr id="16" name="Rectangle 15"/>
          <p:cNvSpPr/>
          <p:nvPr/>
        </p:nvSpPr>
        <p:spPr>
          <a:xfrm>
            <a:off x="548640" y="475488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800600"/>
            <a:ext cx="10607040" cy="457200"/>
          </a:xfrm>
          <a:prstGeom prst="rect">
            <a:avLst/>
          </a:prstGeom>
          <a:noFill/>
        </p:spPr>
        <p:txBody>
          <a:bodyPr wrap="square">
            <a:spAutoFit/>
          </a:bodyPr>
          <a:lstStyle/>
          <a:p>
            <a:pPr algn="l"/>
            <a:r>
              <a:rPr sz="1100" b="1">
                <a:solidFill>
                  <a:srgbClr val="1A237E"/>
                </a:solidFill>
                <a:latin typeface="Calibri"/>
              </a:rPr>
              <a:t>Recommendation: Implement device bid adjustments. Reduce desktop bids by 20-25% and tablet bids by 30-40% to align spend with conversion efficiency. No adjustments exist anywhere in the account.</a:t>
            </a:r>
          </a:p>
        </p:txBody>
      </p:sp>
      <p:sp>
        <p:nvSpPr>
          <p:cNvPr id="18" name="Rectangle 1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3" name="TextBox 2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4" name="TextBox 2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Day of Week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Sunday CPA: £45 (2025) → £68 (2026) — emerging as the clear waste day</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dow_yoy.png"/>
          <p:cNvPicPr>
            <a:picLocks noChangeAspect="1"/>
          </p:cNvPicPr>
          <p:nvPr/>
        </p:nvPicPr>
        <p:blipFill>
          <a:blip r:embed="rId2"/>
          <a:stretch>
            <a:fillRect/>
          </a:stretch>
        </p:blipFill>
        <p:spPr>
          <a:xfrm>
            <a:off x="548640" y="1188720"/>
            <a:ext cx="6858000" cy="3200400"/>
          </a:xfrm>
          <a:prstGeom prst="rect">
            <a:avLst/>
          </a:prstGeom>
        </p:spPr>
      </p:pic>
      <p:sp>
        <p:nvSpPr>
          <p:cNvPr id="11" name="Rectangle 10"/>
          <p:cNvSpPr/>
          <p:nvPr/>
        </p:nvSpPr>
        <p:spPr>
          <a:xfrm>
            <a:off x="7680960" y="1188720"/>
            <a:ext cx="3931920" cy="1188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188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74320"/>
          </a:xfrm>
          <a:prstGeom prst="rect">
            <a:avLst/>
          </a:prstGeom>
          <a:noFill/>
        </p:spPr>
        <p:txBody>
          <a:bodyPr wrap="square">
            <a:spAutoFit/>
          </a:bodyPr>
          <a:lstStyle/>
          <a:p>
            <a:pPr algn="l"/>
            <a:r>
              <a:rPr sz="1400" b="1">
                <a:solidFill>
                  <a:srgbClr val="1A237E"/>
                </a:solidFill>
                <a:latin typeface="Calibri"/>
              </a:rPr>
              <a:t>2025: Tight Spread</a:t>
            </a:r>
          </a:p>
        </p:txBody>
      </p:sp>
      <p:sp>
        <p:nvSpPr>
          <p:cNvPr id="14" name="TextBox 13"/>
          <p:cNvSpPr txBox="1"/>
          <p:nvPr/>
        </p:nvSpPr>
        <p:spPr>
          <a:xfrm>
            <a:off x="7909560" y="1554480"/>
            <a:ext cx="3566160" cy="731520"/>
          </a:xfrm>
          <a:prstGeom prst="rect">
            <a:avLst/>
          </a:prstGeom>
          <a:noFill/>
        </p:spPr>
        <p:txBody>
          <a:bodyPr wrap="square">
            <a:spAutoFit/>
          </a:bodyPr>
          <a:lstStyle/>
          <a:p>
            <a:pPr algn="l"/>
            <a:r>
              <a:rPr sz="1100" b="0">
                <a:solidFill>
                  <a:srgbClr val="1A1A1A"/>
                </a:solidFill>
                <a:latin typeface="Calibri"/>
              </a:rPr>
              <a:t>Range: £41–£46
Day-of-week barely mattered. £5 spread across all days.</a:t>
            </a:r>
          </a:p>
        </p:txBody>
      </p:sp>
      <p:sp>
        <p:nvSpPr>
          <p:cNvPr id="15" name="Rectangle 14"/>
          <p:cNvSpPr/>
          <p:nvPr/>
        </p:nvSpPr>
        <p:spPr>
          <a:xfrm>
            <a:off x="7680960" y="2560320"/>
            <a:ext cx="3931920" cy="118872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0" y="2560320"/>
            <a:ext cx="54864" cy="1188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651760"/>
            <a:ext cx="3566160" cy="274320"/>
          </a:xfrm>
          <a:prstGeom prst="rect">
            <a:avLst/>
          </a:prstGeom>
          <a:noFill/>
        </p:spPr>
        <p:txBody>
          <a:bodyPr wrap="square">
            <a:spAutoFit/>
          </a:bodyPr>
          <a:lstStyle/>
          <a:p>
            <a:pPr algn="l"/>
            <a:r>
              <a:rPr sz="1400" b="1">
                <a:solidFill>
                  <a:srgbClr val="1A237E"/>
                </a:solidFill>
                <a:latin typeface="Calibri"/>
              </a:rPr>
              <a:t>2026: Sunday Emerging</a:t>
            </a:r>
          </a:p>
        </p:txBody>
      </p:sp>
      <p:sp>
        <p:nvSpPr>
          <p:cNvPr id="18" name="TextBox 17"/>
          <p:cNvSpPr txBox="1"/>
          <p:nvPr/>
        </p:nvSpPr>
        <p:spPr>
          <a:xfrm>
            <a:off x="7909560" y="2926080"/>
            <a:ext cx="3566160" cy="731520"/>
          </a:xfrm>
          <a:prstGeom prst="rect">
            <a:avLst/>
          </a:prstGeom>
          <a:noFill/>
        </p:spPr>
        <p:txBody>
          <a:bodyPr wrap="square">
            <a:spAutoFit/>
          </a:bodyPr>
          <a:lstStyle/>
          <a:p>
            <a:pPr algn="l"/>
            <a:r>
              <a:rPr sz="1100" b="0">
                <a:solidFill>
                  <a:srgbClr val="1A1A1A"/>
                </a:solidFill>
                <a:latin typeface="Calibri"/>
              </a:rPr>
              <a:t>Range: £56–£68
Sunday at £68 is now 22% above Friday. CVR 2.5% (lowest).</a:t>
            </a:r>
          </a:p>
        </p:txBody>
      </p:sp>
      <p:sp>
        <p:nvSpPr>
          <p:cNvPr id="19" name="Rectangle 18"/>
          <p:cNvSpPr/>
          <p:nvPr/>
        </p:nvSpPr>
        <p:spPr>
          <a:xfrm>
            <a:off x="548640" y="466344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709160"/>
            <a:ext cx="10607040" cy="457200"/>
          </a:xfrm>
          <a:prstGeom prst="rect">
            <a:avLst/>
          </a:prstGeom>
          <a:noFill/>
        </p:spPr>
        <p:txBody>
          <a:bodyPr wrap="square">
            <a:spAutoFit/>
          </a:bodyPr>
          <a:lstStyle/>
          <a:p>
            <a:pPr algn="l"/>
            <a:r>
              <a:rPr sz="1100" b="1">
                <a:solidFill>
                  <a:srgbClr val="1A237E"/>
                </a:solidFill>
                <a:latin typeface="Calibri"/>
              </a:rPr>
              <a:t>Recommendation: Reduce Sunday bids by 15-20%. Sunday spent £89,867 in Q1 2026 at the worst CPA and CVR. No day-of-week bid adjustments exist.</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Hour of Day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7am worst in both years: £56 (2025) → £74 (2026) — +32% increase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hod_yoy.png"/>
          <p:cNvPicPr>
            <a:picLocks noChangeAspect="1"/>
          </p:cNvPicPr>
          <p:nvPr/>
        </p:nvPicPr>
        <p:blipFill>
          <a:blip r:embed="rId2"/>
          <a:stretch>
            <a:fillRect/>
          </a:stretch>
        </p:blipFill>
        <p:spPr>
          <a:xfrm>
            <a:off x="548640" y="1188720"/>
            <a:ext cx="11064240" cy="3200400"/>
          </a:xfrm>
          <a:prstGeom prst="rect">
            <a:avLst/>
          </a:prstGeom>
        </p:spPr>
      </p:pic>
      <p:sp>
        <p:nvSpPr>
          <p:cNvPr id="11" name="Rectangle 10"/>
          <p:cNvSpPr/>
          <p:nvPr/>
        </p:nvSpPr>
        <p:spPr>
          <a:xfrm>
            <a:off x="548640" y="4572000"/>
            <a:ext cx="3474720" cy="128016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572000"/>
            <a:ext cx="54864" cy="1280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3108960" cy="274320"/>
          </a:xfrm>
          <a:prstGeom prst="rect">
            <a:avLst/>
          </a:prstGeom>
          <a:noFill/>
        </p:spPr>
        <p:txBody>
          <a:bodyPr wrap="square">
            <a:spAutoFit/>
          </a:bodyPr>
          <a:lstStyle/>
          <a:p>
            <a:pPr algn="l"/>
            <a:r>
              <a:rPr sz="1400" b="1">
                <a:solidFill>
                  <a:srgbClr val="1A237E"/>
                </a:solidFill>
                <a:latin typeface="Calibri"/>
              </a:rPr>
              <a:t>2025 Range</a:t>
            </a:r>
          </a:p>
        </p:txBody>
      </p:sp>
      <p:sp>
        <p:nvSpPr>
          <p:cNvPr id="14" name="TextBox 13"/>
          <p:cNvSpPr txBox="1"/>
          <p:nvPr/>
        </p:nvSpPr>
        <p:spPr>
          <a:xfrm>
            <a:off x="777240" y="4937760"/>
            <a:ext cx="3108960" cy="822960"/>
          </a:xfrm>
          <a:prstGeom prst="rect">
            <a:avLst/>
          </a:prstGeom>
          <a:noFill/>
        </p:spPr>
        <p:txBody>
          <a:bodyPr wrap="square">
            <a:spAutoFit/>
          </a:bodyPr>
          <a:lstStyle/>
          <a:p>
            <a:pPr algn="l"/>
            <a:r>
              <a:rPr sz="1100" b="0">
                <a:solidFill>
                  <a:srgbClr val="1A1A1A"/>
                </a:solidFill>
                <a:latin typeface="Calibri"/>
              </a:rPr>
              <a:t>Best: £39 CPA (5am, 4pm, 1am)
Worst: £56 CPA (7am)
Spread: £17</a:t>
            </a:r>
          </a:p>
        </p:txBody>
      </p:sp>
      <p:sp>
        <p:nvSpPr>
          <p:cNvPr id="15" name="Rectangle 14"/>
          <p:cNvSpPr/>
          <p:nvPr/>
        </p:nvSpPr>
        <p:spPr>
          <a:xfrm>
            <a:off x="4297680" y="4572000"/>
            <a:ext cx="34747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457200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663440"/>
            <a:ext cx="3108960" cy="274320"/>
          </a:xfrm>
          <a:prstGeom prst="rect">
            <a:avLst/>
          </a:prstGeom>
          <a:noFill/>
        </p:spPr>
        <p:txBody>
          <a:bodyPr wrap="square">
            <a:spAutoFit/>
          </a:bodyPr>
          <a:lstStyle/>
          <a:p>
            <a:pPr algn="l"/>
            <a:r>
              <a:rPr sz="1400" b="1">
                <a:solidFill>
                  <a:srgbClr val="1A237E"/>
                </a:solidFill>
                <a:latin typeface="Calibri"/>
              </a:rPr>
              <a:t>2026 Range</a:t>
            </a:r>
          </a:p>
        </p:txBody>
      </p:sp>
      <p:sp>
        <p:nvSpPr>
          <p:cNvPr id="18" name="TextBox 17"/>
          <p:cNvSpPr txBox="1"/>
          <p:nvPr/>
        </p:nvSpPr>
        <p:spPr>
          <a:xfrm>
            <a:off x="4526280" y="4937760"/>
            <a:ext cx="3108960" cy="822960"/>
          </a:xfrm>
          <a:prstGeom prst="rect">
            <a:avLst/>
          </a:prstGeom>
          <a:noFill/>
        </p:spPr>
        <p:txBody>
          <a:bodyPr wrap="square">
            <a:spAutoFit/>
          </a:bodyPr>
          <a:lstStyle/>
          <a:p>
            <a:pPr algn="l"/>
            <a:r>
              <a:rPr sz="1100" b="0">
                <a:solidFill>
                  <a:srgbClr val="1A1A1A"/>
                </a:solidFill>
                <a:latin typeface="Calibri"/>
              </a:rPr>
              <a:t>Best: £42 CPA (3am)
Worst: £74 CPA (7am)
Spread: £32 — nearly doubled</a:t>
            </a:r>
          </a:p>
        </p:txBody>
      </p:sp>
      <p:sp>
        <p:nvSpPr>
          <p:cNvPr id="19" name="Rectangle 18"/>
          <p:cNvSpPr/>
          <p:nvPr/>
        </p:nvSpPr>
        <p:spPr>
          <a:xfrm>
            <a:off x="8046720" y="4572000"/>
            <a:ext cx="3566160" cy="12801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4572000"/>
            <a:ext cx="54864" cy="1280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663440"/>
            <a:ext cx="3200400" cy="274320"/>
          </a:xfrm>
          <a:prstGeom prst="rect">
            <a:avLst/>
          </a:prstGeom>
          <a:noFill/>
        </p:spPr>
        <p:txBody>
          <a:bodyPr wrap="square">
            <a:spAutoFit/>
          </a:bodyPr>
          <a:lstStyle/>
          <a:p>
            <a:pPr algn="l"/>
            <a:r>
              <a:rPr sz="1400" b="1">
                <a:solidFill>
                  <a:srgbClr val="1A237E"/>
                </a:solidFill>
                <a:latin typeface="Calibri"/>
              </a:rPr>
              <a:t>Recommendation</a:t>
            </a:r>
          </a:p>
        </p:txBody>
      </p:sp>
      <p:sp>
        <p:nvSpPr>
          <p:cNvPr id="22" name="TextBox 21"/>
          <p:cNvSpPr txBox="1"/>
          <p:nvPr/>
        </p:nvSpPr>
        <p:spPr>
          <a:xfrm>
            <a:off x="8275320" y="4937760"/>
            <a:ext cx="3200400" cy="822960"/>
          </a:xfrm>
          <a:prstGeom prst="rect">
            <a:avLst/>
          </a:prstGeom>
          <a:noFill/>
        </p:spPr>
        <p:txBody>
          <a:bodyPr wrap="square">
            <a:spAutoFit/>
          </a:bodyPr>
          <a:lstStyle/>
          <a:p>
            <a:pPr algn="l"/>
            <a:r>
              <a:rPr sz="1100" b="0">
                <a:solidFill>
                  <a:srgbClr val="1A1A1A"/>
                </a:solidFill>
                <a:latin typeface="Calibri"/>
              </a:rPr>
              <a:t>Implement ad schedule bid adjustments. Reduce 7-8am by 15-20%, boost 4-5pm by 10%. No scheduling exists in the account.</a:t>
            </a:r>
          </a:p>
        </p:txBody>
      </p:sp>
      <p:sp>
        <p:nvSpPr>
          <p:cNvPr id="23" name="Rectangle 22"/>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8" name="TextBox 27"/>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9" name="TextBox 28"/>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Geographic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Wider radius targets have significantly higher CPAs — postcode targeting would unlock bid control</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graphicFrame>
        <p:nvGraphicFramePr>
          <p:cNvPr id="10" name="Table 9"/>
          <p:cNvGraphicFramePr>
            <a:graphicFrameLocks noGrp="1"/>
          </p:cNvGraphicFramePr>
          <p:nvPr/>
        </p:nvGraphicFramePr>
        <p:xfrm>
          <a:off x="548640" y="1188720"/>
          <a:ext cx="5943600" cy="2834640"/>
        </p:xfrm>
        <a:graphic>
          <a:graphicData uri="http://schemas.openxmlformats.org/drawingml/2006/table">
            <a:tbl>
              <a:tblPr firstRow="1" bandRow="1">
                <a:tableStyleId>{5C22544A-7EE6-4342-B048-85BDC9FD1C3A}</a:tableStyleId>
              </a:tblPr>
              <a:tblGrid>
                <a:gridCol w="548640"/>
                <a:gridCol w="3108960"/>
                <a:gridCol w="914400"/>
                <a:gridCol w="640080"/>
                <a:gridCol w="731520"/>
              </a:tblGrid>
              <a:tr h="314960">
                <a:tc>
                  <a:txBody>
                    <a:bodyPr/>
                    <a:lstStyle/>
                    <a:p>
                      <a:pPr>
                        <a:defRPr sz="1000" b="1">
                          <a:solidFill>
                            <a:srgbClr val="FFFFFF"/>
                          </a:solidFill>
                          <a:latin typeface="Calibri"/>
                        </a:defRPr>
                      </a:pPr>
                      <a:r>
                        <a:t>Year</a:t>
                      </a:r>
                    </a:p>
                  </a:txBody>
                  <a:tcPr>
                    <a:solidFill>
                      <a:srgbClr val="1A237E"/>
                    </a:solidFill>
                  </a:tcPr>
                </a:tc>
                <a:tc>
                  <a:txBody>
                    <a:bodyPr/>
                    <a:lstStyle/>
                    <a:p>
                      <a:pPr>
                        <a:defRPr sz="1000" b="1">
                          <a:solidFill>
                            <a:srgbClr val="FFFFFF"/>
                          </a:solidFill>
                          <a:latin typeface="Calibri"/>
                        </a:defRPr>
                      </a:pPr>
                      <a:r>
                        <a:t>Radius Target</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314960">
                <a:tc>
                  <a:txBody>
                    <a:bodyPr/>
                    <a:lstStyle/>
                    <a:p>
                      <a:pPr>
                        <a:defRPr sz="1000">
                          <a:solidFill>
                            <a:srgbClr val="1A1A1A"/>
                          </a:solidFill>
                          <a:latin typeface="Calibri"/>
                        </a:defRPr>
                      </a:pPr>
                      <a:r>
                        <a:t>2025</a:t>
                      </a:r>
                    </a:p>
                  </a:txBody>
                  <a:tcPr>
                    <a:solidFill>
                      <a:srgbClr val="F5F6FA"/>
                    </a:solidFill>
                  </a:tcPr>
                </a:tc>
                <a:tc>
                  <a:txBody>
                    <a:bodyPr/>
                    <a:lstStyle/>
                    <a:p>
                      <a:pPr>
                        <a:defRPr sz="1000">
                          <a:solidFill>
                            <a:srgbClr val="1A1A1A"/>
                          </a:solidFill>
                          <a:latin typeface="Calibri"/>
                        </a:defRPr>
                      </a:pPr>
                      <a:r>
                        <a:t>20.0|mi|Dental By Design, Beadon Road, L</a:t>
                      </a:r>
                    </a:p>
                  </a:txBody>
                  <a:tcPr>
                    <a:solidFill>
                      <a:srgbClr val="F5F6FA"/>
                    </a:solidFill>
                  </a:tcPr>
                </a:tc>
                <a:tc>
                  <a:txBody>
                    <a:bodyPr/>
                    <a:lstStyle/>
                    <a:p>
                      <a:pPr>
                        <a:defRPr sz="1000">
                          <a:solidFill>
                            <a:srgbClr val="1A1A1A"/>
                          </a:solidFill>
                          <a:latin typeface="Calibri"/>
                        </a:defRPr>
                      </a:pPr>
                      <a:r>
                        <a:t>£18,004</a:t>
                      </a:r>
                    </a:p>
                  </a:txBody>
                  <a:tcPr>
                    <a:solidFill>
                      <a:srgbClr val="F5F6FA"/>
                    </a:solidFill>
                  </a:tcPr>
                </a:tc>
                <a:tc>
                  <a:txBody>
                    <a:bodyPr/>
                    <a:lstStyle/>
                    <a:p>
                      <a:pPr>
                        <a:defRPr sz="1000">
                          <a:solidFill>
                            <a:srgbClr val="1A1A1A"/>
                          </a:solidFill>
                          <a:latin typeface="Calibri"/>
                        </a:defRPr>
                      </a:pPr>
                      <a:r>
                        <a:t>223</a:t>
                      </a:r>
                    </a:p>
                  </a:txBody>
                  <a:tcPr>
                    <a:solidFill>
                      <a:srgbClr val="F5F6FA"/>
                    </a:solidFill>
                  </a:tcPr>
                </a:tc>
                <a:tc>
                  <a:txBody>
                    <a:bodyPr/>
                    <a:lstStyle/>
                    <a:p>
                      <a:pPr>
                        <a:defRPr sz="1000">
                          <a:solidFill>
                            <a:srgbClr val="1A1A1A"/>
                          </a:solidFill>
                          <a:latin typeface="Calibri"/>
                        </a:defRPr>
                      </a:pPr>
                      <a:r>
                        <a:t>£81</a:t>
                      </a:r>
                    </a:p>
                  </a:txBody>
                  <a:tcPr>
                    <a:solidFill>
                      <a:srgbClr val="F5F6FA"/>
                    </a:solidFill>
                  </a:tcPr>
                </a:tc>
              </a:tr>
              <a:tr h="314960">
                <a:tc>
                  <a:txBody>
                    <a:bodyPr/>
                    <a:lstStyle/>
                    <a:p>
                      <a:pPr>
                        <a:defRPr sz="1000">
                          <a:solidFill>
                            <a:srgbClr val="1A1A1A"/>
                          </a:solidFill>
                          <a:latin typeface="Calibri"/>
                        </a:defRPr>
                      </a:pPr>
                      <a:r>
                        <a:t>2025</a:t>
                      </a:r>
                    </a:p>
                  </a:txBody>
                  <a:tcPr>
                    <a:solidFill>
                      <a:srgbClr val="FFFFFF"/>
                    </a:solidFill>
                  </a:tcPr>
                </a:tc>
                <a:tc>
                  <a:txBody>
                    <a:bodyPr/>
                    <a:lstStyle/>
                    <a:p>
                      <a:pPr>
                        <a:defRPr sz="1000">
                          <a:solidFill>
                            <a:srgbClr val="1A1A1A"/>
                          </a:solidFill>
                          <a:latin typeface="Calibri"/>
                        </a:defRPr>
                      </a:pPr>
                      <a:r>
                        <a:t>3.0|mi|Hammersmith, London</a:t>
                      </a:r>
                    </a:p>
                  </a:txBody>
                  <a:tcPr>
                    <a:solidFill>
                      <a:srgbClr val="FFFFFF"/>
                    </a:solidFill>
                  </a:tcPr>
                </a:tc>
                <a:tc>
                  <a:txBody>
                    <a:bodyPr/>
                    <a:lstStyle/>
                    <a:p>
                      <a:pPr>
                        <a:defRPr sz="1000">
                          <a:solidFill>
                            <a:srgbClr val="1A1A1A"/>
                          </a:solidFill>
                          <a:latin typeface="Calibri"/>
                        </a:defRPr>
                      </a:pPr>
                      <a:r>
                        <a:t>£10,192</a:t>
                      </a:r>
                    </a:p>
                  </a:txBody>
                  <a:tcPr>
                    <a:solidFill>
                      <a:srgbClr val="FFFFFF"/>
                    </a:solidFill>
                  </a:tcPr>
                </a:tc>
                <a:tc>
                  <a:txBody>
                    <a:bodyPr/>
                    <a:lstStyle/>
                    <a:p>
                      <a:pPr>
                        <a:defRPr sz="1000">
                          <a:solidFill>
                            <a:srgbClr val="1A1A1A"/>
                          </a:solidFill>
                          <a:latin typeface="Calibri"/>
                        </a:defRPr>
                      </a:pPr>
                      <a:r>
                        <a:t>152</a:t>
                      </a:r>
                    </a:p>
                  </a:txBody>
                  <a:tcPr>
                    <a:solidFill>
                      <a:srgbClr val="FFFFFF"/>
                    </a:solidFill>
                  </a:tcPr>
                </a:tc>
                <a:tc>
                  <a:txBody>
                    <a:bodyPr/>
                    <a:lstStyle/>
                    <a:p>
                      <a:pPr>
                        <a:defRPr sz="1000">
                          <a:solidFill>
                            <a:srgbClr val="1A1A1A"/>
                          </a:solidFill>
                          <a:latin typeface="Calibri"/>
                        </a:defRPr>
                      </a:pPr>
                      <a:r>
                        <a:t>£67</a:t>
                      </a:r>
                    </a:p>
                  </a:txBody>
                  <a:tcPr>
                    <a:solidFill>
                      <a:srgbClr val="FFFFFF"/>
                    </a:solidFill>
                  </a:tcPr>
                </a:tc>
              </a:tr>
              <a:tr h="314960">
                <a:tc>
                  <a:txBody>
                    <a:bodyPr/>
                    <a:lstStyle/>
                    <a:p>
                      <a:pPr>
                        <a:defRPr sz="1000">
                          <a:solidFill>
                            <a:srgbClr val="1A1A1A"/>
                          </a:solidFill>
                          <a:latin typeface="Calibri"/>
                        </a:defRPr>
                      </a:pPr>
                      <a:r>
                        <a:t>2025</a:t>
                      </a:r>
                    </a:p>
                  </a:txBody>
                  <a:tcPr>
                    <a:solidFill>
                      <a:srgbClr val="F5F6FA"/>
                    </a:solidFill>
                  </a:tcPr>
                </a:tc>
                <a:tc>
                  <a:txBody>
                    <a:bodyPr/>
                    <a:lstStyle/>
                    <a:p>
                      <a:pPr>
                        <a:defRPr sz="1000">
                          <a:solidFill>
                            <a:srgbClr val="1A1A1A"/>
                          </a:solidFill>
                          <a:latin typeface="Calibri"/>
                        </a:defRPr>
                      </a:pPr>
                      <a:r>
                        <a:t>10.0|mi|(51.516689, -0.270943) (custom)</a:t>
                      </a:r>
                    </a:p>
                  </a:txBody>
                  <a:tcPr>
                    <a:solidFill>
                      <a:srgbClr val="F5F6FA"/>
                    </a:solidFill>
                  </a:tcPr>
                </a:tc>
                <a:tc>
                  <a:txBody>
                    <a:bodyPr/>
                    <a:lstStyle/>
                    <a:p>
                      <a:pPr>
                        <a:defRPr sz="1000">
                          <a:solidFill>
                            <a:srgbClr val="1A1A1A"/>
                          </a:solidFill>
                          <a:latin typeface="Calibri"/>
                        </a:defRPr>
                      </a:pPr>
                      <a:r>
                        <a:t>£9,230</a:t>
                      </a:r>
                    </a:p>
                  </a:txBody>
                  <a:tcPr>
                    <a:solidFill>
                      <a:srgbClr val="F5F6FA"/>
                    </a:solidFill>
                  </a:tcPr>
                </a:tc>
                <a:tc>
                  <a:txBody>
                    <a:bodyPr/>
                    <a:lstStyle/>
                    <a:p>
                      <a:pPr>
                        <a:defRPr sz="1000">
                          <a:solidFill>
                            <a:srgbClr val="1A1A1A"/>
                          </a:solidFill>
                          <a:latin typeface="Calibri"/>
                        </a:defRPr>
                      </a:pPr>
                      <a:r>
                        <a:t>405</a:t>
                      </a:r>
                    </a:p>
                  </a:txBody>
                  <a:tcPr>
                    <a:solidFill>
                      <a:srgbClr val="F5F6FA"/>
                    </a:solidFill>
                  </a:tcPr>
                </a:tc>
                <a:tc>
                  <a:txBody>
                    <a:bodyPr/>
                    <a:lstStyle/>
                    <a:p>
                      <a:pPr>
                        <a:defRPr sz="1000">
                          <a:solidFill>
                            <a:srgbClr val="1A1A1A"/>
                          </a:solidFill>
                          <a:latin typeface="Calibri"/>
                        </a:defRPr>
                      </a:pPr>
                      <a:r>
                        <a:t>£23</a:t>
                      </a:r>
                    </a:p>
                  </a:txBody>
                  <a:tcPr>
                    <a:solidFill>
                      <a:srgbClr val="F5F6FA"/>
                    </a:solidFill>
                  </a:tcPr>
                </a:tc>
              </a:tr>
              <a:tr h="314960">
                <a:tc>
                  <a:txBody>
                    <a:bodyPr/>
                    <a:lstStyle/>
                    <a:p>
                      <a:pPr>
                        <a:defRPr sz="1000">
                          <a:solidFill>
                            <a:srgbClr val="1A1A1A"/>
                          </a:solidFill>
                          <a:latin typeface="Calibri"/>
                        </a:defRPr>
                      </a:pPr>
                      <a:r>
                        <a:t>2025</a:t>
                      </a:r>
                    </a:p>
                  </a:txBody>
                  <a:tcPr>
                    <a:solidFill>
                      <a:srgbClr val="FFFFFF"/>
                    </a:solidFill>
                  </a:tcPr>
                </a:tc>
                <a:tc>
                  <a:txBody>
                    <a:bodyPr/>
                    <a:lstStyle/>
                    <a:p>
                      <a:pPr>
                        <a:defRPr sz="1000">
                          <a:solidFill>
                            <a:srgbClr val="1A1A1A"/>
                          </a:solidFill>
                          <a:latin typeface="Calibri"/>
                        </a:defRPr>
                      </a:pPr>
                      <a:r>
                        <a:t>25.0|mi|Dental By Design, Beadon Road, L</a:t>
                      </a:r>
                    </a:p>
                  </a:txBody>
                  <a:tcPr>
                    <a:solidFill>
                      <a:srgbClr val="FFFFFF"/>
                    </a:solidFill>
                  </a:tcPr>
                </a:tc>
                <a:tc>
                  <a:txBody>
                    <a:bodyPr/>
                    <a:lstStyle/>
                    <a:p>
                      <a:pPr>
                        <a:defRPr sz="1000">
                          <a:solidFill>
                            <a:srgbClr val="1A1A1A"/>
                          </a:solidFill>
                          <a:latin typeface="Calibri"/>
                        </a:defRPr>
                      </a:pPr>
                      <a:r>
                        <a:t>£4,957</a:t>
                      </a:r>
                    </a:p>
                  </a:txBody>
                  <a:tcPr>
                    <a:solidFill>
                      <a:srgbClr val="FFFFFF"/>
                    </a:solidFill>
                  </a:tcPr>
                </a:tc>
                <a:tc>
                  <a:txBody>
                    <a:bodyPr/>
                    <a:lstStyle/>
                    <a:p>
                      <a:pPr>
                        <a:defRPr sz="1000">
                          <a:solidFill>
                            <a:srgbClr val="1A1A1A"/>
                          </a:solidFill>
                          <a:latin typeface="Calibri"/>
                        </a:defRPr>
                      </a:pPr>
                      <a:r>
                        <a:t>207</a:t>
                      </a:r>
                    </a:p>
                  </a:txBody>
                  <a:tcPr>
                    <a:solidFill>
                      <a:srgbClr val="FFFFFF"/>
                    </a:solidFill>
                  </a:tcPr>
                </a:tc>
                <a:tc>
                  <a:txBody>
                    <a:bodyPr/>
                    <a:lstStyle/>
                    <a:p>
                      <a:pPr>
                        <a:defRPr sz="1000">
                          <a:solidFill>
                            <a:srgbClr val="1A1A1A"/>
                          </a:solidFill>
                          <a:latin typeface="Calibri"/>
                        </a:defRPr>
                      </a:pPr>
                      <a:r>
                        <a:t>£24</a:t>
                      </a:r>
                    </a:p>
                  </a:txBody>
                  <a:tcPr>
                    <a:solidFill>
                      <a:srgbClr val="FFFFFF"/>
                    </a:solidFill>
                  </a:tcPr>
                </a:tc>
              </a:tr>
              <a:tr h="314960">
                <a:tc>
                  <a:txBody>
                    <a:bodyPr/>
                    <a:lstStyle/>
                    <a:p>
                      <a:pPr>
                        <a:defRPr sz="1000">
                          <a:solidFill>
                            <a:srgbClr val="1A1A1A"/>
                          </a:solidFill>
                          <a:latin typeface="Calibri"/>
                        </a:defRPr>
                      </a:pPr>
                      <a:r>
                        <a:t>2026</a:t>
                      </a:r>
                    </a:p>
                  </a:txBody>
                  <a:tcPr>
                    <a:solidFill>
                      <a:srgbClr val="F5F6FA"/>
                    </a:solidFill>
                  </a:tcPr>
                </a:tc>
                <a:tc>
                  <a:txBody>
                    <a:bodyPr/>
                    <a:lstStyle/>
                    <a:p>
                      <a:pPr>
                        <a:defRPr sz="1000">
                          <a:solidFill>
                            <a:srgbClr val="1A1A1A"/>
                          </a:solidFill>
                          <a:latin typeface="Calibri"/>
                        </a:defRPr>
                      </a:pPr>
                      <a:r>
                        <a:t>30.0|km|Dental By Design, Beadon Road, L</a:t>
                      </a:r>
                    </a:p>
                  </a:txBody>
                  <a:tcPr>
                    <a:solidFill>
                      <a:srgbClr val="F5F6FA"/>
                    </a:solidFill>
                  </a:tcPr>
                </a:tc>
                <a:tc>
                  <a:txBody>
                    <a:bodyPr/>
                    <a:lstStyle/>
                    <a:p>
                      <a:pPr>
                        <a:defRPr sz="1000">
                          <a:solidFill>
                            <a:srgbClr val="1A1A1A"/>
                          </a:solidFill>
                          <a:latin typeface="Calibri"/>
                        </a:defRPr>
                      </a:pPr>
                      <a:r>
                        <a:t>£16,739</a:t>
                      </a:r>
                    </a:p>
                  </a:txBody>
                  <a:tcPr>
                    <a:solidFill>
                      <a:srgbClr val="F5F6FA"/>
                    </a:solidFill>
                  </a:tcPr>
                </a:tc>
                <a:tc>
                  <a:txBody>
                    <a:bodyPr/>
                    <a:lstStyle/>
                    <a:p>
                      <a:pPr>
                        <a:defRPr sz="1000">
                          <a:solidFill>
                            <a:srgbClr val="1A1A1A"/>
                          </a:solidFill>
                          <a:latin typeface="Calibri"/>
                        </a:defRPr>
                      </a:pPr>
                      <a:r>
                        <a:t>281</a:t>
                      </a:r>
                    </a:p>
                  </a:txBody>
                  <a:tcPr>
                    <a:solidFill>
                      <a:srgbClr val="F5F6FA"/>
                    </a:solidFill>
                  </a:tcPr>
                </a:tc>
                <a:tc>
                  <a:txBody>
                    <a:bodyPr/>
                    <a:lstStyle/>
                    <a:p>
                      <a:pPr>
                        <a:defRPr sz="1000">
                          <a:solidFill>
                            <a:srgbClr val="1A1A1A"/>
                          </a:solidFill>
                          <a:latin typeface="Calibri"/>
                        </a:defRPr>
                      </a:pPr>
                      <a:r>
                        <a:t>£59</a:t>
                      </a:r>
                    </a:p>
                  </a:txBody>
                  <a:tcPr>
                    <a:solidFill>
                      <a:srgbClr val="F5F6FA"/>
                    </a:solidFill>
                  </a:tcPr>
                </a:tc>
              </a:tr>
              <a:tr h="314960">
                <a:tc>
                  <a:txBody>
                    <a:bodyPr/>
                    <a:lstStyle/>
                    <a:p>
                      <a:pPr>
                        <a:defRPr sz="1000">
                          <a:solidFill>
                            <a:srgbClr val="1A1A1A"/>
                          </a:solidFill>
                          <a:latin typeface="Calibri"/>
                        </a:defRPr>
                      </a:pPr>
                      <a:r>
                        <a:t>2026</a:t>
                      </a:r>
                    </a:p>
                  </a:txBody>
                  <a:tcPr>
                    <a:solidFill>
                      <a:srgbClr val="FFFFFF"/>
                    </a:solidFill>
                  </a:tcPr>
                </a:tc>
                <a:tc>
                  <a:txBody>
                    <a:bodyPr/>
                    <a:lstStyle/>
                    <a:p>
                      <a:pPr>
                        <a:defRPr sz="1000">
                          <a:solidFill>
                            <a:srgbClr val="1A1A1A"/>
                          </a:solidFill>
                          <a:latin typeface="Calibri"/>
                        </a:defRPr>
                      </a:pPr>
                      <a:r>
                        <a:t>35.0|km|Dental By Design, Beadon Road, L</a:t>
                      </a:r>
                    </a:p>
                  </a:txBody>
                  <a:tcPr>
                    <a:solidFill>
                      <a:srgbClr val="FFFFFF"/>
                    </a:solidFill>
                  </a:tcPr>
                </a:tc>
                <a:tc>
                  <a:txBody>
                    <a:bodyPr/>
                    <a:lstStyle/>
                    <a:p>
                      <a:pPr>
                        <a:defRPr sz="1000">
                          <a:solidFill>
                            <a:srgbClr val="1A1A1A"/>
                          </a:solidFill>
                          <a:latin typeface="Calibri"/>
                        </a:defRPr>
                      </a:pPr>
                      <a:r>
                        <a:t>£7,479</a:t>
                      </a:r>
                    </a:p>
                  </a:txBody>
                  <a:tcPr>
                    <a:solidFill>
                      <a:srgbClr val="FFFFFF"/>
                    </a:solidFill>
                  </a:tcPr>
                </a:tc>
                <a:tc>
                  <a:txBody>
                    <a:bodyPr/>
                    <a:lstStyle/>
                    <a:p>
                      <a:pPr>
                        <a:defRPr sz="1000">
                          <a:solidFill>
                            <a:srgbClr val="1A1A1A"/>
                          </a:solidFill>
                          <a:latin typeface="Calibri"/>
                        </a:defRPr>
                      </a:pPr>
                      <a:r>
                        <a:t>80</a:t>
                      </a:r>
                    </a:p>
                  </a:txBody>
                  <a:tcPr>
                    <a:solidFill>
                      <a:srgbClr val="FFFFFF"/>
                    </a:solidFill>
                  </a:tcPr>
                </a:tc>
                <a:tc>
                  <a:txBody>
                    <a:bodyPr/>
                    <a:lstStyle/>
                    <a:p>
                      <a:pPr>
                        <a:defRPr sz="1000">
                          <a:solidFill>
                            <a:srgbClr val="1A1A1A"/>
                          </a:solidFill>
                          <a:latin typeface="Calibri"/>
                        </a:defRPr>
                      </a:pPr>
                      <a:r>
                        <a:t>£93</a:t>
                      </a:r>
                    </a:p>
                  </a:txBody>
                  <a:tcPr>
                    <a:solidFill>
                      <a:srgbClr val="FFFFFF"/>
                    </a:solidFill>
                  </a:tcPr>
                </a:tc>
              </a:tr>
              <a:tr h="314960">
                <a:tc>
                  <a:txBody>
                    <a:bodyPr/>
                    <a:lstStyle/>
                    <a:p>
                      <a:pPr>
                        <a:defRPr sz="1000">
                          <a:solidFill>
                            <a:srgbClr val="1A1A1A"/>
                          </a:solidFill>
                          <a:latin typeface="Calibri"/>
                        </a:defRPr>
                      </a:pPr>
                      <a:r>
                        <a:t>2026</a:t>
                      </a:r>
                    </a:p>
                  </a:txBody>
                  <a:tcPr>
                    <a:solidFill>
                      <a:srgbClr val="F5F6FA"/>
                    </a:solidFill>
                  </a:tcPr>
                </a:tc>
                <a:tc>
                  <a:txBody>
                    <a:bodyPr/>
                    <a:lstStyle/>
                    <a:p>
                      <a:pPr>
                        <a:defRPr sz="1000">
                          <a:solidFill>
                            <a:srgbClr val="1A1A1A"/>
                          </a:solidFill>
                          <a:latin typeface="Calibri"/>
                        </a:defRPr>
                      </a:pPr>
                      <a:r>
                        <a:t>25.0|mi|Dental By Design, Beadon Road, L</a:t>
                      </a:r>
                    </a:p>
                  </a:txBody>
                  <a:tcPr>
                    <a:solidFill>
                      <a:srgbClr val="F5F6FA"/>
                    </a:solidFill>
                  </a:tcPr>
                </a:tc>
                <a:tc>
                  <a:txBody>
                    <a:bodyPr/>
                    <a:lstStyle/>
                    <a:p>
                      <a:pPr>
                        <a:defRPr sz="1000">
                          <a:solidFill>
                            <a:srgbClr val="1A1A1A"/>
                          </a:solidFill>
                          <a:latin typeface="Calibri"/>
                        </a:defRPr>
                      </a:pPr>
                      <a:r>
                        <a:t>£4,133</a:t>
                      </a:r>
                    </a:p>
                  </a:txBody>
                  <a:tcPr>
                    <a:solidFill>
                      <a:srgbClr val="F5F6FA"/>
                    </a:solidFill>
                  </a:tcPr>
                </a:tc>
                <a:tc>
                  <a:txBody>
                    <a:bodyPr/>
                    <a:lstStyle/>
                    <a:p>
                      <a:pPr>
                        <a:defRPr sz="1000">
                          <a:solidFill>
                            <a:srgbClr val="1A1A1A"/>
                          </a:solidFill>
                          <a:latin typeface="Calibri"/>
                        </a:defRPr>
                      </a:pPr>
                      <a:r>
                        <a:t>230</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r>
              <a:tr h="314960">
                <a:tc>
                  <a:txBody>
                    <a:bodyPr/>
                    <a:lstStyle/>
                    <a:p>
                      <a:pPr>
                        <a:defRPr sz="1000">
                          <a:solidFill>
                            <a:srgbClr val="1A1A1A"/>
                          </a:solidFill>
                          <a:latin typeface="Calibri"/>
                        </a:defRPr>
                      </a:pPr>
                      <a:r>
                        <a:t>2026</a:t>
                      </a:r>
                    </a:p>
                  </a:txBody>
                  <a:tcPr>
                    <a:solidFill>
                      <a:srgbClr val="FFFFFF"/>
                    </a:solidFill>
                  </a:tcPr>
                </a:tc>
                <a:tc>
                  <a:txBody>
                    <a:bodyPr/>
                    <a:lstStyle/>
                    <a:p>
                      <a:pPr>
                        <a:defRPr sz="1000">
                          <a:solidFill>
                            <a:srgbClr val="1A1A1A"/>
                          </a:solidFill>
                          <a:latin typeface="Calibri"/>
                        </a:defRPr>
                      </a:pPr>
                      <a:r>
                        <a:t>5.0|mi|(51.472964, -0.563524) (custom)</a:t>
                      </a:r>
                    </a:p>
                  </a:txBody>
                  <a:tcPr>
                    <a:solidFill>
                      <a:srgbClr val="FFFFFF"/>
                    </a:solidFill>
                  </a:tcPr>
                </a:tc>
                <a:tc>
                  <a:txBody>
                    <a:bodyPr/>
                    <a:lstStyle/>
                    <a:p>
                      <a:pPr>
                        <a:defRPr sz="1000">
                          <a:solidFill>
                            <a:srgbClr val="1A1A1A"/>
                          </a:solidFill>
                          <a:latin typeface="Calibri"/>
                        </a:defRPr>
                      </a:pPr>
                      <a:r>
                        <a:t>£1,269</a:t>
                      </a:r>
                    </a:p>
                  </a:txBody>
                  <a:tcPr>
                    <a:solidFill>
                      <a:srgbClr val="FFFFFF"/>
                    </a:solidFill>
                  </a:tcPr>
                </a:tc>
                <a:tc>
                  <a:txBody>
                    <a:bodyPr/>
                    <a:lstStyle/>
                    <a:p>
                      <a:pPr>
                        <a:defRPr sz="1000">
                          <a:solidFill>
                            <a:srgbClr val="1A1A1A"/>
                          </a:solidFill>
                          <a:latin typeface="Calibri"/>
                        </a:defRPr>
                      </a:pPr>
                      <a:r>
                        <a:t>30</a:t>
                      </a:r>
                    </a:p>
                  </a:txBody>
                  <a:tcPr>
                    <a:solidFill>
                      <a:srgbClr val="FFFFFF"/>
                    </a:solidFill>
                  </a:tcPr>
                </a:tc>
                <a:tc>
                  <a:txBody>
                    <a:bodyPr/>
                    <a:lstStyle/>
                    <a:p>
                      <a:pPr>
                        <a:defRPr sz="1000">
                          <a:solidFill>
                            <a:srgbClr val="1A1A1A"/>
                          </a:solidFill>
                          <a:latin typeface="Calibri"/>
                        </a:defRPr>
                      </a:pPr>
                      <a:r>
                        <a:t>£43</a:t>
                      </a:r>
                    </a:p>
                  </a:txBody>
                  <a:tcPr>
                    <a:solidFill>
                      <a:srgbClr val="FFFFFF"/>
                    </a:solidFill>
                  </a:tcPr>
                </a:tc>
              </a:tr>
            </a:tbl>
          </a:graphicData>
        </a:graphic>
      </p:graphicFrame>
      <p:sp>
        <p:nvSpPr>
          <p:cNvPr id="11" name="Rectangle 10"/>
          <p:cNvSpPr/>
          <p:nvPr/>
        </p:nvSpPr>
        <p:spPr>
          <a:xfrm>
            <a:off x="7680960" y="1188720"/>
            <a:ext cx="3931920" cy="283464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283464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74320"/>
          </a:xfrm>
          <a:prstGeom prst="rect">
            <a:avLst/>
          </a:prstGeom>
          <a:noFill/>
        </p:spPr>
        <p:txBody>
          <a:bodyPr wrap="square">
            <a:spAutoFit/>
          </a:bodyPr>
          <a:lstStyle/>
          <a:p>
            <a:pPr algn="l"/>
            <a:r>
              <a:rPr sz="1400" b="1">
                <a:solidFill>
                  <a:srgbClr val="1A237E"/>
                </a:solidFill>
                <a:latin typeface="Calibri"/>
              </a:rPr>
              <a:t>The Radius Problem</a:t>
            </a:r>
          </a:p>
        </p:txBody>
      </p:sp>
      <p:sp>
        <p:nvSpPr>
          <p:cNvPr id="14" name="TextBox 13"/>
          <p:cNvSpPr txBox="1"/>
          <p:nvPr/>
        </p:nvSpPr>
        <p:spPr>
          <a:xfrm>
            <a:off x="7909560" y="1554480"/>
            <a:ext cx="3566160" cy="2377440"/>
          </a:xfrm>
          <a:prstGeom prst="rect">
            <a:avLst/>
          </a:prstGeom>
          <a:noFill/>
        </p:spPr>
        <p:txBody>
          <a:bodyPr wrap="square">
            <a:spAutoFit/>
          </a:bodyPr>
          <a:lstStyle/>
          <a:p>
            <a:pPr algn="l"/>
            <a:r>
              <a:rPr sz="1100" b="0">
                <a:solidFill>
                  <a:srgbClr val="1A1A1A"/>
                </a:solidFill>
                <a:latin typeface="Calibri"/>
              </a:rPr>
              <a:t>In 2025, tighter radiuses (10mi, 3mi) delivered £23-67 CPA. In 2026, the active radiuses are wider (30km, 35km) at £59-93 CPA. The 35km ring at £93 is nearly double the 30km ring at £59. Wider radiuses reach patients less likely to travel to Hammersmith. Radius targeting doesn't allow bid adjustments — you pay the same for Hammersmith and Croydon.</a:t>
            </a:r>
          </a:p>
        </p:txBody>
      </p:sp>
      <p:graphicFrame>
        <p:nvGraphicFramePr>
          <p:cNvPr id="15" name="Table 14"/>
          <p:cNvGraphicFramePr>
            <a:graphicFrameLocks noGrp="1"/>
          </p:cNvGraphicFramePr>
          <p:nvPr/>
        </p:nvGraphicFramePr>
        <p:xfrm>
          <a:off x="548640" y="3749039"/>
          <a:ext cx="4023360" cy="2286000"/>
        </p:xfrm>
        <a:graphic>
          <a:graphicData uri="http://schemas.openxmlformats.org/drawingml/2006/table">
            <a:tbl>
              <a:tblPr firstRow="1" bandRow="1">
                <a:tableStyleId>{5C22544A-7EE6-4342-B048-85BDC9FD1C3A}</a:tableStyleId>
              </a:tblPr>
              <a:tblGrid>
                <a:gridCol w="1645920"/>
                <a:gridCol w="914400"/>
                <a:gridCol w="731520"/>
                <a:gridCol w="731520"/>
              </a:tblGrid>
              <a:tr h="228600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bl>
          </a:graphicData>
        </a:graphic>
      </p:graphicFrame>
      <p:sp>
        <p:nvSpPr>
          <p:cNvPr id="16" name="Rectangle 15"/>
          <p:cNvSpPr/>
          <p:nvPr/>
        </p:nvSpPr>
        <p:spPr>
          <a:xfrm>
            <a:off x="5852160" y="3749039"/>
            <a:ext cx="57607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3749039"/>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3840479"/>
            <a:ext cx="5394960" cy="274320"/>
          </a:xfrm>
          <a:prstGeom prst="rect">
            <a:avLst/>
          </a:prstGeom>
          <a:noFill/>
        </p:spPr>
        <p:txBody>
          <a:bodyPr wrap="square">
            <a:spAutoFit/>
          </a:bodyPr>
          <a:lstStyle/>
          <a:p>
            <a:pPr algn="l"/>
            <a:r>
              <a:rPr sz="1400" b="1">
                <a:solidFill>
                  <a:srgbClr val="1A237E"/>
                </a:solidFill>
                <a:latin typeface="Calibri"/>
              </a:rPr>
              <a:t>Recommendation: Postcode Targeting</a:t>
            </a:r>
          </a:p>
        </p:txBody>
      </p:sp>
      <p:sp>
        <p:nvSpPr>
          <p:cNvPr id="19" name="TextBox 18"/>
          <p:cNvSpPr txBox="1"/>
          <p:nvPr/>
        </p:nvSpPr>
        <p:spPr>
          <a:xfrm>
            <a:off x="6080760" y="4114799"/>
            <a:ext cx="5394960" cy="1828800"/>
          </a:xfrm>
          <a:prstGeom prst="rect">
            <a:avLst/>
          </a:prstGeom>
          <a:noFill/>
        </p:spPr>
        <p:txBody>
          <a:bodyPr wrap="square">
            <a:spAutoFit/>
          </a:bodyPr>
          <a:lstStyle/>
          <a:p>
            <a:pPr algn="l"/>
            <a:r>
              <a:rPr sz="1100" b="0">
                <a:solidFill>
                  <a:srgbClr val="1A1A1A"/>
                </a:solidFill>
                <a:latin typeface="Calibri"/>
              </a:rPr>
              <a:t>Replace radius targeting with individual London postcodes. This unlocks bid adjustments per postcode — bid higher for W6 (Hammersmith, near the clinic) and lower for outer postcodes where CPA is high. All campaigns share the same postcode targets, creating one unified view of geographic performance across the account. This is how you turn geographic data into actionable decisions.</a:t>
            </a:r>
          </a:p>
        </p:txBody>
      </p:sp>
      <p:sp>
        <p:nvSpPr>
          <p:cNvPr id="20" name="Rectangle 19"/>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5" name="TextBox 24"/>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6" name="TextBox 25"/>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Negative Keyword Gaps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784 account-level negatives use broad match — a risk to legitimate converting traffic</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Protection Gaps</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4285F4"/>
                </a:solidFill>
                <a:latin typeface="Calibri"/>
              </a:rPr>
              <a:t>2,192</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Total Negative Keywords</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EA4335"/>
                </a:solidFill>
                <a:latin typeface="Calibri"/>
              </a:rPr>
              <a:t>784</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Broad Match (Risky)</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34A853"/>
                </a:solidFill>
                <a:latin typeface="Calibri"/>
              </a:rPr>
              <a:t>770</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Phrase Match</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FBBC05"/>
                </a:solidFill>
                <a:latin typeface="Calibri"/>
              </a:rPr>
              <a:t>425</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Exact Match</a:t>
            </a:r>
          </a:p>
        </p:txBody>
      </p:sp>
      <p:sp>
        <p:nvSpPr>
          <p:cNvPr id="26" name="Rectangle 25"/>
          <p:cNvSpPr/>
          <p:nvPr/>
        </p:nvSpPr>
        <p:spPr>
          <a:xfrm>
            <a:off x="548640" y="237744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37744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468880"/>
            <a:ext cx="4937760" cy="274320"/>
          </a:xfrm>
          <a:prstGeom prst="rect">
            <a:avLst/>
          </a:prstGeom>
          <a:noFill/>
        </p:spPr>
        <p:txBody>
          <a:bodyPr wrap="square">
            <a:spAutoFit/>
          </a:bodyPr>
          <a:lstStyle/>
          <a:p>
            <a:pPr algn="l"/>
            <a:r>
              <a:rPr sz="1400" b="1">
                <a:solidFill>
                  <a:srgbClr val="1A237E"/>
                </a:solidFill>
                <a:latin typeface="Calibri"/>
              </a:rPr>
              <a:t>The Broad Match Problem</a:t>
            </a:r>
          </a:p>
        </p:txBody>
      </p:sp>
      <p:sp>
        <p:nvSpPr>
          <p:cNvPr id="29" name="TextBox 28"/>
          <p:cNvSpPr txBox="1"/>
          <p:nvPr/>
        </p:nvSpPr>
        <p:spPr>
          <a:xfrm>
            <a:off x="777240" y="2743200"/>
            <a:ext cx="4937760" cy="1371600"/>
          </a:xfrm>
          <a:prstGeom prst="rect">
            <a:avLst/>
          </a:prstGeom>
          <a:noFill/>
        </p:spPr>
        <p:txBody>
          <a:bodyPr wrap="square">
            <a:spAutoFit/>
          </a:bodyPr>
          <a:lstStyle/>
          <a:p>
            <a:pPr algn="l"/>
            <a:r>
              <a:rPr sz="1100" b="0">
                <a:solidFill>
                  <a:srgbClr val="1A1A1A"/>
                </a:solidFill>
                <a:latin typeface="Calibri"/>
              </a:rPr>
              <a:t>784 negative keywords at account level use broad match. Broad match negatives can block legitimate searches. For example, a broad negative for 'bridge' would block 'dental bridge implants' — a high-intent search. These need a full audit to ensure they're not blocking revenue.</a:t>
            </a:r>
          </a:p>
        </p:txBody>
      </p:sp>
      <p:sp>
        <p:nvSpPr>
          <p:cNvPr id="30" name="Rectangle 29"/>
          <p:cNvSpPr/>
          <p:nvPr/>
        </p:nvSpPr>
        <p:spPr>
          <a:xfrm>
            <a:off x="6217920" y="237744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237744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468880"/>
            <a:ext cx="4937760" cy="274320"/>
          </a:xfrm>
          <a:prstGeom prst="rect">
            <a:avLst/>
          </a:prstGeom>
          <a:noFill/>
        </p:spPr>
        <p:txBody>
          <a:bodyPr wrap="square">
            <a:spAutoFit/>
          </a:bodyPr>
          <a:lstStyle/>
          <a:p>
            <a:pPr algn="l"/>
            <a:r>
              <a:rPr sz="1400" b="1">
                <a:solidFill>
                  <a:srgbClr val="1A237E"/>
                </a:solidFill>
                <a:latin typeface="Calibri"/>
              </a:rPr>
              <a:t>Recommended Framework</a:t>
            </a:r>
          </a:p>
        </p:txBody>
      </p:sp>
      <p:sp>
        <p:nvSpPr>
          <p:cNvPr id="33" name="TextBox 32"/>
          <p:cNvSpPr txBox="1"/>
          <p:nvPr/>
        </p:nvSpPr>
        <p:spPr>
          <a:xfrm>
            <a:off x="6446520" y="2743200"/>
            <a:ext cx="4937760" cy="1371600"/>
          </a:xfrm>
          <a:prstGeom prst="rect">
            <a:avLst/>
          </a:prstGeom>
          <a:noFill/>
        </p:spPr>
        <p:txBody>
          <a:bodyPr wrap="square">
            <a:spAutoFit/>
          </a:bodyPr>
          <a:lstStyle/>
          <a:p>
            <a:pPr algn="l"/>
            <a:r>
              <a:rPr sz="1100" b="0">
                <a:solidFill>
                  <a:srgbClr val="1A1A1A"/>
                </a:solidFill>
                <a:latin typeface="Calibri"/>
              </a:rPr>
              <a:t>Replace broad match negatives with phrase or exact match. Implement a structured 9-list system organised by word count and match type. Weekly search term reviews to keep the lists current. This gives precise control without accidentally blocking converting traffic.</a:t>
            </a:r>
          </a:p>
        </p:txBody>
      </p:sp>
      <p:sp>
        <p:nvSpPr>
          <p:cNvPr id="34" name="Rectangle 33"/>
          <p:cNvSpPr/>
          <p:nvPr/>
        </p:nvSpPr>
        <p:spPr>
          <a:xfrm>
            <a:off x="548640" y="4434840"/>
            <a:ext cx="11064240" cy="13716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434840"/>
            <a:ext cx="54864" cy="13716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26280"/>
            <a:ext cx="10698480" cy="274320"/>
          </a:xfrm>
          <a:prstGeom prst="rect">
            <a:avLst/>
          </a:prstGeom>
          <a:noFill/>
        </p:spPr>
        <p:txBody>
          <a:bodyPr wrap="square">
            <a:spAutoFit/>
          </a:bodyPr>
          <a:lstStyle/>
          <a:p>
            <a:pPr algn="l"/>
            <a:r>
              <a:rPr sz="1400" b="1">
                <a:solidFill>
                  <a:srgbClr val="1A237E"/>
                </a:solidFill>
                <a:latin typeface="Calibri"/>
              </a:rPr>
              <a:t>Auto-Apply: 5 Recommendations Enabled</a:t>
            </a:r>
          </a:p>
        </p:txBody>
      </p:sp>
      <p:sp>
        <p:nvSpPr>
          <p:cNvPr id="37" name="TextBox 36"/>
          <p:cNvSpPr txBox="1"/>
          <p:nvPr/>
        </p:nvSpPr>
        <p:spPr>
          <a:xfrm>
            <a:off x="777240" y="4800600"/>
            <a:ext cx="10698480" cy="914400"/>
          </a:xfrm>
          <a:prstGeom prst="rect">
            <a:avLst/>
          </a:prstGeom>
          <a:noFill/>
        </p:spPr>
        <p:txBody>
          <a:bodyPr wrap="square">
            <a:spAutoFit/>
          </a:bodyPr>
          <a:lstStyle/>
          <a:p>
            <a:pPr algn="l"/>
            <a:r>
              <a:rPr sz="1100" b="0">
                <a:solidFill>
                  <a:srgbClr val="1A1A1A"/>
                </a:solidFill>
                <a:latin typeface="Calibri"/>
              </a:rPr>
              <a:t>Google is automatically applying 5 recommendation types, including 'Remove conflicting negative keywords' (~20 times historically). This means Google has been removing negative keywords it considers conflicting — potentially re-opening waste that was deliberately blocked. Last auto-applied: 19 Feb 2026. Additionally, 'Remove redundant keywords' has been applied ~170 times — pausing keywords without human review. Recommendation: Disable all auto-apply except 'Use optimised ad rotation' (which is standard best practice).</a:t>
            </a:r>
          </a:p>
        </p:txBody>
      </p:sp>
      <p:sp>
        <p:nvSpPr>
          <p:cNvPr id="38" name="Rectangle 3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3" name="TextBox 4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4" name="TextBox 4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Total Waste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Two Angles</a:t>
            </a:r>
          </a:p>
        </p:txBody>
      </p:sp>
      <p:sp>
        <p:nvSpPr>
          <p:cNvPr id="9" name="Rectangle 8"/>
          <p:cNvSpPr/>
          <p:nvPr/>
        </p:nvSpPr>
        <p:spPr>
          <a:xfrm>
            <a:off x="54864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05840"/>
            <a:ext cx="73152" cy="7315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051560"/>
            <a:ext cx="4846320" cy="320040"/>
          </a:xfrm>
          <a:prstGeom prst="rect">
            <a:avLst/>
          </a:prstGeom>
          <a:noFill/>
        </p:spPr>
        <p:txBody>
          <a:bodyPr wrap="square">
            <a:spAutoFit/>
          </a:bodyPr>
          <a:lstStyle/>
          <a:p>
            <a:pPr algn="l"/>
            <a:r>
              <a:rPr sz="1400" b="1">
                <a:solidFill>
                  <a:srgbClr val="1A237E"/>
                </a:solidFill>
                <a:latin typeface="Calibri"/>
              </a:rPr>
              <a:t>Angle 1: Money That Generated Nothing</a:t>
            </a:r>
          </a:p>
        </p:txBody>
      </p:sp>
      <p:sp>
        <p:nvSpPr>
          <p:cNvPr id="12" name="TextBox 11"/>
          <p:cNvSpPr txBox="1"/>
          <p:nvPr/>
        </p:nvSpPr>
        <p:spPr>
          <a:xfrm>
            <a:off x="822960" y="1371600"/>
            <a:ext cx="4846320" cy="274320"/>
          </a:xfrm>
          <a:prstGeom prst="rect">
            <a:avLst/>
          </a:prstGeom>
          <a:noFill/>
        </p:spPr>
        <p:txBody>
          <a:bodyPr wrap="square">
            <a:spAutoFit/>
          </a:bodyPr>
          <a:lstStyle/>
          <a:p>
            <a:pPr algn="l"/>
            <a:r>
              <a:rPr sz="1100" b="1">
                <a:solidFill>
                  <a:srgbClr val="EA4335"/>
                </a:solidFill>
                <a:latin typeface="Calibri"/>
              </a:rPr>
              <a:t>£59,349 in Q1 2026 (search terms with zero conversions)</a:t>
            </a:r>
          </a:p>
        </p:txBody>
      </p:sp>
      <p:sp>
        <p:nvSpPr>
          <p:cNvPr id="13" name="Rectangle 12"/>
          <p:cNvSpPr/>
          <p:nvPr/>
        </p:nvSpPr>
        <p:spPr>
          <a:xfrm>
            <a:off x="54864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947671"/>
            <a:ext cx="4846320" cy="320040"/>
          </a:xfrm>
          <a:prstGeom prst="rect">
            <a:avLst/>
          </a:prstGeom>
          <a:noFill/>
        </p:spPr>
        <p:txBody>
          <a:bodyPr wrap="square">
            <a:spAutoFit/>
          </a:bodyPr>
          <a:lstStyle/>
          <a:p>
            <a:pPr algn="l"/>
            <a:r>
              <a:rPr sz="1000" b="0">
                <a:solidFill>
                  <a:srgbClr val="1A1A1A"/>
                </a:solidFill>
                <a:latin typeface="Calibri"/>
              </a:rPr>
              <a:t>Zero-conv search terms (2026)</a:t>
            </a:r>
            <a:r>
              <a:rPr sz="1000" b="0">
                <a:solidFill>
                  <a:srgbClr val="1A1A1A"/>
                </a:solidFill>
                <a:latin typeface="Calibri"/>
              </a:rPr>
              <a:t>  </a:t>
            </a:r>
            <a:r>
              <a:rPr sz="1100" b="1">
                <a:solidFill>
                  <a:srgbClr val="EA4335"/>
                </a:solidFill>
                <a:latin typeface="Calibri"/>
              </a:rPr>
              <a:t>£59,349</a:t>
            </a:r>
            <a:r>
              <a:rPr sz="1000" b="0">
                <a:solidFill>
                  <a:srgbClr val="1A1A1A"/>
                </a:solidFill>
                <a:latin typeface="Calibri"/>
              </a:rPr>
              <a:t>  </a:t>
            </a:r>
            <a:r>
              <a:rPr sz="1000" b="0">
                <a:solidFill>
                  <a:srgbClr val="CBD5E1"/>
                </a:solidFill>
                <a:latin typeface="Calibri"/>
              </a:rPr>
              <a:t>49% of ST spend</a:t>
            </a:r>
          </a:p>
        </p:txBody>
      </p:sp>
      <p:sp>
        <p:nvSpPr>
          <p:cNvPr id="16" name="Rectangle 15"/>
          <p:cNvSpPr/>
          <p:nvPr/>
        </p:nvSpPr>
        <p:spPr>
          <a:xfrm>
            <a:off x="54864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496312"/>
            <a:ext cx="4846320" cy="320040"/>
          </a:xfrm>
          <a:prstGeom prst="rect">
            <a:avLst/>
          </a:prstGeom>
          <a:noFill/>
        </p:spPr>
        <p:txBody>
          <a:bodyPr wrap="square">
            <a:spAutoFit/>
          </a:bodyPr>
          <a:lstStyle/>
          <a:p>
            <a:pPr algn="l"/>
            <a:r>
              <a:rPr sz="1000" b="0">
                <a:solidFill>
                  <a:srgbClr val="1A1A1A"/>
                </a:solidFill>
                <a:latin typeface="Calibri"/>
              </a:rPr>
              <a:t>Zero-conv keywords (2026)</a:t>
            </a:r>
            <a:r>
              <a:rPr sz="1000" b="0">
                <a:solidFill>
                  <a:srgbClr val="1A1A1A"/>
                </a:solidFill>
                <a:latin typeface="Calibri"/>
              </a:rPr>
              <a:t>  </a:t>
            </a:r>
            <a:r>
              <a:rPr sz="1100" b="1">
                <a:solidFill>
                  <a:srgbClr val="FBBC05"/>
                </a:solidFill>
                <a:latin typeface="Calibri"/>
              </a:rPr>
              <a:t>£2,402</a:t>
            </a:r>
            <a:r>
              <a:rPr sz="1000" b="0">
                <a:solidFill>
                  <a:srgbClr val="1A1A1A"/>
                </a:solidFill>
                <a:latin typeface="Calibri"/>
              </a:rPr>
              <a:t>  </a:t>
            </a:r>
            <a:r>
              <a:rPr sz="1000" b="0">
                <a:solidFill>
                  <a:srgbClr val="CBD5E1"/>
                </a:solidFill>
                <a:latin typeface="Calibri"/>
              </a:rPr>
              <a:t>53 keywords</a:t>
            </a:r>
          </a:p>
        </p:txBody>
      </p:sp>
      <p:sp>
        <p:nvSpPr>
          <p:cNvPr id="19" name="Rectangle 18"/>
          <p:cNvSpPr/>
          <p:nvPr/>
        </p:nvSpPr>
        <p:spPr>
          <a:xfrm>
            <a:off x="54864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044952"/>
            <a:ext cx="4846320" cy="320040"/>
          </a:xfrm>
          <a:prstGeom prst="rect">
            <a:avLst/>
          </a:prstGeom>
          <a:noFill/>
        </p:spPr>
        <p:txBody>
          <a:bodyPr wrap="square">
            <a:spAutoFit/>
          </a:bodyPr>
          <a:lstStyle/>
          <a:p>
            <a:pPr algn="l"/>
            <a:r>
              <a:rPr sz="1000" b="0">
                <a:solidFill>
                  <a:srgbClr val="1A1A1A"/>
                </a:solidFill>
                <a:latin typeface="Calibri"/>
              </a:rPr>
              <a:t>Zero-conv search terms (2025)</a:t>
            </a:r>
            <a:r>
              <a:rPr sz="1000" b="0">
                <a:solidFill>
                  <a:srgbClr val="1A1A1A"/>
                </a:solidFill>
                <a:latin typeface="Calibri"/>
              </a:rPr>
              <a:t>  </a:t>
            </a:r>
            <a:r>
              <a:rPr sz="1100" b="1">
                <a:solidFill>
                  <a:srgbClr val="EA4335"/>
                </a:solidFill>
                <a:latin typeface="Calibri"/>
              </a:rPr>
              <a:t>£86,727</a:t>
            </a:r>
            <a:r>
              <a:rPr sz="1000" b="0">
                <a:solidFill>
                  <a:srgbClr val="1A1A1A"/>
                </a:solidFill>
                <a:latin typeface="Calibri"/>
              </a:rPr>
              <a:t>  </a:t>
            </a:r>
            <a:r>
              <a:rPr sz="1000" b="0">
                <a:solidFill>
                  <a:srgbClr val="CBD5E1"/>
                </a:solidFill>
                <a:latin typeface="Calibri"/>
              </a:rPr>
              <a:t>47% of ST spend</a:t>
            </a:r>
          </a:p>
        </p:txBody>
      </p:sp>
      <p:sp>
        <p:nvSpPr>
          <p:cNvPr id="22" name="Rectangle 21"/>
          <p:cNvSpPr/>
          <p:nvPr/>
        </p:nvSpPr>
        <p:spPr>
          <a:xfrm>
            <a:off x="54864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593591"/>
            <a:ext cx="4846320" cy="320040"/>
          </a:xfrm>
          <a:prstGeom prst="rect">
            <a:avLst/>
          </a:prstGeom>
          <a:noFill/>
        </p:spPr>
        <p:txBody>
          <a:bodyPr wrap="square">
            <a:spAutoFit/>
          </a:bodyPr>
          <a:lstStyle/>
          <a:p>
            <a:pPr algn="l"/>
            <a:r>
              <a:rPr sz="1000" b="0">
                <a:solidFill>
                  <a:srgbClr val="1A1A1A"/>
                </a:solidFill>
                <a:latin typeface="Calibri"/>
              </a:rPr>
              <a:t>Zero-conv keywords (2025)</a:t>
            </a:r>
            <a:r>
              <a:rPr sz="1000" b="0">
                <a:solidFill>
                  <a:srgbClr val="1A1A1A"/>
                </a:solidFill>
                <a:latin typeface="Calibri"/>
              </a:rPr>
              <a:t>  </a:t>
            </a:r>
            <a:r>
              <a:rPr sz="1100" b="1">
                <a:solidFill>
                  <a:srgbClr val="FBBC05"/>
                </a:solidFill>
                <a:latin typeface="Calibri"/>
              </a:rPr>
              <a:t>£3,296</a:t>
            </a:r>
            <a:r>
              <a:rPr sz="1000" b="0">
                <a:solidFill>
                  <a:srgbClr val="1A1A1A"/>
                </a:solidFill>
                <a:latin typeface="Calibri"/>
              </a:rPr>
              <a:t>  </a:t>
            </a:r>
            <a:r>
              <a:rPr sz="1000" b="0">
                <a:solidFill>
                  <a:srgbClr val="CBD5E1"/>
                </a:solidFill>
                <a:latin typeface="Calibri"/>
              </a:rPr>
              <a:t>76 keywords</a:t>
            </a:r>
          </a:p>
        </p:txBody>
      </p:sp>
      <p:sp>
        <p:nvSpPr>
          <p:cNvPr id="25" name="Rectangle 24"/>
          <p:cNvSpPr/>
          <p:nvPr/>
        </p:nvSpPr>
        <p:spPr>
          <a:xfrm>
            <a:off x="621792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005840"/>
            <a:ext cx="73152" cy="7315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051560"/>
            <a:ext cx="4846320" cy="320040"/>
          </a:xfrm>
          <a:prstGeom prst="rect">
            <a:avLst/>
          </a:prstGeom>
          <a:noFill/>
        </p:spPr>
        <p:txBody>
          <a:bodyPr wrap="square">
            <a:spAutoFit/>
          </a:bodyPr>
          <a:lstStyle/>
          <a:p>
            <a:pPr algn="l"/>
            <a:r>
              <a:rPr sz="1400" b="1">
                <a:solidFill>
                  <a:srgbClr val="1A237E"/>
                </a:solidFill>
                <a:latin typeface="Calibri"/>
              </a:rPr>
              <a:t>Angle 2: Money That Could Work Harder</a:t>
            </a:r>
          </a:p>
        </p:txBody>
      </p:sp>
      <p:sp>
        <p:nvSpPr>
          <p:cNvPr id="28" name="TextBox 27"/>
          <p:cNvSpPr txBox="1"/>
          <p:nvPr/>
        </p:nvSpPr>
        <p:spPr>
          <a:xfrm>
            <a:off x="6492240" y="1371600"/>
            <a:ext cx="4846320" cy="274320"/>
          </a:xfrm>
          <a:prstGeom prst="rect">
            <a:avLst/>
          </a:prstGeom>
          <a:noFill/>
        </p:spPr>
        <p:txBody>
          <a:bodyPr wrap="square">
            <a:spAutoFit/>
          </a:bodyPr>
          <a:lstStyle/>
          <a:p>
            <a:pPr algn="l"/>
            <a:r>
              <a:rPr sz="1100" b="1">
                <a:solidFill>
                  <a:srgbClr val="FBBC05"/>
                </a:solidFill>
                <a:latin typeface="Calibri"/>
              </a:rPr>
              <a:t>£14,959+ in Q1 2026 on keywords with CPA above £150</a:t>
            </a:r>
          </a:p>
        </p:txBody>
      </p:sp>
      <p:sp>
        <p:nvSpPr>
          <p:cNvPr id="29" name="Rectangle 28"/>
          <p:cNvSpPr/>
          <p:nvPr/>
        </p:nvSpPr>
        <p:spPr>
          <a:xfrm>
            <a:off x="621792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1947671"/>
            <a:ext cx="4846320" cy="320040"/>
          </a:xfrm>
          <a:prstGeom prst="rect">
            <a:avLst/>
          </a:prstGeom>
          <a:noFill/>
        </p:spPr>
        <p:txBody>
          <a:bodyPr wrap="square">
            <a:spAutoFit/>
          </a:bodyPr>
          <a:lstStyle/>
          <a:p>
            <a:pPr algn="l"/>
            <a:r>
              <a:rPr sz="1000" b="0">
                <a:solidFill>
                  <a:srgbClr val="1A1A1A"/>
                </a:solidFill>
                <a:latin typeface="Calibri"/>
              </a:rPr>
              <a:t>Desktop premium (£92 vs £56 mobile)</a:t>
            </a:r>
            <a:r>
              <a:rPr sz="1000" b="0">
                <a:solidFill>
                  <a:srgbClr val="1A1A1A"/>
                </a:solidFill>
                <a:latin typeface="Calibri"/>
              </a:rPr>
              <a:t>  </a:t>
            </a:r>
            <a:r>
              <a:rPr sz="1000" b="1">
                <a:solidFill>
                  <a:srgbClr val="EA4335"/>
                </a:solidFill>
                <a:latin typeface="Calibri"/>
              </a:rPr>
              <a:t>64% more per lead</a:t>
            </a:r>
            <a:r>
              <a:rPr sz="1000" b="0">
                <a:solidFill>
                  <a:srgbClr val="1A1A1A"/>
                </a:solidFill>
                <a:latin typeface="Calibri"/>
              </a:rPr>
              <a:t>  </a:t>
            </a:r>
            <a:r>
              <a:rPr sz="1000" b="0">
                <a:solidFill>
                  <a:srgbClr val="CBD5E1"/>
                </a:solidFill>
                <a:latin typeface="Calibri"/>
              </a:rPr>
              <a:t>No bid adjustments</a:t>
            </a:r>
          </a:p>
        </p:txBody>
      </p:sp>
      <p:sp>
        <p:nvSpPr>
          <p:cNvPr id="32" name="Rectangle 31"/>
          <p:cNvSpPr/>
          <p:nvPr/>
        </p:nvSpPr>
        <p:spPr>
          <a:xfrm>
            <a:off x="621792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496312"/>
            <a:ext cx="4846320" cy="320040"/>
          </a:xfrm>
          <a:prstGeom prst="rect">
            <a:avLst/>
          </a:prstGeom>
          <a:noFill/>
        </p:spPr>
        <p:txBody>
          <a:bodyPr wrap="square">
            <a:spAutoFit/>
          </a:bodyPr>
          <a:lstStyle/>
          <a:p>
            <a:pPr algn="l"/>
            <a:r>
              <a:rPr sz="1000" b="0">
                <a:solidFill>
                  <a:srgbClr val="1A1A1A"/>
                </a:solidFill>
                <a:latin typeface="Calibri"/>
              </a:rPr>
              <a:t>Sunday premium (£68 vs £56 Friday)</a:t>
            </a:r>
            <a:r>
              <a:rPr sz="1000" b="0">
                <a:solidFill>
                  <a:srgbClr val="1A1A1A"/>
                </a:solidFill>
                <a:latin typeface="Calibri"/>
              </a:rPr>
              <a:t>  </a:t>
            </a:r>
            <a:r>
              <a:rPr sz="1000" b="1">
                <a:solidFill>
                  <a:srgbClr val="FBBC05"/>
                </a:solidFill>
                <a:latin typeface="Calibri"/>
              </a:rPr>
              <a:t>21% more per lead</a:t>
            </a:r>
            <a:r>
              <a:rPr sz="1000" b="0">
                <a:solidFill>
                  <a:srgbClr val="1A1A1A"/>
                </a:solidFill>
                <a:latin typeface="Calibri"/>
              </a:rPr>
              <a:t>  </a:t>
            </a:r>
            <a:r>
              <a:rPr sz="1000" b="0">
                <a:solidFill>
                  <a:srgbClr val="CBD5E1"/>
                </a:solidFill>
                <a:latin typeface="Calibri"/>
              </a:rPr>
              <a:t>No schedule adjustments</a:t>
            </a:r>
          </a:p>
        </p:txBody>
      </p:sp>
      <p:sp>
        <p:nvSpPr>
          <p:cNvPr id="35" name="Rectangle 34"/>
          <p:cNvSpPr/>
          <p:nvPr/>
        </p:nvSpPr>
        <p:spPr>
          <a:xfrm>
            <a:off x="621792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044952"/>
            <a:ext cx="4846320" cy="320040"/>
          </a:xfrm>
          <a:prstGeom prst="rect">
            <a:avLst/>
          </a:prstGeom>
          <a:noFill/>
        </p:spPr>
        <p:txBody>
          <a:bodyPr wrap="square">
            <a:spAutoFit/>
          </a:bodyPr>
          <a:lstStyle/>
          <a:p>
            <a:pPr algn="l"/>
            <a:r>
              <a:rPr sz="1000" b="0">
                <a:solidFill>
                  <a:srgbClr val="1A1A1A"/>
                </a:solidFill>
                <a:latin typeface="Calibri"/>
              </a:rPr>
              <a:t>High-CPA keywords (17 at £150+)</a:t>
            </a:r>
            <a:r>
              <a:rPr sz="1000" b="0">
                <a:solidFill>
                  <a:srgbClr val="1A1A1A"/>
                </a:solidFill>
                <a:latin typeface="Calibri"/>
              </a:rPr>
              <a:t>  </a:t>
            </a:r>
            <a:r>
              <a:rPr sz="1000" b="1">
                <a:solidFill>
                  <a:srgbClr val="EA4335"/>
                </a:solidFill>
                <a:latin typeface="Calibri"/>
              </a:rPr>
              <a:t>£14,959 at 2-5x avg</a:t>
            </a:r>
            <a:r>
              <a:rPr sz="1000" b="0">
                <a:solidFill>
                  <a:srgbClr val="1A1A1A"/>
                </a:solidFill>
                <a:latin typeface="Calibri"/>
              </a:rPr>
              <a:t>  </a:t>
            </a:r>
            <a:r>
              <a:rPr sz="1000" b="0">
                <a:solidFill>
                  <a:srgbClr val="CBD5E1"/>
                </a:solidFill>
                <a:latin typeface="Calibri"/>
              </a:rPr>
              <a:t>Bid reduction needed</a:t>
            </a:r>
          </a:p>
        </p:txBody>
      </p:sp>
      <p:sp>
        <p:nvSpPr>
          <p:cNvPr id="38" name="Rectangle 37"/>
          <p:cNvSpPr/>
          <p:nvPr/>
        </p:nvSpPr>
        <p:spPr>
          <a:xfrm>
            <a:off x="621792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593591"/>
            <a:ext cx="4846320" cy="320040"/>
          </a:xfrm>
          <a:prstGeom prst="rect">
            <a:avLst/>
          </a:prstGeom>
          <a:noFill/>
        </p:spPr>
        <p:txBody>
          <a:bodyPr wrap="square">
            <a:spAutoFit/>
          </a:bodyPr>
          <a:lstStyle/>
          <a:p>
            <a:pPr algn="l"/>
            <a:r>
              <a:rPr sz="1000" b="0">
                <a:solidFill>
                  <a:srgbClr val="1A1A1A"/>
                </a:solidFill>
                <a:latin typeface="Calibri"/>
              </a:rPr>
              <a:t>35km radius (£93 CPA vs £59 30km)</a:t>
            </a:r>
            <a:r>
              <a:rPr sz="1000" b="0">
                <a:solidFill>
                  <a:srgbClr val="1A1A1A"/>
                </a:solidFill>
                <a:latin typeface="Calibri"/>
              </a:rPr>
              <a:t>  </a:t>
            </a:r>
            <a:r>
              <a:rPr sz="1000" b="1">
                <a:solidFill>
                  <a:srgbClr val="FBBC05"/>
                </a:solidFill>
                <a:latin typeface="Calibri"/>
              </a:rPr>
              <a:t>58% more per lead</a:t>
            </a:r>
            <a:r>
              <a:rPr sz="1000" b="0">
                <a:solidFill>
                  <a:srgbClr val="1A1A1A"/>
                </a:solidFill>
                <a:latin typeface="Calibri"/>
              </a:rPr>
              <a:t>  </a:t>
            </a:r>
            <a:r>
              <a:rPr sz="1000" b="0">
                <a:solidFill>
                  <a:srgbClr val="CBD5E1"/>
                </a:solidFill>
                <a:latin typeface="Calibri"/>
              </a:rPr>
              <a:t>Switch to postcodes</a:t>
            </a:r>
          </a:p>
        </p:txBody>
      </p:sp>
      <p:sp>
        <p:nvSpPr>
          <p:cNvPr id="41" name="Rectangle 40"/>
          <p:cNvSpPr/>
          <p:nvPr/>
        </p:nvSpPr>
        <p:spPr>
          <a:xfrm>
            <a:off x="548640" y="4206240"/>
            <a:ext cx="11064240" cy="4572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251960"/>
            <a:ext cx="10607040" cy="365760"/>
          </a:xfrm>
          <a:prstGeom prst="rect">
            <a:avLst/>
          </a:prstGeom>
          <a:noFill/>
        </p:spPr>
        <p:txBody>
          <a:bodyPr wrap="square">
            <a:spAutoFit/>
          </a:bodyPr>
          <a:lstStyle/>
          <a:p>
            <a:pPr algn="l"/>
            <a:r>
              <a:rPr sz="1100" b="1">
                <a:solidFill>
                  <a:srgbClr val="1A237E"/>
                </a:solidFill>
                <a:latin typeface="Calibri"/>
              </a:rPr>
              <a:t>Combined: £151,774 in zero-conversion waste across the data period, plus significant efficiency gaps in device, schedule, geo, and keyword bidding.</a:t>
            </a:r>
          </a:p>
        </p:txBody>
      </p:sp>
      <p:sp>
        <p:nvSpPr>
          <p:cNvPr id="43" name="Rectangle 42"/>
          <p:cNvSpPr/>
          <p:nvPr/>
        </p:nvSpPr>
        <p:spPr>
          <a:xfrm>
            <a:off x="548640" y="4846320"/>
            <a:ext cx="11064240" cy="10972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4846320"/>
            <a:ext cx="54864" cy="10972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937760"/>
            <a:ext cx="10698480" cy="274320"/>
          </a:xfrm>
          <a:prstGeom prst="rect">
            <a:avLst/>
          </a:prstGeom>
          <a:noFill/>
        </p:spPr>
        <p:txBody>
          <a:bodyPr wrap="square">
            <a:spAutoFit/>
          </a:bodyPr>
          <a:lstStyle/>
          <a:p>
            <a:pPr algn="l"/>
            <a:r>
              <a:rPr sz="1400" b="1">
                <a:solidFill>
                  <a:srgbClr val="1A237E"/>
                </a:solidFill>
                <a:latin typeface="Calibri"/>
              </a:rPr>
              <a:t>Important Note: Conversion Tracking</a:t>
            </a:r>
          </a:p>
        </p:txBody>
      </p:sp>
      <p:sp>
        <p:nvSpPr>
          <p:cNvPr id="46" name="TextBox 45"/>
          <p:cNvSpPr txBox="1"/>
          <p:nvPr/>
        </p:nvSpPr>
        <p:spPr>
          <a:xfrm>
            <a:off x="777240" y="5212080"/>
            <a:ext cx="10698480" cy="640080"/>
          </a:xfrm>
          <a:prstGeom prst="rect">
            <a:avLst/>
          </a:prstGeom>
          <a:noFill/>
        </p:spPr>
        <p:txBody>
          <a:bodyPr wrap="square">
            <a:spAutoFit/>
          </a:bodyPr>
          <a:lstStyle/>
          <a:p>
            <a:pPr algn="l"/>
            <a:r>
              <a:rPr sz="1100" b="0">
                <a:solidFill>
                  <a:srgbClr val="1A1A1A"/>
                </a:solidFill>
                <a:latin typeface="Calibri"/>
              </a:rPr>
              <a:t>These numbers use the conversions reported in Google Ads, which include Dengro offline leads (4,663), form submissions, phone calls, quiz completions, and several soft signals (booking clicks, phone clicks, WhatsApp clicks). If soft signals are excluded, the true CPA is higher and the efficiency gaps are wider. A conversion tracking audit is recommended as part of Report 2: Account Structure &amp; Issues.</a:t>
            </a:r>
          </a:p>
        </p:txBody>
      </p:sp>
      <p:sp>
        <p:nvSpPr>
          <p:cNvPr id="47" name="Rectangle 46"/>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52" name="TextBox 51"/>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53" name="TextBox 52"/>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029200" cy="731520"/>
          </a:xfrm>
          <a:prstGeom prst="rect">
            <a:avLst/>
          </a:prstGeom>
          <a:noFill/>
        </p:spPr>
        <p:txBody>
          <a:bodyPr wrap="square">
            <a:spAutoFit/>
          </a:bodyPr>
          <a:lstStyle/>
          <a:p>
            <a:pPr algn="l"/>
            <a:r>
              <a:rPr sz="4400" b="1">
                <a:solidFill>
                  <a:srgbClr val="1A237E"/>
                </a:solidFill>
                <a:latin typeface="Calibri"/>
              </a:rPr>
              <a:t>Quick Wins</a:t>
            </a:r>
          </a:p>
        </p:txBody>
      </p:sp>
      <p:sp>
        <p:nvSpPr>
          <p:cNvPr id="9" name="Rectangle 8"/>
          <p:cNvSpPr/>
          <p:nvPr/>
        </p:nvSpPr>
        <p:spPr>
          <a:xfrm>
            <a:off x="548640" y="201168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94560"/>
            <a:ext cx="5029200" cy="365760"/>
          </a:xfrm>
          <a:prstGeom prst="rect">
            <a:avLst/>
          </a:prstGeom>
          <a:noFill/>
        </p:spPr>
        <p:txBody>
          <a:bodyPr wrap="square">
            <a:spAutoFit/>
          </a:bodyPr>
          <a:lstStyle/>
          <a:p>
            <a:pPr algn="l"/>
            <a:r>
              <a:rPr sz="1400" b="0">
                <a:solidFill>
                  <a:srgbClr val="1A237E"/>
                </a:solidFill>
                <a:latin typeface="Calibri"/>
              </a:rPr>
              <a:t>Immediate actions to reduce waste and improve efficiency</a:t>
            </a:r>
          </a:p>
        </p:txBody>
      </p:sp>
      <p:sp>
        <p:nvSpPr>
          <p:cNvPr id="11" name="Rectangle 10"/>
          <p:cNvSpPr/>
          <p:nvPr/>
        </p:nvSpPr>
        <p:spPr>
          <a:xfrm>
            <a:off x="548640" y="260604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06040"/>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60904"/>
            <a:ext cx="4572000" cy="320040"/>
          </a:xfrm>
          <a:prstGeom prst="rect">
            <a:avLst/>
          </a:prstGeom>
          <a:noFill/>
        </p:spPr>
        <p:txBody>
          <a:bodyPr wrap="square">
            <a:spAutoFit/>
          </a:bodyPr>
          <a:lstStyle/>
          <a:p>
            <a:pPr algn="l"/>
            <a:r>
              <a:rPr sz="1100" b="1">
                <a:solidFill>
                  <a:srgbClr val="EA4335"/>
                </a:solidFill>
                <a:latin typeface="Calibri"/>
              </a:rPr>
              <a:t>1.  </a:t>
            </a:r>
            <a:r>
              <a:rPr sz="1100" b="1">
                <a:solidFill>
                  <a:srgbClr val="1A237E"/>
                </a:solidFill>
                <a:latin typeface="Calibri"/>
              </a:rPr>
              <a:t>Audit 784 broad match negative keywords</a:t>
            </a:r>
          </a:p>
        </p:txBody>
      </p:sp>
      <p:sp>
        <p:nvSpPr>
          <p:cNvPr id="14" name="Rectangle 13"/>
          <p:cNvSpPr/>
          <p:nvPr/>
        </p:nvSpPr>
        <p:spPr>
          <a:xfrm>
            <a:off x="548640" y="308152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81528"/>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36392"/>
            <a:ext cx="4572000" cy="320040"/>
          </a:xfrm>
          <a:prstGeom prst="rect">
            <a:avLst/>
          </a:prstGeom>
          <a:noFill/>
        </p:spPr>
        <p:txBody>
          <a:bodyPr wrap="square">
            <a:spAutoFit/>
          </a:bodyPr>
          <a:lstStyle/>
          <a:p>
            <a:pPr algn="l"/>
            <a:r>
              <a:rPr sz="1100" b="1">
                <a:solidFill>
                  <a:srgbClr val="EA4335"/>
                </a:solidFill>
                <a:latin typeface="Calibri"/>
              </a:rPr>
              <a:t>2.  </a:t>
            </a:r>
            <a:r>
              <a:rPr sz="1100" b="1">
                <a:solidFill>
                  <a:srgbClr val="1A237E"/>
                </a:solidFill>
                <a:latin typeface="Calibri"/>
              </a:rPr>
              <a:t>Add negative keywords for top waste categories</a:t>
            </a:r>
          </a:p>
        </p:txBody>
      </p:sp>
      <p:sp>
        <p:nvSpPr>
          <p:cNvPr id="17" name="Rectangle 16"/>
          <p:cNvSpPr/>
          <p:nvPr/>
        </p:nvSpPr>
        <p:spPr>
          <a:xfrm>
            <a:off x="548640" y="355701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57016"/>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11880"/>
            <a:ext cx="4572000" cy="320040"/>
          </a:xfrm>
          <a:prstGeom prst="rect">
            <a:avLst/>
          </a:prstGeom>
          <a:noFill/>
        </p:spPr>
        <p:txBody>
          <a:bodyPr wrap="square">
            <a:spAutoFit/>
          </a:bodyPr>
          <a:lstStyle/>
          <a:p>
            <a:pPr algn="l"/>
            <a:r>
              <a:rPr sz="1100" b="1">
                <a:solidFill>
                  <a:srgbClr val="4285F4"/>
                </a:solidFill>
                <a:latin typeface="Calibri"/>
              </a:rPr>
              <a:t>3.  </a:t>
            </a:r>
            <a:r>
              <a:rPr sz="1100" b="1">
                <a:solidFill>
                  <a:srgbClr val="1A237E"/>
                </a:solidFill>
                <a:latin typeface="Calibri"/>
              </a:rPr>
              <a:t>Implement device bid adjustments</a:t>
            </a:r>
          </a:p>
        </p:txBody>
      </p:sp>
      <p:sp>
        <p:nvSpPr>
          <p:cNvPr id="20" name="Rectangle 19"/>
          <p:cNvSpPr/>
          <p:nvPr/>
        </p:nvSpPr>
        <p:spPr>
          <a:xfrm>
            <a:off x="548640" y="4032504"/>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87368"/>
            <a:ext cx="4572000" cy="320040"/>
          </a:xfrm>
          <a:prstGeom prst="rect">
            <a:avLst/>
          </a:prstGeom>
          <a:noFill/>
        </p:spPr>
        <p:txBody>
          <a:bodyPr wrap="square">
            <a:spAutoFit/>
          </a:bodyPr>
          <a:lstStyle/>
          <a:p>
            <a:pPr algn="l"/>
            <a:r>
              <a:rPr sz="1100" b="1">
                <a:solidFill>
                  <a:srgbClr val="4285F4"/>
                </a:solidFill>
                <a:latin typeface="Calibri"/>
              </a:rPr>
              <a:t>4.  </a:t>
            </a:r>
            <a:r>
              <a:rPr sz="1100" b="1">
                <a:solidFill>
                  <a:srgbClr val="1A237E"/>
                </a:solidFill>
                <a:latin typeface="Calibri"/>
              </a:rPr>
              <a:t>Implement day-of-week bid adjustments</a:t>
            </a:r>
          </a:p>
        </p:txBody>
      </p:sp>
      <p:sp>
        <p:nvSpPr>
          <p:cNvPr id="23" name="Rectangle 22"/>
          <p:cNvSpPr/>
          <p:nvPr/>
        </p:nvSpPr>
        <p:spPr>
          <a:xfrm>
            <a:off x="548640" y="4507992"/>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507992"/>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62856"/>
            <a:ext cx="4572000" cy="320040"/>
          </a:xfrm>
          <a:prstGeom prst="rect">
            <a:avLst/>
          </a:prstGeom>
          <a:noFill/>
        </p:spPr>
        <p:txBody>
          <a:bodyPr wrap="square">
            <a:spAutoFit/>
          </a:bodyPr>
          <a:lstStyle/>
          <a:p>
            <a:pPr algn="l"/>
            <a:r>
              <a:rPr sz="1100" b="1">
                <a:solidFill>
                  <a:srgbClr val="4285F4"/>
                </a:solidFill>
                <a:latin typeface="Calibri"/>
              </a:rPr>
              <a:t>5.  </a:t>
            </a:r>
            <a:r>
              <a:rPr sz="1100" b="1">
                <a:solidFill>
                  <a:srgbClr val="1A237E"/>
                </a:solidFill>
                <a:latin typeface="Calibri"/>
              </a:rPr>
              <a:t>Implement hour-of-day bid adjustments</a:t>
            </a:r>
          </a:p>
        </p:txBody>
      </p:sp>
      <p:sp>
        <p:nvSpPr>
          <p:cNvPr id="26" name="Rectangle 25"/>
          <p:cNvSpPr/>
          <p:nvPr/>
        </p:nvSpPr>
        <p:spPr>
          <a:xfrm>
            <a:off x="548640" y="498348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983480"/>
            <a:ext cx="54864" cy="41148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38344"/>
            <a:ext cx="4572000" cy="320040"/>
          </a:xfrm>
          <a:prstGeom prst="rect">
            <a:avLst/>
          </a:prstGeom>
          <a:noFill/>
        </p:spPr>
        <p:txBody>
          <a:bodyPr wrap="square">
            <a:spAutoFit/>
          </a:bodyPr>
          <a:lstStyle/>
          <a:p>
            <a:pPr algn="l"/>
            <a:r>
              <a:rPr sz="1100" b="1">
                <a:solidFill>
                  <a:srgbClr val="FBBC05"/>
                </a:solidFill>
                <a:latin typeface="Calibri"/>
              </a:rPr>
              <a:t>6.  </a:t>
            </a:r>
            <a:r>
              <a:rPr sz="1100" b="1">
                <a:solidFill>
                  <a:srgbClr val="1A237E"/>
                </a:solidFill>
                <a:latin typeface="Calibri"/>
              </a:rPr>
              <a:t>Review 17 high-CPA keywords (£150+)</a:t>
            </a:r>
          </a:p>
        </p:txBody>
      </p:sp>
      <p:sp>
        <p:nvSpPr>
          <p:cNvPr id="29" name="Rectangle 28"/>
          <p:cNvSpPr/>
          <p:nvPr/>
        </p:nvSpPr>
        <p:spPr>
          <a:xfrm>
            <a:off x="548640" y="545896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8968"/>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13832"/>
            <a:ext cx="4572000" cy="320040"/>
          </a:xfrm>
          <a:prstGeom prst="rect">
            <a:avLst/>
          </a:prstGeom>
          <a:noFill/>
        </p:spPr>
        <p:txBody>
          <a:bodyPr wrap="square">
            <a:spAutoFit/>
          </a:bodyPr>
          <a:lstStyle/>
          <a:p>
            <a:pPr algn="l"/>
            <a:r>
              <a:rPr sz="1100" b="1">
                <a:solidFill>
                  <a:srgbClr val="34A853"/>
                </a:solidFill>
                <a:latin typeface="Calibri"/>
              </a:rPr>
              <a:t>7.  </a:t>
            </a:r>
            <a:r>
              <a:rPr sz="1100" b="1">
                <a:solidFill>
                  <a:srgbClr val="1A237E"/>
                </a:solidFill>
                <a:latin typeface="Calibri"/>
              </a:rPr>
              <a:t>Disable auto-apply for negative keyword removal</a:t>
            </a:r>
          </a:p>
        </p:txBody>
      </p:sp>
      <p:sp>
        <p:nvSpPr>
          <p:cNvPr id="32" name="Rectangle 31"/>
          <p:cNvSpPr/>
          <p:nvPr/>
        </p:nvSpPr>
        <p:spPr>
          <a:xfrm>
            <a:off x="548640" y="593445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934456"/>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989320"/>
            <a:ext cx="4572000" cy="320040"/>
          </a:xfrm>
          <a:prstGeom prst="rect">
            <a:avLst/>
          </a:prstGeom>
          <a:noFill/>
        </p:spPr>
        <p:txBody>
          <a:bodyPr wrap="square">
            <a:spAutoFit/>
          </a:bodyPr>
          <a:lstStyle/>
          <a:p>
            <a:pPr algn="l"/>
            <a:r>
              <a:rPr sz="1100" b="1">
                <a:solidFill>
                  <a:srgbClr val="34A853"/>
                </a:solidFill>
                <a:latin typeface="Calibri"/>
              </a:rPr>
              <a:t>8.  </a:t>
            </a:r>
            <a:r>
              <a:rPr sz="1100" b="1">
                <a:solidFill>
                  <a:srgbClr val="1A237E"/>
                </a:solidFill>
                <a:latin typeface="Calibri"/>
              </a:rPr>
              <a:t>Tighten geo targeting: 35km radius → postcodes</a:t>
            </a:r>
          </a:p>
        </p:txBody>
      </p:sp>
      <p:sp>
        <p:nvSpPr>
          <p:cNvPr id="35" name="Rectangle 34"/>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What's Next</a:t>
            </a:r>
          </a:p>
        </p:txBody>
      </p:sp>
      <p:sp>
        <p:nvSpPr>
          <p:cNvPr id="38" name="TextBox 37"/>
          <p:cNvSpPr txBox="1"/>
          <p:nvPr/>
        </p:nvSpPr>
        <p:spPr>
          <a:xfrm>
            <a:off x="6492240" y="914400"/>
            <a:ext cx="4937760" cy="731520"/>
          </a:xfrm>
          <a:prstGeom prst="rect">
            <a:avLst/>
          </a:prstGeom>
          <a:noFill/>
        </p:spPr>
        <p:txBody>
          <a:bodyPr wrap="square">
            <a:spAutoFit/>
          </a:bodyPr>
          <a:lstStyle/>
          <a:p>
            <a:pPr algn="l"/>
            <a:r>
              <a:rPr sz="4000" b="1">
                <a:solidFill>
                  <a:srgbClr val="34A853"/>
                </a:solidFill>
                <a:latin typeface="Calibri"/>
              </a:rPr>
              <a:t>Report 2:
Account Structure</a:t>
            </a:r>
          </a:p>
        </p:txBody>
      </p:sp>
      <p:sp>
        <p:nvSpPr>
          <p:cNvPr id="39" name="TextBox 38"/>
          <p:cNvSpPr txBox="1"/>
          <p:nvPr/>
        </p:nvSpPr>
        <p:spPr>
          <a:xfrm>
            <a:off x="6492240" y="1737360"/>
            <a:ext cx="4937760" cy="548640"/>
          </a:xfrm>
          <a:prstGeom prst="rect">
            <a:avLst/>
          </a:prstGeom>
          <a:noFill/>
        </p:spPr>
        <p:txBody>
          <a:bodyPr wrap="square">
            <a:spAutoFit/>
          </a:bodyPr>
          <a:lstStyle/>
          <a:p>
            <a:pPr algn="l"/>
            <a:r>
              <a:rPr sz="1100" b="0">
                <a:solidFill>
                  <a:srgbClr val="1A1A1A"/>
                </a:solidFill>
                <a:latin typeface="Calibri"/>
              </a:rPr>
              <a:t>Conversion tracking audit, bid strategy analysis, Quality Scores, ad copy, and the structural issues driving CPA higher.</a:t>
            </a:r>
          </a:p>
        </p:txBody>
      </p:sp>
      <p:sp>
        <p:nvSpPr>
          <p:cNvPr id="40" name="Rectangle 39"/>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035808"/>
            <a:ext cx="1444752" cy="411480"/>
          </a:xfrm>
          <a:prstGeom prst="rect">
            <a:avLst/>
          </a:prstGeom>
          <a:noFill/>
        </p:spPr>
        <p:txBody>
          <a:bodyPr wrap="square">
            <a:spAutoFit/>
          </a:bodyPr>
          <a:lstStyle/>
          <a:p>
            <a:pPr algn="l"/>
            <a:r>
              <a:rPr sz="2200" b="1">
                <a:solidFill>
                  <a:srgbClr val="EA4335"/>
                </a:solidFill>
                <a:latin typeface="Calibri"/>
              </a:rPr>
              <a:t>£46→£64</a:t>
            </a:r>
          </a:p>
        </p:txBody>
      </p:sp>
      <p:sp>
        <p:nvSpPr>
          <p:cNvPr id="43" name="TextBox 42"/>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CPA Trend (YoY)</a:t>
            </a:r>
          </a:p>
        </p:txBody>
      </p:sp>
      <p:sp>
        <p:nvSpPr>
          <p:cNvPr id="44" name="Rectangle 43"/>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8</a:t>
            </a:r>
          </a:p>
        </p:txBody>
      </p:sp>
      <p:sp>
        <p:nvSpPr>
          <p:cNvPr id="47" name="TextBox 46"/>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Quick Win Actions</a:t>
            </a:r>
          </a:p>
        </p:txBody>
      </p:sp>
      <p:sp>
        <p:nvSpPr>
          <p:cNvPr id="48" name="Rectangle 47"/>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39528"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76688" y="3035808"/>
            <a:ext cx="1444752" cy="411480"/>
          </a:xfrm>
          <a:prstGeom prst="rect">
            <a:avLst/>
          </a:prstGeom>
          <a:noFill/>
        </p:spPr>
        <p:txBody>
          <a:bodyPr wrap="square">
            <a:spAutoFit/>
          </a:bodyPr>
          <a:lstStyle/>
          <a:p>
            <a:pPr algn="l"/>
            <a:r>
              <a:rPr sz="2200" b="1">
                <a:solidFill>
                  <a:srgbClr val="34A853"/>
                </a:solidFill>
                <a:latin typeface="Calibri"/>
              </a:rPr>
              <a:t>Report 2</a:t>
            </a:r>
          </a:p>
        </p:txBody>
      </p:sp>
      <p:sp>
        <p:nvSpPr>
          <p:cNvPr id="51" name="TextBox 50"/>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Coming Next</a:t>
            </a:r>
          </a:p>
        </p:txBody>
      </p:sp>
      <p:sp>
        <p:nvSpPr>
          <p:cNvPr id="52" name="Rectangle 51"/>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