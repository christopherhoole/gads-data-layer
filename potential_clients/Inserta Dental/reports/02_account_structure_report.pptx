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Account Structure
&amp; 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Christopher Hoole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Specialist  |  April 2026</a:t>
            </a:r>
          </a:p>
          <a:p>
            <a:r>
              <a:rPr sz="1100" b="0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Data: 2025 (full year) + 2026 (Q1, Jan–Apr)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Non-Brand CPA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A4335"/>
                </a:solidFill>
                <a:latin typeface="Calibri"/>
              </a:rPr>
              <a:t>£46 → £64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+40% increase year-on-year while spend nearly doubled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1,511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Ghost Conversions (KMG)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 Campaigns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6.4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Avg QS (Weighted)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+ 2026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£46→£64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Non-Brand CPA (+40%)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1,511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Ghost Conversions (KMG Legacy)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Ads Rated Poor or Average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6.4/10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Weighted Avg Quality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Issues Identified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1,511 ghost conversions from legacy KMG landing pages are inflating reported performance. Giulio confirmed these should be ignored — but they're still set as Primary conversions feeding the bidding algorithm.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Non-brand CPA has risen 40% year-on-year (£46 → £64) while monthly spend nearly doubled from ~£22K to ~£58K.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Dengro Offline Leads (4,663) may include non-ad-sourced leads, further inflating Google Ads attribution. Pending verification.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68% of ads are rated Poor or Average strength. The main Search campaign (74,024 spend) has Poor-rated ads.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Ad relevance is Below Average on 71% of scored keywords. Expected CTR is Below Average on 63%. These are the primary Quality Score drivers.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The core issue: the account is scaling spend aggressively but the foundations (conversion tracking, ad quality, keyword Quality Scores) haven't kept pace. Higher spend on weak foundations = rising CPA.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Conversion Tracking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1,511 ghost conversions + 445 soft signals are inflating reported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Critical Issue</a:t>
            </a:r>
          </a:p>
        </p:txBody>
      </p:sp>
      <p:pic>
        <p:nvPicPr>
          <p:cNvPr id="10" name="Picture 9" descr="conv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7760" y="10972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Conversion Classification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1417320"/>
          <a:ext cx="5852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731520"/>
                <a:gridCol w="1645920"/>
              </a:tblGrid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 Leads (forms, calls, quiz)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6,182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Legitimate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Funnel (Dengro bookings + purchases)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Legitimate (downstream)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Soft Signals (clicks, not actions)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Should be Secondary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Ghost (KMG legacy — confirmed ignore)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Should be 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937760" y="4160520"/>
            <a:ext cx="6675120" cy="164592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4160520"/>
            <a:ext cx="54864" cy="16459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42519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Impact on CPA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526280"/>
            <a:ext cx="6309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Reported CPA: £49 (using all 8,953 conversions)
Real leads CPA: £71 (excluding ghost + soft signals)
Leads + funnel CPA: £63 (including bookings)
The bidding algorithm is optimising toward 8,953 events — including 1,511 that don't exist and 445 that aren't real actions. This is why CPA appears lower than it actually 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4114800" cy="11887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54864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Giulio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KMG OLD LP actions: "data that have been preserved but target old lp" — confirmed ghost data.
Dengro Offline Lead: Lead from CRM.
Dengro Offline Booking/Purchase: Booked/completed patient.
Every booking has an arbitrary £300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The ROAS Puzzle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Target ROAS bidding is based on arbitrary £300 booking values — not real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Bid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 Bid Strategy Setup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731520"/>
                <a:gridCol w="73152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Bid Strategy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ROAS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— PMax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3291840"/>
            <a:ext cx="5303520" cy="24688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54864" cy="2468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Why This Is a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algorithm is told to maximise conversion VALUE, not conversion VOLUME. With £300 arbitrary booking values, a 30% ROAS target means the algorithm wants £300 in value for every £1,000 spent — i.e. one booking per £1,000 spend.
But only 621 of 8,953 reported conversions are actual bookings. The algorithm is chasing a small pool of high-value events while spending broadly. This explains why PMax CPA rose from £26 to £52 — it's optimising for bookings, not leads, but the booking signal is sparse and unreliable with an arbitrary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303520" cy="1920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54864" cy="1920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Dengro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4630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Dengro Offline Lead: 4,663 (all CRM leads — may include non-ad sources)
Dengro Offline Booking: 621 (£300 arbitrary value each = £70,910)
Dengro Offline Purchase: 194 (completed treatment = £73,106)
Lead → Booking conversion rate: 13.3% (621/4,663)
Booking → Purchase conversion rate: 31.2% (194/621)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5303520" cy="24688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291840"/>
            <a:ext cx="54864" cy="2468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57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Option A: Switch to Maximise Conversions with Target CPA. Optimise for LEAD VOLUME at a controllable cost per lead. This gives direct control over acquisition cost.
Option B: Keep Target ROAS but replace the £300 arbitrary value with actual treatment revenue from Dengro. If a booking for a single implant is worth £1,695 and a Vivo Bridge is worth £15,990, the algorithm can intelligently bid more for high-value treatments.
Either option is better than the current setup.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Account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47 campaigns, 4 active — a legacy of multiple agencies and strategy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Structure</a:t>
            </a:r>
          </a:p>
        </p:txBody>
      </p:sp>
      <p:pic>
        <p:nvPicPr>
          <p:cNvPr id="10" name="Picture 9" descr="camp_spend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85800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Currently Active (4 Campaigns)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80960" y="141732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PMax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+100%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Search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Not serving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43 Paused Campaigns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3474720" cy="15544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54864" cy="1554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Legacy Agencies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KMG (Kau Media Group): 6 campaigns, L87K spend
Multiple naming conventions and strategies
KMG conversion actions still firing as Primary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251960"/>
            <a:ext cx="3474720" cy="1554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251960"/>
            <a:ext cx="54864" cy="15544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Historical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17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Device-split campaigns ('Mobile Only', 'Desktop')
Geo-split campaigns ('London', 'Geo')
Service campaigns (Invisalign, Veneers, Full Arch, Teeth In A Day)
Dating back to 2022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3566160" cy="15544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251960"/>
            <a:ext cx="54864" cy="1554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617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Remove all campaigns paused 6+ months with no active learnings. This doesn't affect performance but makes the account manageable. Clean structure is essential for multi-clinic expansion.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Ad Group Structure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Search Intent campaign: 8 ad groups with wide CPA variation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188720"/>
          <a:ext cx="7589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097280"/>
                <a:gridCol w="731520"/>
                <a:gridCol w="731520"/>
                <a:gridCol w="731520"/>
              </a:tblGrid>
              <a:tr h="289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Group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£26,644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Implants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£17,280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on 4 Google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£10,210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6.6%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on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Implants Cost Google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£4,588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by Design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£4,133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- 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London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Financing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£2,890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24.7%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Hammersmith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- Geo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Hammersmith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4846320"/>
            <a:ext cx="5303520" cy="10972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54864" cy="10972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2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'Dental Implants' ad group (£26.6K) runs at £111 CPA — the worst in the account. Meanwhile 'Financing' (£2.9K) runs at £34 CPA with 24.7% CVR. Budget is flowing to the least efficient ad groups.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846320"/>
            <a:ext cx="5394960" cy="10972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846320"/>
            <a:ext cx="54864" cy="10972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'Financing' and 'Implants Cost' ad groups convert better because they match cost-conscious search intent with the right landing page. Restructure ad groups around patient intent, not just keyword categories.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Quality Score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Weighted average QS: 6.9 (2025) → 6.4 (2026) — declining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pic>
        <p:nvPicPr>
          <p:cNvPr id="10" name="Picture 9" descr="qs_dist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9436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QS Components (2026)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766560" y="1417320"/>
          <a:ext cx="4389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Below Avg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Above Avg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Relevance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 (12%)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 (17%)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Expected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52 (63%)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 (27%)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 (10%)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Landing Page Exp.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 (4%)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21 (26%)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766560" y="3200400"/>
            <a:ext cx="4846320" cy="118872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3200400"/>
            <a:ext cx="54864" cy="1188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32918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56616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Landing pages are strong (71% Above Average). Ad relevance is the weak point (71% Below Average). Expected CTR is also weak (63% Below Average). The ads don't match what people are searching for.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Worst QS Keywords (QS 1-3) by Spend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389120"/>
          <a:ext cx="5943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"/>
                <a:gridCol w="822960"/>
                <a:gridCol w="640080"/>
                <a:gridCol w="914400"/>
                <a:gridCol w="914400"/>
              </a:tblGrid>
              <a:tr h="259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Rel.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 CTR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[surgical dental implants]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£3,909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[cost to replace all teeth]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[dentist with payment plans near 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[permanent bridge teeth]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[molar replacement cost]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£159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223760" y="4389120"/>
            <a:ext cx="4389120" cy="1554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4389120"/>
            <a:ext cx="54864" cy="15544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44805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QS Tax Estimate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7548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Keywords at QS 3 pay roughly 2-3x more per click than QS 7+ keywords. With £5,775 spent on QS 1-3 keywords in 2026, an estimated 30-50% of that spend is a Quality Score premium. Improving ad relevance is the single biggest lever.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Ad Copy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68% of ads rated Poor or Average — the primary driver of low Quality Scores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pic>
        <p:nvPicPr>
          <p:cNvPr id="10" name="Picture 9" descr="ad_strength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7760" y="10972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Ad Strength Year-on-Year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1417320"/>
          <a:ext cx="2377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31520"/>
                <a:gridCol w="73152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937760" y="3474720"/>
            <a:ext cx="6675120" cy="9144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347472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5661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Critical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8404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main Search Intent campaign (£74K spend in 2026) has Poor-rated ads. This directly explains the Below Average ad relevance and expected CTR on most keywords. Poor ads = low QS = higher CPCs = higher CPA.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Recommendation: Rewrite all Poor and Average ads. Focus on ad relevance — match headlines to search intent. Test 2-3 RSA variants per ad group with different messaging angles (price, speed, quality).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This is the #1 lever for reducing CPA. Better ads = higher QS = lower CPCs = more patients for the same budget.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Landing Page Performance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CPA ranges from £18 to £142 across landing pages — a 7.9x difference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Landing Pages</a:t>
            </a:r>
          </a:p>
        </p:txBody>
      </p:sp>
      <p:pic>
        <p:nvPicPr>
          <p:cNvPr id="10" name="Picture 9" descr="lp_cpa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315200" cy="3200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38160" y="1188720"/>
            <a:ext cx="3474720" cy="146304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54864" cy="1463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Best Performer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5544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/dental-implants-offer
£34 CPA, 24.7% CVR
The 'Financing' ad group sends traffic here — matching cost-conscious patients with the right page.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834640"/>
            <a:ext cx="3474720" cy="146304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834640"/>
            <a:ext cx="54864" cy="14630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Worst Performer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004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/dental-implants-hammersmith
£142 CPA, 3.6% CVR
This page has the lowest conversion rate in the account. L1,631 spent for only 12 conversions.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QS confirms landing pages are strong (71% Above Average). The issue is ad-to-landing-page relevance — the right traffic needs to reach the right page. The /teeth-implants page at L111 CPA receives the most spend but has one of the highest CPAs.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394960"/>
            <a:ext cx="54864" cy="548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Note: 2025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984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 2025, the /dental-implants-offer page was the top performer at £63 CPA — performance has shifted as traffic patterns changed. The landing pages themselves score well on QS.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Change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2,543 changes — 89% by one person, 24 by auto-apply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Account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Who Manages the Account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3716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giulio.zanchetta@majestico.it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2,264 (89%)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In-house (Giulio)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taranjeet@kaumediagroup.com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166 (7%)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nav@kaumediagroup.com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Recommendations Auto-Apply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junad@kaumediagroup.com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sarahm@kaumediagroup.com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Ads System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system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1097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What's Being Changed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141732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2286000"/>
              </a:tblGrid>
              <a:tr h="284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Keywords added/paused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1,315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Highest activity — frequent keyword management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Campaign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Many campaigns created and paused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Targeting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420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Location, device, audience changes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creation and modification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Bid strategy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Multiple strategy changes over time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Budget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Frequent budget adjustments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Assets (PMax)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PMax asset group management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 additions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54864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Giulio is doing the work of a full-time PPC specialist alongside his other responsibilities. 2,264 changes shows significant effort and engagement with the account. The issue isn't lack of activity — it's that the foundations (conversion tracking, ad quality, negative keywords) need specialist attention that goes beyond day-to-day management.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394960" cy="164592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4864" cy="16459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Auto-Apply: 24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72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Google auto-removed keywords including [low cost dental implants], [cheapest dental implants], [all on 6 dental implants], [implant teeth cost], and [replace teeth]. Several of these are high-intent keywords that should be in the account. Auto-apply is removing keywords without human oversight — recommend disabling.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Issues Summary — Prioritised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All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4335"/>
                </a:solidFill>
                <a:latin typeface="Calibri"/>
              </a:rPr>
              <a:t>Critical (Fix Immediately)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1,511 ghost conversions (KMG legacy) still set as Primary — inflating reported CPA and misleading the bidding algorithm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ROAS bidding based on arbitrary L300 values — algorithm chasing sparse booking signals instead of optimising for lead volume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68% of ads rated Poor/Average — directly causing Below Average ad relevance on 71% of keywords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Dengro Offline Leads may include non-ad sources — pending verification, but could further inflate Google Ads attribution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5"/>
                </a:solidFill>
                <a:latin typeface="Calibri"/>
              </a:rPr>
              <a:t>Important (Fix Within 30 Days)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No device bid adjustments — desktop CPA L92 vs mobile L56 (64% higher)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No ad schedule bid adjustments — 7am CPA L74 (worst) vs 3am L42 (best)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No day-of-week bid adjustments — Sunday CPA L68 vs Friday L56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47 campaigns creating structural confusion — 43 should be removed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24 auto-apply changes removing keywords without human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Calibri"/>
              </a:rPr>
              <a:t>Monitor (Ongoing)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784 broad match negative keywords at account level — need full audit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Landing page CPA variance (L18 to L142) — traffic routing needs optimization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Quality Score declining year-on-year (6.9 to 6.4 weighted average) — ad rewrites will address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What's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These issues become the foundation for Report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791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1.  </a:t>
            </a:r>
            <a:r>
              <a:rPr sz="1100" b="1">
                <a:solidFill>
                  <a:srgbClr val="1A237E"/>
                </a:solidFill>
                <a:latin typeface="Calibri"/>
              </a:rPr>
              <a:t>Remove KMG ghost conversion 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2.  </a:t>
            </a:r>
            <a:r>
              <a:rPr sz="1100" b="1">
                <a:solidFill>
                  <a:srgbClr val="1A237E"/>
                </a:solidFill>
                <a:latin typeface="Calibri"/>
              </a:rPr>
              <a:t>Move soft signals to Secondary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54864" cy="4572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76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3.  </a:t>
            </a:r>
            <a:r>
              <a:rPr sz="1100" b="1">
                <a:solidFill>
                  <a:srgbClr val="1A237E"/>
                </a:solidFill>
                <a:latin typeface="Calibri"/>
              </a:rPr>
              <a:t>Verify Dengro Offline Lead attribution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54864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4.  </a:t>
            </a:r>
            <a:r>
              <a:rPr sz="1100" b="1">
                <a:solidFill>
                  <a:srgbClr val="1A237E"/>
                </a:solidFill>
                <a:latin typeface="Calibri"/>
              </a:rPr>
              <a:t>Rewrite all Poor/Average 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54864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737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5.  </a:t>
            </a:r>
            <a:r>
              <a:rPr sz="1100" b="1">
                <a:solidFill>
                  <a:srgbClr val="1A237E"/>
                </a:solidFill>
                <a:latin typeface="Calibri"/>
              </a:rPr>
              <a:t>Evaluate bid strategy: tCPA vs tROAS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54864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22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6.  </a:t>
            </a:r>
            <a:r>
              <a:rPr sz="1100" b="1">
                <a:solidFill>
                  <a:srgbClr val="1A237E"/>
                </a:solidFill>
                <a:latin typeface="Calibri"/>
              </a:rPr>
              <a:t>Clean up 43 paused campaigns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Coming 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Report 3:
Restructure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737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Proposed campaign structure, bid strategy, conversion tracking fixes, ad copy plan, and projected CPA targets.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Critical Issues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Important Issues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Report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Coming Next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