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280160"/>
            <a:ext cx="5248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237E"/>
                </a:solidFill>
                <a:latin typeface="Calibri"/>
              </a:rPr>
              <a:t>Account Structure
&amp; Issues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285F4"/>
                </a:solidFill>
                <a:latin typeface="Calibri"/>
              </a:rPr>
              <a:t>Dental by Design  |  Prodent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Christopher Hoole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Google Ads Specialist  |  April 2026</a:t>
            </a:r>
          </a:p>
          <a:p>
            <a:r>
              <a:rPr sz="1100" b="0">
                <a:solidFill>
                  <a:srgbClr val="4285F4"/>
                </a:solidFill>
                <a:latin typeface="Calibri"/>
              </a:rPr>
              <a:t>christopherhoole.com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Data: 2025 (full year) + 2026 (Q1, Jan–Apr)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548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Non-Brand CPA Trend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9144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EA4335"/>
                </a:solidFill>
                <a:latin typeface="Calibri"/>
              </a:rPr>
              <a:t>£46 → £64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645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+40% increase year-on-year while spend nearly doubled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1,511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Ghost Conversions (KMG)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2926080"/>
            <a:ext cx="54864" cy="105156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Total Campaigns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39528" y="2926080"/>
            <a:ext cx="54864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6.4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Avg QS (Weighted)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3047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47695" y="6400800"/>
            <a:ext cx="3047695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5390" y="6400800"/>
            <a:ext cx="3047695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085" y="6400800"/>
            <a:ext cx="3047695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2025 + 2026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£46→£64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Non-Brand CPA (+40%)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097280"/>
            <a:ext cx="54864" cy="9601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1,511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Ghost Conversions (KMG Legacy)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097280"/>
            <a:ext cx="54864" cy="960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68%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Ads Rated Poor or Average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097280"/>
            <a:ext cx="54864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6.4/10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Weighted Avg Quality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Key Issues Identified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7432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1,511 ghost conversions from legacy KMG landing pages are inflating reported performance. Giulio confirmed these should be ignored — but they're still set as Primary conversions feeding the bidding algorithm.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Non-brand CPA has risen 40% year-on-year (£46 → £64) while monthly spend nearly doubled from ~£22K to ~£58K.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Dengro Offline Leads (4,663) may include non-ad-sourced leads, further inflating Google Ads attribution. Pending verification.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68% of ads are rated Poor or Average strength. The main Search campaign (74,024 spend) has Poor-rated ads.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Ad relevance is Below Average on 71% of scored keywords. Expected CTR is Below Average on 63%. These are the primary Quality Score drivers.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394960"/>
            <a:ext cx="10634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The core issue: the account is scaling spend aggressively but the foundations (conversion tracking, ad quality, keyword Quality Scores) haven't kept pace. Higher spend on weak foundations = rising CPA.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Conversion Tracking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1,511 ghost conversions + 445 soft signals are inflating reported 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Critical Issue</a:t>
            </a:r>
          </a:p>
        </p:txBody>
      </p:sp>
      <p:pic>
        <p:nvPicPr>
          <p:cNvPr id="10" name="Picture 9" descr="conv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11480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37760" y="109728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Conversion Classification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937760" y="1417320"/>
          <a:ext cx="5852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914400"/>
                <a:gridCol w="731520"/>
                <a:gridCol w="1645920"/>
              </a:tblGrid>
              <a:tr h="51206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Conversions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Real Leads (forms, calls, quiz)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6,182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69%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Legitimate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Funnel (Dengro bookings + purchases)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Legitimate (downstream)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Soft Signals (clicks, not actions)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445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Should be Secondary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Ghost (KMG legacy — confirmed ignore)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1,511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Should be removed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937760" y="4160520"/>
            <a:ext cx="6675120" cy="164592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60" y="4160520"/>
            <a:ext cx="54864" cy="16459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425196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Impact on CPA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4526280"/>
            <a:ext cx="6309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Reported CPA: £49 (using all 8,953 conversions)
Real leads CPA: £71 (excluding ghost + soft signals)
Leads + funnel CPA: £63 (including bookings)
The bidding algorithm is optimising toward 8,953 events — including 1,511 that don't exist and 445 that aren't real actions. This is why CPA appears lower than it actually 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4114800" cy="118872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54864" cy="1188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Giulio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3749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KMG OLD LP actions: "data that have been preserved but target old lp" — confirmed ghost data.
Dengro Offline Lead: Lead from CRM.
Dengro Offline Booking/Purchase: Booked/completed patient.
Every booking has an arbitrary £300 value.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The ROAS Puzzle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Target ROAS bidding is based on arbitrary £300 booking values — not real revenue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Bid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Current Bid Strategy Setup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17320"/>
          <a:ext cx="48463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731520"/>
                <a:gridCol w="73152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Campaign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Bid Strategy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ROAS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 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— PMax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Max Conv Value (tROAS)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£52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Max Conv Value (tROAS)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Max Conv Value (tROAS)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£18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3291840"/>
            <a:ext cx="5303520" cy="246888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54864" cy="24688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Why This Is a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The algorithm is told to maximise conversion VALUE, not conversion VOLUME. With £300 arbitrary booking values, a 30% ROAS target means the algorithm wants £300 in value for every £1,000 spent — i.e. one booking per £1,000 spend.
But only 621 of 8,953 reported conversions are actual bookings. The algorithm is chasing a small pool of high-value events while spending broadly. This explains why PMax CPA rose from £26 to £52 — it's optimising for bookings, not leads, but the booking signal is sparse and unreliable with an arbitrary value.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97280"/>
            <a:ext cx="5303520" cy="19202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54864" cy="19202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188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The Dengro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4630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Dengro Offline Lead: 4,663 (all CRM leads — may include non-ad sources)
Dengro Offline Booking: 621 (£300 arbitrary value each = £70,910)
Dengro Offline Purchase: 194 (completed treatment = £73,106)
Lead → Booking conversion rate: 13.3% (621/4,663)
Booking → Purchase conversion rate: 31.2% (194/621)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291840"/>
            <a:ext cx="5303520" cy="246888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291840"/>
            <a:ext cx="54864" cy="24688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Recommendation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6576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Option A: Switch to Maximise Conversions with Target CPA. Optimise for LEAD VOLUME at a controllable cost per lead. This gives direct control over acquisition cost.
Option B: Keep Target ROAS but replace the £300 arbitrary value with actual treatment revenue from Dengro. If a booking for a single implant is worth £1,695 and a Vivo Bridge is worth £15,990, the algorithm can intelligently bid more for high-value treatments.
Either option is better than the current setup.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Account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47 campaigns, 4 active — a legacy of multiple agencies and strategy changes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Structure</a:t>
            </a:r>
          </a:p>
        </p:txBody>
      </p:sp>
      <p:pic>
        <p:nvPicPr>
          <p:cNvPr id="10" name="Picture 9" descr="camp_spend_y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858000" cy="2560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Currently Active (4 Campaigns)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80960" y="1417320"/>
          <a:ext cx="3200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"/>
                <a:gridCol w="731520"/>
                <a:gridCol w="64008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Campaign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2025 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 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PMax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£52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+100%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Search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+54%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£17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£18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Stable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Demand 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Not serving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The 43 Paused Campaigns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51960"/>
            <a:ext cx="3474720" cy="155448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51960"/>
            <a:ext cx="54864" cy="15544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Legacy Agencies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KMG (Kau Media Group): 6 campaigns, L87K spend
Multiple naming conventions and strategies
KMG conversion actions still firing as Primary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4251960"/>
            <a:ext cx="3474720" cy="15544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4251960"/>
            <a:ext cx="54864" cy="15544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Historical 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61772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Device-split campaigns ('Mobile Only', 'Desktop')
Geo-split campaigns ('London', 'Geo')
Service campaigns (Invisalign, Veneers, Full Arch, Teeth In A Day)
Dating back to 2022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4251960"/>
            <a:ext cx="3566160" cy="155448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4251960"/>
            <a:ext cx="54864" cy="15544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4343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Recommendation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6177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Remove all campaigns paused 6+ months with no active learnings. This doesn't affect performance but makes the account manageable. Clean structure is essential for multi-clinic expansion.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Ad Group Structure (2026)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Search Intent campaign: 8 ad groups with wide CPA variation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2025 vs 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188720"/>
          <a:ext cx="7589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1097280"/>
                <a:gridCol w="731520"/>
                <a:gridCol w="731520"/>
                <a:gridCol w="731520"/>
              </a:tblGrid>
              <a:tr h="2895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Campaign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 Group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Spend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£26,644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£111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8.9%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Implants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£17,280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All on 4 Google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£10,210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£106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6.6%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All on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£6,283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Implants Cost Google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£4,588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£100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6.2%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Brand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by Design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£4,133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230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£18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13.6%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Invisalign - Geo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Invisalign London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£3,679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Financing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£2,890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24.7%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Dental Implants Hammersmith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Invisalign - Geo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Invisalign Hammersmith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£81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£54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10.7%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4846320"/>
            <a:ext cx="5303520" cy="109728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846320"/>
            <a:ext cx="54864" cy="10972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937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Key Finding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120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The 'Dental Implants' ad group (£26.6K) runs at £111 CPA — the worst in the account. Meanwhile 'Financing' (£2.9K) runs at £34 CPA with 24.7% CVR. Budget is flowing to the least efficient ad groups.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846320"/>
            <a:ext cx="5394960" cy="109728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846320"/>
            <a:ext cx="54864" cy="10972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937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Recommendation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52120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The 'Financing' and 'Implants Cost' ad groups convert better because they match cost-conscious search intent with the right landing page. Restructure ad groups around patient intent, not just keyword categories.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Quality Score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Weighted average QS: 6.9 (2025) → 6.4 (2026) — declining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2025 vs 2026</a:t>
            </a:r>
          </a:p>
        </p:txBody>
      </p:sp>
      <p:pic>
        <p:nvPicPr>
          <p:cNvPr id="10" name="Picture 9" descr="qs_dist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94360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656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QS Components (2025 vs 2026)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766560" y="1417320"/>
          <a:ext cx="44805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822960"/>
                <a:gridCol w="822960"/>
                <a:gridCol w="822960"/>
                <a:gridCol w="822960"/>
              </a:tblGrid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2025 Below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2025 Above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 Below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2026 Above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 Relevance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57 (74%)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 (16%)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58 (71%)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14 (17%)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Expected CTR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51 (66%)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 (9%)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52 (63%)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 (10%)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Landing Page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 (4%)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55 (71%)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 (4%)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58 (71%)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766560" y="4160520"/>
            <a:ext cx="4846320" cy="9144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4160520"/>
            <a:ext cx="54864" cy="914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42519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Consistent Pattern Both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45262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Landing pages: strong (71% Above Average both years). Ad relevance: weak (74% Below 2025, 71% Below 2026). The ads don't match what people search for.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Worst QS Keywords (QS 1-3) — 2026 Spend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4389120"/>
          <a:ext cx="54864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"/>
                <a:gridCol w="822960"/>
                <a:gridCol w="640080"/>
                <a:gridCol w="1371600"/>
              </a:tblGrid>
              <a:tr h="259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Keyword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Spend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 Rel.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[surgical dental implants]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£3,909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£112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average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[cost to replace all teeth]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[dentist with payment plans near me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£311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£27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average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[permanent bridge teeth]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[molar replacement cost]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£159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average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48640" y="59893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Note: In 2025, most low-QS keywords (1-5) had zero spend because the Search Intent campaign was only active late in the year. The QS issues have emerged as this campaign scaled in 2026.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Ad Copy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68% of ads rated Poor or Average — the primary driver of low Quality Scores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Current State</a:t>
            </a:r>
          </a:p>
        </p:txBody>
      </p:sp>
      <p:pic>
        <p:nvPicPr>
          <p:cNvPr id="10" name="Picture 9" descr="ad_strength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114800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37760" y="109728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Current Ad Strength (All Ads in Account)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937760" y="1417320"/>
          <a:ext cx="44805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640080"/>
                <a:gridCol w="640080"/>
                <a:gridCol w="2286000"/>
              </a:tblGrid>
              <a:tr h="304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Keep — best performers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Keep — performing 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Rewrite — opportunity to improve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Rewrite urgently — dragging QS 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New ads — monitor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937760" y="3474720"/>
            <a:ext cx="6675120" cy="91440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60" y="3474720"/>
            <a:ext cx="54864" cy="914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356616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Critical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384048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The main Search Intent campaign (£15K spend in 2025, £74K in 2026) has Poor-rated ads. This directly causes Below Average ad relevance on 71% of keywords. Poor ads = low QS = higher CPCs = higher CPA. This has been the case across both years.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5029200" cy="13716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54864" cy="13716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Spend on Poor/Average 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2025: £265,869 total spend — same ads running throughout
2026: £175,467 total spend — same ads, but at nearly double the budget
The ads haven't been rewritten as spend has scaled. The same Poor-rated ads that ran at £15K/month are now running at £58K/month.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4572000"/>
            <a:ext cx="5760720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4617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Recommendation: Rewrite all Poor and Average ads. Match headlines to search intent. Test 2-3 RSA variants per ad group.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52120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This is the #1 lever for reducing CPA. Better ads = higher QS = lower CPCs = more patients for the same budget.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act_logo_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Landing Page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CPA varies 7x+ across landing pages — and has worsened year-on-year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2025 vs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2025 — Top Landing Pages by Spend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371600"/>
          <a:ext cx="44805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22960"/>
                <a:gridCol w="548640"/>
                <a:gridCol w="548640"/>
                <a:gridCol w="548640"/>
              </a:tblGrid>
              <a:tr h="30044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Landing Page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Spend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/permanent-implants-48h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£62,290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755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£83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6.0%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/dental-implants-offer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£52,942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/all-on-4-offer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£12,380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165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£75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8.1%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/cosmetic-dentistry/invisalign-teet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£9,713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/teeth-implants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£9,293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113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£82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9.3%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£8,254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37E"/>
                </a:solidFill>
                <a:latin typeface="Calibri"/>
              </a:rPr>
              <a:t>2026 — Top Landing Pages by Spend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0" y="1371600"/>
          <a:ext cx="4389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22960"/>
                <a:gridCol w="548640"/>
                <a:gridCol w="548640"/>
                <a:gridCol w="548640"/>
              </a:tblGrid>
              <a:tr h="30044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Landing Page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Spend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CVR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/teeth-implants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£31,143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280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£111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8.5%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/cheapest-dental-implants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£21,867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/all-on-4-offer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£16,493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£114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6.2%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£4,133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/invisalign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£3,760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£45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10.1%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/dental-implants-offer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£2,890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48640" y="3749039"/>
            <a:ext cx="3474720" cy="210312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49039"/>
            <a:ext cx="54864" cy="21031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4047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Best Performer (2026)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14799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/dental-implants-offer: £34 CPA, 24.7% CVR
2025: Same page ran at £67 CPA, 6.8% CVR — performance improved as the Financing ad group sends cost-conscious traffic here.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749039"/>
            <a:ext cx="3474720" cy="210312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749039"/>
            <a:ext cx="54864" cy="2103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84047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Worst Performer (2026)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114799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/teeth-implants: £111 CPA, 8.5% CVR (£31K spent)
2025: Same page ran at £82 CPA, 9.3% CVR — CPA has risen 35% year-on-year despite being the highest-spend page.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3749039"/>
            <a:ext cx="3566160" cy="21031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3749039"/>
            <a:ext cx="54864" cy="2103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38404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The Good News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411479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QS data confirms landing pages score well (71% Above Average). The pages themselves aren't the problem — it's which traffic reaches which page. Better ad-to-landing-page matching would reduce CPA across the board.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Change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2,543 changes — 89% by one person, 24 by auto-apply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Account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097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Who Manages the Account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1732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13716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giulio.zanchetta@majestico.it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2,264 (89%)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In-house (Giulio)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taranjeet@kaumediagroup.com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166 (7%)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Previous agency (KMG)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nav@kaumediagroup.com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Previous agency (KMG)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Recommendations Auto-Apply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Google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junad@kaumediagroup.com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Previous agency (KMG)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sarahm@kaumediagroup.com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Previous agency (KMG)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Google Ads System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Google system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0" y="1097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What's Being Changed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0" y="1417320"/>
          <a:ext cx="4846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31520"/>
                <a:gridCol w="2286000"/>
              </a:tblGrid>
              <a:tr h="284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Assessment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Keywords added/paused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1,315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Highest activity — frequent keyword management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Campaign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Many campaigns created and paused over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Targeting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420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Location, device, audience changes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 creation and modification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Bid strategy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223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Multiple strategy changes over time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Budget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Frequent budget adjustments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Assets (PMax)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197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PMax asset group management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284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Negative keywords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Negative keyword additions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48640" y="4206240"/>
            <a:ext cx="5303520" cy="16459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54864" cy="1645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Key 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Giulio is doing the work of a full-time PPC specialist alongside his other responsibilities. 2,264 changes shows significant effort and engagement with the account. The issue isn't lack of activity — it's that the foundations (conversion tracking, ad quality, negative keywords) need specialist attention that goes beyond day-to-day management.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206240"/>
            <a:ext cx="5394960" cy="164592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206240"/>
            <a:ext cx="54864" cy="16459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Auto-Apply: 24 Changes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720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Google auto-removed keywords including [low cost dental implants], [cheapest dental implants], [all on 6 dental implants], [implant teeth cost], and [replace teeth]. Several of these are high-intent keywords that should be in the account. Auto-apply is removing keywords without human oversight — recommend disabling.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Issues Summary — Prioritised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All Issues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097280"/>
          <a:ext cx="100584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286000"/>
                <a:gridCol w="2286000"/>
                <a:gridCol w="2560320"/>
              </a:tblGrid>
              <a:tr h="37279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(2025 → 2026)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Ghost conversions (KMG legacy)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1,511 phantom conversions misleading the algorithm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Active both years — confirmed by Giulio as ignore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Remove KMG conversion actions immediately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ROAS bidding on arbitrary £300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Algorithm chasing sparse booking signals, not leads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30% tROAS (PMax), 60% tROAS (Search)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Switch to tCPA or use real treatment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68% of ads rated Poor/Average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Below Average ad relevance on 71% of keywords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Same ads running both years — never rewritten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Rewrite all ads — #1 CPA reduction lever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Dengro Offline Lead attribution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May include non-ad leads, inflating Google Ads credit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4,663 leads — source attribution unverified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Verify with Giulio (pending)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IMPORTANT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 device bid adjustments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Desktop £67→£92 CPA vs mobile £42→£56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Gap widened from 60% to 64%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Reduce desktop bids 20-25%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IMPORTANT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 ad schedule adjustments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7am CPA: £56→£74 (worst hour both years)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Spread widened from £17 to £32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Reduce 7-8am bids 15-20%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IMPORTANT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 day-of-week adjustments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Sunday CPA: £45→£68, CVR: 4.1% (lowest)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Was barely an issue in 2025, now significant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Reduce Sunday bids 15-20%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IMPORTANT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47 campaigns (43 paused)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Structural confusion, legacy agencies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KMG, old experiments dating to 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Remove all campaigns paused 6+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IMPORTANT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Auto-apply enabled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Google removing keywords without oversight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24 changes including high-intent keywords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Disable all except ad rotation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MONITOR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784 broad match negatives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May block legitimate converting traffic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Account-level lists affecting all campaigns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Full audit — replace with phrase/exact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MONITOR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Landing page CPA variance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7x+ CPA difference across pages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£18–£142 range (2026)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Optimise traffic routing to best pages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37280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MONITOR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Quality Score declining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Weighted avg: 6.9→6.4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 relevance is the driver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 rewrites will address this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6692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4 Critical issues + 5 Important issues + 3 Monitor items = 12 total. The Critical issues affect every conversion and every pound spent in the account.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_logo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280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237E"/>
                </a:solidFill>
                <a:latin typeface="Calibri"/>
              </a:rPr>
              <a:t>What's Next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These issues become the foundation for Report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06040"/>
            <a:ext cx="54864" cy="457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791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4335"/>
                </a:solidFill>
                <a:latin typeface="Calibri"/>
              </a:rPr>
              <a:t>1.  </a:t>
            </a:r>
            <a:r>
              <a:rPr sz="1100" b="1">
                <a:solidFill>
                  <a:srgbClr val="1A237E"/>
                </a:solidFill>
                <a:latin typeface="Calibri"/>
              </a:rPr>
              <a:t>Remove KMG ghost conversion actions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5468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154680"/>
            <a:ext cx="54864" cy="457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278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4335"/>
                </a:solidFill>
                <a:latin typeface="Calibri"/>
              </a:rPr>
              <a:t>2.  </a:t>
            </a:r>
            <a:r>
              <a:rPr sz="1100" b="1">
                <a:solidFill>
                  <a:srgbClr val="1A237E"/>
                </a:solidFill>
                <a:latin typeface="Calibri"/>
              </a:rPr>
              <a:t>Move soft signals to Secondary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703320"/>
            <a:ext cx="54864" cy="4572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764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5"/>
                </a:solidFill>
                <a:latin typeface="Calibri"/>
              </a:rPr>
              <a:t>3.  </a:t>
            </a:r>
            <a:r>
              <a:rPr sz="1100" b="1">
                <a:solidFill>
                  <a:srgbClr val="1A237E"/>
                </a:solidFill>
                <a:latin typeface="Calibri"/>
              </a:rPr>
              <a:t>Verify Dengro Offline Lead attribution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5196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251960"/>
            <a:ext cx="54864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251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4.  </a:t>
            </a:r>
            <a:r>
              <a:rPr sz="1100" b="1">
                <a:solidFill>
                  <a:srgbClr val="1A237E"/>
                </a:solidFill>
                <a:latin typeface="Calibri"/>
              </a:rPr>
              <a:t>Rewrite all Poor/Average 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0060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800600"/>
            <a:ext cx="54864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737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5.  </a:t>
            </a:r>
            <a:r>
              <a:rPr sz="1100" b="1">
                <a:solidFill>
                  <a:srgbClr val="1A237E"/>
                </a:solidFill>
                <a:latin typeface="Calibri"/>
              </a:rPr>
              <a:t>Evaluate bid strategy: tCPA vs tROAS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4924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349240"/>
            <a:ext cx="54864" cy="457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4223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Calibri"/>
              </a:rPr>
              <a:t>6.  </a:t>
            </a:r>
            <a:r>
              <a:rPr sz="1100" b="1">
                <a:solidFill>
                  <a:srgbClr val="1A237E"/>
                </a:solidFill>
                <a:latin typeface="Calibri"/>
              </a:rPr>
              <a:t>Clean up 43 paused campaigns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548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Coming 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9144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34A853"/>
                </a:solidFill>
                <a:latin typeface="Calibri"/>
              </a:rPr>
              <a:t>Report 3:
Restructure 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17373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Proposed campaign structure, bid strategy, conversion tracking fixes, ad copy plan, and projected CPA targets.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Critical Issues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74152" y="2926080"/>
            <a:ext cx="54864" cy="105156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11312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Important Issues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39528" y="2926080"/>
            <a:ext cx="54864" cy="1051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76688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Report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76688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Coming Next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00800"/>
            <a:ext cx="3047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47695" y="6400800"/>
            <a:ext cx="3047695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95390" y="6400800"/>
            <a:ext cx="3047695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43085" y="6400800"/>
            <a:ext cx="3047695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