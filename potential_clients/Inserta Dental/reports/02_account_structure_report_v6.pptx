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Account Structure
&amp;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Data: 2025 (full year) + 2026 (Q1, Jan–Apr)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Non-Brand CPA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£46 → £64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+40% increase year-on-year while spend nearly doubled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1,511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Campaigns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Avg QS (Weighted)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+ 2026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£46→£64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Non-Brand CPA (+40%)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1,511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 Legacy)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Ads Rated Poor or Average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Weighted Avg Quality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Issues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1,511 ghost conversions from legacy KMG landing pages inflating reported performance. Giulio confirmed these should be ignored — but they’re still Primary.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PMax: 81.7% of spend is Google Search. Display burns £1,893/month on mobile games for 2 conversions. Top converting terms are NHS/free seekers. Real booking CPA is £418.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Non-brand CPA risen 40% YoY (£46→£64). Monthly spend nearly doubled from ~£22K to ~£58K.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90% of ads rated Poor/Average. The main Search campaign (£74,024 spend) has Poor-rated ads. Ad relevance Below Average on 71% of keywords.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ROAS bidding based on arbitrary £300 values + PMax only has 93 negative keywords vs 2,192 across the account — essentially unprotected.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core issue: the account is scaling spend aggressively but the foundations (conversion tracking, ad quality, keyword Quality Scores) haven't kept pace. Higher spend on weak foundations = rising CPA.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Conversion Tracking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1,511 ghost conversions + 445 soft signals are inflating reported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Critical Issue</a:t>
            </a:r>
          </a:p>
        </p:txBody>
      </p:sp>
      <p:pic>
        <p:nvPicPr>
          <p:cNvPr id="10" name="Picture 9" descr="conv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Conversion Classification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731520"/>
                <a:gridCol w="164592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Leads (forms, calls, quiz)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6,182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Funnel (Dengro bookings + purchases)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 (downstream)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Soft Signals (clicks, not actions)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Secondary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(KMG legacy — confirmed ignore)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4160520"/>
            <a:ext cx="667512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416052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2519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Impact on 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52628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Reported CPA: £49 (using all 8,953 conversions)
Real leads CPA: £71 (excluding ghost + soft signals)
Leads + funnel CPA: £63 (including bookings)
The bidding algorithm is optimising toward 8,953 events — including 1,511 that don't exist and 445 that aren't real actions. This is why CPA appears lower than it actually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411480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Giulio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OLD LP actions: "data that have been preserved but target old lp" — confirmed ghost data.
Dengro Offline Lead: Lead from CRM.
Dengro Offline Booking/Purchase: Booked/completed patient.
Every booking has an arbitrary £300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The ROAS Puzzle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Target ROAS bidding is based on arbitrary £300 booking values — not real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Bid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Bid Strategy Setup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ROAS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— 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291840"/>
            <a:ext cx="5303520" cy="24688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54864" cy="2468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Is a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algorithm is told to maximise conversion VALUE, not conversion VOLUME. With £300 arbitrary booking values, a 30% ROAS target means the algorithm wants £300 in value for every £1,000 spent — i.e. one booking per £1,000 spend.
But only 621 of 8,953 reported conversions are actual bookings. The algorithm is chasing a small pool of high-value events while spending broadly. This explains why PMax CPA rose from £26 to £52 — it's optimising for bookings, not leads, but the booking signal is sparse and unreliable with an arbitrary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1920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Dengro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Dengro Offline Lead: 4,663 (all CRM leads — may include non-ad sources)
Dengro Offline Booking: 621 (£300 arbitrary value each = £70,910)
Dengro Offline Purchase: 194 (completed treatment = £73,106)
Lead → Booking conversion rate: 13.3% (621/4,663)
Booking → Purchase conversion rate: 31.2% (194/621)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303520" cy="24688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91840"/>
            <a:ext cx="54864" cy="2468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Option A: Switch to Maximise Conversions with Target CPA. Optimise for LEAD VOLUME at a controllable cost per lead. This gives direct control over acquisition cost.
Option B: Keep Target ROAS but replace the £300 arbitrary value with actual treatment revenue from Dengro. If a booking for a single implant is worth £1,695 and a Vivo Bridge is worth £15,990, the algorithm can intelligently bid more for high-value treatments.
Either option is better than the current setup.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PMax —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81.7% of PMax spend is Google Search. Display waste on mobile games. Top leads are NHS/free seekers.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Last 30 Days</a:t>
            </a:r>
          </a:p>
        </p:txBody>
      </p:sp>
      <p:pic>
        <p:nvPicPr>
          <p:cNvPr id="10" name="Picture 9" descr="r2_pmax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32004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7760" y="118872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731520"/>
                <a:gridCol w="548640"/>
                <a:gridCol w="5486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Search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£24,537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£79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Search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Display Network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£1,893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6.3%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YouTube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Maps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937760" y="3383280"/>
            <a:ext cx="6675120" cy="100584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3383280"/>
            <a:ext cx="54864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34747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Display: £1,893/month for 2 Conversions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74904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4,700 mobile app placements including Block Blast, Colour by Number, Happy Color, Jigsawscapes, Snake Clash. These are not dental implant patients. This is pure waste.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Calibri"/>
              </a:rPr>
              <a:t>Top PMax Converting Terms (Last 30 Days)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937760"/>
          <a:ext cx="42976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48640"/>
                <a:gridCol w="548640"/>
              </a:tblGrid>
              <a:tr h="2011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Search Term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to apply for dental implants on the nh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free dental implants near 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to get free dental implants on nhs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nhs dental implants over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852160" y="4663440"/>
            <a:ext cx="5760720" cy="128016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4663440"/>
            <a:ext cx="54864" cy="12801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754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Real Booking CPA: £418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0292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Only 72 actual bookings from £30,026 spend. The “low CPA” is an illusion — PMax finds cheap conversions from NHS/free seekers who never become patients. Only 93 negative keywords protect PMax vs 2,192 across the account.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Account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47 campaigns, 4 active — a legacy of multiple agencies and strategy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Structure</a:t>
            </a:r>
          </a:p>
        </p:txBody>
      </p:sp>
      <p:pic>
        <p:nvPicPr>
          <p:cNvPr id="10" name="Picture 9" descr="camp_spend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Currently Active (4 Campaigns)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80960" y="141732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Search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Not 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43 Paused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3474720" cy="15544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54864" cy="1554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Legacy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(Kau Media Group): 6 campaigns, L87K spend
Multiple naming conventions and strategies
KMG conversion actions still firing as Primary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251960"/>
            <a:ext cx="3474720" cy="1554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251960"/>
            <a:ext cx="54864" cy="15544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Historical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Device-split campaigns ('Mobile Only', 'Desktop')
Geo-split campaigns ('London', 'Geo')
Service campaigns (Invisalign, Veneers, Full Arch, Teeth In A Day)
Dating back to 2022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3566160" cy="15544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251960"/>
            <a:ext cx="54864" cy="1554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617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Remove all campaigns paused 6+ months with no active learnings. This doesn't affect performance but makes the account manageable. Clean structure is essential for multi-clinic expansion.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Group Structure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Search Intent campaign: 8 ad groups with wide CPA variation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188720"/>
          <a:ext cx="7589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097280"/>
                <a:gridCol w="731520"/>
                <a:gridCol w="731520"/>
                <a:gridCol w="731520"/>
              </a:tblGrid>
              <a:tr h="289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Group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£26,644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£10,210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£4,588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by Design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£4,133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London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Financing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£2,890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Hammersmith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Hammersmith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'Dental Implants' ad group (£26.6K) runs at £111 CPA — the worst in the account. Meanwhile 'Financing' (£2.9K) runs at £34 CPA with 24.7% CVR. Budget is flowing to the least efficient ad groups.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5394960" cy="10972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846320"/>
            <a:ext cx="54864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'Financing' and 'Implants Cost' ad groups convert better because they match cost-conscious search intent with the right landing page. Restructure ad groups around patient intent, not just keyword categories.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Quality Score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Weighted average QS: 6.9 (2025) → 6.4 (2026) — declining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qs_dist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943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QS Components (2025 vs 2026)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6560" y="1417320"/>
          <a:ext cx="4480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822960"/>
                <a:gridCol w="822960"/>
                <a:gridCol w="822960"/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Below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Above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Below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Above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Relevance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57 (74%)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(16%)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 (17%)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Expected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 (66%)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 (9%)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52 (63%)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55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766560" y="4160520"/>
            <a:ext cx="48463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41605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Consistent Pattern Both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526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Landing pages: strong (71% Above Average both years). Ad relevance: weak (74% Below 2025, 71% Below 2026). The ads don't match what people search for.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Worst QS Keywords (QS 1-3) — 2026 Spend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38912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"/>
                <a:gridCol w="822960"/>
                <a:gridCol w="640080"/>
                <a:gridCol w="1371600"/>
              </a:tblGrid>
              <a:tr h="259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Rel.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[surgical dental implants]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£3,909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[cost to replace all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[dentist with payment plans near 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[permanent bridge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[molar replacement cost]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£159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Note: In 2025, most low-QS keywords (1-5) had zero spend because the Search Intent campaign was only active late in the year. The QS issues have emerged as this campaign scaled in 2026.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Copy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90% of ads rated Poor or Average — the primary driver of low Quality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Current State</a:t>
            </a:r>
          </a:p>
        </p:txBody>
      </p:sp>
      <p:pic>
        <p:nvPicPr>
          <p:cNvPr id="10" name="Picture 9" descr="ad_strength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Ad Strength (All Ads in Account)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4480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"/>
                <a:gridCol w="64008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— best performers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— performing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— opportunity to improve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urgently — dragging QS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New ads — monitor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3474720"/>
            <a:ext cx="66751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34747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5661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Critical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8404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main Search Intent campaign (£15K spend in 2025, £74K in 2026) has Poor-rated ads. This directly causes Below Average ad relevance on 71% of keywords. Poor ads = low QS = higher CPCs = higher CPA. This has been the case across both years.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5029200" cy="13716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Spend on Poor/Average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2025: £265,869 total spend — same ads running throughout
2026: £175,467 total spend — same ads, but at nearly double the budget
The ads haven't been rewritten as spend has scaled. The same Poor-rated ads that ran at £15K/month are now running at £58K/month.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572000"/>
            <a:ext cx="576072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Recommendation: Rewrite all Poor and Average ads. Match headlines to search intent. Test 2-3 RSA variants per ad group.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212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the #1 lever for reducing CPA. Better ads = higher QS = lower CPCs = more patients for the same budget.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Landing Page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CPA varies 7x+ across landing pages — and has worsened year-on-year on the top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lp_cpa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3474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38160" y="1188720"/>
            <a:ext cx="3474720" cy="14630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Best Performer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/dental-implants-offer:
2025: £67 CPA, 6.8% CVR
2026: £34 CPA, 24.7% CVR
Improved as Financing ad group sends cost-conscious traffic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834640"/>
            <a:ext cx="3474720" cy="18288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83464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Worst Performer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/teeth-implants (highest spend):
2025: £82 CPA, 9.3% CVR
2026: £111 CPA, 8.5% CVR
CPA risen 35% YoY despite receiving £31K in 2026 — the most of any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Good News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QS data confirms landing pages score well (71% Above Average both years). The pages aren't the problem — it's which traffic reaches which page.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3949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Recommendation: Route traffic to the best-converting pages. /dental-implants-offer at £34 CPA should receive more traffic than /teeth-implants at £111.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Change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2,543 changes — 89% by one person, 24 by auto-apply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Account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Who Manages the Account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giulio.zanchetta@majestico.it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2,264 (89%)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In-house (Giulio)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taranjeet@kaumediagroup.com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166 (7%)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nav@kaumediagroup.com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Recommendations Auto-Apply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junad@kaumediagroup.com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sarahm@kaumediagroup.com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Ads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What's Being Changed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141732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286000"/>
              </a:tblGrid>
              <a:tr h="284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Keywords added/paused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1,315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Highest activity — frequent keyword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Campaign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Many campaigns created and paused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Location, device, audience changes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creation and modification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Multiple strategy changes over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Frequent budget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Assets (PMax)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 asset group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 additions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Giulio is doing the work of a full-time PPC specialist alongside his other responsibilities. 2,264 changes shows significant effort and engagement with the account. The issue isn't lack of activity — it's that the foundations (conversion tracking, ad quality, negative keywords) need specialist attention that goes beyond day-to-day management.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Auto-Apply: 24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Google auto-removed keywords including [low cost dental implants], [cheapest dental implants], [all on 6 dental implants], [implant teeth cost], and [replace teeth]. Several of these are high-intent keywords that should be in the account. Auto-apply is removing keywords without human oversight — recommend disabling.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Issues Summary — Prioritised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14 Issues Identified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34747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3474720" cy="6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097280"/>
            <a:ext cx="54864" cy="4754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4335"/>
                </a:solidFill>
                <a:latin typeface="Calibri"/>
              </a:rPr>
              <a:t>Critical (Fix Immediately)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1. Ghost conversions (KMG)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1,511 phantom conversions misleading algorithm. Confirmed by Giulio.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2. PMax lead quality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Top converting terms are NHS/free seekers. Real booking CPA £418. Only 93 negatives protecting PMax.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3. PMax Display waste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£1,893/month on mobile games for 2 conversions. 81.7% of PMax spend is Search anyway.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4. ROAS on arbitrary £300 values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Algorithm chasing sparse bookings, not optimising for lead volume.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5. 90% of ads Poor/Average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Below Average ad relevance on 71% of keywords. Never rewritten.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4747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3474720" cy="635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097280"/>
            <a:ext cx="54864" cy="47548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5"/>
                </a:solidFill>
                <a:latin typeface="Calibri"/>
              </a:rPr>
              <a:t>Important (Fix in 30 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6459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5. No device bid adjustments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Desktop £67→£92 vs mobile £42→£56. Gap widening.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6. No ad schedule adjustments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7am: £56→£74 CPA (worst both years). No scheduling exists.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7. No day-of-week adjustments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Sunday: £45→£68 CPA, 4.1% CVR (lowest). Emerging problem.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8. 47 campaigns (43 paused)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Structural confusion from legacy agencies. Remove all paused 6+ months.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9. Auto-apply enabled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24 keyword removals without human review. Disable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97280"/>
            <a:ext cx="35661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097280"/>
            <a:ext cx="3566160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097280"/>
            <a:ext cx="54864" cy="4754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Calibri"/>
              </a:rPr>
              <a:t>Monitor (Ongoing)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4592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10. 784 broad match negatives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Account-level lists may block legitimate traffic. Full audit needed. Replace with phrase/exact.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11. Landing page CPA variance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7x+ range (£18–£142 in 2026). Optimise traffic routing to best-converting pages.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12. Quality Score declining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Weighted avg: 6.9→6.4. Ad relevance is the driver. Ad rewrites will address this.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5 Critical issues affect every conversion and every pound spent. PMax lead quality and Display waste are new findings that change the restructure plan fundamentally.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What's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These issues become the foundation for Report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1.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Remove KMG ghost conversions + soft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2.  </a:t>
            </a:r>
            <a:r>
              <a:rPr sz="1100" b="1">
                <a:solidFill>
                  <a:srgbClr val="1A237E"/>
                </a:solidFill>
                <a:latin typeface="Calibri"/>
              </a:rPr>
              <a:t>Block NHS/free seekers from PMax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3.  </a:t>
            </a:r>
            <a:r>
              <a:rPr sz="1100" b="1">
                <a:solidFill>
                  <a:srgbClr val="1A237E"/>
                </a:solidFill>
                <a:latin typeface="Calibri"/>
              </a:rPr>
              <a:t>Add Display exclusions to PMax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4.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Rewrite all Poor/Average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73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5.  </a:t>
            </a:r>
            <a:r>
              <a:rPr sz="1100" b="1">
                <a:solidFill>
                  <a:srgbClr val="1A237E"/>
                </a:solidFill>
                <a:latin typeface="Calibri"/>
              </a:rPr>
              <a:t>Evaluate PMax → Search migration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54864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6.  </a:t>
            </a:r>
            <a:r>
              <a:rPr sz="1100" b="1">
                <a:solidFill>
                  <a:srgbClr val="1A237E"/>
                </a:solidFill>
                <a:latin typeface="Calibri"/>
              </a:rPr>
              <a:t>Evaluate bid strategy: tCPA vs tROAS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Coming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Report 3:
Restructure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Proposed campaign structure, bid strategy, conversion tracking fixes, ad copy plan, and projected CPA targets.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Critical Issues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Important Issues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Report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Coming Next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