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280160"/>
            <a:ext cx="5248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237E"/>
                </a:solidFill>
                <a:latin typeface="Calibri"/>
              </a:rPr>
              <a:t>Restructure &amp;
Growth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285F4"/>
                </a:solidFill>
                <a:latin typeface="Calibri"/>
              </a:rPr>
              <a:t>Dental by Design  |  Prodent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Christopher Hoole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Google Ads Specialist  |  April 2026</a:t>
            </a:r>
          </a:p>
          <a:p>
            <a:r>
              <a:rPr sz="1100" b="0">
                <a:solidFill>
                  <a:srgbClr val="4285F4"/>
                </a:solidFill>
                <a:latin typeface="Calibri"/>
              </a:rPr>
              <a:t>christopherhoole.com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Based on data: 2025 (full year) + 2026 (Q1)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Target Non-Brand CPA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914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34A853"/>
                </a:solidFill>
                <a:latin typeface="Calibri"/>
              </a:rPr>
              <a:t>£50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645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Down from £64 — a 22% reduction within 90 days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+29%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More Leads (Same Budget)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90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To Full Impact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£12,000/mo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Potential Monthly Saving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Restructure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£50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Target Non-Brand CPA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+236/mo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Additional Leads (Same Budget)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90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Time to Full Impact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37E"/>
                </a:solidFill>
                <a:latin typeface="Calibri"/>
              </a:rPr>
              <a:t>£53,990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Current Monthly 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Restructure Plan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7432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Week 1: Fix conversion tracking (remove 1,511 KMG ghosts, move soft signals to Secondary), implement negative keyword overhaul (9-list system), disable auto-apply.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Weeks 2-4: Rewrite all Poor/Average ads (the #1 CPA lever), implement device + schedule + day-of-week bid adjustments, evaluate bid strategy (tCPA vs tROAS with real values).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Month 2: Restructure geo targeting from radius to postcodes, keyword optimization based on first month of clean data, landing page traffic routing improvements.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Month 3: Scale winning campaigns, establish per-clinic benchmarks, begin multi-clinic rollout planning. Full reporting framework.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394960"/>
            <a:ext cx="10634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Conservative projection: Reducing non-brand CPA from £64 to £50 within 90 days. At the current £53,990/month spend, this means 236 additional patient leads per month or £12,000/month in savings.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Step 1: Fix Conversion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The foundation — everything else depends on clean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Week 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188720"/>
          <a:ext cx="6400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"/>
                <a:gridCol w="731520"/>
                <a:gridCol w="320040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Conversion Action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KMG OLD LP | Book A Free Consult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Remove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Ghost data — confirmed by Giulio. 1,250 phantom conversions.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KMG OLD LP | Website Phone 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Remove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Ghost data — legacy landing page. 57 phantom conversions.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KMG | Call Extension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Remove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Legacy agency call extension. 204 phantom conversions.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Online Booking Click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Secondary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Click, not a booking. 264 soft signals misleading algorithm.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Phone Click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Secondary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Click, not a call. 123 soft signals.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WhatsApp Click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Secondary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Click, not a conversation. 48 soft signals.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Conversation Started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Secondary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Chat opened, not a lead. 10 soft signals.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Dengro Offline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Keep (verify)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Real CRM lead — but verify it only counts ad-sourced leads.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Dengro Offline Booking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Keep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Real booking. £300 arbitrary value — replace with actual treatment value.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Calls from the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Real phone calls. 965 legitimate conversions.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680960" y="1188720"/>
            <a:ext cx="3931920" cy="13716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188720"/>
            <a:ext cx="54864" cy="13716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280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5544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Removing 1,511 ghost + 445 soft signal conversions will cause reported CPA to rise from £49 to ~£71. This isn't a deterioration — it's seeing the real numbers for the first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2743200"/>
            <a:ext cx="3931920" cy="146304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2743200"/>
            <a:ext cx="54864" cy="1463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834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ROAS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10896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Replace the arbitrary £300 booking value with actual treatment revenue:
• Single implant: £1,695
• All-on-4: £9,995
• Vivo Bridge: £15,990
This lets the algorithm bid more for high-value treatments.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805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This is a 30-minute fix with outsized impact. Clean tracking = better algorithm decisions = lower CPA.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Step 2: Negative Keyword Overhaul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Replace 784 broad match negatives with a structured 9-list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Week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88720"/>
            <a:ext cx="5303520" cy="22860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88720"/>
            <a:ext cx="54864" cy="2286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280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Current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2,192 total negative keywords across the account:
• 784 broad match at account level (dangerous — may block converting traffic)
• 770 phrase match
• 425 exact match
• Scattered across 35 campaigns with no structure
Auto-apply has removed 24 keywords including high-intent terms like [low cost dental implants] and [cheapest dental implants].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303520" cy="22860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4864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280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Proposed: 9-List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9 shared account-level lists organised by word count + match type:
• 1 word — phrase + exact
• 2 words — phrase + exact
• 3 words — phrase + exact
• 4 words — exact only
• 5+ words — exact only
All new negatives added as phrase or exact match only. No broad match. Weekly search term reviews to keep lists current.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03320"/>
            <a:ext cx="1106424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490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The 9-list system blocked £59,349 of search term waste in Q1 2026. A structured negative keyword framework is the most cost-effective optimization available.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Priority Negative Keyword Categories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4663440"/>
          <a:ext cx="7315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914400"/>
                <a:gridCol w="914400"/>
                <a:gridCol w="914400"/>
              </a:tblGrid>
              <a:tr h="2560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2025 Waste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Waste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Match Type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Price Research (no location)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implant cost uk, how much is dental implants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£20,540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£14,211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Phrase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Wrong Treatment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implant dentures, dental bridge, dental crown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£3,112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£3,661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Phrase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Competitor / Tourism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brighton implant clinic, turkey teeth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£1,724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£1,390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Exact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NHS / 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nhs dental implants, free dental implants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£1,378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Phrase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Step 3: Ad Copy Rewrite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90% of ads rated Poor or Average — the #1 lever for reducing CPA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Weeks 2-4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97280"/>
            <a:ext cx="2743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45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Ads Rated Poor/Average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097280"/>
            <a:ext cx="2743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1097280"/>
            <a:ext cx="54864" cy="960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71%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1645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Keywords with Below Avg Ad Relevance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097280"/>
            <a:ext cx="2743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109728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6.4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645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Weighted Avg QS (down from 6.9)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1097280"/>
            <a:ext cx="2011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1097280"/>
            <a:ext cx="54864" cy="9601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1188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#1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1645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CPA Reduction Lever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377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Proposed Ad Testing Framework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48640" y="2697480"/>
          <a:ext cx="914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2286000"/>
                <a:gridCol w="2286000"/>
                <a:gridCol w="2286000"/>
              </a:tblGrid>
              <a:tr h="304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 Group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Strength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Angle 1 (Price)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Angle 2 (Speed)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Angle 3 (Quality)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Poor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From £1,695. 0% Finance.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Permanent Teeth in 48 Hours.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4.8★ Rating. 399+ Reviews.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Implants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Up to 60% Less Than Other Clinics.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Same-Day Consultation Available.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In-House Lab. Premium Materials.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All on 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Poor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Full Arch From £9,995.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New Teeth in 48 Hours. Walk Out Smiling.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CQC Registered. Expert Surgeons.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Financing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0% Finance. From £47/month.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Book Free Consultation Today.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Trusted by 399+ Patients.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Invisalign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Invisalign From £2,500.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Free Scan. Results in 6 Months.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Diamond Apex Provider.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548640" y="4754880"/>
            <a:ext cx="5303520" cy="11887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754880"/>
            <a:ext cx="54864" cy="1188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846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Testing 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1206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2-3 RSA variants per ad group, each testing a different messaging angle. Run for 4-6 weeks, then keep winner and test new challenger. Every headline must match the keyword intent in that ad group.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754880"/>
            <a:ext cx="5303520" cy="118872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754880"/>
            <a:ext cx="54864" cy="1188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846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Expected Impact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1206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Improving ad relevance from Below Average to Average on the top 20 keywords would lift QS by 2-3 points, reducing CPC by an estimated 20-30%. At £53,990/month spend, that's £10-16K/month in CPC savings.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Step 4: Bid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Switch from arbitrary ROAS to Target CPA — or use real treatment values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Weeks 2-4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188720"/>
          <a:ext cx="9875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1828800"/>
                <a:gridCol w="22860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Campaign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Strategy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Target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PMax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Max Conv Value (tROAS)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30% ROAS (£300 arb.)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tCPA £45 OR tROAS with real values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Arbitrary values mislead the algorithm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Search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Max Conv Value (tROAS)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60% ROAS (£300 arb.)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tCPA £65 (reduce to £50 by month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Start conservative, tighten gradually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Max Conv Value (tROAS)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10% ROAS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Keep or switch to Max Clicks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Brand always converts well — focus on IS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3108960"/>
            <a:ext cx="5303520" cy="27432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108960"/>
            <a:ext cx="54864" cy="2743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00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Option A: Target CPA (Recommended)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Switch all campaigns to Maximise Conversions with Target CPA.
• PMax: Start at £45 (current £52), tighten to £40 as QS improves
• Search: Start at £65 (current £94), tighten to £50 over 8 weeks
• Never change target by more than 15-20% at a time
Advantage: Simple, direct control over cost per lead. The algorithm optimises for lead volume at your price.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108960"/>
            <a:ext cx="5303520" cy="2743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108960"/>
            <a:ext cx="54864" cy="2743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200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Option B: Target ROAS with Real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4747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Keep Target ROAS but replace £300 arbitrary values with actual treatment revenue from Dengro.
• Single implant booking: £1,695
• All-on-4 booking: £9,995
• Vivo Bridge booking: £15,990
Advantage: Algorithm bids more aggressively for high-value treatments. Risk: Requires reliable Dengro-to-Google Ads attribution.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Step 5: Bid Adjustments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Device, schedule, and day-of-week — no adjustments currently exist anywhere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Weeks 2-4</a:t>
            </a:r>
          </a:p>
        </p:txBody>
      </p:sp>
      <p:pic>
        <p:nvPicPr>
          <p:cNvPr id="10" name="Picture 9" descr="r3_device_ad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02920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0" y="10972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Day of Week (2026 Data)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0" y="1417320"/>
          <a:ext cx="3474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"/>
                <a:gridCol w="731520"/>
                <a:gridCol w="914400"/>
              </a:tblGrid>
              <a:tr h="2514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2025 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 Adj.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Monday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£64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-5%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Tuesday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Wednesday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£61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 change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Thursday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+5%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Friday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+10%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Saturday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+10%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Sunday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£68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-15%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374903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Hour of Day Adjustments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69080"/>
            <a:ext cx="5303520" cy="18288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69080"/>
            <a:ext cx="54864" cy="1828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Increase Bids (+10 to +15%)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Hours 16-17 (4-5pm): Best CPA at £46-48 both years. High-volume, high-efficiency slot. Late afternoon is when patients are ready to book.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069080"/>
            <a:ext cx="5303520" cy="18288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069080"/>
            <a:ext cx="54864" cy="1828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60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Reduce Bids (-15 to -20%)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348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Hours 7-8 (7-8am): Worst CPA at £56-74 across both years. Early commute clicks are expensive and convert poorly. Reduce bids during this window.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Step 6: Geographic Restructure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Replace radius targeting with postcodes to unlock bid control per area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Month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88720"/>
            <a:ext cx="5303520" cy="22860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88720"/>
            <a:ext cx="54864" cy="2286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280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Current: Radius Targeting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Multiple overlapping radiuses around the clinic:
• 30km ring: £59 CPA (2026)
• 35km ring: £93 CPA (2026)
Problems:
• No bid adjustments possible on radius targets
• Wider rings reach patients less likely to travel
• Different campaigns target different radiuses — fragmented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303520" cy="22860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4864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280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Proposed: Postcode Targeting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Individual London postcodes with bid adjustments per area:
• Bid +20% for W6, W12, W3 (near clinic, low CPA)
• No adjustment for mid-range postcodes
• Bid -20% for outer postcodes (N13 £169, TW2 £137)
All campaigns share the same postcode targets — one unified geographic view. Data from the matched locations report shows CPA ranges from £14 to £169 across postcodes.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490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A853"/>
                </a:solidFill>
                <a:latin typeface="Calibri"/>
              </a:rPr>
              <a:t>Best Postcodes (2026, 3+ conv)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4023360"/>
          <a:ext cx="3657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</a:tblGrid>
              <a:tr h="213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Postcode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SM4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EN4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CM18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WD7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SW13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£19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217920" y="37490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A4335"/>
                </a:solidFill>
                <a:latin typeface="Calibri"/>
              </a:rPr>
              <a:t>Worst Postcodes (2026, 3+ conv)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17920" y="4023360"/>
          <a:ext cx="3657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</a:tblGrid>
              <a:tr h="213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Postcode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N13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£169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TW2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WD23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£123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N17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£120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Multi-Clinic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How the optimised Dental by Design account becomes the blueprint for the partner network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Month 3+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88720"/>
            <a:ext cx="45720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88720"/>
            <a:ext cx="73152" cy="2743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25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Dental 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7373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Flagship Clinic — Testing 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0574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Highest budget = fastest learning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Test ad copy angles, keywords, bid strategies here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Establish CPA benchmarks per treatment type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Proven winning strategies become the playbook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286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4285F4"/>
                </a:solidFill>
                <a:latin typeface="Calibr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53035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73152" cy="2743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Partner Clinics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UK Network — Scaled Learnings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574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Separate campaigns per clinic — tailored messaging + local targeting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Shared negative keyword lists — one block benefits all clinics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Performance-based budgets — best clinics earn more spend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Postcode targeting per clinic location — unified geographic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06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What Scales from Flagship to Network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72000"/>
            <a:ext cx="21945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72000"/>
            <a:ext cx="54864" cy="9601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9-List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20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Neg Keyword Framework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572000"/>
            <a:ext cx="21945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26080" y="457200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4663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Ad Copy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5120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Winning Angles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4572000"/>
            <a:ext cx="21945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03520" y="4572000"/>
            <a:ext cx="54864" cy="960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0" y="4663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Bid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120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tCPA Benchmarks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4572000"/>
            <a:ext cx="2011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80960" y="4572000"/>
            <a:ext cx="54864" cy="9601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663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Reporting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120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Monthly Framework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75520" y="4572000"/>
            <a:ext cx="1737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75520" y="457200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0" y="4663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Postcodes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5120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Geo Structure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Projected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Conservative projections based on the data in Reports 1 and 2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90-Day Target</a:t>
            </a:r>
          </a:p>
        </p:txBody>
      </p:sp>
      <p:pic>
        <p:nvPicPr>
          <p:cNvPr id="10" name="Picture 9" descr="r3_proj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858000" cy="3200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680960" y="1188720"/>
            <a:ext cx="3931920" cy="13716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188720"/>
            <a:ext cx="54864" cy="13716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280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Scenario 1: More Leads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5544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Keep spend at £53,990/month.
Reduce non-brand CPA from £64 to £50.
Result: 236 additional leads per month (+29%).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2743200"/>
            <a:ext cx="3931920" cy="1371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2743200"/>
            <a:ext cx="54864" cy="1371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834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Scenario 2: Same Leads, Less Spend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1089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Maintain current lead volume.
Reduce CPA from £64 to £50.
Result: £12,000/month saving (£144K/year).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These projections are conservative. They're based on the waste identified in Report 1 and the structural issues in Report 2. The actual improvement depends on how aggressively the changes are implemented.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Basis: 2025 non-brand CPA was £46. The account achieved this before PMax scaled and Search Intent expanded. A target of £50 is between the 2025 level and the current £64 — achievable with the optimisations proposed.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Implementation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90-Day Roadmap</a:t>
            </a:r>
          </a:p>
        </p:txBody>
      </p:sp>
      <p:pic>
        <p:nvPicPr>
          <p:cNvPr id="9" name="Picture 8" descr="r3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1064240" cy="20116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3200400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2651760" cy="50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54864" cy="2743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91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  <a:latin typeface="Calibri"/>
              </a:rPr>
              <a:t>Week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20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Fix 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Remove KMG ghost conversions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Move soft signals to Secondary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Negative keyword 9-list overhaul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Disable auto-apply (except ad rotation)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3200400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3200400"/>
            <a:ext cx="2651760" cy="508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3200400"/>
            <a:ext cx="54864" cy="27432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3291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5"/>
                </a:solidFill>
                <a:latin typeface="Calibri"/>
              </a:rPr>
              <a:t>Weeks 2-4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520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Optimise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88620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Rewrite all Poor/Average ads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Implement device bid adjustments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Implement schedule + day-of-week adjustments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Evaluate tCPA vs tROAS bid strategy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200400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200400"/>
            <a:ext cx="2651760" cy="50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2743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291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Month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520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Restructure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88620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Geo: radius → postcode targeting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Keyword optimization (first month clean data)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Landing page traffic routing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Remove 43 paused campaigns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200400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52560" y="3200400"/>
            <a:ext cx="2651760" cy="50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2560" y="3200400"/>
            <a:ext cx="54864" cy="2743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3291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Calibri"/>
              </a:rPr>
              <a:t>Month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520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88620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Scale winning campaigns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Establish per-treatment benchmarks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Multi-clinic rollout planning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Full reporting framework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280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237E"/>
                </a:solidFill>
                <a:latin typeface="Calibri"/>
              </a:rPr>
              <a:t>Next 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5029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54864" cy="640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423160"/>
            <a:ext cx="411480" cy="4114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77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Grant me editor access to the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651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 can implement the Week 1 fixes in a single session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5029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54864" cy="640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154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Conversion tracking fix + negative keyword overhaul in Week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429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The two highest-impact changes — immediate CPA improvement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86200"/>
            <a:ext cx="5029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886200"/>
            <a:ext cx="54864" cy="6400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3977640"/>
            <a:ext cx="411480" cy="4114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931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Ad rewrites + bid adjustments in Weeks 2-4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206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The #1 CPA reduction lever, backed by data from all 3 reports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63440"/>
            <a:ext cx="5029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663440"/>
            <a:ext cx="54864" cy="6400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4754880"/>
            <a:ext cx="411480" cy="4114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709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Monthly reporting from Day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983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Full transparency on what changed, why, and the measured impact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Ready to Start Immediately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914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4285F4"/>
                </a:solidFill>
                <a:latin typeface="Calibri"/>
              </a:rPr>
              <a:t>Christopher Hoole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16459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285F4"/>
                </a:solidFill>
                <a:latin typeface="Calibri"/>
              </a:rPr>
              <a:t>chris@christopherhoole.com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285F4"/>
                </a:solidFill>
                <a:latin typeface="Calibri"/>
              </a:rPr>
              <a:t>christopherhoole.com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+44 7999 500 184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£50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Target CPA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90 Days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To Full Impact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+29%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More Leads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206240"/>
            <a:ext cx="5394960" cy="10972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2519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“The data is clear. The opportunities are identified. The plan is specific. I'm ready to implement Week 1 the day I start.”
— Christopher Hoole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