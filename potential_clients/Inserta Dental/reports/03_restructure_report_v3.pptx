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3047695" cy="64008"/>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64008"/>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64008"/>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64008"/>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008"/>
            <a:ext cx="109728" cy="679399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_logo_official.png"/>
          <p:cNvPicPr>
            <a:picLocks noChangeAspect="1"/>
          </p:cNvPicPr>
          <p:nvPr/>
        </p:nvPicPr>
        <p:blipFill>
          <a:blip r:embed="rId2"/>
          <a:stretch>
            <a:fillRect/>
          </a:stretch>
        </p:blipFill>
        <p:spPr>
          <a:xfrm>
            <a:off x="548640" y="457200"/>
            <a:ext cx="594360" cy="594360"/>
          </a:xfrm>
          <a:prstGeom prst="rect">
            <a:avLst/>
          </a:prstGeom>
        </p:spPr>
      </p:pic>
      <p:sp>
        <p:nvSpPr>
          <p:cNvPr id="8" name="TextBox 7"/>
          <p:cNvSpPr txBox="1"/>
          <p:nvPr/>
        </p:nvSpPr>
        <p:spPr>
          <a:xfrm>
            <a:off x="548640" y="1280160"/>
            <a:ext cx="5248656" cy="1645920"/>
          </a:xfrm>
          <a:prstGeom prst="rect">
            <a:avLst/>
          </a:prstGeom>
          <a:noFill/>
        </p:spPr>
        <p:txBody>
          <a:bodyPr wrap="square">
            <a:spAutoFit/>
          </a:bodyPr>
          <a:lstStyle/>
          <a:p>
            <a:pPr algn="l"/>
            <a:r>
              <a:rPr sz="4400" b="1">
                <a:solidFill>
                  <a:srgbClr val="1A237E"/>
                </a:solidFill>
                <a:latin typeface="Calibri"/>
              </a:rPr>
              <a:t>Restructure &amp;
Growth Plan</a:t>
            </a:r>
          </a:p>
        </p:txBody>
      </p:sp>
      <p:sp>
        <p:nvSpPr>
          <p:cNvPr id="9" name="Rectangle 8"/>
          <p:cNvSpPr/>
          <p:nvPr/>
        </p:nvSpPr>
        <p:spPr>
          <a:xfrm>
            <a:off x="548640" y="3017520"/>
            <a:ext cx="2286000" cy="457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46120"/>
            <a:ext cx="5029200" cy="457200"/>
          </a:xfrm>
          <a:prstGeom prst="rect">
            <a:avLst/>
          </a:prstGeom>
          <a:noFill/>
        </p:spPr>
        <p:txBody>
          <a:bodyPr wrap="square">
            <a:spAutoFit/>
          </a:bodyPr>
          <a:lstStyle/>
          <a:p>
            <a:pPr algn="l"/>
            <a:r>
              <a:rPr sz="2200" b="0">
                <a:solidFill>
                  <a:srgbClr val="4285F4"/>
                </a:solidFill>
                <a:latin typeface="Calibri"/>
              </a:rPr>
              <a:t>Dental by Design  |  Prodent Group</a:t>
            </a:r>
          </a:p>
        </p:txBody>
      </p:sp>
      <p:sp>
        <p:nvSpPr>
          <p:cNvPr id="11" name="TextBox 10"/>
          <p:cNvSpPr txBox="1"/>
          <p:nvPr/>
        </p:nvSpPr>
        <p:spPr>
          <a:xfrm>
            <a:off x="548640" y="3931920"/>
            <a:ext cx="5029200" cy="914400"/>
          </a:xfrm>
          <a:prstGeom prst="rect">
            <a:avLst/>
          </a:prstGeom>
          <a:noFill/>
        </p:spPr>
        <p:txBody>
          <a:bodyPr wrap="square">
            <a:spAutoFit/>
          </a:bodyPr>
          <a:lstStyle/>
          <a:p>
            <a:pPr>
              <a:spcAft>
                <a:spcPts val="200"/>
              </a:spcAft>
            </a:pPr>
            <a:r>
              <a:rPr sz="1100" b="1">
                <a:solidFill>
                  <a:srgbClr val="1A1A1A"/>
                </a:solidFill>
                <a:latin typeface="Calibri"/>
              </a:rPr>
              <a:t>Christopher Hoole</a:t>
            </a:r>
          </a:p>
          <a:p>
            <a:pPr>
              <a:spcAft>
                <a:spcPts val="200"/>
              </a:spcAft>
            </a:pPr>
            <a:r>
              <a:rPr sz="1100" b="0">
                <a:solidFill>
                  <a:srgbClr val="1A1A1A"/>
                </a:solidFill>
                <a:latin typeface="Calibri"/>
              </a:rPr>
              <a:t>Google Ads Specialist  |  April 2026</a:t>
            </a:r>
          </a:p>
          <a:p>
            <a:r>
              <a:rPr sz="1100" b="0">
                <a:solidFill>
                  <a:srgbClr val="4285F4"/>
                </a:solidFill>
                <a:latin typeface="Calibri"/>
              </a:rPr>
              <a:t>christopherhoole.com</a:t>
            </a:r>
          </a:p>
        </p:txBody>
      </p:sp>
      <p:sp>
        <p:nvSpPr>
          <p:cNvPr id="12" name="Rectangle 11"/>
          <p:cNvSpPr/>
          <p:nvPr/>
        </p:nvSpPr>
        <p:spPr>
          <a:xfrm>
            <a:off x="548640" y="5029200"/>
            <a:ext cx="4114800" cy="45720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047488"/>
            <a:ext cx="3931920" cy="411480"/>
          </a:xfrm>
          <a:prstGeom prst="rect">
            <a:avLst/>
          </a:prstGeom>
          <a:noFill/>
        </p:spPr>
        <p:txBody>
          <a:bodyPr wrap="square">
            <a:spAutoFit/>
          </a:bodyPr>
          <a:lstStyle/>
          <a:p>
            <a:pPr algn="l"/>
            <a:r>
              <a:rPr sz="1100" b="1">
                <a:solidFill>
                  <a:srgbClr val="4285F4"/>
                </a:solidFill>
                <a:latin typeface="Calibri"/>
              </a:rPr>
              <a:t>Based on data: 2025 + 2026 + PMax 30-day deep dive</a:t>
            </a:r>
          </a:p>
        </p:txBody>
      </p:sp>
      <p:sp>
        <p:nvSpPr>
          <p:cNvPr id="14" name="Rectangle 13"/>
          <p:cNvSpPr/>
          <p:nvPr/>
        </p:nvSpPr>
        <p:spPr>
          <a:xfrm>
            <a:off x="6217920" y="457200"/>
            <a:ext cx="539496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457200"/>
            <a:ext cx="73152" cy="22860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548640"/>
            <a:ext cx="4937760" cy="320040"/>
          </a:xfrm>
          <a:prstGeom prst="rect">
            <a:avLst/>
          </a:prstGeom>
          <a:noFill/>
        </p:spPr>
        <p:txBody>
          <a:bodyPr wrap="square">
            <a:spAutoFit/>
          </a:bodyPr>
          <a:lstStyle/>
          <a:p>
            <a:pPr algn="l"/>
            <a:r>
              <a:rPr sz="1400" b="0">
                <a:solidFill>
                  <a:srgbClr val="1A237E"/>
                </a:solidFill>
                <a:latin typeface="Calibri"/>
              </a:rPr>
              <a:t>Target Non-Brand CPA</a:t>
            </a:r>
          </a:p>
        </p:txBody>
      </p:sp>
      <p:sp>
        <p:nvSpPr>
          <p:cNvPr id="17" name="TextBox 16"/>
          <p:cNvSpPr txBox="1"/>
          <p:nvPr/>
        </p:nvSpPr>
        <p:spPr>
          <a:xfrm>
            <a:off x="6492240" y="914400"/>
            <a:ext cx="4937760" cy="731520"/>
          </a:xfrm>
          <a:prstGeom prst="rect">
            <a:avLst/>
          </a:prstGeom>
          <a:noFill/>
        </p:spPr>
        <p:txBody>
          <a:bodyPr wrap="square">
            <a:spAutoFit/>
          </a:bodyPr>
          <a:lstStyle/>
          <a:p>
            <a:pPr algn="l"/>
            <a:r>
              <a:rPr sz="4400" b="1">
                <a:solidFill>
                  <a:srgbClr val="34A853"/>
                </a:solidFill>
                <a:latin typeface="Calibri"/>
              </a:rPr>
              <a:t>£50</a:t>
            </a:r>
          </a:p>
        </p:txBody>
      </p:sp>
      <p:sp>
        <p:nvSpPr>
          <p:cNvPr id="18" name="TextBox 17"/>
          <p:cNvSpPr txBox="1"/>
          <p:nvPr/>
        </p:nvSpPr>
        <p:spPr>
          <a:xfrm>
            <a:off x="6492240" y="1645920"/>
            <a:ext cx="4937760" cy="457200"/>
          </a:xfrm>
          <a:prstGeom prst="rect">
            <a:avLst/>
          </a:prstGeom>
          <a:noFill/>
        </p:spPr>
        <p:txBody>
          <a:bodyPr wrap="square">
            <a:spAutoFit/>
          </a:bodyPr>
          <a:lstStyle/>
          <a:p>
            <a:pPr algn="l"/>
            <a:r>
              <a:rPr sz="1100" b="0">
                <a:solidFill>
                  <a:srgbClr val="1A1A1A"/>
                </a:solidFill>
                <a:latin typeface="Calibri"/>
              </a:rPr>
              <a:t>Down from £64 — 22% reduction within 90 days via PMax → Search migration</a:t>
            </a:r>
          </a:p>
        </p:txBody>
      </p:sp>
      <p:sp>
        <p:nvSpPr>
          <p:cNvPr id="19" name="Rectangle 18"/>
          <p:cNvSpPr/>
          <p:nvPr/>
        </p:nvSpPr>
        <p:spPr>
          <a:xfrm>
            <a:off x="6217920"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2926080"/>
            <a:ext cx="54864" cy="10515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3035808"/>
            <a:ext cx="1444752" cy="411480"/>
          </a:xfrm>
          <a:prstGeom prst="rect">
            <a:avLst/>
          </a:prstGeom>
          <a:noFill/>
        </p:spPr>
        <p:txBody>
          <a:bodyPr wrap="square">
            <a:spAutoFit/>
          </a:bodyPr>
          <a:lstStyle/>
          <a:p>
            <a:pPr algn="l"/>
            <a:r>
              <a:rPr sz="2200" b="1">
                <a:solidFill>
                  <a:srgbClr val="34A853"/>
                </a:solidFill>
                <a:latin typeface="Calibri"/>
              </a:rPr>
              <a:t>+29%</a:t>
            </a:r>
          </a:p>
        </p:txBody>
      </p:sp>
      <p:sp>
        <p:nvSpPr>
          <p:cNvPr id="22" name="TextBox 21"/>
          <p:cNvSpPr txBox="1"/>
          <p:nvPr/>
        </p:nvSpPr>
        <p:spPr>
          <a:xfrm>
            <a:off x="6355080" y="3474720"/>
            <a:ext cx="1444752" cy="274320"/>
          </a:xfrm>
          <a:prstGeom prst="rect">
            <a:avLst/>
          </a:prstGeom>
          <a:noFill/>
        </p:spPr>
        <p:txBody>
          <a:bodyPr wrap="square">
            <a:spAutoFit/>
          </a:bodyPr>
          <a:lstStyle/>
          <a:p>
            <a:pPr algn="l"/>
            <a:r>
              <a:rPr sz="1100" b="0">
                <a:solidFill>
                  <a:srgbClr val="1A1A1A"/>
                </a:solidFill>
                <a:latin typeface="Calibri"/>
              </a:rPr>
              <a:t>More Leads (Same Budget)</a:t>
            </a:r>
          </a:p>
        </p:txBody>
      </p:sp>
      <p:sp>
        <p:nvSpPr>
          <p:cNvPr id="23" name="Rectangle 22"/>
          <p:cNvSpPr/>
          <p:nvPr/>
        </p:nvSpPr>
        <p:spPr>
          <a:xfrm>
            <a:off x="8074152"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74152" y="2926080"/>
            <a:ext cx="54864" cy="10515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11312" y="3035808"/>
            <a:ext cx="1444752" cy="411480"/>
          </a:xfrm>
          <a:prstGeom prst="rect">
            <a:avLst/>
          </a:prstGeom>
          <a:noFill/>
        </p:spPr>
        <p:txBody>
          <a:bodyPr wrap="square">
            <a:spAutoFit/>
          </a:bodyPr>
          <a:lstStyle/>
          <a:p>
            <a:pPr algn="l"/>
            <a:r>
              <a:rPr sz="2200" b="1">
                <a:solidFill>
                  <a:srgbClr val="4285F4"/>
                </a:solidFill>
                <a:latin typeface="Calibri"/>
              </a:rPr>
              <a:t>90 Days</a:t>
            </a:r>
          </a:p>
        </p:txBody>
      </p:sp>
      <p:sp>
        <p:nvSpPr>
          <p:cNvPr id="26" name="TextBox 25"/>
          <p:cNvSpPr txBox="1"/>
          <p:nvPr/>
        </p:nvSpPr>
        <p:spPr>
          <a:xfrm>
            <a:off x="8211312" y="3474720"/>
            <a:ext cx="1444752" cy="274320"/>
          </a:xfrm>
          <a:prstGeom prst="rect">
            <a:avLst/>
          </a:prstGeom>
          <a:noFill/>
        </p:spPr>
        <p:txBody>
          <a:bodyPr wrap="square">
            <a:spAutoFit/>
          </a:bodyPr>
          <a:lstStyle/>
          <a:p>
            <a:pPr algn="l"/>
            <a:r>
              <a:rPr sz="1100" b="0">
                <a:solidFill>
                  <a:srgbClr val="1A1A1A"/>
                </a:solidFill>
                <a:latin typeface="Calibri"/>
              </a:rPr>
              <a:t>PMax → Search Migration</a:t>
            </a:r>
          </a:p>
        </p:txBody>
      </p:sp>
      <p:sp>
        <p:nvSpPr>
          <p:cNvPr id="27" name="Rectangle 26"/>
          <p:cNvSpPr/>
          <p:nvPr/>
        </p:nvSpPr>
        <p:spPr>
          <a:xfrm>
            <a:off x="9939528"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939528" y="2926080"/>
            <a:ext cx="54864" cy="105156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76688" y="3035808"/>
            <a:ext cx="1444752" cy="411480"/>
          </a:xfrm>
          <a:prstGeom prst="rect">
            <a:avLst/>
          </a:prstGeom>
          <a:noFill/>
        </p:spPr>
        <p:txBody>
          <a:bodyPr wrap="square">
            <a:spAutoFit/>
          </a:bodyPr>
          <a:lstStyle/>
          <a:p>
            <a:pPr algn="l"/>
            <a:r>
              <a:rPr sz="2200" b="1">
                <a:solidFill>
                  <a:srgbClr val="FBBC05"/>
                </a:solidFill>
                <a:latin typeface="Calibri"/>
              </a:rPr>
              <a:t>£12,000/mo</a:t>
            </a:r>
          </a:p>
        </p:txBody>
      </p:sp>
      <p:sp>
        <p:nvSpPr>
          <p:cNvPr id="30" name="TextBox 29"/>
          <p:cNvSpPr txBox="1"/>
          <p:nvPr/>
        </p:nvSpPr>
        <p:spPr>
          <a:xfrm>
            <a:off x="10076688" y="3474720"/>
            <a:ext cx="1444752" cy="274320"/>
          </a:xfrm>
          <a:prstGeom prst="rect">
            <a:avLst/>
          </a:prstGeom>
          <a:noFill/>
        </p:spPr>
        <p:txBody>
          <a:bodyPr wrap="square">
            <a:spAutoFit/>
          </a:bodyPr>
          <a:lstStyle/>
          <a:p>
            <a:pPr algn="l"/>
            <a:r>
              <a:rPr sz="1100" b="0">
                <a:solidFill>
                  <a:srgbClr val="1A1A1A"/>
                </a:solidFill>
                <a:latin typeface="Calibri"/>
              </a:rPr>
              <a:t>Potential Monthly Saving</a:t>
            </a:r>
          </a:p>
        </p:txBody>
      </p:sp>
      <p:sp>
        <p:nvSpPr>
          <p:cNvPr id="31" name="Rectangle 30"/>
          <p:cNvSpPr/>
          <p:nvPr/>
        </p:nvSpPr>
        <p:spPr>
          <a:xfrm>
            <a:off x="0" y="6400800"/>
            <a:ext cx="3047695" cy="36576"/>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047695" y="6400800"/>
            <a:ext cx="3047695" cy="36576"/>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095390" y="6400800"/>
            <a:ext cx="3047695" cy="36576"/>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143085" y="6400800"/>
            <a:ext cx="3047695" cy="36576"/>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Executive Summary</a:t>
            </a:r>
          </a:p>
        </p:txBody>
      </p:sp>
      <p:sp>
        <p:nvSpPr>
          <p:cNvPr id="7" name="Rectangle 6"/>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Restructure Plan</a:t>
            </a:r>
          </a:p>
        </p:txBody>
      </p:sp>
      <p:sp>
        <p:nvSpPr>
          <p:cNvPr id="9" name="Rectangle 8"/>
          <p:cNvSpPr/>
          <p:nvPr/>
        </p:nvSpPr>
        <p:spPr>
          <a:xfrm>
            <a:off x="548640" y="1097280"/>
            <a:ext cx="256032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097280"/>
            <a:ext cx="54864" cy="9601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188720"/>
            <a:ext cx="2286000" cy="457200"/>
          </a:xfrm>
          <a:prstGeom prst="rect">
            <a:avLst/>
          </a:prstGeom>
          <a:noFill/>
        </p:spPr>
        <p:txBody>
          <a:bodyPr wrap="square">
            <a:spAutoFit/>
          </a:bodyPr>
          <a:lstStyle/>
          <a:p>
            <a:pPr algn="l"/>
            <a:r>
              <a:rPr sz="2200" b="1">
                <a:solidFill>
                  <a:srgbClr val="34A853"/>
                </a:solidFill>
                <a:latin typeface="Calibri"/>
              </a:rPr>
              <a:t>£50</a:t>
            </a:r>
          </a:p>
        </p:txBody>
      </p:sp>
      <p:sp>
        <p:nvSpPr>
          <p:cNvPr id="12" name="TextBox 11"/>
          <p:cNvSpPr txBox="1"/>
          <p:nvPr/>
        </p:nvSpPr>
        <p:spPr>
          <a:xfrm>
            <a:off x="731520" y="1645920"/>
            <a:ext cx="2286000" cy="320040"/>
          </a:xfrm>
          <a:prstGeom prst="rect">
            <a:avLst/>
          </a:prstGeom>
          <a:noFill/>
        </p:spPr>
        <p:txBody>
          <a:bodyPr wrap="square">
            <a:spAutoFit/>
          </a:bodyPr>
          <a:lstStyle/>
          <a:p>
            <a:pPr algn="l"/>
            <a:r>
              <a:rPr sz="1100" b="0">
                <a:solidFill>
                  <a:srgbClr val="1A1A1A"/>
                </a:solidFill>
                <a:latin typeface="Calibri"/>
              </a:rPr>
              <a:t>Target Non-Brand CPA</a:t>
            </a:r>
          </a:p>
        </p:txBody>
      </p:sp>
      <p:sp>
        <p:nvSpPr>
          <p:cNvPr id="13" name="Rectangle 12"/>
          <p:cNvSpPr/>
          <p:nvPr/>
        </p:nvSpPr>
        <p:spPr>
          <a:xfrm>
            <a:off x="3383280" y="1097280"/>
            <a:ext cx="256032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83280" y="1097280"/>
            <a:ext cx="54864" cy="9601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1188720"/>
            <a:ext cx="2286000" cy="457200"/>
          </a:xfrm>
          <a:prstGeom prst="rect">
            <a:avLst/>
          </a:prstGeom>
          <a:noFill/>
        </p:spPr>
        <p:txBody>
          <a:bodyPr wrap="square">
            <a:spAutoFit/>
          </a:bodyPr>
          <a:lstStyle/>
          <a:p>
            <a:pPr algn="l"/>
            <a:r>
              <a:rPr sz="2200" b="1">
                <a:solidFill>
                  <a:srgbClr val="4285F4"/>
                </a:solidFill>
                <a:latin typeface="Calibri"/>
              </a:rPr>
              <a:t>+236/mo</a:t>
            </a:r>
          </a:p>
        </p:txBody>
      </p:sp>
      <p:sp>
        <p:nvSpPr>
          <p:cNvPr id="16" name="TextBox 15"/>
          <p:cNvSpPr txBox="1"/>
          <p:nvPr/>
        </p:nvSpPr>
        <p:spPr>
          <a:xfrm>
            <a:off x="3566160" y="1645920"/>
            <a:ext cx="2286000" cy="320040"/>
          </a:xfrm>
          <a:prstGeom prst="rect">
            <a:avLst/>
          </a:prstGeom>
          <a:noFill/>
        </p:spPr>
        <p:txBody>
          <a:bodyPr wrap="square">
            <a:spAutoFit/>
          </a:bodyPr>
          <a:lstStyle/>
          <a:p>
            <a:pPr algn="l"/>
            <a:r>
              <a:rPr sz="1100" b="0">
                <a:solidFill>
                  <a:srgbClr val="1A1A1A"/>
                </a:solidFill>
                <a:latin typeface="Calibri"/>
              </a:rPr>
              <a:t>Additional Leads (Same Budget)</a:t>
            </a:r>
          </a:p>
        </p:txBody>
      </p:sp>
      <p:sp>
        <p:nvSpPr>
          <p:cNvPr id="17" name="Rectangle 16"/>
          <p:cNvSpPr/>
          <p:nvPr/>
        </p:nvSpPr>
        <p:spPr>
          <a:xfrm>
            <a:off x="6217920" y="1097280"/>
            <a:ext cx="256032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1097280"/>
            <a:ext cx="54864" cy="9601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1188720"/>
            <a:ext cx="2286000" cy="457200"/>
          </a:xfrm>
          <a:prstGeom prst="rect">
            <a:avLst/>
          </a:prstGeom>
          <a:noFill/>
        </p:spPr>
        <p:txBody>
          <a:bodyPr wrap="square">
            <a:spAutoFit/>
          </a:bodyPr>
          <a:lstStyle/>
          <a:p>
            <a:pPr algn="l"/>
            <a:r>
              <a:rPr sz="2200" b="1">
                <a:solidFill>
                  <a:srgbClr val="EA4335"/>
                </a:solidFill>
                <a:latin typeface="Calibri"/>
              </a:rPr>
              <a:t>PMax→Search</a:t>
            </a:r>
          </a:p>
        </p:txBody>
      </p:sp>
      <p:sp>
        <p:nvSpPr>
          <p:cNvPr id="20" name="TextBox 19"/>
          <p:cNvSpPr txBox="1"/>
          <p:nvPr/>
        </p:nvSpPr>
        <p:spPr>
          <a:xfrm>
            <a:off x="6400800" y="1645920"/>
            <a:ext cx="2286000" cy="320040"/>
          </a:xfrm>
          <a:prstGeom prst="rect">
            <a:avLst/>
          </a:prstGeom>
          <a:noFill/>
        </p:spPr>
        <p:txBody>
          <a:bodyPr wrap="square">
            <a:spAutoFit/>
          </a:bodyPr>
          <a:lstStyle/>
          <a:p>
            <a:pPr algn="l"/>
            <a:r>
              <a:rPr sz="1100" b="0">
                <a:solidFill>
                  <a:srgbClr val="1A1A1A"/>
                </a:solidFill>
                <a:latin typeface="Calibri"/>
              </a:rPr>
              <a:t>Core Strategy Change</a:t>
            </a:r>
          </a:p>
        </p:txBody>
      </p:sp>
      <p:sp>
        <p:nvSpPr>
          <p:cNvPr id="21" name="Rectangle 20"/>
          <p:cNvSpPr/>
          <p:nvPr/>
        </p:nvSpPr>
        <p:spPr>
          <a:xfrm>
            <a:off x="9052560" y="1097280"/>
            <a:ext cx="256032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52560" y="1097280"/>
            <a:ext cx="54864" cy="9601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440" y="1188720"/>
            <a:ext cx="2286000" cy="457200"/>
          </a:xfrm>
          <a:prstGeom prst="rect">
            <a:avLst/>
          </a:prstGeom>
          <a:noFill/>
        </p:spPr>
        <p:txBody>
          <a:bodyPr wrap="square">
            <a:spAutoFit/>
          </a:bodyPr>
          <a:lstStyle/>
          <a:p>
            <a:pPr algn="l"/>
            <a:r>
              <a:rPr sz="2200" b="1">
                <a:solidFill>
                  <a:srgbClr val="1A237E"/>
                </a:solidFill>
                <a:latin typeface="Calibri"/>
              </a:rPr>
              <a:t>£53,990</a:t>
            </a:r>
          </a:p>
        </p:txBody>
      </p:sp>
      <p:sp>
        <p:nvSpPr>
          <p:cNvPr id="24" name="TextBox 23"/>
          <p:cNvSpPr txBox="1"/>
          <p:nvPr/>
        </p:nvSpPr>
        <p:spPr>
          <a:xfrm>
            <a:off x="9235440" y="1645920"/>
            <a:ext cx="2286000" cy="320040"/>
          </a:xfrm>
          <a:prstGeom prst="rect">
            <a:avLst/>
          </a:prstGeom>
          <a:noFill/>
        </p:spPr>
        <p:txBody>
          <a:bodyPr wrap="square">
            <a:spAutoFit/>
          </a:bodyPr>
          <a:lstStyle/>
          <a:p>
            <a:pPr algn="l"/>
            <a:r>
              <a:rPr sz="1100" b="0">
                <a:solidFill>
                  <a:srgbClr val="1A1A1A"/>
                </a:solidFill>
                <a:latin typeface="Calibri"/>
              </a:rPr>
              <a:t>Current Monthly Spend</a:t>
            </a:r>
          </a:p>
        </p:txBody>
      </p:sp>
      <p:sp>
        <p:nvSpPr>
          <p:cNvPr id="25" name="TextBox 24"/>
          <p:cNvSpPr txBox="1"/>
          <p:nvPr/>
        </p:nvSpPr>
        <p:spPr>
          <a:xfrm>
            <a:off x="548640" y="2377440"/>
            <a:ext cx="5486400" cy="320040"/>
          </a:xfrm>
          <a:prstGeom prst="rect">
            <a:avLst/>
          </a:prstGeom>
          <a:noFill/>
        </p:spPr>
        <p:txBody>
          <a:bodyPr wrap="square">
            <a:spAutoFit/>
          </a:bodyPr>
          <a:lstStyle/>
          <a:p>
            <a:pPr algn="l"/>
            <a:r>
              <a:rPr sz="1400" b="1">
                <a:solidFill>
                  <a:srgbClr val="1A237E"/>
                </a:solidFill>
                <a:latin typeface="Calibri"/>
              </a:rPr>
              <a:t>The Plan</a:t>
            </a:r>
          </a:p>
        </p:txBody>
      </p:sp>
      <p:sp>
        <p:nvSpPr>
          <p:cNvPr id="26" name="TextBox 25"/>
          <p:cNvSpPr txBox="1"/>
          <p:nvPr/>
        </p:nvSpPr>
        <p:spPr>
          <a:xfrm>
            <a:off x="640080" y="2743200"/>
            <a:ext cx="10515600" cy="2377440"/>
          </a:xfrm>
          <a:prstGeom prst="rect">
            <a:avLst/>
          </a:prstGeom>
          <a:noFill/>
        </p:spPr>
        <p:txBody>
          <a:bodyPr wrap="square">
            <a:spAutoFit/>
          </a:bodyPr>
          <a:lstStyle/>
          <a:p>
            <a:pPr>
              <a:spcAft>
                <a:spcPts val="500"/>
              </a:spcAft>
            </a:pPr>
            <a:r>
              <a:rPr sz="1100" b="0">
                <a:solidFill>
                  <a:srgbClr val="1A1A1A"/>
                </a:solidFill>
                <a:latin typeface="Calibri"/>
              </a:rPr>
              <a:t>Week 1: Fix conversion tracking, block NHS/free seekers, Display exclusions, negative keyword 9-list overhaul, geo restructure (radius → postcodes), ad schedule + device bid adjustments.</a:t>
            </a:r>
          </a:p>
          <a:p>
            <a:pPr>
              <a:spcAft>
                <a:spcPts val="500"/>
              </a:spcAft>
            </a:pPr>
            <a:r>
              <a:rPr sz="1100" b="0">
                <a:solidFill>
                  <a:srgbClr val="1A1A1A"/>
                </a:solidFill>
                <a:latin typeface="Calibri"/>
              </a:rPr>
              <a:t>Weeks 2-3: Build new treatment-specific Search campaigns (Single Implants, Full Arch, Financing, Invisalign) with proper ad copy, negatives, and tCPA bidding.</a:t>
            </a:r>
          </a:p>
          <a:p>
            <a:pPr>
              <a:spcAft>
                <a:spcPts val="500"/>
              </a:spcAft>
            </a:pPr>
            <a:r>
              <a:rPr sz="1100" b="0">
                <a:solidFill>
                  <a:srgbClr val="1A1A1A"/>
                </a:solidFill>
                <a:latin typeface="Calibri"/>
              </a:rPr>
              <a:t>Week 4: Launch new Search campaigns. Shift 30% of PMax budget. Monitor and compare real booking rates.</a:t>
            </a:r>
          </a:p>
          <a:p>
            <a:pPr>
              <a:spcAft>
                <a:spcPts val="500"/>
              </a:spcAft>
            </a:pPr>
            <a:r>
              <a:rPr sz="1100" b="0">
                <a:solidFill>
                  <a:srgbClr val="1A1A1A"/>
                </a:solidFill>
                <a:latin typeface="Calibri"/>
              </a:rPr>
              <a:t>Month 2: Scale Search winners. Reduce PMax further. Build dedicated landing pages per treatment type. Keyword optimization from first month of clean data.</a:t>
            </a:r>
          </a:p>
          <a:p>
            <a:pPr>
              <a:spcAft>
                <a:spcPts val="500"/>
              </a:spcAft>
            </a:pPr>
            <a:r>
              <a:rPr sz="1100" b="0">
                <a:solidFill>
                  <a:srgbClr val="1A1A1A"/>
                </a:solidFill>
                <a:latin typeface="Calibri"/>
              </a:rPr>
              <a:t>Month 3: Search dominant. PMax supplementary only. Per-treatment benchmarks established. Multi-clinic rollout planning.</a:t>
            </a:r>
          </a:p>
        </p:txBody>
      </p:sp>
      <p:sp>
        <p:nvSpPr>
          <p:cNvPr id="27" name="Rectangle 26"/>
          <p:cNvSpPr/>
          <p:nvPr/>
        </p:nvSpPr>
        <p:spPr>
          <a:xfrm>
            <a:off x="548640" y="5349240"/>
            <a:ext cx="11091672" cy="64008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394960"/>
            <a:ext cx="10634472" cy="548640"/>
          </a:xfrm>
          <a:prstGeom prst="rect">
            <a:avLst/>
          </a:prstGeom>
          <a:noFill/>
        </p:spPr>
        <p:txBody>
          <a:bodyPr wrap="square">
            <a:spAutoFit/>
          </a:bodyPr>
          <a:lstStyle/>
          <a:p>
            <a:pPr algn="l"/>
            <a:r>
              <a:rPr sz="1100" b="1">
                <a:solidFill>
                  <a:srgbClr val="1A237E"/>
                </a:solidFill>
                <a:latin typeface="Calibri"/>
              </a:rPr>
              <a:t>The PMax deep-dive revealed the “low CPA” is an illusion — real booking CPA is £418. The Financing ad group already proves Search can deliver £34 CPA at 24.7% CVR. The data supports this migration.</a:t>
            </a:r>
          </a:p>
        </p:txBody>
      </p:sp>
      <p:sp>
        <p:nvSpPr>
          <p:cNvPr id="29" name="Rectangle 28"/>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34" name="TextBox 33"/>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35" name="TextBox 34"/>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Why PMax → Search</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The data from Reports 1 and 2 makes the case for migrating to structured Search campaigns</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Strategic Decision</a:t>
            </a:r>
          </a:p>
        </p:txBody>
      </p:sp>
      <p:sp>
        <p:nvSpPr>
          <p:cNvPr id="10" name="Rectangle 9"/>
          <p:cNvSpPr/>
          <p:nvPr/>
        </p:nvSpPr>
        <p:spPr>
          <a:xfrm>
            <a:off x="548640" y="1188720"/>
            <a:ext cx="5303520" cy="466344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188720"/>
            <a:ext cx="54864" cy="466344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280160"/>
            <a:ext cx="4937760" cy="274320"/>
          </a:xfrm>
          <a:prstGeom prst="rect">
            <a:avLst/>
          </a:prstGeom>
          <a:noFill/>
        </p:spPr>
        <p:txBody>
          <a:bodyPr wrap="square">
            <a:spAutoFit/>
          </a:bodyPr>
          <a:lstStyle/>
          <a:p>
            <a:pPr algn="l"/>
            <a:r>
              <a:rPr sz="1400" b="1">
                <a:solidFill>
                  <a:srgbClr val="1A237E"/>
                </a:solidFill>
                <a:latin typeface="Calibri"/>
              </a:rPr>
              <a:t>PMax: The Problems (Last 30 Days)</a:t>
            </a:r>
          </a:p>
        </p:txBody>
      </p:sp>
      <p:sp>
        <p:nvSpPr>
          <p:cNvPr id="13" name="TextBox 12"/>
          <p:cNvSpPr txBox="1"/>
          <p:nvPr/>
        </p:nvSpPr>
        <p:spPr>
          <a:xfrm>
            <a:off x="777240" y="1554480"/>
            <a:ext cx="4937760" cy="4206240"/>
          </a:xfrm>
          <a:prstGeom prst="rect">
            <a:avLst/>
          </a:prstGeom>
          <a:noFill/>
        </p:spPr>
        <p:txBody>
          <a:bodyPr wrap="square">
            <a:spAutoFit/>
          </a:bodyPr>
          <a:lstStyle/>
          <a:p>
            <a:pPr algn="l"/>
            <a:r>
              <a:rPr sz="1100" b="0">
                <a:solidFill>
                  <a:srgbClr val="1A1A1A"/>
                </a:solidFill>
                <a:latin typeface="Calibri"/>
              </a:rPr>
              <a:t>• 81.7% of spend is Google Search anyway — PMax isn't adding multi-channel value
• Display burns £1,893/month on mobile games (Block Blast, Colour by Number) for 2 conversions
• Top converting terms are NHS/free seekers who never become patients
• Real booking CPA: £418 (only 72 bookings from £30,026)
• Only 93 negative keywords — vs 2,192 across the account
• CPA doubled from £26 (2025) to £65 (last 30 days) as it scaled
• Single asset group — no treatment segmentation</a:t>
            </a:r>
          </a:p>
        </p:txBody>
      </p:sp>
      <p:sp>
        <p:nvSpPr>
          <p:cNvPr id="14" name="Rectangle 13"/>
          <p:cNvSpPr/>
          <p:nvPr/>
        </p:nvSpPr>
        <p:spPr>
          <a:xfrm>
            <a:off x="6217920" y="1188720"/>
            <a:ext cx="5303520" cy="466344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188720"/>
            <a:ext cx="54864" cy="466344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280160"/>
            <a:ext cx="4937760" cy="274320"/>
          </a:xfrm>
          <a:prstGeom prst="rect">
            <a:avLst/>
          </a:prstGeom>
          <a:noFill/>
        </p:spPr>
        <p:txBody>
          <a:bodyPr wrap="square">
            <a:spAutoFit/>
          </a:bodyPr>
          <a:lstStyle/>
          <a:p>
            <a:pPr algn="l"/>
            <a:r>
              <a:rPr sz="1400" b="1">
                <a:solidFill>
                  <a:srgbClr val="1A237E"/>
                </a:solidFill>
                <a:latin typeface="Calibri"/>
              </a:rPr>
              <a:t>Search: The Opportunity</a:t>
            </a:r>
          </a:p>
        </p:txBody>
      </p:sp>
      <p:sp>
        <p:nvSpPr>
          <p:cNvPr id="17" name="TextBox 16"/>
          <p:cNvSpPr txBox="1"/>
          <p:nvPr/>
        </p:nvSpPr>
        <p:spPr>
          <a:xfrm>
            <a:off x="6446520" y="1554480"/>
            <a:ext cx="4937760" cy="4206240"/>
          </a:xfrm>
          <a:prstGeom prst="rect">
            <a:avLst/>
          </a:prstGeom>
          <a:noFill/>
        </p:spPr>
        <p:txBody>
          <a:bodyPr wrap="square">
            <a:spAutoFit/>
          </a:bodyPr>
          <a:lstStyle/>
          <a:p>
            <a:pPr algn="l"/>
            <a:r>
              <a:rPr sz="1100" b="0">
                <a:solidFill>
                  <a:srgbClr val="1A1A1A"/>
                </a:solidFill>
                <a:latin typeface="Calibri"/>
              </a:rPr>
              <a:t>• The Financing ad group already delivers £34 CPA at 24.7% CVR — proof that well-structured Search works
• Full control over keywords, match types, and negative keywords
• Full visibility into every search term — no hidden waste
• Treatment-specific ad copy matched to specific search intent
• Device, schedule, and geo bid adjustments at campaign level
• Route traffic to the right landing page per keyword intent
• tCPA bidding gives direct control over cost per lead
• Structured campaigns scale naturally to partner clinics</a:t>
            </a:r>
          </a:p>
        </p:txBody>
      </p:sp>
      <p:sp>
        <p:nvSpPr>
          <p:cNvPr id="18" name="Rectangle 17"/>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3" name="TextBox 22"/>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4" name="TextBox 23"/>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Proposed Campaign Structure</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Treatment-specific Search campaigns with tCPA bidding</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New Structure</a:t>
            </a:r>
          </a:p>
        </p:txBody>
      </p:sp>
      <p:pic>
        <p:nvPicPr>
          <p:cNvPr id="10" name="Picture 9" descr="r3v2_structure.png"/>
          <p:cNvPicPr>
            <a:picLocks noChangeAspect="1"/>
          </p:cNvPicPr>
          <p:nvPr/>
        </p:nvPicPr>
        <p:blipFill>
          <a:blip r:embed="rId2"/>
          <a:stretch>
            <a:fillRect/>
          </a:stretch>
        </p:blipFill>
        <p:spPr>
          <a:xfrm>
            <a:off x="548640" y="1188720"/>
            <a:ext cx="6858000" cy="3200400"/>
          </a:xfrm>
          <a:prstGeom prst="rect">
            <a:avLst/>
          </a:prstGeom>
        </p:spPr>
      </p:pic>
      <p:graphicFrame>
        <p:nvGraphicFramePr>
          <p:cNvPr id="11" name="Table 10"/>
          <p:cNvGraphicFramePr>
            <a:graphicFrameLocks noGrp="1"/>
          </p:cNvGraphicFramePr>
          <p:nvPr/>
        </p:nvGraphicFramePr>
        <p:xfrm>
          <a:off x="7680960" y="1188720"/>
          <a:ext cx="3931920" cy="3200400"/>
        </p:xfrm>
        <a:graphic>
          <a:graphicData uri="http://schemas.openxmlformats.org/drawingml/2006/table">
            <a:tbl>
              <a:tblPr firstRow="1" bandRow="1">
                <a:tableStyleId>{5C22544A-7EE6-4342-B048-85BDC9FD1C3A}</a:tableStyleId>
              </a:tblPr>
              <a:tblGrid>
                <a:gridCol w="1097280"/>
                <a:gridCol w="640080"/>
                <a:gridCol w="1097280"/>
                <a:gridCol w="1097280"/>
              </a:tblGrid>
              <a:tr h="457200">
                <a:tc>
                  <a:txBody>
                    <a:bodyPr/>
                    <a:lstStyle/>
                    <a:p>
                      <a:pPr>
                        <a:defRPr sz="1000" b="1">
                          <a:solidFill>
                            <a:srgbClr val="FFFFFF"/>
                          </a:solidFill>
                          <a:latin typeface="Calibri"/>
                        </a:defRPr>
                      </a:pPr>
                      <a:r>
                        <a:t>Campaign</a:t>
                      </a:r>
                    </a:p>
                  </a:txBody>
                  <a:tcPr>
                    <a:solidFill>
                      <a:srgbClr val="1A237E"/>
                    </a:solidFill>
                  </a:tcPr>
                </a:tc>
                <a:tc>
                  <a:txBody>
                    <a:bodyPr/>
                    <a:lstStyle/>
                    <a:p>
                      <a:pPr>
                        <a:defRPr sz="1000" b="1">
                          <a:solidFill>
                            <a:srgbClr val="FFFFFF"/>
                          </a:solidFill>
                          <a:latin typeface="Calibri"/>
                        </a:defRPr>
                      </a:pPr>
                      <a:r>
                        <a:t>Target CPA</a:t>
                      </a:r>
                    </a:p>
                  </a:txBody>
                  <a:tcPr>
                    <a:solidFill>
                      <a:srgbClr val="1A237E"/>
                    </a:solidFill>
                  </a:tcPr>
                </a:tc>
                <a:tc>
                  <a:txBody>
                    <a:bodyPr/>
                    <a:lstStyle/>
                    <a:p>
                      <a:pPr>
                        <a:defRPr sz="1000" b="1">
                          <a:solidFill>
                            <a:srgbClr val="FFFFFF"/>
                          </a:solidFill>
                          <a:latin typeface="Calibri"/>
                        </a:defRPr>
                      </a:pPr>
                      <a:r>
                        <a:t>Landing Page</a:t>
                      </a:r>
                    </a:p>
                  </a:txBody>
                  <a:tcPr>
                    <a:solidFill>
                      <a:srgbClr val="1A237E"/>
                    </a:solidFill>
                  </a:tcPr>
                </a:tc>
                <a:tc>
                  <a:txBody>
                    <a:bodyPr/>
                    <a:lstStyle/>
                    <a:p>
                      <a:pPr>
                        <a:defRPr sz="1000" b="1">
                          <a:solidFill>
                            <a:srgbClr val="FFFFFF"/>
                          </a:solidFill>
                          <a:latin typeface="Calibri"/>
                        </a:defRPr>
                      </a:pPr>
                      <a:r>
                        <a:t>Basis</a:t>
                      </a:r>
                    </a:p>
                  </a:txBody>
                  <a:tcPr>
                    <a:solidFill>
                      <a:srgbClr val="1A237E"/>
                    </a:solidFill>
                  </a:tcPr>
                </a:tc>
              </a:tr>
              <a:tr h="457200">
                <a:tc>
                  <a:txBody>
                    <a:bodyPr/>
                    <a:lstStyle/>
                    <a:p>
                      <a:pPr>
                        <a:defRPr sz="1000">
                          <a:solidFill>
                            <a:srgbClr val="1A1A1A"/>
                          </a:solidFill>
                          <a:latin typeface="Calibri"/>
                        </a:defRPr>
                      </a:pPr>
                      <a:r>
                        <a:t>Single Implants</a:t>
                      </a:r>
                    </a:p>
                  </a:txBody>
                  <a:tcPr>
                    <a:solidFill>
                      <a:srgbClr val="F5F6FA"/>
                    </a:solidFill>
                  </a:tcPr>
                </a:tc>
                <a:tc>
                  <a:txBody>
                    <a:bodyPr/>
                    <a:lstStyle/>
                    <a:p>
                      <a:pPr>
                        <a:defRPr sz="1000">
                          <a:solidFill>
                            <a:srgbClr val="1A1A1A"/>
                          </a:solidFill>
                          <a:latin typeface="Calibri"/>
                        </a:defRPr>
                      </a:pPr>
                      <a:r>
                        <a:t>£60</a:t>
                      </a:r>
                    </a:p>
                  </a:txBody>
                  <a:tcPr>
                    <a:solidFill>
                      <a:srgbClr val="F5F6FA"/>
                    </a:solidFill>
                  </a:tcPr>
                </a:tc>
                <a:tc>
                  <a:txBody>
                    <a:bodyPr/>
                    <a:lstStyle/>
                    <a:p>
                      <a:pPr>
                        <a:defRPr sz="1000">
                          <a:solidFill>
                            <a:srgbClr val="1A1A1A"/>
                          </a:solidFill>
                          <a:latin typeface="Calibri"/>
                        </a:defRPr>
                      </a:pPr>
                      <a:r>
                        <a:t>/dental-implants-offer</a:t>
                      </a:r>
                    </a:p>
                  </a:txBody>
                  <a:tcPr>
                    <a:solidFill>
                      <a:srgbClr val="F5F6FA"/>
                    </a:solidFill>
                  </a:tcPr>
                </a:tc>
                <a:tc>
                  <a:txBody>
                    <a:bodyPr/>
                    <a:lstStyle/>
                    <a:p>
                      <a:pPr>
                        <a:defRPr sz="1000">
                          <a:solidFill>
                            <a:srgbClr val="1A1A1A"/>
                          </a:solidFill>
                          <a:latin typeface="Calibri"/>
                        </a:defRPr>
                      </a:pPr>
                      <a:r>
                        <a:t>Best LP at £34 CPA</a:t>
                      </a:r>
                    </a:p>
                  </a:txBody>
                  <a:tcPr>
                    <a:solidFill>
                      <a:srgbClr val="F5F6FA"/>
                    </a:solidFill>
                  </a:tcPr>
                </a:tc>
              </a:tr>
              <a:tr h="457200">
                <a:tc>
                  <a:txBody>
                    <a:bodyPr/>
                    <a:lstStyle/>
                    <a:p>
                      <a:pPr>
                        <a:defRPr sz="1000">
                          <a:solidFill>
                            <a:srgbClr val="1A1A1A"/>
                          </a:solidFill>
                          <a:latin typeface="Calibri"/>
                        </a:defRPr>
                      </a:pPr>
                      <a:r>
                        <a:t>Full Arch / All-on-4</a:t>
                      </a:r>
                    </a:p>
                  </a:txBody>
                  <a:tcPr>
                    <a:solidFill>
                      <a:srgbClr val="FFFFFF"/>
                    </a:solidFill>
                  </a:tcPr>
                </a:tc>
                <a:tc>
                  <a:txBody>
                    <a:bodyPr/>
                    <a:lstStyle/>
                    <a:p>
                      <a:pPr>
                        <a:defRPr sz="1000">
                          <a:solidFill>
                            <a:srgbClr val="1A1A1A"/>
                          </a:solidFill>
                          <a:latin typeface="Calibri"/>
                        </a:defRPr>
                      </a:pPr>
                      <a:r>
                        <a:t>£70</a:t>
                      </a:r>
                    </a:p>
                  </a:txBody>
                  <a:tcPr>
                    <a:solidFill>
                      <a:srgbClr val="FFFFFF"/>
                    </a:solidFill>
                  </a:tcPr>
                </a:tc>
                <a:tc>
                  <a:txBody>
                    <a:bodyPr/>
                    <a:lstStyle/>
                    <a:p>
                      <a:pPr>
                        <a:defRPr sz="1000">
                          <a:solidFill>
                            <a:srgbClr val="1A1A1A"/>
                          </a:solidFill>
                          <a:latin typeface="Calibri"/>
                        </a:defRPr>
                      </a:pPr>
                      <a:r>
                        <a:t>/all-on-4-offer</a:t>
                      </a:r>
                    </a:p>
                  </a:txBody>
                  <a:tcPr>
                    <a:solidFill>
                      <a:srgbClr val="FFFFFF"/>
                    </a:solidFill>
                  </a:tcPr>
                </a:tc>
                <a:tc>
                  <a:txBody>
                    <a:bodyPr/>
                    <a:lstStyle/>
                    <a:p>
                      <a:pPr>
                        <a:defRPr sz="1000">
                          <a:solidFill>
                            <a:srgbClr val="1A1A1A"/>
                          </a:solidFill>
                          <a:latin typeface="Calibri"/>
                        </a:defRPr>
                      </a:pPr>
                      <a:r>
                        <a:t>High value, higher CPA expected</a:t>
                      </a:r>
                    </a:p>
                  </a:txBody>
                  <a:tcPr>
                    <a:solidFill>
                      <a:srgbClr val="FFFFFF"/>
                    </a:solidFill>
                  </a:tcPr>
                </a:tc>
              </a:tr>
              <a:tr h="457200">
                <a:tc>
                  <a:txBody>
                    <a:bodyPr/>
                    <a:lstStyle/>
                    <a:p>
                      <a:pPr>
                        <a:defRPr sz="1000">
                          <a:solidFill>
                            <a:srgbClr val="1A1A1A"/>
                          </a:solidFill>
                          <a:latin typeface="Calibri"/>
                        </a:defRPr>
                      </a:pPr>
                      <a:r>
                        <a:t>Financing</a:t>
                      </a:r>
                    </a:p>
                  </a:txBody>
                  <a:tcPr>
                    <a:solidFill>
                      <a:srgbClr val="F5F6FA"/>
                    </a:solidFill>
                  </a:tcPr>
                </a:tc>
                <a:tc>
                  <a:txBody>
                    <a:bodyPr/>
                    <a:lstStyle/>
                    <a:p>
                      <a:pPr>
                        <a:defRPr sz="1000">
                          <a:solidFill>
                            <a:srgbClr val="1A1A1A"/>
                          </a:solidFill>
                          <a:latin typeface="Calibri"/>
                        </a:defRPr>
                      </a:pPr>
                      <a:r>
                        <a:t>£35</a:t>
                      </a:r>
                    </a:p>
                  </a:txBody>
                  <a:tcPr>
                    <a:solidFill>
                      <a:srgbClr val="F5F6FA"/>
                    </a:solidFill>
                  </a:tcPr>
                </a:tc>
                <a:tc>
                  <a:txBody>
                    <a:bodyPr/>
                    <a:lstStyle/>
                    <a:p>
                      <a:pPr>
                        <a:defRPr sz="1000">
                          <a:solidFill>
                            <a:srgbClr val="1A1A1A"/>
                          </a:solidFill>
                          <a:latin typeface="Calibri"/>
                        </a:defRPr>
                      </a:pPr>
                      <a:r>
                        <a:t>/dental-implants-offer</a:t>
                      </a:r>
                    </a:p>
                  </a:txBody>
                  <a:tcPr>
                    <a:solidFill>
                      <a:srgbClr val="F5F6FA"/>
                    </a:solidFill>
                  </a:tcPr>
                </a:tc>
                <a:tc>
                  <a:txBody>
                    <a:bodyPr/>
                    <a:lstStyle/>
                    <a:p>
                      <a:pPr>
                        <a:defRPr sz="1000">
                          <a:solidFill>
                            <a:srgbClr val="1A1A1A"/>
                          </a:solidFill>
                          <a:latin typeface="Calibri"/>
                        </a:defRPr>
                      </a:pPr>
                      <a:r>
                        <a:t>Proven: £34 CPA, 24.7% CVR</a:t>
                      </a:r>
                    </a:p>
                  </a:txBody>
                  <a:tcPr>
                    <a:solidFill>
                      <a:srgbClr val="F5F6FA"/>
                    </a:solidFill>
                  </a:tcPr>
                </a:tc>
              </a:tr>
              <a:tr h="457200">
                <a:tc>
                  <a:txBody>
                    <a:bodyPr/>
                    <a:lstStyle/>
                    <a:p>
                      <a:pPr>
                        <a:defRPr sz="1000">
                          <a:solidFill>
                            <a:srgbClr val="1A1A1A"/>
                          </a:solidFill>
                          <a:latin typeface="Calibri"/>
                        </a:defRPr>
                      </a:pPr>
                      <a:r>
                        <a:t>Invisalign</a:t>
                      </a:r>
                    </a:p>
                  </a:txBody>
                  <a:tcPr>
                    <a:solidFill>
                      <a:srgbClr val="FFFFFF"/>
                    </a:solidFill>
                  </a:tcPr>
                </a:tc>
                <a:tc>
                  <a:txBody>
                    <a:bodyPr/>
                    <a:lstStyle/>
                    <a:p>
                      <a:pPr>
                        <a:defRPr sz="1000">
                          <a:solidFill>
                            <a:srgbClr val="1A1A1A"/>
                          </a:solidFill>
                          <a:latin typeface="Calibri"/>
                        </a:defRPr>
                      </a:pPr>
                      <a:r>
                        <a:t>£45</a:t>
                      </a:r>
                    </a:p>
                  </a:txBody>
                  <a:tcPr>
                    <a:solidFill>
                      <a:srgbClr val="FFFFFF"/>
                    </a:solidFill>
                  </a:tcPr>
                </a:tc>
                <a:tc>
                  <a:txBody>
                    <a:bodyPr/>
                    <a:lstStyle/>
                    <a:p>
                      <a:pPr>
                        <a:defRPr sz="1000">
                          <a:solidFill>
                            <a:srgbClr val="1A1A1A"/>
                          </a:solidFill>
                          <a:latin typeface="Calibri"/>
                        </a:defRPr>
                      </a:pPr>
                      <a:r>
                        <a:t>/invisalign</a:t>
                      </a:r>
                    </a:p>
                  </a:txBody>
                  <a:tcPr>
                    <a:solidFill>
                      <a:srgbClr val="FFFFFF"/>
                    </a:solidFill>
                  </a:tcPr>
                </a:tc>
                <a:tc>
                  <a:txBody>
                    <a:bodyPr/>
                    <a:lstStyle/>
                    <a:p>
                      <a:pPr>
                        <a:defRPr sz="1000">
                          <a:solidFill>
                            <a:srgbClr val="1A1A1A"/>
                          </a:solidFill>
                          <a:latin typeface="Calibri"/>
                        </a:defRPr>
                      </a:pPr>
                      <a:r>
                        <a:t>Currently £45 CPA</a:t>
                      </a:r>
                    </a:p>
                  </a:txBody>
                  <a:tcPr>
                    <a:solidFill>
                      <a:srgbClr val="FFFFFF"/>
                    </a:solidFill>
                  </a:tcPr>
                </a:tc>
              </a:tr>
              <a:tr h="457200">
                <a:tc>
                  <a:txBody>
                    <a:bodyPr/>
                    <a:lstStyle/>
                    <a:p>
                      <a:pPr>
                        <a:defRPr sz="1000">
                          <a:solidFill>
                            <a:srgbClr val="1A1A1A"/>
                          </a:solidFill>
                          <a:latin typeface="Calibri"/>
                        </a:defRPr>
                      </a:pPr>
                      <a:r>
                        <a:t>Brand</a:t>
                      </a:r>
                    </a:p>
                  </a:txBody>
                  <a:tcPr>
                    <a:solidFill>
                      <a:srgbClr val="F5F6FA"/>
                    </a:solidFill>
                  </a:tcPr>
                </a:tc>
                <a:tc>
                  <a:txBody>
                    <a:bodyPr/>
                    <a:lstStyle/>
                    <a:p>
                      <a:pPr>
                        <a:defRPr sz="1000">
                          <a:solidFill>
                            <a:srgbClr val="1A1A1A"/>
                          </a:solidFill>
                          <a:latin typeface="Calibri"/>
                        </a:defRPr>
                      </a:pPr>
                      <a:r>
                        <a:t>£18</a:t>
                      </a:r>
                    </a:p>
                  </a:txBody>
                  <a:tcPr>
                    <a:solidFill>
                      <a:srgbClr val="F5F6FA"/>
                    </a:solidFill>
                  </a:tcPr>
                </a:tc>
                <a:tc>
                  <a:txBody>
                    <a:bodyPr/>
                    <a:lstStyle/>
                    <a:p>
                      <a:pPr>
                        <a:defRPr sz="1000">
                          <a:solidFill>
                            <a:srgbClr val="1A1A1A"/>
                          </a:solidFill>
                          <a:latin typeface="Calibri"/>
                        </a:defRPr>
                      </a:pPr>
                      <a:r>
                        <a:t>(homepage)</a:t>
                      </a:r>
                    </a:p>
                  </a:txBody>
                  <a:tcPr>
                    <a:solidFill>
                      <a:srgbClr val="F5F6FA"/>
                    </a:solidFill>
                  </a:tcPr>
                </a:tc>
                <a:tc>
                  <a:txBody>
                    <a:bodyPr/>
                    <a:lstStyle/>
                    <a:p>
                      <a:pPr>
                        <a:defRPr sz="1000">
                          <a:solidFill>
                            <a:srgbClr val="1A1A1A"/>
                          </a:solidFill>
                          <a:latin typeface="Calibri"/>
                        </a:defRPr>
                      </a:pPr>
                      <a:r>
                        <a:t>Currently £18 — no change</a:t>
                      </a:r>
                    </a:p>
                  </a:txBody>
                  <a:tcPr>
                    <a:solidFill>
                      <a:srgbClr val="F5F6FA"/>
                    </a:solidFill>
                  </a:tcPr>
                </a:tc>
              </a:tr>
              <a:tr h="457200">
                <a:tc>
                  <a:txBody>
                    <a:bodyPr/>
                    <a:lstStyle/>
                    <a:p>
                      <a:pPr>
                        <a:defRPr sz="1000">
                          <a:solidFill>
                            <a:srgbClr val="1A1A1A"/>
                          </a:solidFill>
                          <a:latin typeface="Calibri"/>
                        </a:defRPr>
                      </a:pPr>
                      <a:r>
                        <a:t>PMax (reduced)</a:t>
                      </a:r>
                    </a:p>
                  </a:txBody>
                  <a:tcPr>
                    <a:solidFill>
                      <a:srgbClr val="FFFFFF"/>
                    </a:solidFill>
                  </a:tcPr>
                </a:tc>
                <a:tc>
                  <a:txBody>
                    <a:bodyPr/>
                    <a:lstStyle/>
                    <a:p>
                      <a:pPr>
                        <a:defRPr sz="1000">
                          <a:solidFill>
                            <a:srgbClr val="1A1A1A"/>
                          </a:solidFill>
                          <a:latin typeface="Calibri"/>
                        </a:defRPr>
                      </a:pPr>
                      <a:r>
                        <a:t>£50</a:t>
                      </a:r>
                    </a:p>
                  </a:txBody>
                  <a:tcPr>
                    <a:solidFill>
                      <a:srgbClr val="FFFFFF"/>
                    </a:solidFill>
                  </a:tcPr>
                </a:tc>
                <a:tc>
                  <a:txBody>
                    <a:bodyPr/>
                    <a:lstStyle/>
                    <a:p>
                      <a:pPr>
                        <a:defRPr sz="1000">
                          <a:solidFill>
                            <a:srgbClr val="1A1A1A"/>
                          </a:solidFill>
                          <a:latin typeface="Calibri"/>
                        </a:defRPr>
                      </a:pPr>
                      <a:r>
                        <a:t>Various</a:t>
                      </a:r>
                    </a:p>
                  </a:txBody>
                  <a:tcPr>
                    <a:solidFill>
                      <a:srgbClr val="FFFFFF"/>
                    </a:solidFill>
                  </a:tcPr>
                </a:tc>
                <a:tc>
                  <a:txBody>
                    <a:bodyPr/>
                    <a:lstStyle/>
                    <a:p>
                      <a:pPr>
                        <a:defRPr sz="1000">
                          <a:solidFill>
                            <a:srgbClr val="1A1A1A"/>
                          </a:solidFill>
                          <a:latin typeface="Calibri"/>
                        </a:defRPr>
                      </a:pPr>
                      <a:r>
                        <a:t>Supplementary only</a:t>
                      </a:r>
                    </a:p>
                  </a:txBody>
                  <a:tcPr>
                    <a:solidFill>
                      <a:srgbClr val="FFFFFF"/>
                    </a:solidFill>
                  </a:tcPr>
                </a:tc>
              </a:tr>
            </a:tbl>
          </a:graphicData>
        </a:graphic>
      </p:graphicFrame>
      <p:sp>
        <p:nvSpPr>
          <p:cNvPr id="12" name="Rectangle 11"/>
          <p:cNvSpPr/>
          <p:nvPr/>
        </p:nvSpPr>
        <p:spPr>
          <a:xfrm>
            <a:off x="548640" y="4663440"/>
            <a:ext cx="11064240" cy="54864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709160"/>
            <a:ext cx="10607040" cy="457200"/>
          </a:xfrm>
          <a:prstGeom prst="rect">
            <a:avLst/>
          </a:prstGeom>
          <a:noFill/>
        </p:spPr>
        <p:txBody>
          <a:bodyPr wrap="square">
            <a:spAutoFit/>
          </a:bodyPr>
          <a:lstStyle/>
          <a:p>
            <a:pPr algn="l"/>
            <a:r>
              <a:rPr sz="1100" b="1">
                <a:solidFill>
                  <a:srgbClr val="1A237E"/>
                </a:solidFill>
                <a:latin typeface="Calibri"/>
              </a:rPr>
              <a:t>Each campaign gets proper negative keywords, treatment-specific ads, matched landing pages, and tCPA bidding. This is what PMax can't do.</a:t>
            </a:r>
          </a:p>
        </p:txBody>
      </p:sp>
      <p:sp>
        <p:nvSpPr>
          <p:cNvPr id="14" name="TextBox 13"/>
          <p:cNvSpPr txBox="1"/>
          <p:nvPr/>
        </p:nvSpPr>
        <p:spPr>
          <a:xfrm>
            <a:off x="548640" y="5394960"/>
            <a:ext cx="11064240" cy="457200"/>
          </a:xfrm>
          <a:prstGeom prst="rect">
            <a:avLst/>
          </a:prstGeom>
          <a:noFill/>
        </p:spPr>
        <p:txBody>
          <a:bodyPr wrap="square">
            <a:spAutoFit/>
          </a:bodyPr>
          <a:lstStyle/>
          <a:p>
            <a:pPr algn="l"/>
            <a:r>
              <a:rPr sz="1000" b="0">
                <a:solidFill>
                  <a:srgbClr val="CBD5E1"/>
                </a:solidFill>
                <a:latin typeface="Calibri"/>
              </a:rPr>
              <a:t>Target CPAs are conservative starting points. The Financing ad group at £34 CPA proves these targets are achievable with the right structure.</a:t>
            </a:r>
          </a:p>
        </p:txBody>
      </p:sp>
      <p:sp>
        <p:nvSpPr>
          <p:cNvPr id="15" name="Rectangle 14"/>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20" name="TextBox 19"/>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1" name="TextBox 20"/>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Step 1: Fix Conversion Tracking</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Remove ghosts, move soft signals, replace arbitrary ROAS values</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Week 1</a:t>
            </a:r>
          </a:p>
        </p:txBody>
      </p:sp>
      <p:graphicFrame>
        <p:nvGraphicFramePr>
          <p:cNvPr id="10" name="Table 9"/>
          <p:cNvGraphicFramePr>
            <a:graphicFrameLocks noGrp="1"/>
          </p:cNvGraphicFramePr>
          <p:nvPr/>
        </p:nvGraphicFramePr>
        <p:xfrm>
          <a:off x="548640" y="1188720"/>
          <a:ext cx="8503920" cy="2560320"/>
        </p:xfrm>
        <a:graphic>
          <a:graphicData uri="http://schemas.openxmlformats.org/drawingml/2006/table">
            <a:tbl>
              <a:tblPr firstRow="1" bandRow="1">
                <a:tableStyleId>{5C22544A-7EE6-4342-B048-85BDC9FD1C3A}</a:tableStyleId>
              </a:tblPr>
              <a:tblGrid>
                <a:gridCol w="2286000"/>
                <a:gridCol w="731520"/>
                <a:gridCol w="914400"/>
                <a:gridCol w="4572000"/>
              </a:tblGrid>
              <a:tr h="284480">
                <a:tc>
                  <a:txBody>
                    <a:bodyPr/>
                    <a:lstStyle/>
                    <a:p>
                      <a:pPr>
                        <a:defRPr sz="1000" b="1">
                          <a:solidFill>
                            <a:srgbClr val="FFFFFF"/>
                          </a:solidFill>
                          <a:latin typeface="Calibri"/>
                        </a:defRPr>
                      </a:pPr>
                      <a:r>
                        <a:t>Conversion Action</a:t>
                      </a:r>
                    </a:p>
                  </a:txBody>
                  <a:tcPr>
                    <a:solidFill>
                      <a:srgbClr val="1A237E"/>
                    </a:solidFill>
                  </a:tcPr>
                </a:tc>
                <a:tc>
                  <a:txBody>
                    <a:bodyPr/>
                    <a:lstStyle/>
                    <a:p>
                      <a:pPr>
                        <a:defRPr sz="1000" b="1">
                          <a:solidFill>
                            <a:srgbClr val="FFFFFF"/>
                          </a:solidFill>
                          <a:latin typeface="Calibri"/>
                        </a:defRPr>
                      </a:pPr>
                      <a:r>
                        <a:t>Current</a:t>
                      </a:r>
                    </a:p>
                  </a:txBody>
                  <a:tcPr>
                    <a:solidFill>
                      <a:srgbClr val="1A237E"/>
                    </a:solidFill>
                  </a:tcPr>
                </a:tc>
                <a:tc>
                  <a:txBody>
                    <a:bodyPr/>
                    <a:lstStyle/>
                    <a:p>
                      <a:pPr>
                        <a:defRPr sz="1000" b="1">
                          <a:solidFill>
                            <a:srgbClr val="FFFFFF"/>
                          </a:solidFill>
                          <a:latin typeface="Calibri"/>
                        </a:defRPr>
                      </a:pPr>
                      <a:r>
                        <a:t>Proposed</a:t>
                      </a:r>
                    </a:p>
                  </a:txBody>
                  <a:tcPr>
                    <a:solidFill>
                      <a:srgbClr val="1A237E"/>
                    </a:solidFill>
                  </a:tcPr>
                </a:tc>
                <a:tc>
                  <a:txBody>
                    <a:bodyPr/>
                    <a:lstStyle/>
                    <a:p>
                      <a:pPr>
                        <a:defRPr sz="1000" b="1">
                          <a:solidFill>
                            <a:srgbClr val="FFFFFF"/>
                          </a:solidFill>
                          <a:latin typeface="Calibri"/>
                        </a:defRPr>
                      </a:pPr>
                      <a:r>
                        <a:t>Why</a:t>
                      </a:r>
                    </a:p>
                  </a:txBody>
                  <a:tcPr>
                    <a:solidFill>
                      <a:srgbClr val="1A237E"/>
                    </a:solidFill>
                  </a:tcPr>
                </a:tc>
              </a:tr>
              <a:tr h="284480">
                <a:tc>
                  <a:txBody>
                    <a:bodyPr/>
                    <a:lstStyle/>
                    <a:p>
                      <a:pPr>
                        <a:defRPr sz="1000">
                          <a:solidFill>
                            <a:srgbClr val="1A1A1A"/>
                          </a:solidFill>
                          <a:latin typeface="Calibri"/>
                        </a:defRPr>
                      </a:pPr>
                      <a:r>
                        <a:t>KMG OLD LP | Book A Free Consult</a:t>
                      </a:r>
                    </a:p>
                  </a:txBody>
                  <a:tcPr>
                    <a:solidFill>
                      <a:srgbClr val="F5F6FA"/>
                    </a:solidFill>
                  </a:tcPr>
                </a:tc>
                <a:tc>
                  <a:txBody>
                    <a:bodyPr/>
                    <a:lstStyle/>
                    <a:p>
                      <a:pPr>
                        <a:defRPr sz="1000">
                          <a:solidFill>
                            <a:srgbClr val="1A1A1A"/>
                          </a:solidFill>
                          <a:latin typeface="Calibri"/>
                        </a:defRPr>
                      </a:pPr>
                      <a:r>
                        <a:t>Primary</a:t>
                      </a:r>
                    </a:p>
                  </a:txBody>
                  <a:tcPr>
                    <a:solidFill>
                      <a:srgbClr val="F5F6FA"/>
                    </a:solidFill>
                  </a:tcPr>
                </a:tc>
                <a:tc>
                  <a:txBody>
                    <a:bodyPr/>
                    <a:lstStyle/>
                    <a:p>
                      <a:pPr>
                        <a:defRPr sz="1000">
                          <a:solidFill>
                            <a:srgbClr val="1A1A1A"/>
                          </a:solidFill>
                          <a:latin typeface="Calibri"/>
                        </a:defRPr>
                      </a:pPr>
                      <a:r>
                        <a:t>Remove</a:t>
                      </a:r>
                    </a:p>
                  </a:txBody>
                  <a:tcPr>
                    <a:solidFill>
                      <a:srgbClr val="F5F6FA"/>
                    </a:solidFill>
                  </a:tcPr>
                </a:tc>
                <a:tc>
                  <a:txBody>
                    <a:bodyPr/>
                    <a:lstStyle/>
                    <a:p>
                      <a:pPr>
                        <a:defRPr sz="1000">
                          <a:solidFill>
                            <a:srgbClr val="1A1A1A"/>
                          </a:solidFill>
                          <a:latin typeface="Calibri"/>
                        </a:defRPr>
                      </a:pPr>
                      <a:r>
                        <a:t>Ghost — 1,250 phantom conversions (Giulio confirmed)</a:t>
                      </a:r>
                    </a:p>
                  </a:txBody>
                  <a:tcPr>
                    <a:solidFill>
                      <a:srgbClr val="F5F6FA"/>
                    </a:solidFill>
                  </a:tcPr>
                </a:tc>
              </a:tr>
              <a:tr h="284480">
                <a:tc>
                  <a:txBody>
                    <a:bodyPr/>
                    <a:lstStyle/>
                    <a:p>
                      <a:pPr>
                        <a:defRPr sz="1000">
                          <a:solidFill>
                            <a:srgbClr val="1A1A1A"/>
                          </a:solidFill>
                          <a:latin typeface="Calibri"/>
                        </a:defRPr>
                      </a:pPr>
                      <a:r>
                        <a:t>KMG OLD LP | Website Phone Call</a:t>
                      </a:r>
                    </a:p>
                  </a:txBody>
                  <a:tcPr>
                    <a:solidFill>
                      <a:srgbClr val="FFFFFF"/>
                    </a:solidFill>
                  </a:tcPr>
                </a:tc>
                <a:tc>
                  <a:txBody>
                    <a:bodyPr/>
                    <a:lstStyle/>
                    <a:p>
                      <a:pPr>
                        <a:defRPr sz="1000">
                          <a:solidFill>
                            <a:srgbClr val="1A1A1A"/>
                          </a:solidFill>
                          <a:latin typeface="Calibri"/>
                        </a:defRPr>
                      </a:pPr>
                      <a:r>
                        <a:t>Primary</a:t>
                      </a:r>
                    </a:p>
                  </a:txBody>
                  <a:tcPr>
                    <a:solidFill>
                      <a:srgbClr val="FFFFFF"/>
                    </a:solidFill>
                  </a:tcPr>
                </a:tc>
                <a:tc>
                  <a:txBody>
                    <a:bodyPr/>
                    <a:lstStyle/>
                    <a:p>
                      <a:pPr>
                        <a:defRPr sz="1000">
                          <a:solidFill>
                            <a:srgbClr val="1A1A1A"/>
                          </a:solidFill>
                          <a:latin typeface="Calibri"/>
                        </a:defRPr>
                      </a:pPr>
                      <a:r>
                        <a:t>Remove</a:t>
                      </a:r>
                    </a:p>
                  </a:txBody>
                  <a:tcPr>
                    <a:solidFill>
                      <a:srgbClr val="FFFFFF"/>
                    </a:solidFill>
                  </a:tcPr>
                </a:tc>
                <a:tc>
                  <a:txBody>
                    <a:bodyPr/>
                    <a:lstStyle/>
                    <a:p>
                      <a:pPr>
                        <a:defRPr sz="1000">
                          <a:solidFill>
                            <a:srgbClr val="1A1A1A"/>
                          </a:solidFill>
                          <a:latin typeface="Calibri"/>
                        </a:defRPr>
                      </a:pPr>
                      <a:r>
                        <a:t>Ghost — 57 phantom conversions</a:t>
                      </a:r>
                    </a:p>
                  </a:txBody>
                  <a:tcPr>
                    <a:solidFill>
                      <a:srgbClr val="FFFFFF"/>
                    </a:solidFill>
                  </a:tcPr>
                </a:tc>
              </a:tr>
              <a:tr h="284480">
                <a:tc>
                  <a:txBody>
                    <a:bodyPr/>
                    <a:lstStyle/>
                    <a:p>
                      <a:pPr>
                        <a:defRPr sz="1000">
                          <a:solidFill>
                            <a:srgbClr val="1A1A1A"/>
                          </a:solidFill>
                          <a:latin typeface="Calibri"/>
                        </a:defRPr>
                      </a:pPr>
                      <a:r>
                        <a:t>KMG | Call Extension</a:t>
                      </a:r>
                    </a:p>
                  </a:txBody>
                  <a:tcPr>
                    <a:solidFill>
                      <a:srgbClr val="F5F6FA"/>
                    </a:solidFill>
                  </a:tcPr>
                </a:tc>
                <a:tc>
                  <a:txBody>
                    <a:bodyPr/>
                    <a:lstStyle/>
                    <a:p>
                      <a:pPr>
                        <a:defRPr sz="1000">
                          <a:solidFill>
                            <a:srgbClr val="1A1A1A"/>
                          </a:solidFill>
                          <a:latin typeface="Calibri"/>
                        </a:defRPr>
                      </a:pPr>
                      <a:r>
                        <a:t>Primary</a:t>
                      </a:r>
                    </a:p>
                  </a:txBody>
                  <a:tcPr>
                    <a:solidFill>
                      <a:srgbClr val="F5F6FA"/>
                    </a:solidFill>
                  </a:tcPr>
                </a:tc>
                <a:tc>
                  <a:txBody>
                    <a:bodyPr/>
                    <a:lstStyle/>
                    <a:p>
                      <a:pPr>
                        <a:defRPr sz="1000">
                          <a:solidFill>
                            <a:srgbClr val="1A1A1A"/>
                          </a:solidFill>
                          <a:latin typeface="Calibri"/>
                        </a:defRPr>
                      </a:pPr>
                      <a:r>
                        <a:t>Remove</a:t>
                      </a:r>
                    </a:p>
                  </a:txBody>
                  <a:tcPr>
                    <a:solidFill>
                      <a:srgbClr val="F5F6FA"/>
                    </a:solidFill>
                  </a:tcPr>
                </a:tc>
                <a:tc>
                  <a:txBody>
                    <a:bodyPr/>
                    <a:lstStyle/>
                    <a:p>
                      <a:pPr>
                        <a:defRPr sz="1000">
                          <a:solidFill>
                            <a:srgbClr val="1A1A1A"/>
                          </a:solidFill>
                          <a:latin typeface="Calibri"/>
                        </a:defRPr>
                      </a:pPr>
                      <a:r>
                        <a:t>Legacy agency — 204 phantom conversions</a:t>
                      </a:r>
                    </a:p>
                  </a:txBody>
                  <a:tcPr>
                    <a:solidFill>
                      <a:srgbClr val="F5F6FA"/>
                    </a:solidFill>
                  </a:tcPr>
                </a:tc>
              </a:tr>
              <a:tr h="284480">
                <a:tc>
                  <a:txBody>
                    <a:bodyPr/>
                    <a:lstStyle/>
                    <a:p>
                      <a:pPr>
                        <a:defRPr sz="1000">
                          <a:solidFill>
                            <a:srgbClr val="1A1A1A"/>
                          </a:solidFill>
                          <a:latin typeface="Calibri"/>
                        </a:defRPr>
                      </a:pPr>
                      <a:r>
                        <a:t>Online Booking Click</a:t>
                      </a:r>
                    </a:p>
                  </a:txBody>
                  <a:tcPr>
                    <a:solidFill>
                      <a:srgbClr val="FFFFFF"/>
                    </a:solidFill>
                  </a:tcPr>
                </a:tc>
                <a:tc>
                  <a:txBody>
                    <a:bodyPr/>
                    <a:lstStyle/>
                    <a:p>
                      <a:pPr>
                        <a:defRPr sz="1000">
                          <a:solidFill>
                            <a:srgbClr val="1A1A1A"/>
                          </a:solidFill>
                          <a:latin typeface="Calibri"/>
                        </a:defRPr>
                      </a:pPr>
                      <a:r>
                        <a:t>Primary</a:t>
                      </a:r>
                    </a:p>
                  </a:txBody>
                  <a:tcPr>
                    <a:solidFill>
                      <a:srgbClr val="FFFFFF"/>
                    </a:solidFill>
                  </a:tcPr>
                </a:tc>
                <a:tc>
                  <a:txBody>
                    <a:bodyPr/>
                    <a:lstStyle/>
                    <a:p>
                      <a:pPr>
                        <a:defRPr sz="1000">
                          <a:solidFill>
                            <a:srgbClr val="1A1A1A"/>
                          </a:solidFill>
                          <a:latin typeface="Calibri"/>
                        </a:defRPr>
                      </a:pPr>
                      <a:r>
                        <a:t>Secondary</a:t>
                      </a:r>
                    </a:p>
                  </a:txBody>
                  <a:tcPr>
                    <a:solidFill>
                      <a:srgbClr val="FFFFFF"/>
                    </a:solidFill>
                  </a:tcPr>
                </a:tc>
                <a:tc>
                  <a:txBody>
                    <a:bodyPr/>
                    <a:lstStyle/>
                    <a:p>
                      <a:pPr>
                        <a:defRPr sz="1000">
                          <a:solidFill>
                            <a:srgbClr val="1A1A1A"/>
                          </a:solidFill>
                          <a:latin typeface="Calibri"/>
                        </a:defRPr>
                      </a:pPr>
                      <a:r>
                        <a:t>Click, not a booking — 264 soft signals</a:t>
                      </a:r>
                    </a:p>
                  </a:txBody>
                  <a:tcPr>
                    <a:solidFill>
                      <a:srgbClr val="FFFFFF"/>
                    </a:solidFill>
                  </a:tcPr>
                </a:tc>
              </a:tr>
              <a:tr h="284480">
                <a:tc>
                  <a:txBody>
                    <a:bodyPr/>
                    <a:lstStyle/>
                    <a:p>
                      <a:pPr>
                        <a:defRPr sz="1000">
                          <a:solidFill>
                            <a:srgbClr val="1A1A1A"/>
                          </a:solidFill>
                          <a:latin typeface="Calibri"/>
                        </a:defRPr>
                      </a:pPr>
                      <a:r>
                        <a:t>Phone Click / WhatsApp Click / Chat</a:t>
                      </a:r>
                    </a:p>
                  </a:txBody>
                  <a:tcPr>
                    <a:solidFill>
                      <a:srgbClr val="F5F6FA"/>
                    </a:solidFill>
                  </a:tcPr>
                </a:tc>
                <a:tc>
                  <a:txBody>
                    <a:bodyPr/>
                    <a:lstStyle/>
                    <a:p>
                      <a:pPr>
                        <a:defRPr sz="1000">
                          <a:solidFill>
                            <a:srgbClr val="1A1A1A"/>
                          </a:solidFill>
                          <a:latin typeface="Calibri"/>
                        </a:defRPr>
                      </a:pPr>
                      <a:r>
                        <a:t>Primary</a:t>
                      </a:r>
                    </a:p>
                  </a:txBody>
                  <a:tcPr>
                    <a:solidFill>
                      <a:srgbClr val="F5F6FA"/>
                    </a:solidFill>
                  </a:tcPr>
                </a:tc>
                <a:tc>
                  <a:txBody>
                    <a:bodyPr/>
                    <a:lstStyle/>
                    <a:p>
                      <a:pPr>
                        <a:defRPr sz="1000">
                          <a:solidFill>
                            <a:srgbClr val="1A1A1A"/>
                          </a:solidFill>
                          <a:latin typeface="Calibri"/>
                        </a:defRPr>
                      </a:pPr>
                      <a:r>
                        <a:t>Secondary</a:t>
                      </a:r>
                    </a:p>
                  </a:txBody>
                  <a:tcPr>
                    <a:solidFill>
                      <a:srgbClr val="F5F6FA"/>
                    </a:solidFill>
                  </a:tcPr>
                </a:tc>
                <a:tc>
                  <a:txBody>
                    <a:bodyPr/>
                    <a:lstStyle/>
                    <a:p>
                      <a:pPr>
                        <a:defRPr sz="1000">
                          <a:solidFill>
                            <a:srgbClr val="1A1A1A"/>
                          </a:solidFill>
                          <a:latin typeface="Calibri"/>
                        </a:defRPr>
                      </a:pPr>
                      <a:r>
                        <a:t>Clicks, not actions — 181 soft signals</a:t>
                      </a:r>
                    </a:p>
                  </a:txBody>
                  <a:tcPr>
                    <a:solidFill>
                      <a:srgbClr val="F5F6FA"/>
                    </a:solidFill>
                  </a:tcPr>
                </a:tc>
              </a:tr>
              <a:tr h="284480">
                <a:tc>
                  <a:txBody>
                    <a:bodyPr/>
                    <a:lstStyle/>
                    <a:p>
                      <a:pPr>
                        <a:defRPr sz="1000">
                          <a:solidFill>
                            <a:srgbClr val="1A1A1A"/>
                          </a:solidFill>
                          <a:latin typeface="Calibri"/>
                        </a:defRPr>
                      </a:pPr>
                      <a:r>
                        <a:t>Dengro Offline Booking</a:t>
                      </a:r>
                    </a:p>
                  </a:txBody>
                  <a:tcPr>
                    <a:solidFill>
                      <a:srgbClr val="FFFFFF"/>
                    </a:solidFill>
                  </a:tcPr>
                </a:tc>
                <a:tc>
                  <a:txBody>
                    <a:bodyPr/>
                    <a:lstStyle/>
                    <a:p>
                      <a:pPr>
                        <a:defRPr sz="1000">
                          <a:solidFill>
                            <a:srgbClr val="1A1A1A"/>
                          </a:solidFill>
                          <a:latin typeface="Calibri"/>
                        </a:defRPr>
                      </a:pPr>
                      <a:r>
                        <a:t>Primary (L300)</a:t>
                      </a:r>
                    </a:p>
                  </a:txBody>
                  <a:tcPr>
                    <a:solidFill>
                      <a:srgbClr val="FFFFFF"/>
                    </a:solidFill>
                  </a:tcPr>
                </a:tc>
                <a:tc>
                  <a:txBody>
                    <a:bodyPr/>
                    <a:lstStyle/>
                    <a:p>
                      <a:pPr>
                        <a:defRPr sz="1000">
                          <a:solidFill>
                            <a:srgbClr val="1A1A1A"/>
                          </a:solidFill>
                          <a:latin typeface="Calibri"/>
                        </a:defRPr>
                      </a:pPr>
                      <a:r>
                        <a:t>Keep (real value)</a:t>
                      </a:r>
                    </a:p>
                  </a:txBody>
                  <a:tcPr>
                    <a:solidFill>
                      <a:srgbClr val="FFFFFF"/>
                    </a:solidFill>
                  </a:tcPr>
                </a:tc>
                <a:tc>
                  <a:txBody>
                    <a:bodyPr/>
                    <a:lstStyle/>
                    <a:p>
                      <a:pPr>
                        <a:defRPr sz="1000">
                          <a:solidFill>
                            <a:srgbClr val="1A1A1A"/>
                          </a:solidFill>
                          <a:latin typeface="Calibri"/>
                        </a:defRPr>
                      </a:pPr>
                      <a:r>
                        <a:t>Replace L300 with actual treatment value</a:t>
                      </a:r>
                    </a:p>
                  </a:txBody>
                  <a:tcPr>
                    <a:solidFill>
                      <a:srgbClr val="FFFFFF"/>
                    </a:solidFill>
                  </a:tcPr>
                </a:tc>
              </a:tr>
              <a:tr h="284480">
                <a:tc>
                  <a:txBody>
                    <a:bodyPr/>
                    <a:lstStyle/>
                    <a:p>
                      <a:pPr>
                        <a:defRPr sz="1000">
                          <a:solidFill>
                            <a:srgbClr val="1A1A1A"/>
                          </a:solidFill>
                          <a:latin typeface="Calibri"/>
                        </a:defRPr>
                      </a:pPr>
                      <a:r>
                        <a:t>Dengro Offline Lead</a:t>
                      </a:r>
                    </a:p>
                  </a:txBody>
                  <a:tcPr>
                    <a:solidFill>
                      <a:srgbClr val="F5F6FA"/>
                    </a:solidFill>
                  </a:tcPr>
                </a:tc>
                <a:tc>
                  <a:txBody>
                    <a:bodyPr/>
                    <a:lstStyle/>
                    <a:p>
                      <a:pPr>
                        <a:defRPr sz="1000">
                          <a:solidFill>
                            <a:srgbClr val="1A1A1A"/>
                          </a:solidFill>
                          <a:latin typeface="Calibri"/>
                        </a:defRPr>
                      </a:pPr>
                      <a:r>
                        <a:t>Primary</a:t>
                      </a:r>
                    </a:p>
                  </a:txBody>
                  <a:tcPr>
                    <a:solidFill>
                      <a:srgbClr val="F5F6FA"/>
                    </a:solidFill>
                  </a:tcPr>
                </a:tc>
                <a:tc>
                  <a:txBody>
                    <a:bodyPr/>
                    <a:lstStyle/>
                    <a:p>
                      <a:pPr>
                        <a:defRPr sz="1000">
                          <a:solidFill>
                            <a:srgbClr val="1A1A1A"/>
                          </a:solidFill>
                          <a:latin typeface="Calibri"/>
                        </a:defRPr>
                      </a:pPr>
                      <a:r>
                        <a:t>Keep (verify)</a:t>
                      </a:r>
                    </a:p>
                  </a:txBody>
                  <a:tcPr>
                    <a:solidFill>
                      <a:srgbClr val="F5F6FA"/>
                    </a:solidFill>
                  </a:tcPr>
                </a:tc>
                <a:tc>
                  <a:txBody>
                    <a:bodyPr/>
                    <a:lstStyle/>
                    <a:p>
                      <a:pPr>
                        <a:defRPr sz="1000">
                          <a:solidFill>
                            <a:srgbClr val="1A1A1A"/>
                          </a:solidFill>
                          <a:latin typeface="Calibri"/>
                        </a:defRPr>
                      </a:pPr>
                      <a:r>
                        <a:t>Verify only ad-sourced leads are counted</a:t>
                      </a:r>
                    </a:p>
                  </a:txBody>
                  <a:tcPr>
                    <a:solidFill>
                      <a:srgbClr val="F5F6FA"/>
                    </a:solidFill>
                  </a:tcPr>
                </a:tc>
              </a:tr>
              <a:tr h="284480">
                <a:tc>
                  <a:txBody>
                    <a:bodyPr/>
                    <a:lstStyle/>
                    <a:p>
                      <a:pPr>
                        <a:defRPr sz="1000">
                          <a:solidFill>
                            <a:srgbClr val="1A1A1A"/>
                          </a:solidFill>
                          <a:latin typeface="Calibri"/>
                        </a:defRPr>
                      </a:pPr>
                      <a:r>
                        <a:t>Calls from the ads</a:t>
                      </a:r>
                    </a:p>
                  </a:txBody>
                  <a:tcPr>
                    <a:solidFill>
                      <a:srgbClr val="FFFFFF"/>
                    </a:solidFill>
                  </a:tcPr>
                </a:tc>
                <a:tc>
                  <a:txBody>
                    <a:bodyPr/>
                    <a:lstStyle/>
                    <a:p>
                      <a:pPr>
                        <a:defRPr sz="1000">
                          <a:solidFill>
                            <a:srgbClr val="1A1A1A"/>
                          </a:solidFill>
                          <a:latin typeface="Calibri"/>
                        </a:defRPr>
                      </a:pPr>
                      <a:r>
                        <a:t>Primary</a:t>
                      </a:r>
                    </a:p>
                  </a:txBody>
                  <a:tcPr>
                    <a:solidFill>
                      <a:srgbClr val="FFFFFF"/>
                    </a:solidFill>
                  </a:tcPr>
                </a:tc>
                <a:tc>
                  <a:txBody>
                    <a:bodyPr/>
                    <a:lstStyle/>
                    <a:p>
                      <a:pPr>
                        <a:defRPr sz="1000">
                          <a:solidFill>
                            <a:srgbClr val="1A1A1A"/>
                          </a:solidFill>
                          <a:latin typeface="Calibri"/>
                        </a:defRPr>
                      </a:pPr>
                      <a:r>
                        <a:t>Keep</a:t>
                      </a:r>
                    </a:p>
                  </a:txBody>
                  <a:tcPr>
                    <a:solidFill>
                      <a:srgbClr val="FFFFFF"/>
                    </a:solidFill>
                  </a:tcPr>
                </a:tc>
                <a:tc>
                  <a:txBody>
                    <a:bodyPr/>
                    <a:lstStyle/>
                    <a:p>
                      <a:pPr>
                        <a:defRPr sz="1000">
                          <a:solidFill>
                            <a:srgbClr val="1A1A1A"/>
                          </a:solidFill>
                          <a:latin typeface="Calibri"/>
                        </a:defRPr>
                      </a:pPr>
                      <a:r>
                        <a:t>Real calls — 965 legitimate conversions</a:t>
                      </a:r>
                    </a:p>
                  </a:txBody>
                  <a:tcPr>
                    <a:solidFill>
                      <a:srgbClr val="FFFFFF"/>
                    </a:solidFill>
                  </a:tcPr>
                </a:tc>
              </a:tr>
            </a:tbl>
          </a:graphicData>
        </a:graphic>
      </p:graphicFrame>
      <p:sp>
        <p:nvSpPr>
          <p:cNvPr id="11" name="Rectangle 10"/>
          <p:cNvSpPr/>
          <p:nvPr/>
        </p:nvSpPr>
        <p:spPr>
          <a:xfrm>
            <a:off x="548640" y="3931920"/>
            <a:ext cx="5303520" cy="192024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931920"/>
            <a:ext cx="54864" cy="192024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023360"/>
            <a:ext cx="4937760" cy="274320"/>
          </a:xfrm>
          <a:prstGeom prst="rect">
            <a:avLst/>
          </a:prstGeom>
          <a:noFill/>
        </p:spPr>
        <p:txBody>
          <a:bodyPr wrap="square">
            <a:spAutoFit/>
          </a:bodyPr>
          <a:lstStyle/>
          <a:p>
            <a:pPr algn="l"/>
            <a:r>
              <a:rPr sz="1400" b="1">
                <a:solidFill>
                  <a:srgbClr val="1A237E"/>
                </a:solidFill>
                <a:latin typeface="Calibri"/>
              </a:rPr>
              <a:t>Bid Strategy Recommendation</a:t>
            </a:r>
          </a:p>
        </p:txBody>
      </p:sp>
      <p:sp>
        <p:nvSpPr>
          <p:cNvPr id="14" name="TextBox 13"/>
          <p:cNvSpPr txBox="1"/>
          <p:nvPr/>
        </p:nvSpPr>
        <p:spPr>
          <a:xfrm>
            <a:off x="777240" y="4297680"/>
            <a:ext cx="4937760" cy="1463040"/>
          </a:xfrm>
          <a:prstGeom prst="rect">
            <a:avLst/>
          </a:prstGeom>
          <a:noFill/>
        </p:spPr>
        <p:txBody>
          <a:bodyPr wrap="square">
            <a:spAutoFit/>
          </a:bodyPr>
          <a:lstStyle/>
          <a:p>
            <a:pPr algn="l"/>
            <a:r>
              <a:rPr sz="1100" b="0">
                <a:solidFill>
                  <a:srgbClr val="1A1A1A"/>
                </a:solidFill>
                <a:latin typeface="Calibri"/>
              </a:rPr>
              <a:t>Switch from Target ROAS to Target CPA on all Search campaigns.
PMax: Start tCPA at £50
Search Intent: Start tCPA at £65, reduce to £50 over 8 weeks
New campaigns: tCPA per treatment type (see slide 4)
Target CPA gives direct control over cost per lead. The arbitrary £300 ROAS values have been misleading the algorithm.</a:t>
            </a:r>
          </a:p>
        </p:txBody>
      </p:sp>
      <p:sp>
        <p:nvSpPr>
          <p:cNvPr id="15" name="Rectangle 14"/>
          <p:cNvSpPr/>
          <p:nvPr/>
        </p:nvSpPr>
        <p:spPr>
          <a:xfrm>
            <a:off x="6217920" y="3931920"/>
            <a:ext cx="5303520" cy="19202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931920"/>
            <a:ext cx="54864" cy="192024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4023360"/>
            <a:ext cx="4937760" cy="274320"/>
          </a:xfrm>
          <a:prstGeom prst="rect">
            <a:avLst/>
          </a:prstGeom>
          <a:noFill/>
        </p:spPr>
        <p:txBody>
          <a:bodyPr wrap="square">
            <a:spAutoFit/>
          </a:bodyPr>
          <a:lstStyle/>
          <a:p>
            <a:pPr algn="l"/>
            <a:r>
              <a:rPr sz="1400" b="1">
                <a:solidFill>
                  <a:srgbClr val="1A237E"/>
                </a:solidFill>
                <a:latin typeface="Calibri"/>
              </a:rPr>
              <a:t>ROAS Alternative (If Preferred)</a:t>
            </a:r>
          </a:p>
        </p:txBody>
      </p:sp>
      <p:sp>
        <p:nvSpPr>
          <p:cNvPr id="18" name="TextBox 17"/>
          <p:cNvSpPr txBox="1"/>
          <p:nvPr/>
        </p:nvSpPr>
        <p:spPr>
          <a:xfrm>
            <a:off x="6446520" y="4297680"/>
            <a:ext cx="4937760" cy="1463040"/>
          </a:xfrm>
          <a:prstGeom prst="rect">
            <a:avLst/>
          </a:prstGeom>
          <a:noFill/>
        </p:spPr>
        <p:txBody>
          <a:bodyPr wrap="square">
            <a:spAutoFit/>
          </a:bodyPr>
          <a:lstStyle/>
          <a:p>
            <a:pPr algn="l"/>
            <a:r>
              <a:rPr sz="1100" b="0">
                <a:solidFill>
                  <a:srgbClr val="1A1A1A"/>
                </a:solidFill>
                <a:latin typeface="Calibri"/>
              </a:rPr>
              <a:t>If Tommaso prefers ROAS, replace arbitrary £300 with actual treatment revenue:
• Single implant booking: £1,695
• All-on-4 booking: £9,995
• Vivo Bridge booking: £15,990
This lets the algorithm bid more for high-value treatments. Requires reliable Dengro attribution.</a:t>
            </a:r>
          </a:p>
        </p:txBody>
      </p:sp>
      <p:sp>
        <p:nvSpPr>
          <p:cNvPr id="19" name="Rectangle 18"/>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4" name="TextBox 23"/>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5" name="TextBox 24"/>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Step 2: Negative Keyword Overhaul</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9-list system + immediate NHS/free/Display blocks for PMax</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Week 1</a:t>
            </a:r>
          </a:p>
        </p:txBody>
      </p:sp>
      <p:sp>
        <p:nvSpPr>
          <p:cNvPr id="10" name="Rectangle 9"/>
          <p:cNvSpPr/>
          <p:nvPr/>
        </p:nvSpPr>
        <p:spPr>
          <a:xfrm>
            <a:off x="548640" y="1188720"/>
            <a:ext cx="5303520" cy="1828800"/>
          </a:xfrm>
          <a:prstGeom prst="rect">
            <a:avLst/>
          </a:prstGeom>
          <a:solidFill>
            <a:srgbClr val="FCE8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188720"/>
            <a:ext cx="54864" cy="18288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280160"/>
            <a:ext cx="4937760" cy="274320"/>
          </a:xfrm>
          <a:prstGeom prst="rect">
            <a:avLst/>
          </a:prstGeom>
          <a:noFill/>
        </p:spPr>
        <p:txBody>
          <a:bodyPr wrap="square">
            <a:spAutoFit/>
          </a:bodyPr>
          <a:lstStyle/>
          <a:p>
            <a:pPr algn="l"/>
            <a:r>
              <a:rPr sz="1400" b="1">
                <a:solidFill>
                  <a:srgbClr val="1A237E"/>
                </a:solidFill>
                <a:latin typeface="Calibri"/>
              </a:rPr>
              <a:t>Immediate PMax Blocks (Day 1)</a:t>
            </a:r>
          </a:p>
        </p:txBody>
      </p:sp>
      <p:sp>
        <p:nvSpPr>
          <p:cNvPr id="13" name="TextBox 12"/>
          <p:cNvSpPr txBox="1"/>
          <p:nvPr/>
        </p:nvSpPr>
        <p:spPr>
          <a:xfrm>
            <a:off x="777240" y="1554480"/>
            <a:ext cx="4937760" cy="1371600"/>
          </a:xfrm>
          <a:prstGeom prst="rect">
            <a:avLst/>
          </a:prstGeom>
          <a:noFill/>
        </p:spPr>
        <p:txBody>
          <a:bodyPr wrap="square">
            <a:spAutoFit/>
          </a:bodyPr>
          <a:lstStyle/>
          <a:p>
            <a:pPr algn="l"/>
            <a:r>
              <a:rPr sz="1100" b="0">
                <a:solidFill>
                  <a:srgbClr val="1A1A1A"/>
                </a:solidFill>
                <a:latin typeface="Calibri"/>
              </a:rPr>
              <a:t>Add account-level exact match negatives for:
• [how to apply for dental implants on the nhs] (31 junk conversions/month)
• [free dental implants near me] (30 junk conversions/month)
• [how to get free dental implants on nhs] (14 junk conversions/month)
• All 'nhs', 'free implant', 'clinical trial' variations
These are PMax's top converting terms but they generate zero bookings.</a:t>
            </a:r>
          </a:p>
        </p:txBody>
      </p:sp>
      <p:sp>
        <p:nvSpPr>
          <p:cNvPr id="14" name="Rectangle 13"/>
          <p:cNvSpPr/>
          <p:nvPr/>
        </p:nvSpPr>
        <p:spPr>
          <a:xfrm>
            <a:off x="6217920" y="1188720"/>
            <a:ext cx="5303520" cy="18288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188720"/>
            <a:ext cx="54864" cy="18288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280160"/>
            <a:ext cx="4937760" cy="274320"/>
          </a:xfrm>
          <a:prstGeom prst="rect">
            <a:avLst/>
          </a:prstGeom>
          <a:noFill/>
        </p:spPr>
        <p:txBody>
          <a:bodyPr wrap="square">
            <a:spAutoFit/>
          </a:bodyPr>
          <a:lstStyle/>
          <a:p>
            <a:pPr algn="l"/>
            <a:r>
              <a:rPr sz="1400" b="1">
                <a:solidFill>
                  <a:srgbClr val="1A237E"/>
                </a:solidFill>
                <a:latin typeface="Calibri"/>
              </a:rPr>
              <a:t>9-List Negative Keyword System</a:t>
            </a:r>
          </a:p>
        </p:txBody>
      </p:sp>
      <p:sp>
        <p:nvSpPr>
          <p:cNvPr id="17" name="TextBox 16"/>
          <p:cNvSpPr txBox="1"/>
          <p:nvPr/>
        </p:nvSpPr>
        <p:spPr>
          <a:xfrm>
            <a:off x="6446520" y="1554480"/>
            <a:ext cx="4937760" cy="1371600"/>
          </a:xfrm>
          <a:prstGeom prst="rect">
            <a:avLst/>
          </a:prstGeom>
          <a:noFill/>
        </p:spPr>
        <p:txBody>
          <a:bodyPr wrap="square">
            <a:spAutoFit/>
          </a:bodyPr>
          <a:lstStyle/>
          <a:p>
            <a:pPr algn="l"/>
            <a:r>
              <a:rPr sz="1100" b="0">
                <a:solidFill>
                  <a:srgbClr val="1A1A1A"/>
                </a:solidFill>
                <a:latin typeface="Calibri"/>
              </a:rPr>
              <a:t>Replace 784 broad match negatives with structured lists:
• 1 word — phrase + exact
• 2 words — phrase + exact
• 3 words — phrase + exact
• 4 words — exact only
• 5+ words — exact only
No broad match. Weekly search term reviews.</a:t>
            </a:r>
          </a:p>
        </p:txBody>
      </p:sp>
      <p:sp>
        <p:nvSpPr>
          <p:cNvPr id="18" name="TextBox 17"/>
          <p:cNvSpPr txBox="1"/>
          <p:nvPr/>
        </p:nvSpPr>
        <p:spPr>
          <a:xfrm>
            <a:off x="548640" y="3291840"/>
            <a:ext cx="10972800" cy="274320"/>
          </a:xfrm>
          <a:prstGeom prst="rect">
            <a:avLst/>
          </a:prstGeom>
          <a:noFill/>
        </p:spPr>
        <p:txBody>
          <a:bodyPr wrap="square">
            <a:spAutoFit/>
          </a:bodyPr>
          <a:lstStyle/>
          <a:p>
            <a:pPr algn="l"/>
            <a:r>
              <a:rPr sz="1400" b="1">
                <a:solidFill>
                  <a:srgbClr val="1A237E"/>
                </a:solidFill>
                <a:latin typeface="Calibri"/>
              </a:rPr>
              <a:t>Priority Negative Keyword Categories (Both Years Data)</a:t>
            </a:r>
          </a:p>
        </p:txBody>
      </p:sp>
      <p:graphicFrame>
        <p:nvGraphicFramePr>
          <p:cNvPr id="19" name="Table 18"/>
          <p:cNvGraphicFramePr>
            <a:graphicFrameLocks noGrp="1"/>
          </p:cNvGraphicFramePr>
          <p:nvPr/>
        </p:nvGraphicFramePr>
        <p:xfrm>
          <a:off x="548640" y="3566160"/>
          <a:ext cx="8046720" cy="1554480"/>
        </p:xfrm>
        <a:graphic>
          <a:graphicData uri="http://schemas.openxmlformats.org/drawingml/2006/table">
            <a:tbl>
              <a:tblPr firstRow="1" bandRow="1">
                <a:tableStyleId>{5C22544A-7EE6-4342-B048-85BDC9FD1C3A}</a:tableStyleId>
              </a:tblPr>
              <a:tblGrid>
                <a:gridCol w="1645920"/>
                <a:gridCol w="2743200"/>
                <a:gridCol w="822960"/>
                <a:gridCol w="1097280"/>
                <a:gridCol w="914400"/>
                <a:gridCol w="822960"/>
              </a:tblGrid>
              <a:tr h="310896">
                <a:tc>
                  <a:txBody>
                    <a:bodyPr/>
                    <a:lstStyle/>
                    <a:p>
                      <a:pPr>
                        <a:defRPr sz="1000" b="1">
                          <a:solidFill>
                            <a:srgbClr val="FFFFFF"/>
                          </a:solidFill>
                          <a:latin typeface="Calibri"/>
                        </a:defRPr>
                      </a:pPr>
                      <a:r>
                        <a:t>Category</a:t>
                      </a:r>
                    </a:p>
                  </a:txBody>
                  <a:tcPr>
                    <a:solidFill>
                      <a:srgbClr val="1A237E"/>
                    </a:solidFill>
                  </a:tcPr>
                </a:tc>
                <a:tc>
                  <a:txBody>
                    <a:bodyPr/>
                    <a:lstStyle/>
                    <a:p>
                      <a:pPr>
                        <a:defRPr sz="1000" b="1">
                          <a:solidFill>
                            <a:srgbClr val="FFFFFF"/>
                          </a:solidFill>
                          <a:latin typeface="Calibri"/>
                        </a:defRPr>
                      </a:pPr>
                      <a:r>
                        <a:t>Examples</a:t>
                      </a:r>
                    </a:p>
                  </a:txBody>
                  <a:tcPr>
                    <a:solidFill>
                      <a:srgbClr val="1A237E"/>
                    </a:solidFill>
                  </a:tcPr>
                </a:tc>
                <a:tc>
                  <a:txBody>
                    <a:bodyPr/>
                    <a:lstStyle/>
                    <a:p>
                      <a:pPr>
                        <a:defRPr sz="1000" b="1">
                          <a:solidFill>
                            <a:srgbClr val="FFFFFF"/>
                          </a:solidFill>
                          <a:latin typeface="Calibri"/>
                        </a:defRPr>
                      </a:pPr>
                      <a:r>
                        <a:t>2025 Waste</a:t>
                      </a:r>
                    </a:p>
                  </a:txBody>
                  <a:tcPr>
                    <a:solidFill>
                      <a:srgbClr val="1A237E"/>
                    </a:solidFill>
                  </a:tcPr>
                </a:tc>
                <a:tc>
                  <a:txBody>
                    <a:bodyPr/>
                    <a:lstStyle/>
                    <a:p>
                      <a:pPr>
                        <a:defRPr sz="1000" b="1">
                          <a:solidFill>
                            <a:srgbClr val="FFFFFF"/>
                          </a:solidFill>
                          <a:latin typeface="Calibri"/>
                        </a:defRPr>
                      </a:pPr>
                      <a:r>
                        <a:t>2026 Waste</a:t>
                      </a:r>
                    </a:p>
                  </a:txBody>
                  <a:tcPr>
                    <a:solidFill>
                      <a:srgbClr val="1A237E"/>
                    </a:solidFill>
                  </a:tcPr>
                </a:tc>
                <a:tc>
                  <a:txBody>
                    <a:bodyPr/>
                    <a:lstStyle/>
                    <a:p>
                      <a:pPr>
                        <a:defRPr sz="1000" b="1">
                          <a:solidFill>
                            <a:srgbClr val="FFFFFF"/>
                          </a:solidFill>
                          <a:latin typeface="Calibri"/>
                        </a:defRPr>
                      </a:pPr>
                      <a:r>
                        <a:t>Match Type</a:t>
                      </a:r>
                    </a:p>
                  </a:txBody>
                  <a:tcPr>
                    <a:solidFill>
                      <a:srgbClr val="1A237E"/>
                    </a:solidFill>
                  </a:tcPr>
                </a:tc>
                <a:tc>
                  <a:txBody>
                    <a:bodyPr/>
                    <a:lstStyle/>
                    <a:p>
                      <a:pPr>
                        <a:defRPr sz="1000" b="1">
                          <a:solidFill>
                            <a:srgbClr val="FFFFFF"/>
                          </a:solidFill>
                          <a:latin typeface="Calibri"/>
                        </a:defRPr>
                      </a:pPr>
                      <a:r>
                        <a:t>Priority</a:t>
                      </a:r>
                    </a:p>
                  </a:txBody>
                  <a:tcPr>
                    <a:solidFill>
                      <a:srgbClr val="1A237E"/>
                    </a:solidFill>
                  </a:tcPr>
                </a:tc>
              </a:tr>
              <a:tr h="310896">
                <a:tc>
                  <a:txBody>
                    <a:bodyPr/>
                    <a:lstStyle/>
                    <a:p>
                      <a:pPr>
                        <a:defRPr sz="1000">
                          <a:solidFill>
                            <a:srgbClr val="1A1A1A"/>
                          </a:solidFill>
                          <a:latin typeface="Calibri"/>
                        </a:defRPr>
                      </a:pPr>
                      <a:r>
                        <a:t>NHS / Free seekers</a:t>
                      </a:r>
                    </a:p>
                  </a:txBody>
                  <a:tcPr>
                    <a:solidFill>
                      <a:srgbClr val="F5F6FA"/>
                    </a:solidFill>
                  </a:tcPr>
                </a:tc>
                <a:tc>
                  <a:txBody>
                    <a:bodyPr/>
                    <a:lstStyle/>
                    <a:p>
                      <a:pPr>
                        <a:defRPr sz="1000">
                          <a:solidFill>
                            <a:srgbClr val="1A1A1A"/>
                          </a:solidFill>
                          <a:latin typeface="Calibri"/>
                        </a:defRPr>
                      </a:pPr>
                      <a:r>
                        <a:t>nhs dental implants, free implants, clinical trials</a:t>
                      </a:r>
                    </a:p>
                  </a:txBody>
                  <a:tcPr>
                    <a:solidFill>
                      <a:srgbClr val="F5F6FA"/>
                    </a:solidFill>
                  </a:tcPr>
                </a:tc>
                <a:tc>
                  <a:txBody>
                    <a:bodyPr/>
                    <a:lstStyle/>
                    <a:p>
                      <a:pPr>
                        <a:defRPr sz="1000">
                          <a:solidFill>
                            <a:srgbClr val="1A1A1A"/>
                          </a:solidFill>
                          <a:latin typeface="Calibri"/>
                        </a:defRPr>
                      </a:pPr>
                      <a:r>
                        <a:t>£1,378</a:t>
                      </a:r>
                    </a:p>
                  </a:txBody>
                  <a:tcPr>
                    <a:solidFill>
                      <a:srgbClr val="F5F6FA"/>
                    </a:solidFill>
                  </a:tcPr>
                </a:tc>
                <a:tc>
                  <a:txBody>
                    <a:bodyPr/>
                    <a:lstStyle/>
                    <a:p>
                      <a:pPr>
                        <a:defRPr sz="1000">
                          <a:solidFill>
                            <a:srgbClr val="1A1A1A"/>
                          </a:solidFill>
                          <a:latin typeface="Calibri"/>
                        </a:defRPr>
                      </a:pPr>
                      <a:r>
                        <a:t>£706 + junk conv</a:t>
                      </a:r>
                    </a:p>
                  </a:txBody>
                  <a:tcPr>
                    <a:solidFill>
                      <a:srgbClr val="F5F6FA"/>
                    </a:solidFill>
                  </a:tcPr>
                </a:tc>
                <a:tc>
                  <a:txBody>
                    <a:bodyPr/>
                    <a:lstStyle/>
                    <a:p>
                      <a:pPr>
                        <a:defRPr sz="1000">
                          <a:solidFill>
                            <a:srgbClr val="1A1A1A"/>
                          </a:solidFill>
                          <a:latin typeface="Calibri"/>
                        </a:defRPr>
                      </a:pPr>
                      <a:r>
                        <a:t>Phrase + Exact</a:t>
                      </a:r>
                    </a:p>
                  </a:txBody>
                  <a:tcPr>
                    <a:solidFill>
                      <a:srgbClr val="F5F6FA"/>
                    </a:solidFill>
                  </a:tcPr>
                </a:tc>
                <a:tc>
                  <a:txBody>
                    <a:bodyPr/>
                    <a:lstStyle/>
                    <a:p>
                      <a:pPr>
                        <a:defRPr sz="1000">
                          <a:solidFill>
                            <a:srgbClr val="1A1A1A"/>
                          </a:solidFill>
                          <a:latin typeface="Calibri"/>
                        </a:defRPr>
                      </a:pPr>
                      <a:r>
                        <a:t>Immediate</a:t>
                      </a:r>
                    </a:p>
                  </a:txBody>
                  <a:tcPr>
                    <a:solidFill>
                      <a:srgbClr val="F5F6FA"/>
                    </a:solidFill>
                  </a:tcPr>
                </a:tc>
              </a:tr>
              <a:tr h="310896">
                <a:tc>
                  <a:txBody>
                    <a:bodyPr/>
                    <a:lstStyle/>
                    <a:p>
                      <a:pPr>
                        <a:defRPr sz="1000">
                          <a:solidFill>
                            <a:srgbClr val="1A1A1A"/>
                          </a:solidFill>
                          <a:latin typeface="Calibri"/>
                        </a:defRPr>
                      </a:pPr>
                      <a:r>
                        <a:t>Price Research (no location)</a:t>
                      </a:r>
                    </a:p>
                  </a:txBody>
                  <a:tcPr>
                    <a:solidFill>
                      <a:srgbClr val="FFFFFF"/>
                    </a:solidFill>
                  </a:tcPr>
                </a:tc>
                <a:tc>
                  <a:txBody>
                    <a:bodyPr/>
                    <a:lstStyle/>
                    <a:p>
                      <a:pPr>
                        <a:defRPr sz="1000">
                          <a:solidFill>
                            <a:srgbClr val="1A1A1A"/>
                          </a:solidFill>
                          <a:latin typeface="Calibri"/>
                        </a:defRPr>
                      </a:pPr>
                      <a:r>
                        <a:t>implant cost uk, how much is dental implants</a:t>
                      </a:r>
                    </a:p>
                  </a:txBody>
                  <a:tcPr>
                    <a:solidFill>
                      <a:srgbClr val="FFFFFF"/>
                    </a:solidFill>
                  </a:tcPr>
                </a:tc>
                <a:tc>
                  <a:txBody>
                    <a:bodyPr/>
                    <a:lstStyle/>
                    <a:p>
                      <a:pPr>
                        <a:defRPr sz="1000">
                          <a:solidFill>
                            <a:srgbClr val="1A1A1A"/>
                          </a:solidFill>
                          <a:latin typeface="Calibri"/>
                        </a:defRPr>
                      </a:pPr>
                      <a:r>
                        <a:t>£20,540</a:t>
                      </a:r>
                    </a:p>
                  </a:txBody>
                  <a:tcPr>
                    <a:solidFill>
                      <a:srgbClr val="FFFFFF"/>
                    </a:solidFill>
                  </a:tcPr>
                </a:tc>
                <a:tc>
                  <a:txBody>
                    <a:bodyPr/>
                    <a:lstStyle/>
                    <a:p>
                      <a:pPr>
                        <a:defRPr sz="1000">
                          <a:solidFill>
                            <a:srgbClr val="1A1A1A"/>
                          </a:solidFill>
                          <a:latin typeface="Calibri"/>
                        </a:defRPr>
                      </a:pPr>
                      <a:r>
                        <a:t>£14,211</a:t>
                      </a:r>
                    </a:p>
                  </a:txBody>
                  <a:tcPr>
                    <a:solidFill>
                      <a:srgbClr val="FFFFFF"/>
                    </a:solidFill>
                  </a:tcPr>
                </a:tc>
                <a:tc>
                  <a:txBody>
                    <a:bodyPr/>
                    <a:lstStyle/>
                    <a:p>
                      <a:pPr>
                        <a:defRPr sz="1000">
                          <a:solidFill>
                            <a:srgbClr val="1A1A1A"/>
                          </a:solidFill>
                          <a:latin typeface="Calibri"/>
                        </a:defRPr>
                      </a:pPr>
                      <a:r>
                        <a:t>Phrase</a:t>
                      </a:r>
                    </a:p>
                  </a:txBody>
                  <a:tcPr>
                    <a:solidFill>
                      <a:srgbClr val="FFFFFF"/>
                    </a:solidFill>
                  </a:tcPr>
                </a:tc>
                <a:tc>
                  <a:txBody>
                    <a:bodyPr/>
                    <a:lstStyle/>
                    <a:p>
                      <a:pPr>
                        <a:defRPr sz="1000">
                          <a:solidFill>
                            <a:srgbClr val="1A1A1A"/>
                          </a:solidFill>
                          <a:latin typeface="Calibri"/>
                        </a:defRPr>
                      </a:pPr>
                      <a:r>
                        <a:t>Week 1</a:t>
                      </a:r>
                    </a:p>
                  </a:txBody>
                  <a:tcPr>
                    <a:solidFill>
                      <a:srgbClr val="FFFFFF"/>
                    </a:solidFill>
                  </a:tcPr>
                </a:tc>
              </a:tr>
              <a:tr h="310896">
                <a:tc>
                  <a:txBody>
                    <a:bodyPr/>
                    <a:lstStyle/>
                    <a:p>
                      <a:pPr>
                        <a:defRPr sz="1000">
                          <a:solidFill>
                            <a:srgbClr val="1A1A1A"/>
                          </a:solidFill>
                          <a:latin typeface="Calibri"/>
                        </a:defRPr>
                      </a:pPr>
                      <a:r>
                        <a:t>Wrong Treatment</a:t>
                      </a:r>
                    </a:p>
                  </a:txBody>
                  <a:tcPr>
                    <a:solidFill>
                      <a:srgbClr val="F5F6FA"/>
                    </a:solidFill>
                  </a:tcPr>
                </a:tc>
                <a:tc>
                  <a:txBody>
                    <a:bodyPr/>
                    <a:lstStyle/>
                    <a:p>
                      <a:pPr>
                        <a:defRPr sz="1000">
                          <a:solidFill>
                            <a:srgbClr val="1A1A1A"/>
                          </a:solidFill>
                          <a:latin typeface="Calibri"/>
                        </a:defRPr>
                      </a:pPr>
                      <a:r>
                        <a:t>implant dentures, dental bridge, dental crown</a:t>
                      </a:r>
                    </a:p>
                  </a:txBody>
                  <a:tcPr>
                    <a:solidFill>
                      <a:srgbClr val="F5F6FA"/>
                    </a:solidFill>
                  </a:tcPr>
                </a:tc>
                <a:tc>
                  <a:txBody>
                    <a:bodyPr/>
                    <a:lstStyle/>
                    <a:p>
                      <a:pPr>
                        <a:defRPr sz="1000">
                          <a:solidFill>
                            <a:srgbClr val="1A1A1A"/>
                          </a:solidFill>
                          <a:latin typeface="Calibri"/>
                        </a:defRPr>
                      </a:pPr>
                      <a:r>
                        <a:t>£3,112</a:t>
                      </a:r>
                    </a:p>
                  </a:txBody>
                  <a:tcPr>
                    <a:solidFill>
                      <a:srgbClr val="F5F6FA"/>
                    </a:solidFill>
                  </a:tcPr>
                </a:tc>
                <a:tc>
                  <a:txBody>
                    <a:bodyPr/>
                    <a:lstStyle/>
                    <a:p>
                      <a:pPr>
                        <a:defRPr sz="1000">
                          <a:solidFill>
                            <a:srgbClr val="1A1A1A"/>
                          </a:solidFill>
                          <a:latin typeface="Calibri"/>
                        </a:defRPr>
                      </a:pPr>
                      <a:r>
                        <a:t>£3,661</a:t>
                      </a:r>
                    </a:p>
                  </a:txBody>
                  <a:tcPr>
                    <a:solidFill>
                      <a:srgbClr val="F5F6FA"/>
                    </a:solidFill>
                  </a:tcPr>
                </a:tc>
                <a:tc>
                  <a:txBody>
                    <a:bodyPr/>
                    <a:lstStyle/>
                    <a:p>
                      <a:pPr>
                        <a:defRPr sz="1000">
                          <a:solidFill>
                            <a:srgbClr val="1A1A1A"/>
                          </a:solidFill>
                          <a:latin typeface="Calibri"/>
                        </a:defRPr>
                      </a:pPr>
                      <a:r>
                        <a:t>Phrase</a:t>
                      </a:r>
                    </a:p>
                  </a:txBody>
                  <a:tcPr>
                    <a:solidFill>
                      <a:srgbClr val="F5F6FA"/>
                    </a:solidFill>
                  </a:tcPr>
                </a:tc>
                <a:tc>
                  <a:txBody>
                    <a:bodyPr/>
                    <a:lstStyle/>
                    <a:p>
                      <a:pPr>
                        <a:defRPr sz="1000">
                          <a:solidFill>
                            <a:srgbClr val="1A1A1A"/>
                          </a:solidFill>
                          <a:latin typeface="Calibri"/>
                        </a:defRPr>
                      </a:pPr>
                      <a:r>
                        <a:t>Week 1</a:t>
                      </a:r>
                    </a:p>
                  </a:txBody>
                  <a:tcPr>
                    <a:solidFill>
                      <a:srgbClr val="F5F6FA"/>
                    </a:solidFill>
                  </a:tcPr>
                </a:tc>
              </a:tr>
              <a:tr h="310896">
                <a:tc>
                  <a:txBody>
                    <a:bodyPr/>
                    <a:lstStyle/>
                    <a:p>
                      <a:pPr>
                        <a:defRPr sz="1000">
                          <a:solidFill>
                            <a:srgbClr val="1A1A1A"/>
                          </a:solidFill>
                          <a:latin typeface="Calibri"/>
                        </a:defRPr>
                      </a:pPr>
                      <a:r>
                        <a:t>Competitor / Tourism</a:t>
                      </a:r>
                    </a:p>
                  </a:txBody>
                  <a:tcPr>
                    <a:solidFill>
                      <a:srgbClr val="FFFFFF"/>
                    </a:solidFill>
                  </a:tcPr>
                </a:tc>
                <a:tc>
                  <a:txBody>
                    <a:bodyPr/>
                    <a:lstStyle/>
                    <a:p>
                      <a:pPr>
                        <a:defRPr sz="1000">
                          <a:solidFill>
                            <a:srgbClr val="1A1A1A"/>
                          </a:solidFill>
                          <a:latin typeface="Calibri"/>
                        </a:defRPr>
                      </a:pPr>
                      <a:r>
                        <a:t>brighton implant clinic, turkey teeth</a:t>
                      </a:r>
                    </a:p>
                  </a:txBody>
                  <a:tcPr>
                    <a:solidFill>
                      <a:srgbClr val="FFFFFF"/>
                    </a:solidFill>
                  </a:tcPr>
                </a:tc>
                <a:tc>
                  <a:txBody>
                    <a:bodyPr/>
                    <a:lstStyle/>
                    <a:p>
                      <a:pPr>
                        <a:defRPr sz="1000">
                          <a:solidFill>
                            <a:srgbClr val="1A1A1A"/>
                          </a:solidFill>
                          <a:latin typeface="Calibri"/>
                        </a:defRPr>
                      </a:pPr>
                      <a:r>
                        <a:t>£1,724</a:t>
                      </a:r>
                    </a:p>
                  </a:txBody>
                  <a:tcPr>
                    <a:solidFill>
                      <a:srgbClr val="FFFFFF"/>
                    </a:solidFill>
                  </a:tcPr>
                </a:tc>
                <a:tc>
                  <a:txBody>
                    <a:bodyPr/>
                    <a:lstStyle/>
                    <a:p>
                      <a:pPr>
                        <a:defRPr sz="1000">
                          <a:solidFill>
                            <a:srgbClr val="1A1A1A"/>
                          </a:solidFill>
                          <a:latin typeface="Calibri"/>
                        </a:defRPr>
                      </a:pPr>
                      <a:r>
                        <a:t>£1,390</a:t>
                      </a:r>
                    </a:p>
                  </a:txBody>
                  <a:tcPr>
                    <a:solidFill>
                      <a:srgbClr val="FFFFFF"/>
                    </a:solidFill>
                  </a:tcPr>
                </a:tc>
                <a:tc>
                  <a:txBody>
                    <a:bodyPr/>
                    <a:lstStyle/>
                    <a:p>
                      <a:pPr>
                        <a:defRPr sz="1000">
                          <a:solidFill>
                            <a:srgbClr val="1A1A1A"/>
                          </a:solidFill>
                          <a:latin typeface="Calibri"/>
                        </a:defRPr>
                      </a:pPr>
                      <a:r>
                        <a:t>Exact</a:t>
                      </a:r>
                    </a:p>
                  </a:txBody>
                  <a:tcPr>
                    <a:solidFill>
                      <a:srgbClr val="FFFFFF"/>
                    </a:solidFill>
                  </a:tcPr>
                </a:tc>
                <a:tc>
                  <a:txBody>
                    <a:bodyPr/>
                    <a:lstStyle/>
                    <a:p>
                      <a:pPr>
                        <a:defRPr sz="1000">
                          <a:solidFill>
                            <a:srgbClr val="1A1A1A"/>
                          </a:solidFill>
                          <a:latin typeface="Calibri"/>
                        </a:defRPr>
                      </a:pPr>
                      <a:r>
                        <a:t>Week 1</a:t>
                      </a:r>
                    </a:p>
                  </a:txBody>
                  <a:tcPr>
                    <a:solidFill>
                      <a:srgbClr val="FFFFFF"/>
                    </a:solidFill>
                  </a:tcPr>
                </a:tc>
              </a:tr>
            </a:tbl>
          </a:graphicData>
        </a:graphic>
      </p:graphicFrame>
      <p:sp>
        <p:nvSpPr>
          <p:cNvPr id="20" name="Rectangle 19"/>
          <p:cNvSpPr/>
          <p:nvPr/>
        </p:nvSpPr>
        <p:spPr>
          <a:xfrm>
            <a:off x="548640" y="5303520"/>
            <a:ext cx="11064240" cy="45720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349240"/>
            <a:ext cx="10607040" cy="365760"/>
          </a:xfrm>
          <a:prstGeom prst="rect">
            <a:avLst/>
          </a:prstGeom>
          <a:noFill/>
        </p:spPr>
        <p:txBody>
          <a:bodyPr wrap="square">
            <a:spAutoFit/>
          </a:bodyPr>
          <a:lstStyle/>
          <a:p>
            <a:pPr algn="l"/>
            <a:r>
              <a:rPr sz="1100" b="1">
                <a:solidFill>
                  <a:srgbClr val="1A237E"/>
                </a:solidFill>
                <a:latin typeface="Calibri"/>
              </a:rPr>
              <a:t>Also: Add Display placement exclusions to PMax — remove mobile game apps, puzzle games, and irrelevant sites. This stops the £1,893/month Display waste immediately.</a:t>
            </a:r>
          </a:p>
        </p:txBody>
      </p:sp>
      <p:sp>
        <p:nvSpPr>
          <p:cNvPr id="22" name="Rectangle 21"/>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7" name="TextBox 26"/>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8" name="TextBox 27"/>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Step 3: Ad Copy Rewrite</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90% of ads rated Poor/Average — the #1 lever for reducing CPA</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Weeks 2-3</a:t>
            </a:r>
          </a:p>
        </p:txBody>
      </p:sp>
      <p:sp>
        <p:nvSpPr>
          <p:cNvPr id="10" name="TextBox 9"/>
          <p:cNvSpPr txBox="1"/>
          <p:nvPr/>
        </p:nvSpPr>
        <p:spPr>
          <a:xfrm>
            <a:off x="548640" y="1097280"/>
            <a:ext cx="10972800" cy="274320"/>
          </a:xfrm>
          <a:prstGeom prst="rect">
            <a:avLst/>
          </a:prstGeom>
          <a:noFill/>
        </p:spPr>
        <p:txBody>
          <a:bodyPr wrap="square">
            <a:spAutoFit/>
          </a:bodyPr>
          <a:lstStyle/>
          <a:p>
            <a:pPr algn="l"/>
            <a:r>
              <a:rPr sz="1400" b="1">
                <a:solidFill>
                  <a:srgbClr val="1A237E"/>
                </a:solidFill>
                <a:latin typeface="Calibri"/>
              </a:rPr>
              <a:t>Proposed Ad Testing Framework (New Search Campaigns)</a:t>
            </a:r>
          </a:p>
        </p:txBody>
      </p:sp>
      <p:graphicFrame>
        <p:nvGraphicFramePr>
          <p:cNvPr id="11" name="Table 10"/>
          <p:cNvGraphicFramePr>
            <a:graphicFrameLocks noGrp="1"/>
          </p:cNvGraphicFramePr>
          <p:nvPr/>
        </p:nvGraphicFramePr>
        <p:xfrm>
          <a:off x="548640" y="1417320"/>
          <a:ext cx="9875520" cy="2011680"/>
        </p:xfrm>
        <a:graphic>
          <a:graphicData uri="http://schemas.openxmlformats.org/drawingml/2006/table">
            <a:tbl>
              <a:tblPr firstRow="1" bandRow="1">
                <a:tableStyleId>{5C22544A-7EE6-4342-B048-85BDC9FD1C3A}</a:tableStyleId>
              </a:tblPr>
              <a:tblGrid>
                <a:gridCol w="1371600"/>
                <a:gridCol w="2286000"/>
                <a:gridCol w="2286000"/>
                <a:gridCol w="2286000"/>
                <a:gridCol w="1645920"/>
              </a:tblGrid>
              <a:tr h="402336">
                <a:tc>
                  <a:txBody>
                    <a:bodyPr/>
                    <a:lstStyle/>
                    <a:p>
                      <a:pPr>
                        <a:defRPr sz="1000" b="1">
                          <a:solidFill>
                            <a:srgbClr val="FFFFFF"/>
                          </a:solidFill>
                          <a:latin typeface="Calibri"/>
                        </a:defRPr>
                      </a:pPr>
                      <a:r>
                        <a:t>Campaign</a:t>
                      </a:r>
                    </a:p>
                  </a:txBody>
                  <a:tcPr>
                    <a:solidFill>
                      <a:srgbClr val="1A237E"/>
                    </a:solidFill>
                  </a:tcPr>
                </a:tc>
                <a:tc>
                  <a:txBody>
                    <a:bodyPr/>
                    <a:lstStyle/>
                    <a:p>
                      <a:pPr>
                        <a:defRPr sz="1000" b="1">
                          <a:solidFill>
                            <a:srgbClr val="FFFFFF"/>
                          </a:solidFill>
                          <a:latin typeface="Calibri"/>
                        </a:defRPr>
                      </a:pPr>
                      <a:r>
                        <a:t>Angle 1 (Price)</a:t>
                      </a:r>
                    </a:p>
                  </a:txBody>
                  <a:tcPr>
                    <a:solidFill>
                      <a:srgbClr val="1A237E"/>
                    </a:solidFill>
                  </a:tcPr>
                </a:tc>
                <a:tc>
                  <a:txBody>
                    <a:bodyPr/>
                    <a:lstStyle/>
                    <a:p>
                      <a:pPr>
                        <a:defRPr sz="1000" b="1">
                          <a:solidFill>
                            <a:srgbClr val="FFFFFF"/>
                          </a:solidFill>
                          <a:latin typeface="Calibri"/>
                        </a:defRPr>
                      </a:pPr>
                      <a:r>
                        <a:t>Angle 2 (Speed)</a:t>
                      </a:r>
                    </a:p>
                  </a:txBody>
                  <a:tcPr>
                    <a:solidFill>
                      <a:srgbClr val="1A237E"/>
                    </a:solidFill>
                  </a:tcPr>
                </a:tc>
                <a:tc>
                  <a:txBody>
                    <a:bodyPr/>
                    <a:lstStyle/>
                    <a:p>
                      <a:pPr>
                        <a:defRPr sz="1000" b="1">
                          <a:solidFill>
                            <a:srgbClr val="FFFFFF"/>
                          </a:solidFill>
                          <a:latin typeface="Calibri"/>
                        </a:defRPr>
                      </a:pPr>
                      <a:r>
                        <a:t>Angle 3 (Quality)</a:t>
                      </a:r>
                    </a:p>
                  </a:txBody>
                  <a:tcPr>
                    <a:solidFill>
                      <a:srgbClr val="1A237E"/>
                    </a:solidFill>
                  </a:tcPr>
                </a:tc>
                <a:tc>
                  <a:txBody>
                    <a:bodyPr/>
                    <a:lstStyle/>
                    <a:p>
                      <a:pPr>
                        <a:defRPr sz="1000" b="1">
                          <a:solidFill>
                            <a:srgbClr val="FFFFFF"/>
                          </a:solidFill>
                          <a:latin typeface="Calibri"/>
                        </a:defRPr>
                      </a:pPr>
                      <a:r>
                        <a:t>Landing Page</a:t>
                      </a:r>
                    </a:p>
                  </a:txBody>
                  <a:tcPr>
                    <a:solidFill>
                      <a:srgbClr val="1A237E"/>
                    </a:solidFill>
                  </a:tcPr>
                </a:tc>
              </a:tr>
              <a:tr h="402336">
                <a:tc>
                  <a:txBody>
                    <a:bodyPr/>
                    <a:lstStyle/>
                    <a:p>
                      <a:pPr>
                        <a:defRPr sz="1000">
                          <a:solidFill>
                            <a:srgbClr val="1A1A1A"/>
                          </a:solidFill>
                          <a:latin typeface="Calibri"/>
                        </a:defRPr>
                      </a:pPr>
                      <a:r>
                        <a:t>Single Implants</a:t>
                      </a:r>
                    </a:p>
                  </a:txBody>
                  <a:tcPr>
                    <a:solidFill>
                      <a:srgbClr val="F5F6FA"/>
                    </a:solidFill>
                  </a:tcPr>
                </a:tc>
                <a:tc>
                  <a:txBody>
                    <a:bodyPr/>
                    <a:lstStyle/>
                    <a:p>
                      <a:pPr>
                        <a:defRPr sz="1000">
                          <a:solidFill>
                            <a:srgbClr val="1A1A1A"/>
                          </a:solidFill>
                          <a:latin typeface="Calibri"/>
                        </a:defRPr>
                      </a:pPr>
                      <a:r>
                        <a:t>From £1,695. 0% Finance Available.</a:t>
                      </a:r>
                    </a:p>
                  </a:txBody>
                  <a:tcPr>
                    <a:solidFill>
                      <a:srgbClr val="F5F6FA"/>
                    </a:solidFill>
                  </a:tcPr>
                </a:tc>
                <a:tc>
                  <a:txBody>
                    <a:bodyPr/>
                    <a:lstStyle/>
                    <a:p>
                      <a:pPr>
                        <a:defRPr sz="1000">
                          <a:solidFill>
                            <a:srgbClr val="1A1A1A"/>
                          </a:solidFill>
                          <a:latin typeface="Calibri"/>
                        </a:defRPr>
                      </a:pPr>
                      <a:r>
                        <a:t>Permanent Teeth in 48 Hours.</a:t>
                      </a:r>
                    </a:p>
                  </a:txBody>
                  <a:tcPr>
                    <a:solidFill>
                      <a:srgbClr val="F5F6FA"/>
                    </a:solidFill>
                  </a:tcPr>
                </a:tc>
                <a:tc>
                  <a:txBody>
                    <a:bodyPr/>
                    <a:lstStyle/>
                    <a:p>
                      <a:pPr>
                        <a:defRPr sz="1000">
                          <a:solidFill>
                            <a:srgbClr val="1A1A1A"/>
                          </a:solidFill>
                          <a:latin typeface="Calibri"/>
                        </a:defRPr>
                      </a:pPr>
                      <a:r>
                        <a:t>4.8★ Rating. 399+ Reviews.</a:t>
                      </a:r>
                    </a:p>
                  </a:txBody>
                  <a:tcPr>
                    <a:solidFill>
                      <a:srgbClr val="F5F6FA"/>
                    </a:solidFill>
                  </a:tcPr>
                </a:tc>
                <a:tc>
                  <a:txBody>
                    <a:bodyPr/>
                    <a:lstStyle/>
                    <a:p>
                      <a:pPr>
                        <a:defRPr sz="1000">
                          <a:solidFill>
                            <a:srgbClr val="1A1A1A"/>
                          </a:solidFill>
                          <a:latin typeface="Calibri"/>
                        </a:defRPr>
                      </a:pPr>
                      <a:r>
                        <a:t>/dental-implants-offer</a:t>
                      </a:r>
                    </a:p>
                  </a:txBody>
                  <a:tcPr>
                    <a:solidFill>
                      <a:srgbClr val="F5F6FA"/>
                    </a:solidFill>
                  </a:tcPr>
                </a:tc>
              </a:tr>
              <a:tr h="402336">
                <a:tc>
                  <a:txBody>
                    <a:bodyPr/>
                    <a:lstStyle/>
                    <a:p>
                      <a:pPr>
                        <a:defRPr sz="1000">
                          <a:solidFill>
                            <a:srgbClr val="1A1A1A"/>
                          </a:solidFill>
                          <a:latin typeface="Calibri"/>
                        </a:defRPr>
                      </a:pPr>
                      <a:r>
                        <a:t>Full Arch / All-on-4</a:t>
                      </a:r>
                    </a:p>
                  </a:txBody>
                  <a:tcPr>
                    <a:solidFill>
                      <a:srgbClr val="FFFFFF"/>
                    </a:solidFill>
                  </a:tcPr>
                </a:tc>
                <a:tc>
                  <a:txBody>
                    <a:bodyPr/>
                    <a:lstStyle/>
                    <a:p>
                      <a:pPr>
                        <a:defRPr sz="1000">
                          <a:solidFill>
                            <a:srgbClr val="1A1A1A"/>
                          </a:solidFill>
                          <a:latin typeface="Calibri"/>
                        </a:defRPr>
                      </a:pPr>
                      <a:r>
                        <a:t>Full Arch From £9,995.</a:t>
                      </a:r>
                    </a:p>
                  </a:txBody>
                  <a:tcPr>
                    <a:solidFill>
                      <a:srgbClr val="FFFFFF"/>
                    </a:solidFill>
                  </a:tcPr>
                </a:tc>
                <a:tc>
                  <a:txBody>
                    <a:bodyPr/>
                    <a:lstStyle/>
                    <a:p>
                      <a:pPr>
                        <a:defRPr sz="1000">
                          <a:solidFill>
                            <a:srgbClr val="1A1A1A"/>
                          </a:solidFill>
                          <a:latin typeface="Calibri"/>
                        </a:defRPr>
                      </a:pPr>
                      <a:r>
                        <a:t>New Teeth in 48 Hours. Walk Out Smiling.</a:t>
                      </a:r>
                    </a:p>
                  </a:txBody>
                  <a:tcPr>
                    <a:solidFill>
                      <a:srgbClr val="FFFFFF"/>
                    </a:solidFill>
                  </a:tcPr>
                </a:tc>
                <a:tc>
                  <a:txBody>
                    <a:bodyPr/>
                    <a:lstStyle/>
                    <a:p>
                      <a:pPr>
                        <a:defRPr sz="1000">
                          <a:solidFill>
                            <a:srgbClr val="1A1A1A"/>
                          </a:solidFill>
                          <a:latin typeface="Calibri"/>
                        </a:defRPr>
                      </a:pPr>
                      <a:r>
                        <a:t>CQC Registered. Expert Surgeons.</a:t>
                      </a:r>
                    </a:p>
                  </a:txBody>
                  <a:tcPr>
                    <a:solidFill>
                      <a:srgbClr val="FFFFFF"/>
                    </a:solidFill>
                  </a:tcPr>
                </a:tc>
                <a:tc>
                  <a:txBody>
                    <a:bodyPr/>
                    <a:lstStyle/>
                    <a:p>
                      <a:pPr>
                        <a:defRPr sz="1000">
                          <a:solidFill>
                            <a:srgbClr val="1A1A1A"/>
                          </a:solidFill>
                          <a:latin typeface="Calibri"/>
                        </a:defRPr>
                      </a:pPr>
                      <a:r>
                        <a:t>/all-on-4-offer</a:t>
                      </a:r>
                    </a:p>
                  </a:txBody>
                  <a:tcPr>
                    <a:solidFill>
                      <a:srgbClr val="FFFFFF"/>
                    </a:solidFill>
                  </a:tcPr>
                </a:tc>
              </a:tr>
              <a:tr h="402336">
                <a:tc>
                  <a:txBody>
                    <a:bodyPr/>
                    <a:lstStyle/>
                    <a:p>
                      <a:pPr>
                        <a:defRPr sz="1000">
                          <a:solidFill>
                            <a:srgbClr val="1A1A1A"/>
                          </a:solidFill>
                          <a:latin typeface="Calibri"/>
                        </a:defRPr>
                      </a:pPr>
                      <a:r>
                        <a:t>Financing</a:t>
                      </a:r>
                    </a:p>
                  </a:txBody>
                  <a:tcPr>
                    <a:solidFill>
                      <a:srgbClr val="F5F6FA"/>
                    </a:solidFill>
                  </a:tcPr>
                </a:tc>
                <a:tc>
                  <a:txBody>
                    <a:bodyPr/>
                    <a:lstStyle/>
                    <a:p>
                      <a:pPr>
                        <a:defRPr sz="1000">
                          <a:solidFill>
                            <a:srgbClr val="1A1A1A"/>
                          </a:solidFill>
                          <a:latin typeface="Calibri"/>
                        </a:defRPr>
                      </a:pPr>
                      <a:r>
                        <a:t>0% Finance. From £47/month.</a:t>
                      </a:r>
                    </a:p>
                  </a:txBody>
                  <a:tcPr>
                    <a:solidFill>
                      <a:srgbClr val="F5F6FA"/>
                    </a:solidFill>
                  </a:tcPr>
                </a:tc>
                <a:tc>
                  <a:txBody>
                    <a:bodyPr/>
                    <a:lstStyle/>
                    <a:p>
                      <a:pPr>
                        <a:defRPr sz="1000">
                          <a:solidFill>
                            <a:srgbClr val="1A1A1A"/>
                          </a:solidFill>
                          <a:latin typeface="Calibri"/>
                        </a:defRPr>
                      </a:pPr>
                      <a:r>
                        <a:t>Book Free Consultation Today.</a:t>
                      </a:r>
                    </a:p>
                  </a:txBody>
                  <a:tcPr>
                    <a:solidFill>
                      <a:srgbClr val="F5F6FA"/>
                    </a:solidFill>
                  </a:tcPr>
                </a:tc>
                <a:tc>
                  <a:txBody>
                    <a:bodyPr/>
                    <a:lstStyle/>
                    <a:p>
                      <a:pPr>
                        <a:defRPr sz="1000">
                          <a:solidFill>
                            <a:srgbClr val="1A1A1A"/>
                          </a:solidFill>
                          <a:latin typeface="Calibri"/>
                        </a:defRPr>
                      </a:pPr>
                      <a:r>
                        <a:t>Trusted by 399+ Patients.</a:t>
                      </a:r>
                    </a:p>
                  </a:txBody>
                  <a:tcPr>
                    <a:solidFill>
                      <a:srgbClr val="F5F6FA"/>
                    </a:solidFill>
                  </a:tcPr>
                </a:tc>
                <a:tc>
                  <a:txBody>
                    <a:bodyPr/>
                    <a:lstStyle/>
                    <a:p>
                      <a:pPr>
                        <a:defRPr sz="1000">
                          <a:solidFill>
                            <a:srgbClr val="1A1A1A"/>
                          </a:solidFill>
                          <a:latin typeface="Calibri"/>
                        </a:defRPr>
                      </a:pPr>
                      <a:r>
                        <a:t>/dental-implants-offer</a:t>
                      </a:r>
                    </a:p>
                  </a:txBody>
                  <a:tcPr>
                    <a:solidFill>
                      <a:srgbClr val="F5F6FA"/>
                    </a:solidFill>
                  </a:tcPr>
                </a:tc>
              </a:tr>
              <a:tr h="402336">
                <a:tc>
                  <a:txBody>
                    <a:bodyPr/>
                    <a:lstStyle/>
                    <a:p>
                      <a:pPr>
                        <a:defRPr sz="1000">
                          <a:solidFill>
                            <a:srgbClr val="1A1A1A"/>
                          </a:solidFill>
                          <a:latin typeface="Calibri"/>
                        </a:defRPr>
                      </a:pPr>
                      <a:r>
                        <a:t>Invisalign</a:t>
                      </a:r>
                    </a:p>
                  </a:txBody>
                  <a:tcPr>
                    <a:solidFill>
                      <a:srgbClr val="FFFFFF"/>
                    </a:solidFill>
                  </a:tcPr>
                </a:tc>
                <a:tc>
                  <a:txBody>
                    <a:bodyPr/>
                    <a:lstStyle/>
                    <a:p>
                      <a:pPr>
                        <a:defRPr sz="1000">
                          <a:solidFill>
                            <a:srgbClr val="1A1A1A"/>
                          </a:solidFill>
                          <a:latin typeface="Calibri"/>
                        </a:defRPr>
                      </a:pPr>
                      <a:r>
                        <a:t>Invisalign From £2,500.</a:t>
                      </a:r>
                    </a:p>
                  </a:txBody>
                  <a:tcPr>
                    <a:solidFill>
                      <a:srgbClr val="FFFFFF"/>
                    </a:solidFill>
                  </a:tcPr>
                </a:tc>
                <a:tc>
                  <a:txBody>
                    <a:bodyPr/>
                    <a:lstStyle/>
                    <a:p>
                      <a:pPr>
                        <a:defRPr sz="1000">
                          <a:solidFill>
                            <a:srgbClr val="1A1A1A"/>
                          </a:solidFill>
                          <a:latin typeface="Calibri"/>
                        </a:defRPr>
                      </a:pPr>
                      <a:r>
                        <a:t>Free Scan. Results in 6 Months.</a:t>
                      </a:r>
                    </a:p>
                  </a:txBody>
                  <a:tcPr>
                    <a:solidFill>
                      <a:srgbClr val="FFFFFF"/>
                    </a:solidFill>
                  </a:tcPr>
                </a:tc>
                <a:tc>
                  <a:txBody>
                    <a:bodyPr/>
                    <a:lstStyle/>
                    <a:p>
                      <a:pPr>
                        <a:defRPr sz="1000">
                          <a:solidFill>
                            <a:srgbClr val="1A1A1A"/>
                          </a:solidFill>
                          <a:latin typeface="Calibri"/>
                        </a:defRPr>
                      </a:pPr>
                      <a:r>
                        <a:t>Diamond Apex Provider.</a:t>
                      </a:r>
                    </a:p>
                  </a:txBody>
                  <a:tcPr>
                    <a:solidFill>
                      <a:srgbClr val="FFFFFF"/>
                    </a:solidFill>
                  </a:tcPr>
                </a:tc>
                <a:tc>
                  <a:txBody>
                    <a:bodyPr/>
                    <a:lstStyle/>
                    <a:p>
                      <a:pPr>
                        <a:defRPr sz="1000">
                          <a:solidFill>
                            <a:srgbClr val="1A1A1A"/>
                          </a:solidFill>
                          <a:latin typeface="Calibri"/>
                        </a:defRPr>
                      </a:pPr>
                      <a:r>
                        <a:t>/invisalign</a:t>
                      </a:r>
                    </a:p>
                  </a:txBody>
                  <a:tcPr>
                    <a:solidFill>
                      <a:srgbClr val="FFFFFF"/>
                    </a:solidFill>
                  </a:tcPr>
                </a:tc>
              </a:tr>
            </a:tbl>
          </a:graphicData>
        </a:graphic>
      </p:graphicFrame>
      <p:sp>
        <p:nvSpPr>
          <p:cNvPr id="12" name="Rectangle 11"/>
          <p:cNvSpPr/>
          <p:nvPr/>
        </p:nvSpPr>
        <p:spPr>
          <a:xfrm>
            <a:off x="548640" y="3657600"/>
            <a:ext cx="5303520" cy="219456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657600"/>
            <a:ext cx="54864" cy="21945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749040"/>
            <a:ext cx="4937760" cy="274320"/>
          </a:xfrm>
          <a:prstGeom prst="rect">
            <a:avLst/>
          </a:prstGeom>
          <a:noFill/>
        </p:spPr>
        <p:txBody>
          <a:bodyPr wrap="square">
            <a:spAutoFit/>
          </a:bodyPr>
          <a:lstStyle/>
          <a:p>
            <a:pPr algn="l"/>
            <a:r>
              <a:rPr sz="1400" b="1">
                <a:solidFill>
                  <a:srgbClr val="1A237E"/>
                </a:solidFill>
                <a:latin typeface="Calibri"/>
              </a:rPr>
              <a:t>Testing Plan</a:t>
            </a:r>
          </a:p>
        </p:txBody>
      </p:sp>
      <p:sp>
        <p:nvSpPr>
          <p:cNvPr id="15" name="TextBox 14"/>
          <p:cNvSpPr txBox="1"/>
          <p:nvPr/>
        </p:nvSpPr>
        <p:spPr>
          <a:xfrm>
            <a:off x="777240" y="4023360"/>
            <a:ext cx="4937760" cy="1737360"/>
          </a:xfrm>
          <a:prstGeom prst="rect">
            <a:avLst/>
          </a:prstGeom>
          <a:noFill/>
        </p:spPr>
        <p:txBody>
          <a:bodyPr wrap="square">
            <a:spAutoFit/>
          </a:bodyPr>
          <a:lstStyle/>
          <a:p>
            <a:pPr algn="l"/>
            <a:r>
              <a:rPr sz="1100" b="0">
                <a:solidFill>
                  <a:srgbClr val="1A1A1A"/>
                </a:solidFill>
                <a:latin typeface="Calibri"/>
              </a:rPr>
              <a:t>2-3 RSA variants per ad group, each testing a different messaging angle.
Run for 4-6 weeks, then keep winner and test new challenger.
Every headline must match the keyword intent in that ad group. This is what the current ads fail to do — 71% of keywords have Below Average ad relevance.
Key USPs to leverage: “up to 60% less”, Vivo Bridge 48 hours, 4.8★ / 399+ reviews, 0% finance.</a:t>
            </a:r>
          </a:p>
        </p:txBody>
      </p:sp>
      <p:sp>
        <p:nvSpPr>
          <p:cNvPr id="16" name="Rectangle 15"/>
          <p:cNvSpPr/>
          <p:nvPr/>
        </p:nvSpPr>
        <p:spPr>
          <a:xfrm>
            <a:off x="6217920" y="3657600"/>
            <a:ext cx="5303520" cy="219456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3657600"/>
            <a:ext cx="54864" cy="21945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3749040"/>
            <a:ext cx="4937760" cy="274320"/>
          </a:xfrm>
          <a:prstGeom prst="rect">
            <a:avLst/>
          </a:prstGeom>
          <a:noFill/>
        </p:spPr>
        <p:txBody>
          <a:bodyPr wrap="square">
            <a:spAutoFit/>
          </a:bodyPr>
          <a:lstStyle/>
          <a:p>
            <a:pPr algn="l"/>
            <a:r>
              <a:rPr sz="1400" b="1">
                <a:solidFill>
                  <a:srgbClr val="1A237E"/>
                </a:solidFill>
                <a:latin typeface="Calibri"/>
              </a:rPr>
              <a:t>Expected Impact</a:t>
            </a:r>
          </a:p>
        </p:txBody>
      </p:sp>
      <p:sp>
        <p:nvSpPr>
          <p:cNvPr id="19" name="TextBox 18"/>
          <p:cNvSpPr txBox="1"/>
          <p:nvPr/>
        </p:nvSpPr>
        <p:spPr>
          <a:xfrm>
            <a:off x="6446520" y="4023360"/>
            <a:ext cx="4937760" cy="1737360"/>
          </a:xfrm>
          <a:prstGeom prst="rect">
            <a:avLst/>
          </a:prstGeom>
          <a:noFill/>
        </p:spPr>
        <p:txBody>
          <a:bodyPr wrap="square">
            <a:spAutoFit/>
          </a:bodyPr>
          <a:lstStyle/>
          <a:p>
            <a:pPr algn="l"/>
            <a:r>
              <a:rPr sz="1100" b="0">
                <a:solidFill>
                  <a:srgbClr val="1A1A1A"/>
                </a:solidFill>
                <a:latin typeface="Calibri"/>
              </a:rPr>
              <a:t>Improving ad relevance from Below Average to Average on the top 20 keywords would lift QS by 2-3 points.
At QS 7 vs QS 3, CPC drops by an estimated 30-50%. On £53,990/month spend, that’s £16-27K/month in CPC savings.
Combined with the Financing ad group’s proven £34 CPA, well-written treatment-specific ads should bring the Search campaign CPA below £60.</a:t>
            </a:r>
          </a:p>
        </p:txBody>
      </p:sp>
      <p:sp>
        <p:nvSpPr>
          <p:cNvPr id="20" name="Rectangle 19"/>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25" name="TextBox 24"/>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6" name="TextBox 25"/>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Step 4: Geo, Device &amp; Schedule Adjustments</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Quick wins that start building data immediately at this budget level</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Week 1</a:t>
            </a:r>
          </a:p>
        </p:txBody>
      </p:sp>
      <p:pic>
        <p:nvPicPr>
          <p:cNvPr id="10" name="Picture 9" descr="r3v2_device.png"/>
          <p:cNvPicPr>
            <a:picLocks noChangeAspect="1"/>
          </p:cNvPicPr>
          <p:nvPr/>
        </p:nvPicPr>
        <p:blipFill>
          <a:blip r:embed="rId2"/>
          <a:stretch>
            <a:fillRect/>
          </a:stretch>
        </p:blipFill>
        <p:spPr>
          <a:xfrm>
            <a:off x="548640" y="1188720"/>
            <a:ext cx="5029200" cy="2286000"/>
          </a:xfrm>
          <a:prstGeom prst="rect">
            <a:avLst/>
          </a:prstGeom>
        </p:spPr>
      </p:pic>
      <p:sp>
        <p:nvSpPr>
          <p:cNvPr id="11" name="TextBox 10"/>
          <p:cNvSpPr txBox="1"/>
          <p:nvPr/>
        </p:nvSpPr>
        <p:spPr>
          <a:xfrm>
            <a:off x="5943600" y="1097280"/>
            <a:ext cx="5669280" cy="274320"/>
          </a:xfrm>
          <a:prstGeom prst="rect">
            <a:avLst/>
          </a:prstGeom>
          <a:noFill/>
        </p:spPr>
        <p:txBody>
          <a:bodyPr wrap="square">
            <a:spAutoFit/>
          </a:bodyPr>
          <a:lstStyle/>
          <a:p>
            <a:pPr algn="l"/>
            <a:r>
              <a:rPr sz="1400" b="1">
                <a:solidFill>
                  <a:srgbClr val="1A237E"/>
                </a:solidFill>
                <a:latin typeface="Calibri"/>
              </a:rPr>
              <a:t>Day of Week (2026 Data)</a:t>
            </a:r>
          </a:p>
        </p:txBody>
      </p:sp>
      <p:graphicFrame>
        <p:nvGraphicFramePr>
          <p:cNvPr id="12" name="Table 11"/>
          <p:cNvGraphicFramePr>
            <a:graphicFrameLocks noGrp="1"/>
          </p:cNvGraphicFramePr>
          <p:nvPr/>
        </p:nvGraphicFramePr>
        <p:xfrm>
          <a:off x="5943600" y="1417320"/>
          <a:ext cx="3291840" cy="2011680"/>
        </p:xfrm>
        <a:graphic>
          <a:graphicData uri="http://schemas.openxmlformats.org/drawingml/2006/table">
            <a:tbl>
              <a:tblPr firstRow="1" bandRow="1">
                <a:tableStyleId>{5C22544A-7EE6-4342-B048-85BDC9FD1C3A}</a:tableStyleId>
              </a:tblPr>
              <a:tblGrid>
                <a:gridCol w="1097280"/>
                <a:gridCol w="731520"/>
                <a:gridCol w="731520"/>
                <a:gridCol w="731520"/>
              </a:tblGrid>
              <a:tr h="335280">
                <a:tc>
                  <a:txBody>
                    <a:bodyPr/>
                    <a:lstStyle/>
                    <a:p>
                      <a:pPr>
                        <a:defRPr sz="1000" b="1">
                          <a:solidFill>
                            <a:srgbClr val="FFFFFF"/>
                          </a:solidFill>
                          <a:latin typeface="Calibri"/>
                        </a:defRPr>
                      </a:pPr>
                      <a:r>
                        <a:t>Day</a:t>
                      </a:r>
                    </a:p>
                  </a:txBody>
                  <a:tcPr>
                    <a:solidFill>
                      <a:srgbClr val="1A237E"/>
                    </a:solidFill>
                  </a:tcPr>
                </a:tc>
                <a:tc>
                  <a:txBody>
                    <a:bodyPr/>
                    <a:lstStyle/>
                    <a:p>
                      <a:pPr>
                        <a:defRPr sz="1000" b="1">
                          <a:solidFill>
                            <a:srgbClr val="FFFFFF"/>
                          </a:solidFill>
                          <a:latin typeface="Calibri"/>
                        </a:defRPr>
                      </a:pPr>
                      <a:r>
                        <a:t>2025 CPA</a:t>
                      </a:r>
                    </a:p>
                  </a:txBody>
                  <a:tcPr>
                    <a:solidFill>
                      <a:srgbClr val="1A237E"/>
                    </a:solidFill>
                  </a:tcPr>
                </a:tc>
                <a:tc>
                  <a:txBody>
                    <a:bodyPr/>
                    <a:lstStyle/>
                    <a:p>
                      <a:pPr>
                        <a:defRPr sz="1000" b="1">
                          <a:solidFill>
                            <a:srgbClr val="FFFFFF"/>
                          </a:solidFill>
                          <a:latin typeface="Calibri"/>
                        </a:defRPr>
                      </a:pPr>
                      <a:r>
                        <a:t>2026 CPA</a:t>
                      </a:r>
                    </a:p>
                  </a:txBody>
                  <a:tcPr>
                    <a:solidFill>
                      <a:srgbClr val="1A237E"/>
                    </a:solidFill>
                  </a:tcPr>
                </a:tc>
                <a:tc>
                  <a:txBody>
                    <a:bodyPr/>
                    <a:lstStyle/>
                    <a:p>
                      <a:pPr>
                        <a:defRPr sz="1000" b="1">
                          <a:solidFill>
                            <a:srgbClr val="FFFFFF"/>
                          </a:solidFill>
                          <a:latin typeface="Calibri"/>
                        </a:defRPr>
                      </a:pPr>
                      <a:r>
                        <a:t>Proposed</a:t>
                      </a:r>
                    </a:p>
                  </a:txBody>
                  <a:tcPr>
                    <a:solidFill>
                      <a:srgbClr val="1A237E"/>
                    </a:solidFill>
                  </a:tcPr>
                </a:tc>
              </a:tr>
              <a:tr h="335280">
                <a:tc>
                  <a:txBody>
                    <a:bodyPr/>
                    <a:lstStyle/>
                    <a:p>
                      <a:pPr>
                        <a:defRPr sz="1000">
                          <a:solidFill>
                            <a:srgbClr val="1A1A1A"/>
                          </a:solidFill>
                          <a:latin typeface="Calibri"/>
                        </a:defRPr>
                      </a:pPr>
                      <a:r>
                        <a:t>Monday</a:t>
                      </a:r>
                    </a:p>
                  </a:txBody>
                  <a:tcPr>
                    <a:solidFill>
                      <a:srgbClr val="F5F6FA"/>
                    </a:solidFill>
                  </a:tcPr>
                </a:tc>
                <a:tc>
                  <a:txBody>
                    <a:bodyPr/>
                    <a:lstStyle/>
                    <a:p>
                      <a:pPr>
                        <a:defRPr sz="1000">
                          <a:solidFill>
                            <a:srgbClr val="1A1A1A"/>
                          </a:solidFill>
                          <a:latin typeface="Calibri"/>
                        </a:defRPr>
                      </a:pPr>
                      <a:r>
                        <a:t>£41</a:t>
                      </a:r>
                    </a:p>
                  </a:txBody>
                  <a:tcPr>
                    <a:solidFill>
                      <a:srgbClr val="F5F6FA"/>
                    </a:solidFill>
                  </a:tcPr>
                </a:tc>
                <a:tc>
                  <a:txBody>
                    <a:bodyPr/>
                    <a:lstStyle/>
                    <a:p>
                      <a:pPr>
                        <a:defRPr sz="1000">
                          <a:solidFill>
                            <a:srgbClr val="1A1A1A"/>
                          </a:solidFill>
                          <a:latin typeface="Calibri"/>
                        </a:defRPr>
                      </a:pPr>
                      <a:r>
                        <a:t>£64</a:t>
                      </a:r>
                    </a:p>
                  </a:txBody>
                  <a:tcPr>
                    <a:solidFill>
                      <a:srgbClr val="F5F6FA"/>
                    </a:solidFill>
                  </a:tcPr>
                </a:tc>
                <a:tc>
                  <a:txBody>
                    <a:bodyPr/>
                    <a:lstStyle/>
                    <a:p>
                      <a:pPr>
                        <a:defRPr sz="1000">
                          <a:solidFill>
                            <a:srgbClr val="1A1A1A"/>
                          </a:solidFill>
                          <a:latin typeface="Calibri"/>
                        </a:defRPr>
                      </a:pPr>
                      <a:r>
                        <a:t>-5%</a:t>
                      </a:r>
                    </a:p>
                  </a:txBody>
                  <a:tcPr>
                    <a:solidFill>
                      <a:srgbClr val="F5F6FA"/>
                    </a:solidFill>
                  </a:tcPr>
                </a:tc>
              </a:tr>
              <a:tr h="335280">
                <a:tc>
                  <a:txBody>
                    <a:bodyPr/>
                    <a:lstStyle/>
                    <a:p>
                      <a:pPr>
                        <a:defRPr sz="1000">
                          <a:solidFill>
                            <a:srgbClr val="1A1A1A"/>
                          </a:solidFill>
                          <a:latin typeface="Calibri"/>
                        </a:defRPr>
                      </a:pPr>
                      <a:r>
                        <a:t>Thursday</a:t>
                      </a:r>
                    </a:p>
                  </a:txBody>
                  <a:tcPr>
                    <a:solidFill>
                      <a:srgbClr val="FFFFFF"/>
                    </a:solidFill>
                  </a:tcPr>
                </a:tc>
                <a:tc>
                  <a:txBody>
                    <a:bodyPr/>
                    <a:lstStyle/>
                    <a:p>
                      <a:pPr>
                        <a:defRPr sz="1000">
                          <a:solidFill>
                            <a:srgbClr val="1A1A1A"/>
                          </a:solidFill>
                          <a:latin typeface="Calibri"/>
                        </a:defRPr>
                      </a:pPr>
                      <a:r>
                        <a:t>£44</a:t>
                      </a:r>
                    </a:p>
                  </a:txBody>
                  <a:tcPr>
                    <a:solidFill>
                      <a:srgbClr val="FFFFFF"/>
                    </a:solidFill>
                  </a:tcPr>
                </a:tc>
                <a:tc>
                  <a:txBody>
                    <a:bodyPr/>
                    <a:lstStyle/>
                    <a:p>
                      <a:pPr>
                        <a:defRPr sz="1000">
                          <a:solidFill>
                            <a:srgbClr val="1A1A1A"/>
                          </a:solidFill>
                          <a:latin typeface="Calibri"/>
                        </a:defRPr>
                      </a:pPr>
                      <a:r>
                        <a:t>£58</a:t>
                      </a:r>
                    </a:p>
                  </a:txBody>
                  <a:tcPr>
                    <a:solidFill>
                      <a:srgbClr val="FFFFFF"/>
                    </a:solidFill>
                  </a:tcPr>
                </a:tc>
                <a:tc>
                  <a:txBody>
                    <a:bodyPr/>
                    <a:lstStyle/>
                    <a:p>
                      <a:pPr>
                        <a:defRPr sz="1000">
                          <a:solidFill>
                            <a:srgbClr val="1A1A1A"/>
                          </a:solidFill>
                          <a:latin typeface="Calibri"/>
                        </a:defRPr>
                      </a:pPr>
                      <a:r>
                        <a:t>+5%</a:t>
                      </a:r>
                    </a:p>
                  </a:txBody>
                  <a:tcPr>
                    <a:solidFill>
                      <a:srgbClr val="FFFFFF"/>
                    </a:solidFill>
                  </a:tcPr>
                </a:tc>
              </a:tr>
              <a:tr h="335280">
                <a:tc>
                  <a:txBody>
                    <a:bodyPr/>
                    <a:lstStyle/>
                    <a:p>
                      <a:pPr>
                        <a:defRPr sz="1000">
                          <a:solidFill>
                            <a:srgbClr val="1A1A1A"/>
                          </a:solidFill>
                          <a:latin typeface="Calibri"/>
                        </a:defRPr>
                      </a:pPr>
                      <a:r>
                        <a:t>Friday</a:t>
                      </a:r>
                    </a:p>
                  </a:txBody>
                  <a:tcPr>
                    <a:solidFill>
                      <a:srgbClr val="F5F6FA"/>
                    </a:solidFill>
                  </a:tcPr>
                </a:tc>
                <a:tc>
                  <a:txBody>
                    <a:bodyPr/>
                    <a:lstStyle/>
                    <a:p>
                      <a:pPr>
                        <a:defRPr sz="1000">
                          <a:solidFill>
                            <a:srgbClr val="1A1A1A"/>
                          </a:solidFill>
                          <a:latin typeface="Calibri"/>
                        </a:defRPr>
                      </a:pPr>
                      <a:r>
                        <a:t>£46</a:t>
                      </a:r>
                    </a:p>
                  </a:txBody>
                  <a:tcPr>
                    <a:solidFill>
                      <a:srgbClr val="F5F6FA"/>
                    </a:solidFill>
                  </a:tcPr>
                </a:tc>
                <a:tc>
                  <a:txBody>
                    <a:bodyPr/>
                    <a:lstStyle/>
                    <a:p>
                      <a:pPr>
                        <a:defRPr sz="1000">
                          <a:solidFill>
                            <a:srgbClr val="1A1A1A"/>
                          </a:solidFill>
                          <a:latin typeface="Calibri"/>
                        </a:defRPr>
                      </a:pPr>
                      <a:r>
                        <a:t>£56</a:t>
                      </a:r>
                    </a:p>
                  </a:txBody>
                  <a:tcPr>
                    <a:solidFill>
                      <a:srgbClr val="F5F6FA"/>
                    </a:solidFill>
                  </a:tcPr>
                </a:tc>
                <a:tc>
                  <a:txBody>
                    <a:bodyPr/>
                    <a:lstStyle/>
                    <a:p>
                      <a:pPr>
                        <a:defRPr sz="1000">
                          <a:solidFill>
                            <a:srgbClr val="1A1A1A"/>
                          </a:solidFill>
                          <a:latin typeface="Calibri"/>
                        </a:defRPr>
                      </a:pPr>
                      <a:r>
                        <a:t>+10%</a:t>
                      </a:r>
                    </a:p>
                  </a:txBody>
                  <a:tcPr>
                    <a:solidFill>
                      <a:srgbClr val="F5F6FA"/>
                    </a:solidFill>
                  </a:tcPr>
                </a:tc>
              </a:tr>
              <a:tr h="335280">
                <a:tc>
                  <a:txBody>
                    <a:bodyPr/>
                    <a:lstStyle/>
                    <a:p>
                      <a:pPr>
                        <a:defRPr sz="1000">
                          <a:solidFill>
                            <a:srgbClr val="1A1A1A"/>
                          </a:solidFill>
                          <a:latin typeface="Calibri"/>
                        </a:defRPr>
                      </a:pPr>
                      <a:r>
                        <a:t>Saturday</a:t>
                      </a:r>
                    </a:p>
                  </a:txBody>
                  <a:tcPr>
                    <a:solidFill>
                      <a:srgbClr val="FFFFFF"/>
                    </a:solidFill>
                  </a:tcPr>
                </a:tc>
                <a:tc>
                  <a:txBody>
                    <a:bodyPr/>
                    <a:lstStyle/>
                    <a:p>
                      <a:pPr>
                        <a:defRPr sz="1000">
                          <a:solidFill>
                            <a:srgbClr val="1A1A1A"/>
                          </a:solidFill>
                          <a:latin typeface="Calibri"/>
                        </a:defRPr>
                      </a:pPr>
                      <a:r>
                        <a:t>£43</a:t>
                      </a:r>
                    </a:p>
                  </a:txBody>
                  <a:tcPr>
                    <a:solidFill>
                      <a:srgbClr val="FFFFFF"/>
                    </a:solidFill>
                  </a:tcPr>
                </a:tc>
                <a:tc>
                  <a:txBody>
                    <a:bodyPr/>
                    <a:lstStyle/>
                    <a:p>
                      <a:pPr>
                        <a:defRPr sz="1000">
                          <a:solidFill>
                            <a:srgbClr val="1A1A1A"/>
                          </a:solidFill>
                          <a:latin typeface="Calibri"/>
                        </a:defRPr>
                      </a:pPr>
                      <a:r>
                        <a:t>£56</a:t>
                      </a:r>
                    </a:p>
                  </a:txBody>
                  <a:tcPr>
                    <a:solidFill>
                      <a:srgbClr val="FFFFFF"/>
                    </a:solidFill>
                  </a:tcPr>
                </a:tc>
                <a:tc>
                  <a:txBody>
                    <a:bodyPr/>
                    <a:lstStyle/>
                    <a:p>
                      <a:pPr>
                        <a:defRPr sz="1000">
                          <a:solidFill>
                            <a:srgbClr val="1A1A1A"/>
                          </a:solidFill>
                          <a:latin typeface="Calibri"/>
                        </a:defRPr>
                      </a:pPr>
                      <a:r>
                        <a:t>+10%</a:t>
                      </a:r>
                    </a:p>
                  </a:txBody>
                  <a:tcPr>
                    <a:solidFill>
                      <a:srgbClr val="FFFFFF"/>
                    </a:solidFill>
                  </a:tcPr>
                </a:tc>
              </a:tr>
              <a:tr h="335280">
                <a:tc>
                  <a:txBody>
                    <a:bodyPr/>
                    <a:lstStyle/>
                    <a:p>
                      <a:pPr>
                        <a:defRPr sz="1000">
                          <a:solidFill>
                            <a:srgbClr val="1A1A1A"/>
                          </a:solidFill>
                          <a:latin typeface="Calibri"/>
                        </a:defRPr>
                      </a:pPr>
                      <a:r>
                        <a:t>Sunday</a:t>
                      </a:r>
                    </a:p>
                  </a:txBody>
                  <a:tcPr>
                    <a:solidFill>
                      <a:srgbClr val="F5F6FA"/>
                    </a:solidFill>
                  </a:tcPr>
                </a:tc>
                <a:tc>
                  <a:txBody>
                    <a:bodyPr/>
                    <a:lstStyle/>
                    <a:p>
                      <a:pPr>
                        <a:defRPr sz="1000">
                          <a:solidFill>
                            <a:srgbClr val="1A1A1A"/>
                          </a:solidFill>
                          <a:latin typeface="Calibri"/>
                        </a:defRPr>
                      </a:pPr>
                      <a:r>
                        <a:t>£45</a:t>
                      </a:r>
                    </a:p>
                  </a:txBody>
                  <a:tcPr>
                    <a:solidFill>
                      <a:srgbClr val="F5F6FA"/>
                    </a:solidFill>
                  </a:tcPr>
                </a:tc>
                <a:tc>
                  <a:txBody>
                    <a:bodyPr/>
                    <a:lstStyle/>
                    <a:p>
                      <a:pPr>
                        <a:defRPr sz="1000">
                          <a:solidFill>
                            <a:srgbClr val="1A1A1A"/>
                          </a:solidFill>
                          <a:latin typeface="Calibri"/>
                        </a:defRPr>
                      </a:pPr>
                      <a:r>
                        <a:t>£68</a:t>
                      </a:r>
                    </a:p>
                  </a:txBody>
                  <a:tcPr>
                    <a:solidFill>
                      <a:srgbClr val="F5F6FA"/>
                    </a:solidFill>
                  </a:tcPr>
                </a:tc>
                <a:tc>
                  <a:txBody>
                    <a:bodyPr/>
                    <a:lstStyle/>
                    <a:p>
                      <a:pPr>
                        <a:defRPr sz="1000">
                          <a:solidFill>
                            <a:srgbClr val="1A1A1A"/>
                          </a:solidFill>
                          <a:latin typeface="Calibri"/>
                        </a:defRPr>
                      </a:pPr>
                      <a:r>
                        <a:t>-15%</a:t>
                      </a:r>
                    </a:p>
                  </a:txBody>
                  <a:tcPr>
                    <a:solidFill>
                      <a:srgbClr val="F5F6FA"/>
                    </a:solidFill>
                  </a:tcPr>
                </a:tc>
              </a:tr>
            </a:tbl>
          </a:graphicData>
        </a:graphic>
      </p:graphicFrame>
      <p:sp>
        <p:nvSpPr>
          <p:cNvPr id="13" name="Rectangle 12"/>
          <p:cNvSpPr/>
          <p:nvPr/>
        </p:nvSpPr>
        <p:spPr>
          <a:xfrm>
            <a:off x="548640" y="3749039"/>
            <a:ext cx="5303520" cy="210312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749039"/>
            <a:ext cx="54864" cy="21031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840479"/>
            <a:ext cx="4937760" cy="274320"/>
          </a:xfrm>
          <a:prstGeom prst="rect">
            <a:avLst/>
          </a:prstGeom>
          <a:noFill/>
        </p:spPr>
        <p:txBody>
          <a:bodyPr wrap="square">
            <a:spAutoFit/>
          </a:bodyPr>
          <a:lstStyle/>
          <a:p>
            <a:pPr algn="l"/>
            <a:r>
              <a:rPr sz="1400" b="1">
                <a:solidFill>
                  <a:srgbClr val="1A237E"/>
                </a:solidFill>
                <a:latin typeface="Calibri"/>
              </a:rPr>
              <a:t>Hour of Day</a:t>
            </a:r>
          </a:p>
        </p:txBody>
      </p:sp>
      <p:sp>
        <p:nvSpPr>
          <p:cNvPr id="16" name="TextBox 15"/>
          <p:cNvSpPr txBox="1"/>
          <p:nvPr/>
        </p:nvSpPr>
        <p:spPr>
          <a:xfrm>
            <a:off x="777240" y="4114799"/>
            <a:ext cx="4937760" cy="1645920"/>
          </a:xfrm>
          <a:prstGeom prst="rect">
            <a:avLst/>
          </a:prstGeom>
          <a:noFill/>
        </p:spPr>
        <p:txBody>
          <a:bodyPr wrap="square">
            <a:spAutoFit/>
          </a:bodyPr>
          <a:lstStyle/>
          <a:p>
            <a:pPr algn="l"/>
            <a:r>
              <a:rPr sz="1100" b="0">
                <a:solidFill>
                  <a:srgbClr val="1A1A1A"/>
                </a:solidFill>
                <a:latin typeface="Calibri"/>
              </a:rPr>
              <a:t>Increase bids +10-15%:
Hours 16-17 (4-5pm): £46-48 CPA both years. High-volume, efficient.
Reduce bids -15-20%:
Hours 7-8 (7-8am): £56-74 CPA. Expensive commute clicks.
These adjustments apply to Search campaigns. PMax handles its own scheduling.</a:t>
            </a:r>
          </a:p>
        </p:txBody>
      </p:sp>
      <p:sp>
        <p:nvSpPr>
          <p:cNvPr id="17" name="Rectangle 16"/>
          <p:cNvSpPr/>
          <p:nvPr/>
        </p:nvSpPr>
        <p:spPr>
          <a:xfrm>
            <a:off x="6217920" y="3749039"/>
            <a:ext cx="5303520" cy="210312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3749039"/>
            <a:ext cx="54864" cy="21031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3840479"/>
            <a:ext cx="4937760" cy="274320"/>
          </a:xfrm>
          <a:prstGeom prst="rect">
            <a:avLst/>
          </a:prstGeom>
          <a:noFill/>
        </p:spPr>
        <p:txBody>
          <a:bodyPr wrap="square">
            <a:spAutoFit/>
          </a:bodyPr>
          <a:lstStyle/>
          <a:p>
            <a:pPr algn="l"/>
            <a:r>
              <a:rPr sz="1400" b="1">
                <a:solidFill>
                  <a:srgbClr val="1A237E"/>
                </a:solidFill>
                <a:latin typeface="Calibri"/>
              </a:rPr>
              <a:t>Geo: Radius → Postcodes</a:t>
            </a:r>
          </a:p>
        </p:txBody>
      </p:sp>
      <p:sp>
        <p:nvSpPr>
          <p:cNvPr id="20" name="TextBox 19"/>
          <p:cNvSpPr txBox="1"/>
          <p:nvPr/>
        </p:nvSpPr>
        <p:spPr>
          <a:xfrm>
            <a:off x="6446520" y="4114799"/>
            <a:ext cx="4937760" cy="1645920"/>
          </a:xfrm>
          <a:prstGeom prst="rect">
            <a:avLst/>
          </a:prstGeom>
          <a:noFill/>
        </p:spPr>
        <p:txBody>
          <a:bodyPr wrap="square">
            <a:spAutoFit/>
          </a:bodyPr>
          <a:lstStyle/>
          <a:p>
            <a:pPr algn="l"/>
            <a:r>
              <a:rPr sz="1100" b="0">
                <a:solidFill>
                  <a:srgbClr val="1A1A1A"/>
                </a:solidFill>
                <a:latin typeface="Calibri"/>
              </a:rPr>
              <a:t>Replace radius targeting with London postcodes:
• Bid +20% for W6, W12, W3 (near clinic, £28-53 CPA)
• No change for mid-range postcodes
• Bid -20% for N13 £169, TW2 £137, WD23 £123
All campaigns share the same postcode targets. Unified geographic view across the account.</a:t>
            </a:r>
          </a:p>
        </p:txBody>
      </p:sp>
      <p:sp>
        <p:nvSpPr>
          <p:cNvPr id="21" name="Rectangle 20"/>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act_logo_official.png"/>
          <p:cNvPicPr>
            <a:picLocks noChangeAspect="1"/>
          </p:cNvPicPr>
          <p:nvPr/>
        </p:nvPicPr>
        <p:blipFill>
          <a:blip r:embed="rId3"/>
          <a:stretch>
            <a:fillRect/>
          </a:stretch>
        </p:blipFill>
        <p:spPr>
          <a:xfrm>
            <a:off x="548640" y="6400800"/>
            <a:ext cx="201168" cy="201168"/>
          </a:xfrm>
          <a:prstGeom prst="rect">
            <a:avLst/>
          </a:prstGeom>
        </p:spPr>
      </p:pic>
      <p:sp>
        <p:nvSpPr>
          <p:cNvPr id="26" name="TextBox 25"/>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27" name="TextBox 26"/>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Multi-Clinic Growth</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The optimised Dental by Design structure becomes the blueprint for partner clinics</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Month 3+</a:t>
            </a:r>
          </a:p>
        </p:txBody>
      </p:sp>
      <p:sp>
        <p:nvSpPr>
          <p:cNvPr id="10" name="Rectangle 9"/>
          <p:cNvSpPr/>
          <p:nvPr/>
        </p:nvSpPr>
        <p:spPr>
          <a:xfrm>
            <a:off x="548640" y="1188720"/>
            <a:ext cx="4572000" cy="2560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188720"/>
            <a:ext cx="73152" cy="25603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325880"/>
            <a:ext cx="4114800" cy="365760"/>
          </a:xfrm>
          <a:prstGeom prst="rect">
            <a:avLst/>
          </a:prstGeom>
          <a:noFill/>
        </p:spPr>
        <p:txBody>
          <a:bodyPr wrap="square">
            <a:spAutoFit/>
          </a:bodyPr>
          <a:lstStyle/>
          <a:p>
            <a:pPr algn="l"/>
            <a:r>
              <a:rPr sz="2200" b="1">
                <a:solidFill>
                  <a:srgbClr val="34A853"/>
                </a:solidFill>
                <a:latin typeface="Calibri"/>
              </a:rPr>
              <a:t>Dental by Design</a:t>
            </a:r>
          </a:p>
        </p:txBody>
      </p:sp>
      <p:sp>
        <p:nvSpPr>
          <p:cNvPr id="13" name="TextBox 12"/>
          <p:cNvSpPr txBox="1"/>
          <p:nvPr/>
        </p:nvSpPr>
        <p:spPr>
          <a:xfrm>
            <a:off x="822960" y="1737360"/>
            <a:ext cx="4114800" cy="228600"/>
          </a:xfrm>
          <a:prstGeom prst="rect">
            <a:avLst/>
          </a:prstGeom>
          <a:noFill/>
        </p:spPr>
        <p:txBody>
          <a:bodyPr wrap="square">
            <a:spAutoFit/>
          </a:bodyPr>
          <a:lstStyle/>
          <a:p>
            <a:pPr algn="l"/>
            <a:r>
              <a:rPr sz="1400" b="1">
                <a:solidFill>
                  <a:srgbClr val="1A237E"/>
                </a:solidFill>
                <a:latin typeface="Calibri"/>
              </a:rPr>
              <a:t>Flagship — Testing Ground</a:t>
            </a:r>
          </a:p>
        </p:txBody>
      </p:sp>
      <p:sp>
        <p:nvSpPr>
          <p:cNvPr id="14" name="TextBox 13"/>
          <p:cNvSpPr txBox="1"/>
          <p:nvPr/>
        </p:nvSpPr>
        <p:spPr>
          <a:xfrm>
            <a:off x="822960" y="2057400"/>
            <a:ext cx="4114800" cy="1371600"/>
          </a:xfrm>
          <a:prstGeom prst="rect">
            <a:avLst/>
          </a:prstGeom>
          <a:noFill/>
        </p:spPr>
        <p:txBody>
          <a:bodyPr wrap="square">
            <a:spAutoFit/>
          </a:bodyPr>
          <a:lstStyle/>
          <a:p>
            <a:pPr>
              <a:spcAft>
                <a:spcPts val="500"/>
              </a:spcAft>
            </a:pPr>
            <a:r>
              <a:rPr sz="1100" b="0">
                <a:solidFill>
                  <a:srgbClr val="1A1A1A"/>
                </a:solidFill>
                <a:latin typeface="Calibri"/>
              </a:rPr>
              <a:t>Treatment-specific Search campaigns (proven model)</a:t>
            </a:r>
          </a:p>
          <a:p>
            <a:pPr>
              <a:spcAft>
                <a:spcPts val="500"/>
              </a:spcAft>
            </a:pPr>
            <a:r>
              <a:rPr sz="1100" b="0">
                <a:solidFill>
                  <a:srgbClr val="1A1A1A"/>
                </a:solidFill>
                <a:latin typeface="Calibri"/>
              </a:rPr>
              <a:t>Establish CPA benchmarks per treatment type</a:t>
            </a:r>
          </a:p>
          <a:p>
            <a:pPr>
              <a:spcAft>
                <a:spcPts val="500"/>
              </a:spcAft>
            </a:pPr>
            <a:r>
              <a:rPr sz="1100" b="0">
                <a:solidFill>
                  <a:srgbClr val="1A1A1A"/>
                </a:solidFill>
                <a:latin typeface="Calibri"/>
              </a:rPr>
              <a:t>Test ad copy angles — winning angles become the playbook</a:t>
            </a:r>
          </a:p>
          <a:p>
            <a:pPr>
              <a:spcAft>
                <a:spcPts val="500"/>
              </a:spcAft>
            </a:pPr>
            <a:r>
              <a:rPr sz="1100" b="0">
                <a:solidFill>
                  <a:srgbClr val="1A1A1A"/>
                </a:solidFill>
                <a:latin typeface="Calibri"/>
              </a:rPr>
              <a:t>Postcode-level geo data informs partner clinic targeting</a:t>
            </a:r>
          </a:p>
        </p:txBody>
      </p:sp>
      <p:sp>
        <p:nvSpPr>
          <p:cNvPr id="15" name="TextBox 14"/>
          <p:cNvSpPr txBox="1"/>
          <p:nvPr/>
        </p:nvSpPr>
        <p:spPr>
          <a:xfrm>
            <a:off x="5303520" y="2194560"/>
            <a:ext cx="731520" cy="457200"/>
          </a:xfrm>
          <a:prstGeom prst="rect">
            <a:avLst/>
          </a:prstGeom>
          <a:noFill/>
        </p:spPr>
        <p:txBody>
          <a:bodyPr wrap="square">
            <a:spAutoFit/>
          </a:bodyPr>
          <a:lstStyle/>
          <a:p>
            <a:pPr algn="ctr"/>
            <a:r>
              <a:rPr sz="2800" b="0">
                <a:solidFill>
                  <a:srgbClr val="4285F4"/>
                </a:solidFill>
                <a:latin typeface="Calibri"/>
              </a:rPr>
              <a:t>▶</a:t>
            </a:r>
          </a:p>
        </p:txBody>
      </p:sp>
      <p:sp>
        <p:nvSpPr>
          <p:cNvPr id="16" name="Rectangle 15"/>
          <p:cNvSpPr/>
          <p:nvPr/>
        </p:nvSpPr>
        <p:spPr>
          <a:xfrm>
            <a:off x="6217920" y="1188720"/>
            <a:ext cx="5303520" cy="2560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188720"/>
            <a:ext cx="73152" cy="25603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1325880"/>
            <a:ext cx="4754880" cy="365760"/>
          </a:xfrm>
          <a:prstGeom prst="rect">
            <a:avLst/>
          </a:prstGeom>
          <a:noFill/>
        </p:spPr>
        <p:txBody>
          <a:bodyPr wrap="square">
            <a:spAutoFit/>
          </a:bodyPr>
          <a:lstStyle/>
          <a:p>
            <a:pPr algn="l"/>
            <a:r>
              <a:rPr sz="2200" b="1">
                <a:solidFill>
                  <a:srgbClr val="4285F4"/>
                </a:solidFill>
                <a:latin typeface="Calibri"/>
              </a:rPr>
              <a:t>Partner Clinics</a:t>
            </a:r>
          </a:p>
        </p:txBody>
      </p:sp>
      <p:sp>
        <p:nvSpPr>
          <p:cNvPr id="19" name="TextBox 18"/>
          <p:cNvSpPr txBox="1"/>
          <p:nvPr/>
        </p:nvSpPr>
        <p:spPr>
          <a:xfrm>
            <a:off x="6492240" y="1737360"/>
            <a:ext cx="4754880" cy="228600"/>
          </a:xfrm>
          <a:prstGeom prst="rect">
            <a:avLst/>
          </a:prstGeom>
          <a:noFill/>
        </p:spPr>
        <p:txBody>
          <a:bodyPr wrap="square">
            <a:spAutoFit/>
          </a:bodyPr>
          <a:lstStyle/>
          <a:p>
            <a:pPr algn="l"/>
            <a:r>
              <a:rPr sz="1400" b="1">
                <a:solidFill>
                  <a:srgbClr val="1A237E"/>
                </a:solidFill>
                <a:latin typeface="Calibri"/>
              </a:rPr>
              <a:t>UK Network — Scaled Learnings</a:t>
            </a:r>
          </a:p>
        </p:txBody>
      </p:sp>
      <p:sp>
        <p:nvSpPr>
          <p:cNvPr id="20" name="TextBox 19"/>
          <p:cNvSpPr txBox="1"/>
          <p:nvPr/>
        </p:nvSpPr>
        <p:spPr>
          <a:xfrm>
            <a:off x="6492240" y="2057400"/>
            <a:ext cx="4754880" cy="1371600"/>
          </a:xfrm>
          <a:prstGeom prst="rect">
            <a:avLst/>
          </a:prstGeom>
          <a:noFill/>
        </p:spPr>
        <p:txBody>
          <a:bodyPr wrap="square">
            <a:spAutoFit/>
          </a:bodyPr>
          <a:lstStyle/>
          <a:p>
            <a:pPr>
              <a:spcAft>
                <a:spcPts val="500"/>
              </a:spcAft>
            </a:pPr>
            <a:r>
              <a:rPr sz="1100" b="0">
                <a:solidFill>
                  <a:srgbClr val="1A1A1A"/>
                </a:solidFill>
                <a:latin typeface="Calibri"/>
              </a:rPr>
              <a:t>Same campaign structure — localised per clinic</a:t>
            </a:r>
          </a:p>
          <a:p>
            <a:pPr>
              <a:spcAft>
                <a:spcPts val="500"/>
              </a:spcAft>
            </a:pPr>
            <a:r>
              <a:rPr sz="1100" b="0">
                <a:solidFill>
                  <a:srgbClr val="1A1A1A"/>
                </a:solidFill>
                <a:latin typeface="Calibri"/>
              </a:rPr>
              <a:t>Shared negative keyword lists (9-list system)</a:t>
            </a:r>
          </a:p>
          <a:p>
            <a:pPr>
              <a:spcAft>
                <a:spcPts val="500"/>
              </a:spcAft>
            </a:pPr>
            <a:r>
              <a:rPr sz="1100" b="0">
                <a:solidFill>
                  <a:srgbClr val="1A1A1A"/>
                </a:solidFill>
                <a:latin typeface="Calibri"/>
              </a:rPr>
              <a:t>Performance-based budgets — best clinics earn more spend</a:t>
            </a:r>
          </a:p>
          <a:p>
            <a:pPr>
              <a:spcAft>
                <a:spcPts val="500"/>
              </a:spcAft>
            </a:pPr>
            <a:r>
              <a:rPr sz="1100" b="0">
                <a:solidFill>
                  <a:srgbClr val="1A1A1A"/>
                </a:solidFill>
                <a:latin typeface="Calibri"/>
              </a:rPr>
              <a:t>Postcode targeting per clinic location</a:t>
            </a:r>
          </a:p>
        </p:txBody>
      </p:sp>
      <p:sp>
        <p:nvSpPr>
          <p:cNvPr id="21" name="TextBox 20"/>
          <p:cNvSpPr txBox="1"/>
          <p:nvPr/>
        </p:nvSpPr>
        <p:spPr>
          <a:xfrm>
            <a:off x="548640" y="4023360"/>
            <a:ext cx="10972800" cy="274320"/>
          </a:xfrm>
          <a:prstGeom prst="rect">
            <a:avLst/>
          </a:prstGeom>
          <a:noFill/>
        </p:spPr>
        <p:txBody>
          <a:bodyPr wrap="square">
            <a:spAutoFit/>
          </a:bodyPr>
          <a:lstStyle/>
          <a:p>
            <a:pPr algn="l"/>
            <a:r>
              <a:rPr sz="1400" b="1">
                <a:solidFill>
                  <a:srgbClr val="1A237E"/>
                </a:solidFill>
                <a:latin typeface="Calibri"/>
              </a:rPr>
              <a:t>What Scales from Flagship to Network</a:t>
            </a:r>
          </a:p>
        </p:txBody>
      </p:sp>
      <p:sp>
        <p:nvSpPr>
          <p:cNvPr id="22" name="Rectangle 21"/>
          <p:cNvSpPr/>
          <p:nvPr/>
        </p:nvSpPr>
        <p:spPr>
          <a:xfrm>
            <a:off x="548640" y="4389120"/>
            <a:ext cx="219456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4389120"/>
            <a:ext cx="54864" cy="9601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4480560"/>
            <a:ext cx="1920240" cy="457200"/>
          </a:xfrm>
          <a:prstGeom prst="rect">
            <a:avLst/>
          </a:prstGeom>
          <a:noFill/>
        </p:spPr>
        <p:txBody>
          <a:bodyPr wrap="square">
            <a:spAutoFit/>
          </a:bodyPr>
          <a:lstStyle/>
          <a:p>
            <a:pPr algn="l"/>
            <a:r>
              <a:rPr sz="2200" b="1">
                <a:solidFill>
                  <a:srgbClr val="34A853"/>
                </a:solidFill>
                <a:latin typeface="Calibri"/>
              </a:rPr>
              <a:t>9-List</a:t>
            </a:r>
          </a:p>
        </p:txBody>
      </p:sp>
      <p:sp>
        <p:nvSpPr>
          <p:cNvPr id="25" name="TextBox 24"/>
          <p:cNvSpPr txBox="1"/>
          <p:nvPr/>
        </p:nvSpPr>
        <p:spPr>
          <a:xfrm>
            <a:off x="731520" y="4937760"/>
            <a:ext cx="1920240" cy="320040"/>
          </a:xfrm>
          <a:prstGeom prst="rect">
            <a:avLst/>
          </a:prstGeom>
          <a:noFill/>
        </p:spPr>
        <p:txBody>
          <a:bodyPr wrap="square">
            <a:spAutoFit/>
          </a:bodyPr>
          <a:lstStyle/>
          <a:p>
            <a:pPr algn="l"/>
            <a:r>
              <a:rPr sz="1100" b="0">
                <a:solidFill>
                  <a:srgbClr val="1A1A1A"/>
                </a:solidFill>
                <a:latin typeface="Calibri"/>
              </a:rPr>
              <a:t>Neg Keyword Framework</a:t>
            </a:r>
          </a:p>
        </p:txBody>
      </p:sp>
      <p:sp>
        <p:nvSpPr>
          <p:cNvPr id="26" name="Rectangle 25"/>
          <p:cNvSpPr/>
          <p:nvPr/>
        </p:nvSpPr>
        <p:spPr>
          <a:xfrm>
            <a:off x="2926080" y="4389120"/>
            <a:ext cx="219456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926080" y="4389120"/>
            <a:ext cx="54864" cy="9601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108960" y="4480560"/>
            <a:ext cx="1920240" cy="457200"/>
          </a:xfrm>
          <a:prstGeom prst="rect">
            <a:avLst/>
          </a:prstGeom>
          <a:noFill/>
        </p:spPr>
        <p:txBody>
          <a:bodyPr wrap="square">
            <a:spAutoFit/>
          </a:bodyPr>
          <a:lstStyle/>
          <a:p>
            <a:pPr algn="l"/>
            <a:r>
              <a:rPr sz="2200" b="1">
                <a:solidFill>
                  <a:srgbClr val="4285F4"/>
                </a:solidFill>
                <a:latin typeface="Calibri"/>
              </a:rPr>
              <a:t>Ad Copy</a:t>
            </a:r>
          </a:p>
        </p:txBody>
      </p:sp>
      <p:sp>
        <p:nvSpPr>
          <p:cNvPr id="29" name="TextBox 28"/>
          <p:cNvSpPr txBox="1"/>
          <p:nvPr/>
        </p:nvSpPr>
        <p:spPr>
          <a:xfrm>
            <a:off x="3108960" y="4937760"/>
            <a:ext cx="1920240" cy="320040"/>
          </a:xfrm>
          <a:prstGeom prst="rect">
            <a:avLst/>
          </a:prstGeom>
          <a:noFill/>
        </p:spPr>
        <p:txBody>
          <a:bodyPr wrap="square">
            <a:spAutoFit/>
          </a:bodyPr>
          <a:lstStyle/>
          <a:p>
            <a:pPr algn="l"/>
            <a:r>
              <a:rPr sz="1100" b="0">
                <a:solidFill>
                  <a:srgbClr val="1A1A1A"/>
                </a:solidFill>
                <a:latin typeface="Calibri"/>
              </a:rPr>
              <a:t>Winning Angles</a:t>
            </a:r>
          </a:p>
        </p:txBody>
      </p:sp>
      <p:sp>
        <p:nvSpPr>
          <p:cNvPr id="30" name="Rectangle 29"/>
          <p:cNvSpPr/>
          <p:nvPr/>
        </p:nvSpPr>
        <p:spPr>
          <a:xfrm>
            <a:off x="5303520" y="4389120"/>
            <a:ext cx="219456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303520" y="4389120"/>
            <a:ext cx="54864" cy="96012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0" y="4480560"/>
            <a:ext cx="1920240" cy="457200"/>
          </a:xfrm>
          <a:prstGeom prst="rect">
            <a:avLst/>
          </a:prstGeom>
          <a:noFill/>
        </p:spPr>
        <p:txBody>
          <a:bodyPr wrap="square">
            <a:spAutoFit/>
          </a:bodyPr>
          <a:lstStyle/>
          <a:p>
            <a:pPr algn="l"/>
            <a:r>
              <a:rPr sz="2200" b="1">
                <a:solidFill>
                  <a:srgbClr val="FBBC05"/>
                </a:solidFill>
                <a:latin typeface="Calibri"/>
              </a:rPr>
              <a:t>tCPA</a:t>
            </a:r>
          </a:p>
        </p:txBody>
      </p:sp>
      <p:sp>
        <p:nvSpPr>
          <p:cNvPr id="33" name="TextBox 32"/>
          <p:cNvSpPr txBox="1"/>
          <p:nvPr/>
        </p:nvSpPr>
        <p:spPr>
          <a:xfrm>
            <a:off x="5486400" y="4937760"/>
            <a:ext cx="1920240" cy="320040"/>
          </a:xfrm>
          <a:prstGeom prst="rect">
            <a:avLst/>
          </a:prstGeom>
          <a:noFill/>
        </p:spPr>
        <p:txBody>
          <a:bodyPr wrap="square">
            <a:spAutoFit/>
          </a:bodyPr>
          <a:lstStyle/>
          <a:p>
            <a:pPr algn="l"/>
            <a:r>
              <a:rPr sz="1100" b="0">
                <a:solidFill>
                  <a:srgbClr val="1A1A1A"/>
                </a:solidFill>
                <a:latin typeface="Calibri"/>
              </a:rPr>
              <a:t>Benchmarks per Treatment</a:t>
            </a:r>
          </a:p>
        </p:txBody>
      </p:sp>
      <p:sp>
        <p:nvSpPr>
          <p:cNvPr id="34" name="Rectangle 33"/>
          <p:cNvSpPr/>
          <p:nvPr/>
        </p:nvSpPr>
        <p:spPr>
          <a:xfrm>
            <a:off x="7680960" y="4389120"/>
            <a:ext cx="201168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680960" y="4389120"/>
            <a:ext cx="54864" cy="9601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0" y="4480560"/>
            <a:ext cx="1737360" cy="457200"/>
          </a:xfrm>
          <a:prstGeom prst="rect">
            <a:avLst/>
          </a:prstGeom>
          <a:noFill/>
        </p:spPr>
        <p:txBody>
          <a:bodyPr wrap="square">
            <a:spAutoFit/>
          </a:bodyPr>
          <a:lstStyle/>
          <a:p>
            <a:pPr algn="l"/>
            <a:r>
              <a:rPr sz="2200" b="1">
                <a:solidFill>
                  <a:srgbClr val="34A853"/>
                </a:solidFill>
                <a:latin typeface="Calibri"/>
              </a:rPr>
              <a:t>Reporting</a:t>
            </a:r>
          </a:p>
        </p:txBody>
      </p:sp>
      <p:sp>
        <p:nvSpPr>
          <p:cNvPr id="37" name="TextBox 36"/>
          <p:cNvSpPr txBox="1"/>
          <p:nvPr/>
        </p:nvSpPr>
        <p:spPr>
          <a:xfrm>
            <a:off x="7863840" y="4937760"/>
            <a:ext cx="1737360" cy="320040"/>
          </a:xfrm>
          <a:prstGeom prst="rect">
            <a:avLst/>
          </a:prstGeom>
          <a:noFill/>
        </p:spPr>
        <p:txBody>
          <a:bodyPr wrap="square">
            <a:spAutoFit/>
          </a:bodyPr>
          <a:lstStyle/>
          <a:p>
            <a:pPr algn="l"/>
            <a:r>
              <a:rPr sz="1100" b="0">
                <a:solidFill>
                  <a:srgbClr val="1A1A1A"/>
                </a:solidFill>
                <a:latin typeface="Calibri"/>
              </a:rPr>
              <a:t>Monthly Framework</a:t>
            </a:r>
          </a:p>
        </p:txBody>
      </p:sp>
      <p:sp>
        <p:nvSpPr>
          <p:cNvPr id="38" name="Rectangle 37"/>
          <p:cNvSpPr/>
          <p:nvPr/>
        </p:nvSpPr>
        <p:spPr>
          <a:xfrm>
            <a:off x="9875520" y="4389120"/>
            <a:ext cx="173736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875520" y="4389120"/>
            <a:ext cx="54864" cy="9601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0" y="4480560"/>
            <a:ext cx="1463040" cy="457200"/>
          </a:xfrm>
          <a:prstGeom prst="rect">
            <a:avLst/>
          </a:prstGeom>
          <a:noFill/>
        </p:spPr>
        <p:txBody>
          <a:bodyPr wrap="square">
            <a:spAutoFit/>
          </a:bodyPr>
          <a:lstStyle/>
          <a:p>
            <a:pPr algn="l"/>
            <a:r>
              <a:rPr sz="2200" b="1">
                <a:solidFill>
                  <a:srgbClr val="4285F4"/>
                </a:solidFill>
                <a:latin typeface="Calibri"/>
              </a:rPr>
              <a:t>Postcodes</a:t>
            </a:r>
          </a:p>
        </p:txBody>
      </p:sp>
      <p:sp>
        <p:nvSpPr>
          <p:cNvPr id="41" name="TextBox 40"/>
          <p:cNvSpPr txBox="1"/>
          <p:nvPr/>
        </p:nvSpPr>
        <p:spPr>
          <a:xfrm>
            <a:off x="10058400" y="4937760"/>
            <a:ext cx="1463040" cy="320040"/>
          </a:xfrm>
          <a:prstGeom prst="rect">
            <a:avLst/>
          </a:prstGeom>
          <a:noFill/>
        </p:spPr>
        <p:txBody>
          <a:bodyPr wrap="square">
            <a:spAutoFit/>
          </a:bodyPr>
          <a:lstStyle/>
          <a:p>
            <a:pPr algn="l"/>
            <a:r>
              <a:rPr sz="1100" b="0">
                <a:solidFill>
                  <a:srgbClr val="1A1A1A"/>
                </a:solidFill>
                <a:latin typeface="Calibri"/>
              </a:rPr>
              <a:t>Geo Structure</a:t>
            </a:r>
          </a:p>
        </p:txBody>
      </p:sp>
      <p:sp>
        <p:nvSpPr>
          <p:cNvPr id="42" name="Rectangle 41"/>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47" name="TextBox 46"/>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48" name="TextBox 47"/>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Projected Results</a:t>
            </a:r>
          </a:p>
        </p:txBody>
      </p:sp>
      <p:sp>
        <p:nvSpPr>
          <p:cNvPr id="7" name="TextBox 6"/>
          <p:cNvSpPr txBox="1"/>
          <p:nvPr/>
        </p:nvSpPr>
        <p:spPr>
          <a:xfrm>
            <a:off x="548640" y="777240"/>
            <a:ext cx="8229600" cy="274320"/>
          </a:xfrm>
          <a:prstGeom prst="rect">
            <a:avLst/>
          </a:prstGeom>
          <a:noFill/>
        </p:spPr>
        <p:txBody>
          <a:bodyPr wrap="square">
            <a:spAutoFit/>
          </a:bodyPr>
          <a:lstStyle/>
          <a:p>
            <a:pPr algn="l"/>
            <a:r>
              <a:rPr sz="1100" b="0">
                <a:solidFill>
                  <a:srgbClr val="EA4335"/>
                </a:solidFill>
                <a:latin typeface="Calibri"/>
              </a:rPr>
              <a:t>Conservative projections based on Reports 1, 2, and PMax deep-dive</a:t>
            </a:r>
          </a:p>
        </p:txBody>
      </p:sp>
      <p:sp>
        <p:nvSpPr>
          <p:cNvPr id="8" name="Rectangle 7"/>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90-Day Target</a:t>
            </a:r>
          </a:p>
        </p:txBody>
      </p:sp>
      <p:sp>
        <p:nvSpPr>
          <p:cNvPr id="10" name="Rectangle 9"/>
          <p:cNvSpPr/>
          <p:nvPr/>
        </p:nvSpPr>
        <p:spPr>
          <a:xfrm>
            <a:off x="548640" y="1097280"/>
            <a:ext cx="274320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097280"/>
            <a:ext cx="54864" cy="9601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188720"/>
            <a:ext cx="2468880" cy="457200"/>
          </a:xfrm>
          <a:prstGeom prst="rect">
            <a:avLst/>
          </a:prstGeom>
          <a:noFill/>
        </p:spPr>
        <p:txBody>
          <a:bodyPr wrap="square">
            <a:spAutoFit/>
          </a:bodyPr>
          <a:lstStyle/>
          <a:p>
            <a:pPr algn="l"/>
            <a:r>
              <a:rPr sz="2200" b="1">
                <a:solidFill>
                  <a:srgbClr val="34A853"/>
                </a:solidFill>
                <a:latin typeface="Calibri"/>
              </a:rPr>
              <a:t>£64→£50</a:t>
            </a:r>
          </a:p>
        </p:txBody>
      </p:sp>
      <p:sp>
        <p:nvSpPr>
          <p:cNvPr id="13" name="TextBox 12"/>
          <p:cNvSpPr txBox="1"/>
          <p:nvPr/>
        </p:nvSpPr>
        <p:spPr>
          <a:xfrm>
            <a:off x="731520" y="1645920"/>
            <a:ext cx="2468880" cy="320040"/>
          </a:xfrm>
          <a:prstGeom prst="rect">
            <a:avLst/>
          </a:prstGeom>
          <a:noFill/>
        </p:spPr>
        <p:txBody>
          <a:bodyPr wrap="square">
            <a:spAutoFit/>
          </a:bodyPr>
          <a:lstStyle/>
          <a:p>
            <a:pPr algn="l"/>
            <a:r>
              <a:rPr sz="1100" b="0">
                <a:solidFill>
                  <a:srgbClr val="1A1A1A"/>
                </a:solidFill>
                <a:latin typeface="Calibri"/>
              </a:rPr>
              <a:t>Non-Brand CPA Target</a:t>
            </a:r>
          </a:p>
        </p:txBody>
      </p:sp>
      <p:sp>
        <p:nvSpPr>
          <p:cNvPr id="14" name="Rectangle 13"/>
          <p:cNvSpPr/>
          <p:nvPr/>
        </p:nvSpPr>
        <p:spPr>
          <a:xfrm>
            <a:off x="3566160" y="1097280"/>
            <a:ext cx="274320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66160" y="1097280"/>
            <a:ext cx="54864" cy="9601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49040" y="1188720"/>
            <a:ext cx="2468880" cy="457200"/>
          </a:xfrm>
          <a:prstGeom prst="rect">
            <a:avLst/>
          </a:prstGeom>
          <a:noFill/>
        </p:spPr>
        <p:txBody>
          <a:bodyPr wrap="square">
            <a:spAutoFit/>
          </a:bodyPr>
          <a:lstStyle/>
          <a:p>
            <a:pPr algn="l"/>
            <a:r>
              <a:rPr sz="2200" b="1">
                <a:solidFill>
                  <a:srgbClr val="4285F4"/>
                </a:solidFill>
                <a:latin typeface="Calibri"/>
              </a:rPr>
              <a:t>+236/mo</a:t>
            </a:r>
          </a:p>
        </p:txBody>
      </p:sp>
      <p:sp>
        <p:nvSpPr>
          <p:cNvPr id="17" name="TextBox 16"/>
          <p:cNvSpPr txBox="1"/>
          <p:nvPr/>
        </p:nvSpPr>
        <p:spPr>
          <a:xfrm>
            <a:off x="3749040" y="1645920"/>
            <a:ext cx="2468880" cy="320040"/>
          </a:xfrm>
          <a:prstGeom prst="rect">
            <a:avLst/>
          </a:prstGeom>
          <a:noFill/>
        </p:spPr>
        <p:txBody>
          <a:bodyPr wrap="square">
            <a:spAutoFit/>
          </a:bodyPr>
          <a:lstStyle/>
          <a:p>
            <a:pPr algn="l"/>
            <a:r>
              <a:rPr sz="1100" b="0">
                <a:solidFill>
                  <a:srgbClr val="1A1A1A"/>
                </a:solidFill>
                <a:latin typeface="Calibri"/>
              </a:rPr>
              <a:t>Additional Leads (Same Budget)</a:t>
            </a:r>
          </a:p>
        </p:txBody>
      </p:sp>
      <p:sp>
        <p:nvSpPr>
          <p:cNvPr id="18" name="Rectangle 17"/>
          <p:cNvSpPr/>
          <p:nvPr/>
        </p:nvSpPr>
        <p:spPr>
          <a:xfrm>
            <a:off x="6583680" y="1097280"/>
            <a:ext cx="274320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0" y="1097280"/>
            <a:ext cx="54864" cy="96012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1188720"/>
            <a:ext cx="2468880" cy="457200"/>
          </a:xfrm>
          <a:prstGeom prst="rect">
            <a:avLst/>
          </a:prstGeom>
          <a:noFill/>
        </p:spPr>
        <p:txBody>
          <a:bodyPr wrap="square">
            <a:spAutoFit/>
          </a:bodyPr>
          <a:lstStyle/>
          <a:p>
            <a:pPr algn="l"/>
            <a:r>
              <a:rPr sz="2200" b="1">
                <a:solidFill>
                  <a:srgbClr val="FBBC05"/>
                </a:solidFill>
                <a:latin typeface="Calibri"/>
              </a:rPr>
              <a:t>£12K/mo</a:t>
            </a:r>
          </a:p>
        </p:txBody>
      </p:sp>
      <p:sp>
        <p:nvSpPr>
          <p:cNvPr id="21" name="TextBox 20"/>
          <p:cNvSpPr txBox="1"/>
          <p:nvPr/>
        </p:nvSpPr>
        <p:spPr>
          <a:xfrm>
            <a:off x="6766560" y="1645920"/>
            <a:ext cx="2468880" cy="320040"/>
          </a:xfrm>
          <a:prstGeom prst="rect">
            <a:avLst/>
          </a:prstGeom>
          <a:noFill/>
        </p:spPr>
        <p:txBody>
          <a:bodyPr wrap="square">
            <a:spAutoFit/>
          </a:bodyPr>
          <a:lstStyle/>
          <a:p>
            <a:pPr algn="l"/>
            <a:r>
              <a:rPr sz="1100" b="0">
                <a:solidFill>
                  <a:srgbClr val="1A1A1A"/>
                </a:solidFill>
                <a:latin typeface="Calibri"/>
              </a:rPr>
              <a:t>Potential Monthly Saving</a:t>
            </a:r>
          </a:p>
        </p:txBody>
      </p:sp>
      <p:sp>
        <p:nvSpPr>
          <p:cNvPr id="22" name="Rectangle 21"/>
          <p:cNvSpPr/>
          <p:nvPr/>
        </p:nvSpPr>
        <p:spPr>
          <a:xfrm>
            <a:off x="9601200" y="1097280"/>
            <a:ext cx="2011680" cy="960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601200" y="1097280"/>
            <a:ext cx="54864" cy="9601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84080" y="1188720"/>
            <a:ext cx="1737360" cy="457200"/>
          </a:xfrm>
          <a:prstGeom prst="rect">
            <a:avLst/>
          </a:prstGeom>
          <a:noFill/>
        </p:spPr>
        <p:txBody>
          <a:bodyPr wrap="square">
            <a:spAutoFit/>
          </a:bodyPr>
          <a:lstStyle/>
          <a:p>
            <a:pPr algn="l"/>
            <a:r>
              <a:rPr sz="2200" b="1">
                <a:solidFill>
                  <a:srgbClr val="EA4335"/>
                </a:solidFill>
                <a:latin typeface="Calibri"/>
              </a:rPr>
              <a:t>£418→?</a:t>
            </a:r>
          </a:p>
        </p:txBody>
      </p:sp>
      <p:sp>
        <p:nvSpPr>
          <p:cNvPr id="25" name="TextBox 24"/>
          <p:cNvSpPr txBox="1"/>
          <p:nvPr/>
        </p:nvSpPr>
        <p:spPr>
          <a:xfrm>
            <a:off x="9784080" y="1645920"/>
            <a:ext cx="1737360" cy="320040"/>
          </a:xfrm>
          <a:prstGeom prst="rect">
            <a:avLst/>
          </a:prstGeom>
          <a:noFill/>
        </p:spPr>
        <p:txBody>
          <a:bodyPr wrap="square">
            <a:spAutoFit/>
          </a:bodyPr>
          <a:lstStyle/>
          <a:p>
            <a:pPr algn="l"/>
            <a:r>
              <a:rPr sz="1100" b="0">
                <a:solidFill>
                  <a:srgbClr val="1A1A1A"/>
                </a:solidFill>
                <a:latin typeface="Calibri"/>
              </a:rPr>
              <a:t>Real Booking CPA (Improve)</a:t>
            </a:r>
          </a:p>
        </p:txBody>
      </p:sp>
      <p:sp>
        <p:nvSpPr>
          <p:cNvPr id="26" name="Rectangle 25"/>
          <p:cNvSpPr/>
          <p:nvPr/>
        </p:nvSpPr>
        <p:spPr>
          <a:xfrm>
            <a:off x="548640" y="2377440"/>
            <a:ext cx="5303520" cy="18288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2377440"/>
            <a:ext cx="54864" cy="18288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2468880"/>
            <a:ext cx="4937760" cy="274320"/>
          </a:xfrm>
          <a:prstGeom prst="rect">
            <a:avLst/>
          </a:prstGeom>
          <a:noFill/>
        </p:spPr>
        <p:txBody>
          <a:bodyPr wrap="square">
            <a:spAutoFit/>
          </a:bodyPr>
          <a:lstStyle/>
          <a:p>
            <a:pPr algn="l"/>
            <a:r>
              <a:rPr sz="1400" b="1">
                <a:solidFill>
                  <a:srgbClr val="1A237E"/>
                </a:solidFill>
                <a:latin typeface="Calibri"/>
              </a:rPr>
              <a:t>Scenario 1: More Leads, Same Spend</a:t>
            </a:r>
          </a:p>
        </p:txBody>
      </p:sp>
      <p:sp>
        <p:nvSpPr>
          <p:cNvPr id="29" name="TextBox 28"/>
          <p:cNvSpPr txBox="1"/>
          <p:nvPr/>
        </p:nvSpPr>
        <p:spPr>
          <a:xfrm>
            <a:off x="777240" y="2743200"/>
            <a:ext cx="4937760" cy="1371600"/>
          </a:xfrm>
          <a:prstGeom prst="rect">
            <a:avLst/>
          </a:prstGeom>
          <a:noFill/>
        </p:spPr>
        <p:txBody>
          <a:bodyPr wrap="square">
            <a:spAutoFit/>
          </a:bodyPr>
          <a:lstStyle/>
          <a:p>
            <a:pPr algn="l"/>
            <a:r>
              <a:rPr sz="1100" b="0">
                <a:solidFill>
                  <a:srgbClr val="1A1A1A"/>
                </a:solidFill>
                <a:latin typeface="Calibri"/>
              </a:rPr>
              <a:t>Keep spend at £53,990/month.
Reduce non-brand CPA from £64 to £50.
Result: ~236 additional patient leads per month (+29%).
More importantly: these will be QUALIFIED leads (not NHS/free seekers) because the Search campaigns target paying patients specifically.</a:t>
            </a:r>
          </a:p>
        </p:txBody>
      </p:sp>
      <p:sp>
        <p:nvSpPr>
          <p:cNvPr id="30" name="Rectangle 29"/>
          <p:cNvSpPr/>
          <p:nvPr/>
        </p:nvSpPr>
        <p:spPr>
          <a:xfrm>
            <a:off x="6217920" y="2377440"/>
            <a:ext cx="5303520" cy="18288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0" y="2377440"/>
            <a:ext cx="54864" cy="18288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46520" y="2468880"/>
            <a:ext cx="4937760" cy="274320"/>
          </a:xfrm>
          <a:prstGeom prst="rect">
            <a:avLst/>
          </a:prstGeom>
          <a:noFill/>
        </p:spPr>
        <p:txBody>
          <a:bodyPr wrap="square">
            <a:spAutoFit/>
          </a:bodyPr>
          <a:lstStyle/>
          <a:p>
            <a:pPr algn="l"/>
            <a:r>
              <a:rPr sz="1400" b="1">
                <a:solidFill>
                  <a:srgbClr val="1A237E"/>
                </a:solidFill>
                <a:latin typeface="Calibri"/>
              </a:rPr>
              <a:t>Scenario 2: Same Leads, Less Spend</a:t>
            </a:r>
          </a:p>
        </p:txBody>
      </p:sp>
      <p:sp>
        <p:nvSpPr>
          <p:cNvPr id="33" name="TextBox 32"/>
          <p:cNvSpPr txBox="1"/>
          <p:nvPr/>
        </p:nvSpPr>
        <p:spPr>
          <a:xfrm>
            <a:off x="6446520" y="2743200"/>
            <a:ext cx="4937760" cy="1371600"/>
          </a:xfrm>
          <a:prstGeom prst="rect">
            <a:avLst/>
          </a:prstGeom>
          <a:noFill/>
        </p:spPr>
        <p:txBody>
          <a:bodyPr wrap="square">
            <a:spAutoFit/>
          </a:bodyPr>
          <a:lstStyle/>
          <a:p>
            <a:pPr algn="l"/>
            <a:r>
              <a:rPr sz="1100" b="0">
                <a:solidFill>
                  <a:srgbClr val="1A1A1A"/>
                </a:solidFill>
                <a:latin typeface="Calibri"/>
              </a:rPr>
              <a:t>Maintain current lead volume.
Reduce CPA from £64 to £50.
Result: £12,000/month saving (£144K/year).
The savings come from eliminating Display waste, blocking junk leads, and better keyword targeting.</a:t>
            </a:r>
          </a:p>
        </p:txBody>
      </p:sp>
      <p:sp>
        <p:nvSpPr>
          <p:cNvPr id="34" name="Rectangle 33"/>
          <p:cNvSpPr/>
          <p:nvPr/>
        </p:nvSpPr>
        <p:spPr>
          <a:xfrm>
            <a:off x="548640" y="4434840"/>
            <a:ext cx="11064240" cy="146304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434840"/>
            <a:ext cx="54864" cy="146304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4526280"/>
            <a:ext cx="10698480" cy="274320"/>
          </a:xfrm>
          <a:prstGeom prst="rect">
            <a:avLst/>
          </a:prstGeom>
          <a:noFill/>
        </p:spPr>
        <p:txBody>
          <a:bodyPr wrap="square">
            <a:spAutoFit/>
          </a:bodyPr>
          <a:lstStyle/>
          <a:p>
            <a:pPr algn="l"/>
            <a:r>
              <a:rPr sz="1400" b="1">
                <a:solidFill>
                  <a:srgbClr val="1A237E"/>
                </a:solidFill>
                <a:latin typeface="Calibri"/>
              </a:rPr>
              <a:t>Why These Projections Are Achievable</a:t>
            </a:r>
          </a:p>
        </p:txBody>
      </p:sp>
      <p:sp>
        <p:nvSpPr>
          <p:cNvPr id="37" name="TextBox 36"/>
          <p:cNvSpPr txBox="1"/>
          <p:nvPr/>
        </p:nvSpPr>
        <p:spPr>
          <a:xfrm>
            <a:off x="777240" y="4800600"/>
            <a:ext cx="10698480" cy="1005840"/>
          </a:xfrm>
          <a:prstGeom prst="rect">
            <a:avLst/>
          </a:prstGeom>
          <a:noFill/>
        </p:spPr>
        <p:txBody>
          <a:bodyPr wrap="square">
            <a:spAutoFit/>
          </a:bodyPr>
          <a:lstStyle/>
          <a:p>
            <a:pPr algn="l"/>
            <a:r>
              <a:rPr sz="1100" b="0">
                <a:solidFill>
                  <a:srgbClr val="1A1A1A"/>
                </a:solidFill>
                <a:latin typeface="Calibri"/>
              </a:rPr>
              <a:t>• The Financing ad group already delivers £34 CPA at 24.7% CVR — with proper structure, other ad groups can approach this
• 2025 non-brand CPA was £46 — the account has achieved below £50 before
• £1,893/month in Display waste is immediately recoverable
• Blocking NHS/free seekers stops the algorithm chasing junk conversions
• Ad rewrites improving QS from 3 to 7 reduces CPCs by an estimated 30-50%</a:t>
            </a:r>
          </a:p>
        </p:txBody>
      </p:sp>
      <p:sp>
        <p:nvSpPr>
          <p:cNvPr id="38" name="Rectangle 37"/>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43" name="TextBox 42"/>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44" name="TextBox 43"/>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695"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54864"/>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54864"/>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54864"/>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4320"/>
            <a:ext cx="6400800" cy="457200"/>
          </a:xfrm>
          <a:prstGeom prst="rect">
            <a:avLst/>
          </a:prstGeom>
          <a:noFill/>
        </p:spPr>
        <p:txBody>
          <a:bodyPr wrap="square">
            <a:spAutoFit/>
          </a:bodyPr>
          <a:lstStyle/>
          <a:p>
            <a:pPr algn="l"/>
            <a:r>
              <a:rPr sz="2800" b="1">
                <a:solidFill>
                  <a:srgbClr val="1A237E"/>
                </a:solidFill>
                <a:latin typeface="Calibri"/>
              </a:rPr>
              <a:t>Implementation Timeline</a:t>
            </a:r>
          </a:p>
        </p:txBody>
      </p:sp>
      <p:sp>
        <p:nvSpPr>
          <p:cNvPr id="7" name="Rectangle 6"/>
          <p:cNvSpPr/>
          <p:nvPr/>
        </p:nvSpPr>
        <p:spPr>
          <a:xfrm>
            <a:off x="8348472" y="274320"/>
            <a:ext cx="3291840" cy="411480"/>
          </a:xfrm>
          <a:prstGeom prst="rect">
            <a:avLst/>
          </a:prstGeom>
          <a:solidFill>
            <a:srgbClr val="FFFFFF"/>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39912" y="292608"/>
            <a:ext cx="3108960" cy="365760"/>
          </a:xfrm>
          <a:prstGeom prst="rect">
            <a:avLst/>
          </a:prstGeom>
          <a:noFill/>
        </p:spPr>
        <p:txBody>
          <a:bodyPr wrap="square">
            <a:spAutoFit/>
          </a:bodyPr>
          <a:lstStyle/>
          <a:p>
            <a:pPr algn="ctr"/>
            <a:r>
              <a:rPr sz="1100" b="1">
                <a:solidFill>
                  <a:srgbClr val="4285F4"/>
                </a:solidFill>
                <a:latin typeface="Calibri"/>
              </a:rPr>
              <a:t>90-Day Roadmap</a:t>
            </a:r>
          </a:p>
        </p:txBody>
      </p:sp>
      <p:sp>
        <p:nvSpPr>
          <p:cNvPr id="9" name="Rectangle 8"/>
          <p:cNvSpPr/>
          <p:nvPr/>
        </p:nvSpPr>
        <p:spPr>
          <a:xfrm>
            <a:off x="548640" y="1097280"/>
            <a:ext cx="2651760" cy="4572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115568"/>
            <a:ext cx="2651760" cy="457200"/>
          </a:xfrm>
          <a:prstGeom prst="rect">
            <a:avLst/>
          </a:prstGeom>
          <a:noFill/>
        </p:spPr>
        <p:txBody>
          <a:bodyPr wrap="square">
            <a:spAutoFit/>
          </a:bodyPr>
          <a:lstStyle/>
          <a:p>
            <a:pPr algn="ctr"/>
            <a:r>
              <a:rPr sz="1200" b="1">
                <a:solidFill>
                  <a:srgbClr val="FFFFFF"/>
                </a:solidFill>
                <a:latin typeface="Calibri"/>
              </a:rPr>
              <a:t>Week 1</a:t>
            </a:r>
          </a:p>
        </p:txBody>
      </p:sp>
      <p:sp>
        <p:nvSpPr>
          <p:cNvPr id="11" name="Rectangle 10"/>
          <p:cNvSpPr/>
          <p:nvPr/>
        </p:nvSpPr>
        <p:spPr>
          <a:xfrm>
            <a:off x="3383280" y="1097280"/>
            <a:ext cx="2651760" cy="45720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0" y="1115568"/>
            <a:ext cx="2651760" cy="457200"/>
          </a:xfrm>
          <a:prstGeom prst="rect">
            <a:avLst/>
          </a:prstGeom>
          <a:noFill/>
        </p:spPr>
        <p:txBody>
          <a:bodyPr wrap="square">
            <a:spAutoFit/>
          </a:bodyPr>
          <a:lstStyle/>
          <a:p>
            <a:pPr algn="ctr"/>
            <a:r>
              <a:rPr sz="1200" b="1">
                <a:solidFill>
                  <a:srgbClr val="FFFFFF"/>
                </a:solidFill>
                <a:latin typeface="Calibri"/>
              </a:rPr>
              <a:t>Weeks 2-3</a:t>
            </a:r>
          </a:p>
        </p:txBody>
      </p:sp>
      <p:sp>
        <p:nvSpPr>
          <p:cNvPr id="13" name="Rectangle 12"/>
          <p:cNvSpPr/>
          <p:nvPr/>
        </p:nvSpPr>
        <p:spPr>
          <a:xfrm>
            <a:off x="6217920" y="1097280"/>
            <a:ext cx="2651760" cy="4572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1115568"/>
            <a:ext cx="2651760" cy="457200"/>
          </a:xfrm>
          <a:prstGeom prst="rect">
            <a:avLst/>
          </a:prstGeom>
          <a:noFill/>
        </p:spPr>
        <p:txBody>
          <a:bodyPr wrap="square">
            <a:spAutoFit/>
          </a:bodyPr>
          <a:lstStyle/>
          <a:p>
            <a:pPr algn="ctr"/>
            <a:r>
              <a:rPr sz="1200" b="1">
                <a:solidFill>
                  <a:srgbClr val="FFFFFF"/>
                </a:solidFill>
                <a:latin typeface="Calibri"/>
              </a:rPr>
              <a:t>Week 4 + Month 2</a:t>
            </a:r>
          </a:p>
        </p:txBody>
      </p:sp>
      <p:sp>
        <p:nvSpPr>
          <p:cNvPr id="15" name="Rectangle 14"/>
          <p:cNvSpPr/>
          <p:nvPr/>
        </p:nvSpPr>
        <p:spPr>
          <a:xfrm>
            <a:off x="9052560" y="1097280"/>
            <a:ext cx="2651760" cy="4572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0" y="1115568"/>
            <a:ext cx="2651760" cy="457200"/>
          </a:xfrm>
          <a:prstGeom prst="rect">
            <a:avLst/>
          </a:prstGeom>
          <a:noFill/>
        </p:spPr>
        <p:txBody>
          <a:bodyPr wrap="square">
            <a:spAutoFit/>
          </a:bodyPr>
          <a:lstStyle/>
          <a:p>
            <a:pPr algn="ctr"/>
            <a:r>
              <a:rPr sz="1200" b="1">
                <a:solidFill>
                  <a:srgbClr val="FFFFFF"/>
                </a:solidFill>
                <a:latin typeface="Calibri"/>
              </a:rPr>
              <a:t>Month 3</a:t>
            </a:r>
          </a:p>
        </p:txBody>
      </p:sp>
      <p:sp>
        <p:nvSpPr>
          <p:cNvPr id="17" name="Rectangle 16"/>
          <p:cNvSpPr/>
          <p:nvPr/>
        </p:nvSpPr>
        <p:spPr>
          <a:xfrm>
            <a:off x="548640" y="1536192"/>
            <a:ext cx="11338560" cy="254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783080" y="1463040"/>
            <a:ext cx="182880" cy="182880"/>
          </a:xfrm>
          <a:prstGeom prst="ellipse">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617720" y="1463040"/>
            <a:ext cx="182880" cy="182880"/>
          </a:xfrm>
          <a:prstGeom prst="ellipse">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452360" y="1463040"/>
            <a:ext cx="182880" cy="182880"/>
          </a:xfrm>
          <a:prstGeom prst="ellipse">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287000" y="1463040"/>
            <a:ext cx="182880" cy="182880"/>
          </a:xfrm>
          <a:prstGeom prst="ellipse">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1691640"/>
            <a:ext cx="2651760" cy="274320"/>
          </a:xfrm>
          <a:prstGeom prst="rect">
            <a:avLst/>
          </a:prstGeom>
          <a:noFill/>
        </p:spPr>
        <p:txBody>
          <a:bodyPr wrap="square">
            <a:spAutoFit/>
          </a:bodyPr>
          <a:lstStyle/>
          <a:p>
            <a:pPr algn="ctr"/>
            <a:r>
              <a:rPr sz="1100" b="1">
                <a:solidFill>
                  <a:srgbClr val="1A237E"/>
                </a:solidFill>
                <a:latin typeface="Calibri"/>
              </a:rPr>
              <a:t>Fix Foundations</a:t>
            </a:r>
          </a:p>
        </p:txBody>
      </p:sp>
      <p:sp>
        <p:nvSpPr>
          <p:cNvPr id="23" name="TextBox 22"/>
          <p:cNvSpPr txBox="1"/>
          <p:nvPr/>
        </p:nvSpPr>
        <p:spPr>
          <a:xfrm>
            <a:off x="3383280" y="1691640"/>
            <a:ext cx="2651760" cy="274320"/>
          </a:xfrm>
          <a:prstGeom prst="rect">
            <a:avLst/>
          </a:prstGeom>
          <a:noFill/>
        </p:spPr>
        <p:txBody>
          <a:bodyPr wrap="square">
            <a:spAutoFit/>
          </a:bodyPr>
          <a:lstStyle/>
          <a:p>
            <a:pPr algn="ctr"/>
            <a:r>
              <a:rPr sz="1100" b="1">
                <a:solidFill>
                  <a:srgbClr val="1A237E"/>
                </a:solidFill>
                <a:latin typeface="Calibri"/>
              </a:rPr>
              <a:t>Build + Rewrite</a:t>
            </a:r>
          </a:p>
        </p:txBody>
      </p:sp>
      <p:sp>
        <p:nvSpPr>
          <p:cNvPr id="24" name="TextBox 23"/>
          <p:cNvSpPr txBox="1"/>
          <p:nvPr/>
        </p:nvSpPr>
        <p:spPr>
          <a:xfrm>
            <a:off x="6217920" y="1691640"/>
            <a:ext cx="2651760" cy="274320"/>
          </a:xfrm>
          <a:prstGeom prst="rect">
            <a:avLst/>
          </a:prstGeom>
          <a:noFill/>
        </p:spPr>
        <p:txBody>
          <a:bodyPr wrap="square">
            <a:spAutoFit/>
          </a:bodyPr>
          <a:lstStyle/>
          <a:p>
            <a:pPr algn="ctr"/>
            <a:r>
              <a:rPr sz="1100" b="1">
                <a:solidFill>
                  <a:srgbClr val="1A237E"/>
                </a:solidFill>
                <a:latin typeface="Calibri"/>
              </a:rPr>
              <a:t>Launch + Optimise</a:t>
            </a:r>
          </a:p>
        </p:txBody>
      </p:sp>
      <p:sp>
        <p:nvSpPr>
          <p:cNvPr id="25" name="TextBox 24"/>
          <p:cNvSpPr txBox="1"/>
          <p:nvPr/>
        </p:nvSpPr>
        <p:spPr>
          <a:xfrm>
            <a:off x="9052560" y="1691640"/>
            <a:ext cx="2651760" cy="274320"/>
          </a:xfrm>
          <a:prstGeom prst="rect">
            <a:avLst/>
          </a:prstGeom>
          <a:noFill/>
        </p:spPr>
        <p:txBody>
          <a:bodyPr wrap="square">
            <a:spAutoFit/>
          </a:bodyPr>
          <a:lstStyle/>
          <a:p>
            <a:pPr algn="ctr"/>
            <a:r>
              <a:rPr sz="1100" b="1">
                <a:solidFill>
                  <a:srgbClr val="1A237E"/>
                </a:solidFill>
                <a:latin typeface="Calibri"/>
              </a:rPr>
              <a:t>Scale</a:t>
            </a:r>
          </a:p>
        </p:txBody>
      </p:sp>
      <p:sp>
        <p:nvSpPr>
          <p:cNvPr id="26" name="Rectangle 25"/>
          <p:cNvSpPr/>
          <p:nvPr/>
        </p:nvSpPr>
        <p:spPr>
          <a:xfrm>
            <a:off x="548640" y="2057400"/>
            <a:ext cx="2651760" cy="39319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2057400"/>
            <a:ext cx="2651760" cy="5080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2057400"/>
            <a:ext cx="54864" cy="39319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2148840"/>
            <a:ext cx="2377440" cy="228600"/>
          </a:xfrm>
          <a:prstGeom prst="rect">
            <a:avLst/>
          </a:prstGeom>
          <a:noFill/>
        </p:spPr>
        <p:txBody>
          <a:bodyPr wrap="square">
            <a:spAutoFit/>
          </a:bodyPr>
          <a:lstStyle/>
          <a:p>
            <a:pPr algn="l"/>
            <a:r>
              <a:rPr sz="1100" b="1">
                <a:solidFill>
                  <a:srgbClr val="EA4335"/>
                </a:solidFill>
                <a:latin typeface="Calibri"/>
              </a:rPr>
              <a:t>Week 1</a:t>
            </a:r>
          </a:p>
        </p:txBody>
      </p:sp>
      <p:sp>
        <p:nvSpPr>
          <p:cNvPr id="30" name="TextBox 29"/>
          <p:cNvSpPr txBox="1"/>
          <p:nvPr/>
        </p:nvSpPr>
        <p:spPr>
          <a:xfrm>
            <a:off x="685800" y="2377440"/>
            <a:ext cx="2377440" cy="274320"/>
          </a:xfrm>
          <a:prstGeom prst="rect">
            <a:avLst/>
          </a:prstGeom>
          <a:noFill/>
        </p:spPr>
        <p:txBody>
          <a:bodyPr wrap="square">
            <a:spAutoFit/>
          </a:bodyPr>
          <a:lstStyle/>
          <a:p>
            <a:pPr algn="l"/>
            <a:r>
              <a:rPr sz="1400" b="1">
                <a:solidFill>
                  <a:srgbClr val="1A237E"/>
                </a:solidFill>
                <a:latin typeface="Calibri"/>
              </a:rPr>
              <a:t>Fix Foundations</a:t>
            </a:r>
          </a:p>
        </p:txBody>
      </p:sp>
      <p:sp>
        <p:nvSpPr>
          <p:cNvPr id="31" name="TextBox 30"/>
          <p:cNvSpPr txBox="1"/>
          <p:nvPr/>
        </p:nvSpPr>
        <p:spPr>
          <a:xfrm>
            <a:off x="685800" y="2743200"/>
            <a:ext cx="2377440" cy="3017520"/>
          </a:xfrm>
          <a:prstGeom prst="rect">
            <a:avLst/>
          </a:prstGeom>
          <a:noFill/>
        </p:spPr>
        <p:txBody>
          <a:bodyPr wrap="square">
            <a:spAutoFit/>
          </a:bodyPr>
          <a:lstStyle/>
          <a:p>
            <a:pPr>
              <a:spcAft>
                <a:spcPts val="500"/>
              </a:spcAft>
            </a:pPr>
            <a:r>
              <a:rPr sz="900" b="0">
                <a:solidFill>
                  <a:srgbClr val="1A1A1A"/>
                </a:solidFill>
                <a:latin typeface="Calibri"/>
              </a:rPr>
              <a:t>Remove KMG ghost conversions</a:t>
            </a:r>
          </a:p>
          <a:p>
            <a:pPr>
              <a:spcAft>
                <a:spcPts val="500"/>
              </a:spcAft>
            </a:pPr>
            <a:r>
              <a:rPr sz="900" b="0">
                <a:solidFill>
                  <a:srgbClr val="1A1A1A"/>
                </a:solidFill>
                <a:latin typeface="Calibri"/>
              </a:rPr>
              <a:t>Move soft signals to Secondary</a:t>
            </a:r>
          </a:p>
          <a:p>
            <a:pPr>
              <a:spcAft>
                <a:spcPts val="500"/>
              </a:spcAft>
            </a:pPr>
            <a:r>
              <a:rPr sz="900" b="0">
                <a:solidFill>
                  <a:srgbClr val="1A1A1A"/>
                </a:solidFill>
                <a:latin typeface="Calibri"/>
              </a:rPr>
              <a:t>Block NHS/free seekers (account-level)</a:t>
            </a:r>
          </a:p>
          <a:p>
            <a:pPr>
              <a:spcAft>
                <a:spcPts val="500"/>
              </a:spcAft>
            </a:pPr>
            <a:r>
              <a:rPr sz="900" b="0">
                <a:solidFill>
                  <a:srgbClr val="1A1A1A"/>
                </a:solidFill>
                <a:latin typeface="Calibri"/>
              </a:rPr>
              <a:t>Add PMax Display exclusions</a:t>
            </a:r>
          </a:p>
          <a:p>
            <a:pPr>
              <a:spcAft>
                <a:spcPts val="500"/>
              </a:spcAft>
            </a:pPr>
            <a:r>
              <a:rPr sz="900" b="0">
                <a:solidFill>
                  <a:srgbClr val="1A1A1A"/>
                </a:solidFill>
                <a:latin typeface="Calibri"/>
              </a:rPr>
              <a:t>Negative keyword 9-list overhaul</a:t>
            </a:r>
          </a:p>
          <a:p>
            <a:pPr>
              <a:spcAft>
                <a:spcPts val="500"/>
              </a:spcAft>
            </a:pPr>
            <a:r>
              <a:rPr sz="900" b="0">
                <a:solidFill>
                  <a:srgbClr val="1A1A1A"/>
                </a:solidFill>
                <a:latin typeface="Calibri"/>
              </a:rPr>
              <a:t>Geo: radius → postcodes</a:t>
            </a:r>
          </a:p>
          <a:p>
            <a:pPr>
              <a:spcAft>
                <a:spcPts val="500"/>
              </a:spcAft>
            </a:pPr>
            <a:r>
              <a:rPr sz="900" b="0">
                <a:solidFill>
                  <a:srgbClr val="1A1A1A"/>
                </a:solidFill>
                <a:latin typeface="Calibri"/>
              </a:rPr>
              <a:t>Device + schedule bid adjustments</a:t>
            </a:r>
          </a:p>
          <a:p>
            <a:pPr>
              <a:spcAft>
                <a:spcPts val="500"/>
              </a:spcAft>
            </a:pPr>
            <a:r>
              <a:rPr sz="900" b="0">
                <a:solidFill>
                  <a:srgbClr val="1A1A1A"/>
                </a:solidFill>
                <a:latin typeface="Calibri"/>
              </a:rPr>
              <a:t>Disable auto-apply</a:t>
            </a:r>
          </a:p>
        </p:txBody>
      </p:sp>
      <p:sp>
        <p:nvSpPr>
          <p:cNvPr id="32" name="Rectangle 31"/>
          <p:cNvSpPr/>
          <p:nvPr/>
        </p:nvSpPr>
        <p:spPr>
          <a:xfrm>
            <a:off x="3383280" y="2057400"/>
            <a:ext cx="2651760" cy="39319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83280" y="2057400"/>
            <a:ext cx="2651760" cy="5080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383280" y="2057400"/>
            <a:ext cx="54864" cy="393192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20440" y="2148840"/>
            <a:ext cx="2377440" cy="228600"/>
          </a:xfrm>
          <a:prstGeom prst="rect">
            <a:avLst/>
          </a:prstGeom>
          <a:noFill/>
        </p:spPr>
        <p:txBody>
          <a:bodyPr wrap="square">
            <a:spAutoFit/>
          </a:bodyPr>
          <a:lstStyle/>
          <a:p>
            <a:pPr algn="l"/>
            <a:r>
              <a:rPr sz="1100" b="1">
                <a:solidFill>
                  <a:srgbClr val="FBBC05"/>
                </a:solidFill>
                <a:latin typeface="Calibri"/>
              </a:rPr>
              <a:t>Weeks 2-3</a:t>
            </a:r>
          </a:p>
        </p:txBody>
      </p:sp>
      <p:sp>
        <p:nvSpPr>
          <p:cNvPr id="36" name="TextBox 35"/>
          <p:cNvSpPr txBox="1"/>
          <p:nvPr/>
        </p:nvSpPr>
        <p:spPr>
          <a:xfrm>
            <a:off x="3520440" y="2377440"/>
            <a:ext cx="2377440" cy="274320"/>
          </a:xfrm>
          <a:prstGeom prst="rect">
            <a:avLst/>
          </a:prstGeom>
          <a:noFill/>
        </p:spPr>
        <p:txBody>
          <a:bodyPr wrap="square">
            <a:spAutoFit/>
          </a:bodyPr>
          <a:lstStyle/>
          <a:p>
            <a:pPr algn="l"/>
            <a:r>
              <a:rPr sz="1400" b="1">
                <a:solidFill>
                  <a:srgbClr val="1A237E"/>
                </a:solidFill>
                <a:latin typeface="Calibri"/>
              </a:rPr>
              <a:t>Build + Rewrite</a:t>
            </a:r>
          </a:p>
        </p:txBody>
      </p:sp>
      <p:sp>
        <p:nvSpPr>
          <p:cNvPr id="37" name="TextBox 36"/>
          <p:cNvSpPr txBox="1"/>
          <p:nvPr/>
        </p:nvSpPr>
        <p:spPr>
          <a:xfrm>
            <a:off x="3520440" y="2743200"/>
            <a:ext cx="2377440" cy="3017520"/>
          </a:xfrm>
          <a:prstGeom prst="rect">
            <a:avLst/>
          </a:prstGeom>
          <a:noFill/>
        </p:spPr>
        <p:txBody>
          <a:bodyPr wrap="square">
            <a:spAutoFit/>
          </a:bodyPr>
          <a:lstStyle/>
          <a:p>
            <a:pPr>
              <a:spcAft>
                <a:spcPts val="500"/>
              </a:spcAft>
            </a:pPr>
            <a:r>
              <a:rPr sz="900" b="0">
                <a:solidFill>
                  <a:srgbClr val="1A1A1A"/>
                </a:solidFill>
                <a:latin typeface="Calibri"/>
              </a:rPr>
              <a:t>Build 4 new Search campaigns</a:t>
            </a:r>
          </a:p>
          <a:p>
            <a:pPr>
              <a:spcAft>
                <a:spcPts val="500"/>
              </a:spcAft>
            </a:pPr>
            <a:r>
              <a:rPr sz="900" b="0">
                <a:solidFill>
                  <a:srgbClr val="1A1A1A"/>
                </a:solidFill>
                <a:latin typeface="Calibri"/>
              </a:rPr>
              <a:t>Write treatment-specific RSAs</a:t>
            </a:r>
          </a:p>
          <a:p>
            <a:pPr>
              <a:spcAft>
                <a:spcPts val="500"/>
              </a:spcAft>
            </a:pPr>
            <a:r>
              <a:rPr sz="900" b="0">
                <a:solidFill>
                  <a:srgbClr val="1A1A1A"/>
                </a:solidFill>
                <a:latin typeface="Calibri"/>
              </a:rPr>
              <a:t>Set tCPA targets per campaign</a:t>
            </a:r>
          </a:p>
          <a:p>
            <a:pPr>
              <a:spcAft>
                <a:spcPts val="500"/>
              </a:spcAft>
            </a:pPr>
            <a:r>
              <a:rPr sz="900" b="0">
                <a:solidFill>
                  <a:srgbClr val="1A1A1A"/>
                </a:solidFill>
                <a:latin typeface="Calibri"/>
              </a:rPr>
              <a:t>Keyword strategy per ad group</a:t>
            </a:r>
          </a:p>
          <a:p>
            <a:pPr>
              <a:spcAft>
                <a:spcPts val="500"/>
              </a:spcAft>
            </a:pPr>
            <a:r>
              <a:rPr sz="900" b="0">
                <a:solidFill>
                  <a:srgbClr val="1A1A1A"/>
                </a:solidFill>
                <a:latin typeface="Calibri"/>
              </a:rPr>
              <a:t>Landing page routing plan</a:t>
            </a:r>
          </a:p>
        </p:txBody>
      </p:sp>
      <p:sp>
        <p:nvSpPr>
          <p:cNvPr id="38" name="Rectangle 37"/>
          <p:cNvSpPr/>
          <p:nvPr/>
        </p:nvSpPr>
        <p:spPr>
          <a:xfrm>
            <a:off x="6217920" y="2057400"/>
            <a:ext cx="2651760" cy="39319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17920" y="2057400"/>
            <a:ext cx="2651760" cy="508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217920" y="2057400"/>
            <a:ext cx="54864" cy="39319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55080" y="2148840"/>
            <a:ext cx="2377440" cy="228600"/>
          </a:xfrm>
          <a:prstGeom prst="rect">
            <a:avLst/>
          </a:prstGeom>
          <a:noFill/>
        </p:spPr>
        <p:txBody>
          <a:bodyPr wrap="square">
            <a:spAutoFit/>
          </a:bodyPr>
          <a:lstStyle/>
          <a:p>
            <a:pPr algn="l"/>
            <a:r>
              <a:rPr sz="1100" b="1">
                <a:solidFill>
                  <a:srgbClr val="4285F4"/>
                </a:solidFill>
                <a:latin typeface="Calibri"/>
              </a:rPr>
              <a:t>Week 4 + Month 2</a:t>
            </a:r>
          </a:p>
        </p:txBody>
      </p:sp>
      <p:sp>
        <p:nvSpPr>
          <p:cNvPr id="42" name="TextBox 41"/>
          <p:cNvSpPr txBox="1"/>
          <p:nvPr/>
        </p:nvSpPr>
        <p:spPr>
          <a:xfrm>
            <a:off x="6355080" y="2377440"/>
            <a:ext cx="2377440" cy="274320"/>
          </a:xfrm>
          <a:prstGeom prst="rect">
            <a:avLst/>
          </a:prstGeom>
          <a:noFill/>
        </p:spPr>
        <p:txBody>
          <a:bodyPr wrap="square">
            <a:spAutoFit/>
          </a:bodyPr>
          <a:lstStyle/>
          <a:p>
            <a:pPr algn="l"/>
            <a:r>
              <a:rPr sz="1400" b="1">
                <a:solidFill>
                  <a:srgbClr val="1A237E"/>
                </a:solidFill>
                <a:latin typeface="Calibri"/>
              </a:rPr>
              <a:t>Launch + Optimise</a:t>
            </a:r>
          </a:p>
        </p:txBody>
      </p:sp>
      <p:sp>
        <p:nvSpPr>
          <p:cNvPr id="43" name="TextBox 42"/>
          <p:cNvSpPr txBox="1"/>
          <p:nvPr/>
        </p:nvSpPr>
        <p:spPr>
          <a:xfrm>
            <a:off x="6355080" y="2743200"/>
            <a:ext cx="2377440" cy="3017520"/>
          </a:xfrm>
          <a:prstGeom prst="rect">
            <a:avLst/>
          </a:prstGeom>
          <a:noFill/>
        </p:spPr>
        <p:txBody>
          <a:bodyPr wrap="square">
            <a:spAutoFit/>
          </a:bodyPr>
          <a:lstStyle/>
          <a:p>
            <a:pPr>
              <a:spcAft>
                <a:spcPts val="500"/>
              </a:spcAft>
            </a:pPr>
            <a:r>
              <a:rPr sz="900" b="0">
                <a:solidFill>
                  <a:srgbClr val="1A1A1A"/>
                </a:solidFill>
                <a:latin typeface="Calibri"/>
              </a:rPr>
              <a:t>Launch Search campaigns</a:t>
            </a:r>
          </a:p>
          <a:p>
            <a:pPr>
              <a:spcAft>
                <a:spcPts val="500"/>
              </a:spcAft>
            </a:pPr>
            <a:r>
              <a:rPr sz="900" b="0">
                <a:solidFill>
                  <a:srgbClr val="1A1A1A"/>
                </a:solidFill>
                <a:latin typeface="Calibri"/>
              </a:rPr>
              <a:t>Shift 30% of PMax budget</a:t>
            </a:r>
          </a:p>
          <a:p>
            <a:pPr>
              <a:spcAft>
                <a:spcPts val="500"/>
              </a:spcAft>
            </a:pPr>
            <a:r>
              <a:rPr sz="900" b="0">
                <a:solidFill>
                  <a:srgbClr val="1A1A1A"/>
                </a:solidFill>
                <a:latin typeface="Calibri"/>
              </a:rPr>
              <a:t>Monitor real booking rates</a:t>
            </a:r>
          </a:p>
          <a:p>
            <a:pPr>
              <a:spcAft>
                <a:spcPts val="500"/>
              </a:spcAft>
            </a:pPr>
            <a:r>
              <a:rPr sz="900" b="0">
                <a:solidFill>
                  <a:srgbClr val="1A1A1A"/>
                </a:solidFill>
                <a:latin typeface="Calibri"/>
              </a:rPr>
              <a:t>Build dedicated landing pages</a:t>
            </a:r>
          </a:p>
          <a:p>
            <a:pPr>
              <a:spcAft>
                <a:spcPts val="500"/>
              </a:spcAft>
            </a:pPr>
            <a:r>
              <a:rPr sz="900" b="0">
                <a:solidFill>
                  <a:srgbClr val="1A1A1A"/>
                </a:solidFill>
                <a:latin typeface="Calibri"/>
              </a:rPr>
              <a:t>Scale Search winners</a:t>
            </a:r>
          </a:p>
          <a:p>
            <a:pPr>
              <a:spcAft>
                <a:spcPts val="500"/>
              </a:spcAft>
            </a:pPr>
            <a:r>
              <a:rPr sz="900" b="0">
                <a:solidFill>
                  <a:srgbClr val="1A1A1A"/>
                </a:solidFill>
                <a:latin typeface="Calibri"/>
              </a:rPr>
              <a:t>Keyword optimization (clean data)</a:t>
            </a:r>
          </a:p>
        </p:txBody>
      </p:sp>
      <p:sp>
        <p:nvSpPr>
          <p:cNvPr id="44" name="Rectangle 43"/>
          <p:cNvSpPr/>
          <p:nvPr/>
        </p:nvSpPr>
        <p:spPr>
          <a:xfrm>
            <a:off x="9052560" y="2057400"/>
            <a:ext cx="2651760" cy="39319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052560" y="2057400"/>
            <a:ext cx="2651760" cy="5080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052560" y="2057400"/>
            <a:ext cx="54864" cy="39319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189720" y="2148840"/>
            <a:ext cx="2377440" cy="228600"/>
          </a:xfrm>
          <a:prstGeom prst="rect">
            <a:avLst/>
          </a:prstGeom>
          <a:noFill/>
        </p:spPr>
        <p:txBody>
          <a:bodyPr wrap="square">
            <a:spAutoFit/>
          </a:bodyPr>
          <a:lstStyle/>
          <a:p>
            <a:pPr algn="l"/>
            <a:r>
              <a:rPr sz="1100" b="1">
                <a:solidFill>
                  <a:srgbClr val="34A853"/>
                </a:solidFill>
                <a:latin typeface="Calibri"/>
              </a:rPr>
              <a:t>Month 3</a:t>
            </a:r>
          </a:p>
        </p:txBody>
      </p:sp>
      <p:sp>
        <p:nvSpPr>
          <p:cNvPr id="48" name="TextBox 47"/>
          <p:cNvSpPr txBox="1"/>
          <p:nvPr/>
        </p:nvSpPr>
        <p:spPr>
          <a:xfrm>
            <a:off x="9189720" y="2377440"/>
            <a:ext cx="2377440" cy="274320"/>
          </a:xfrm>
          <a:prstGeom prst="rect">
            <a:avLst/>
          </a:prstGeom>
          <a:noFill/>
        </p:spPr>
        <p:txBody>
          <a:bodyPr wrap="square">
            <a:spAutoFit/>
          </a:bodyPr>
          <a:lstStyle/>
          <a:p>
            <a:pPr algn="l"/>
            <a:r>
              <a:rPr sz="1400" b="1">
                <a:solidFill>
                  <a:srgbClr val="1A237E"/>
                </a:solidFill>
                <a:latin typeface="Calibri"/>
              </a:rPr>
              <a:t>Scale</a:t>
            </a:r>
          </a:p>
        </p:txBody>
      </p:sp>
      <p:sp>
        <p:nvSpPr>
          <p:cNvPr id="49" name="TextBox 48"/>
          <p:cNvSpPr txBox="1"/>
          <p:nvPr/>
        </p:nvSpPr>
        <p:spPr>
          <a:xfrm>
            <a:off x="9189720" y="2743200"/>
            <a:ext cx="2377440" cy="3017520"/>
          </a:xfrm>
          <a:prstGeom prst="rect">
            <a:avLst/>
          </a:prstGeom>
          <a:noFill/>
        </p:spPr>
        <p:txBody>
          <a:bodyPr wrap="square">
            <a:spAutoFit/>
          </a:bodyPr>
          <a:lstStyle/>
          <a:p>
            <a:pPr>
              <a:spcAft>
                <a:spcPts val="500"/>
              </a:spcAft>
            </a:pPr>
            <a:r>
              <a:rPr sz="900" b="0">
                <a:solidFill>
                  <a:srgbClr val="1A1A1A"/>
                </a:solidFill>
                <a:latin typeface="Calibri"/>
              </a:rPr>
              <a:t>Search becomes dominant</a:t>
            </a:r>
          </a:p>
          <a:p>
            <a:pPr>
              <a:spcAft>
                <a:spcPts val="500"/>
              </a:spcAft>
            </a:pPr>
            <a:r>
              <a:rPr sz="900" b="0">
                <a:solidFill>
                  <a:srgbClr val="1A1A1A"/>
                </a:solidFill>
                <a:latin typeface="Calibri"/>
              </a:rPr>
              <a:t>PMax → supplementary only</a:t>
            </a:r>
          </a:p>
          <a:p>
            <a:pPr>
              <a:spcAft>
                <a:spcPts val="500"/>
              </a:spcAft>
            </a:pPr>
            <a:r>
              <a:rPr sz="900" b="0">
                <a:solidFill>
                  <a:srgbClr val="1A1A1A"/>
                </a:solidFill>
                <a:latin typeface="Calibri"/>
              </a:rPr>
              <a:t>Per-treatment benchmarks</a:t>
            </a:r>
          </a:p>
          <a:p>
            <a:pPr>
              <a:spcAft>
                <a:spcPts val="500"/>
              </a:spcAft>
            </a:pPr>
            <a:r>
              <a:rPr sz="900" b="0">
                <a:solidFill>
                  <a:srgbClr val="1A1A1A"/>
                </a:solidFill>
                <a:latin typeface="Calibri"/>
              </a:rPr>
              <a:t>Multi-clinic planning</a:t>
            </a:r>
          </a:p>
          <a:p>
            <a:pPr>
              <a:spcAft>
                <a:spcPts val="500"/>
              </a:spcAft>
            </a:pPr>
            <a:r>
              <a:rPr sz="900" b="0">
                <a:solidFill>
                  <a:srgbClr val="1A1A1A"/>
                </a:solidFill>
                <a:latin typeface="Calibri"/>
              </a:rPr>
              <a:t>Full reporting framework</a:t>
            </a:r>
          </a:p>
        </p:txBody>
      </p:sp>
      <p:sp>
        <p:nvSpPr>
          <p:cNvPr id="50" name="Rectangle 49"/>
          <p:cNvSpPr/>
          <p:nvPr/>
        </p:nvSpPr>
        <p:spPr>
          <a:xfrm>
            <a:off x="548640" y="6327648"/>
            <a:ext cx="2770632" cy="2743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319272" y="6327648"/>
            <a:ext cx="2770632" cy="2743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099048" y="6327648"/>
            <a:ext cx="2770632" cy="27432"/>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869680" y="6327648"/>
            <a:ext cx="2770632" cy="2743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act_logo_official.png"/>
          <p:cNvPicPr>
            <a:picLocks noChangeAspect="1"/>
          </p:cNvPicPr>
          <p:nvPr/>
        </p:nvPicPr>
        <p:blipFill>
          <a:blip r:embed="rId2"/>
          <a:stretch>
            <a:fillRect/>
          </a:stretch>
        </p:blipFill>
        <p:spPr>
          <a:xfrm>
            <a:off x="548640" y="6400800"/>
            <a:ext cx="201168" cy="201168"/>
          </a:xfrm>
          <a:prstGeom prst="rect">
            <a:avLst/>
          </a:prstGeom>
        </p:spPr>
      </p:pic>
      <p:sp>
        <p:nvSpPr>
          <p:cNvPr id="55" name="TextBox 54"/>
          <p:cNvSpPr txBox="1"/>
          <p:nvPr/>
        </p:nvSpPr>
        <p:spPr>
          <a:xfrm>
            <a:off x="822960" y="6400800"/>
            <a:ext cx="5486400" cy="228600"/>
          </a:xfrm>
          <a:prstGeom prst="rect">
            <a:avLst/>
          </a:prstGeom>
          <a:noFill/>
        </p:spPr>
        <p:txBody>
          <a:bodyPr wrap="square">
            <a:spAutoFit/>
          </a:bodyPr>
          <a:lstStyle/>
          <a:p>
            <a:pPr algn="l"/>
            <a:r>
              <a:rPr sz="1100" b="1">
                <a:solidFill>
                  <a:srgbClr val="1A237E"/>
                </a:solidFill>
                <a:latin typeface="Calibri"/>
              </a:rPr>
              <a:t>Christopher Hoole  |  christopherhoole.com  |  Confidential</a:t>
            </a:r>
          </a:p>
        </p:txBody>
      </p:sp>
      <p:sp>
        <p:nvSpPr>
          <p:cNvPr id="56" name="TextBox 55"/>
          <p:cNvSpPr txBox="1"/>
          <p:nvPr/>
        </p:nvSpPr>
        <p:spPr>
          <a:xfrm>
            <a:off x="11183112" y="6400800"/>
            <a:ext cx="457200" cy="228600"/>
          </a:xfrm>
          <a:prstGeom prst="rect">
            <a:avLst/>
          </a:prstGeom>
          <a:noFill/>
        </p:spPr>
        <p:txBody>
          <a:bodyPr wrap="square">
            <a:spAutoFit/>
          </a:bodyPr>
          <a:lstStyle/>
          <a:p>
            <a:pPr algn="r"/>
            <a:r>
              <a:rPr sz="1100" b="0">
                <a:solidFill>
                  <a:srgbClr val="1A237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6FA"/>
        </a:solidFill>
        <a:effectLst/>
      </p:bgPr>
    </p:bg>
    <p:spTree>
      <p:nvGrpSpPr>
        <p:cNvPr id="1" name=""/>
        <p:cNvGrpSpPr/>
        <p:nvPr/>
      </p:nvGrpSpPr>
      <p:grpSpPr/>
      <p:sp>
        <p:nvSpPr>
          <p:cNvPr id="2" name="Rectangle 1"/>
          <p:cNvSpPr/>
          <p:nvPr/>
        </p:nvSpPr>
        <p:spPr>
          <a:xfrm>
            <a:off x="0" y="0"/>
            <a:ext cx="3047695" cy="64008"/>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695" y="0"/>
            <a:ext cx="3047695" cy="64008"/>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390" y="0"/>
            <a:ext cx="3047695" cy="64008"/>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085" y="0"/>
            <a:ext cx="3047695" cy="64008"/>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008"/>
            <a:ext cx="109728" cy="679399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t_logo_official.png"/>
          <p:cNvPicPr>
            <a:picLocks noChangeAspect="1"/>
          </p:cNvPicPr>
          <p:nvPr/>
        </p:nvPicPr>
        <p:blipFill>
          <a:blip r:embed="rId2"/>
          <a:stretch>
            <a:fillRect/>
          </a:stretch>
        </p:blipFill>
        <p:spPr>
          <a:xfrm>
            <a:off x="548640" y="457200"/>
            <a:ext cx="594360" cy="594360"/>
          </a:xfrm>
          <a:prstGeom prst="rect">
            <a:avLst/>
          </a:prstGeom>
        </p:spPr>
      </p:pic>
      <p:sp>
        <p:nvSpPr>
          <p:cNvPr id="8" name="TextBox 7"/>
          <p:cNvSpPr txBox="1"/>
          <p:nvPr/>
        </p:nvSpPr>
        <p:spPr>
          <a:xfrm>
            <a:off x="548640" y="1280160"/>
            <a:ext cx="5029200" cy="731520"/>
          </a:xfrm>
          <a:prstGeom prst="rect">
            <a:avLst/>
          </a:prstGeom>
          <a:noFill/>
        </p:spPr>
        <p:txBody>
          <a:bodyPr wrap="square">
            <a:spAutoFit/>
          </a:bodyPr>
          <a:lstStyle/>
          <a:p>
            <a:pPr algn="l"/>
            <a:r>
              <a:rPr sz="4400" b="1">
                <a:solidFill>
                  <a:srgbClr val="1A237E"/>
                </a:solidFill>
                <a:latin typeface="Calibri"/>
              </a:rPr>
              <a:t>Next Steps</a:t>
            </a:r>
          </a:p>
        </p:txBody>
      </p:sp>
      <p:sp>
        <p:nvSpPr>
          <p:cNvPr id="9" name="Rectangle 8"/>
          <p:cNvSpPr/>
          <p:nvPr/>
        </p:nvSpPr>
        <p:spPr>
          <a:xfrm>
            <a:off x="548640" y="2011680"/>
            <a:ext cx="2286000" cy="457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31720"/>
            <a:ext cx="5029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331720"/>
            <a:ext cx="54864" cy="64008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23160"/>
            <a:ext cx="411480" cy="411480"/>
          </a:xfrm>
          <a:prstGeom prst="ellipse">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1</a:t>
            </a:r>
          </a:p>
        </p:txBody>
      </p:sp>
      <p:sp>
        <p:nvSpPr>
          <p:cNvPr id="13" name="TextBox 12"/>
          <p:cNvSpPr txBox="1"/>
          <p:nvPr/>
        </p:nvSpPr>
        <p:spPr>
          <a:xfrm>
            <a:off x="1280160" y="2377440"/>
            <a:ext cx="4114800" cy="274320"/>
          </a:xfrm>
          <a:prstGeom prst="rect">
            <a:avLst/>
          </a:prstGeom>
          <a:noFill/>
        </p:spPr>
        <p:txBody>
          <a:bodyPr wrap="square">
            <a:spAutoFit/>
          </a:bodyPr>
          <a:lstStyle/>
          <a:p>
            <a:pPr algn="l"/>
            <a:r>
              <a:rPr sz="1200" b="1">
                <a:solidFill>
                  <a:srgbClr val="1A237E"/>
                </a:solidFill>
                <a:latin typeface="Calibri"/>
              </a:rPr>
              <a:t>Grant me editor access to the account</a:t>
            </a:r>
          </a:p>
        </p:txBody>
      </p:sp>
      <p:sp>
        <p:nvSpPr>
          <p:cNvPr id="14" name="TextBox 13"/>
          <p:cNvSpPr txBox="1"/>
          <p:nvPr/>
        </p:nvSpPr>
        <p:spPr>
          <a:xfrm>
            <a:off x="1280160" y="2651760"/>
            <a:ext cx="4114800" cy="274320"/>
          </a:xfrm>
          <a:prstGeom prst="rect">
            <a:avLst/>
          </a:prstGeom>
          <a:noFill/>
        </p:spPr>
        <p:txBody>
          <a:bodyPr wrap="square">
            <a:spAutoFit/>
          </a:bodyPr>
          <a:lstStyle/>
          <a:p>
            <a:pPr algn="l"/>
            <a:r>
              <a:rPr sz="1000" b="0">
                <a:solidFill>
                  <a:srgbClr val="1A1A1A"/>
                </a:solidFill>
                <a:latin typeface="Calibri"/>
              </a:rPr>
              <a:t>I can implement the Week 1 fixes in a single session</a:t>
            </a:r>
          </a:p>
        </p:txBody>
      </p:sp>
      <p:sp>
        <p:nvSpPr>
          <p:cNvPr id="15" name="Rectangle 14"/>
          <p:cNvSpPr/>
          <p:nvPr/>
        </p:nvSpPr>
        <p:spPr>
          <a:xfrm>
            <a:off x="548640" y="3108960"/>
            <a:ext cx="5029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108960"/>
            <a:ext cx="54864" cy="64008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1520" y="3200400"/>
            <a:ext cx="411480" cy="411480"/>
          </a:xfrm>
          <a:prstGeom prst="ellipse">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2</a:t>
            </a:r>
          </a:p>
        </p:txBody>
      </p:sp>
      <p:sp>
        <p:nvSpPr>
          <p:cNvPr id="18" name="TextBox 17"/>
          <p:cNvSpPr txBox="1"/>
          <p:nvPr/>
        </p:nvSpPr>
        <p:spPr>
          <a:xfrm>
            <a:off x="1280160" y="3154680"/>
            <a:ext cx="4114800" cy="274320"/>
          </a:xfrm>
          <a:prstGeom prst="rect">
            <a:avLst/>
          </a:prstGeom>
          <a:noFill/>
        </p:spPr>
        <p:txBody>
          <a:bodyPr wrap="square">
            <a:spAutoFit/>
          </a:bodyPr>
          <a:lstStyle/>
          <a:p>
            <a:pPr algn="l"/>
            <a:r>
              <a:rPr sz="1200" b="1">
                <a:solidFill>
                  <a:srgbClr val="1A237E"/>
                </a:solidFill>
                <a:latin typeface="Calibri"/>
              </a:rPr>
              <a:t>Week 1: Tracking fix + negatives + geo + schedules + device bids</a:t>
            </a:r>
          </a:p>
        </p:txBody>
      </p:sp>
      <p:sp>
        <p:nvSpPr>
          <p:cNvPr id="19" name="TextBox 18"/>
          <p:cNvSpPr txBox="1"/>
          <p:nvPr/>
        </p:nvSpPr>
        <p:spPr>
          <a:xfrm>
            <a:off x="1280160" y="3429000"/>
            <a:ext cx="4114800" cy="274320"/>
          </a:xfrm>
          <a:prstGeom prst="rect">
            <a:avLst/>
          </a:prstGeom>
          <a:noFill/>
        </p:spPr>
        <p:txBody>
          <a:bodyPr wrap="square">
            <a:spAutoFit/>
          </a:bodyPr>
          <a:lstStyle/>
          <a:p>
            <a:pPr algn="l"/>
            <a:r>
              <a:rPr sz="1000" b="0">
                <a:solidFill>
                  <a:srgbClr val="1A1A1A"/>
                </a:solidFill>
                <a:latin typeface="Calibri"/>
              </a:rPr>
              <a:t>All foundational changes in one session — data starts building immediately</a:t>
            </a:r>
          </a:p>
        </p:txBody>
      </p:sp>
      <p:sp>
        <p:nvSpPr>
          <p:cNvPr id="20" name="Rectangle 19"/>
          <p:cNvSpPr/>
          <p:nvPr/>
        </p:nvSpPr>
        <p:spPr>
          <a:xfrm>
            <a:off x="548640" y="3886200"/>
            <a:ext cx="5029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886200"/>
            <a:ext cx="54864" cy="640080"/>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977640"/>
            <a:ext cx="411480" cy="411480"/>
          </a:xfrm>
          <a:prstGeom prst="ellipse">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3</a:t>
            </a:r>
          </a:p>
        </p:txBody>
      </p:sp>
      <p:sp>
        <p:nvSpPr>
          <p:cNvPr id="23" name="TextBox 22"/>
          <p:cNvSpPr txBox="1"/>
          <p:nvPr/>
        </p:nvSpPr>
        <p:spPr>
          <a:xfrm>
            <a:off x="1280160" y="3931920"/>
            <a:ext cx="4114800" cy="274320"/>
          </a:xfrm>
          <a:prstGeom prst="rect">
            <a:avLst/>
          </a:prstGeom>
          <a:noFill/>
        </p:spPr>
        <p:txBody>
          <a:bodyPr wrap="square">
            <a:spAutoFit/>
          </a:bodyPr>
          <a:lstStyle/>
          <a:p>
            <a:pPr algn="l"/>
            <a:r>
              <a:rPr sz="1200" b="1">
                <a:solidFill>
                  <a:srgbClr val="1A237E"/>
                </a:solidFill>
                <a:latin typeface="Calibri"/>
              </a:rPr>
              <a:t>New Search campaigns launched by end of Month 1</a:t>
            </a:r>
          </a:p>
        </p:txBody>
      </p:sp>
      <p:sp>
        <p:nvSpPr>
          <p:cNvPr id="24" name="TextBox 23"/>
          <p:cNvSpPr txBox="1"/>
          <p:nvPr/>
        </p:nvSpPr>
        <p:spPr>
          <a:xfrm>
            <a:off x="1280160" y="4206240"/>
            <a:ext cx="4114800" cy="274320"/>
          </a:xfrm>
          <a:prstGeom prst="rect">
            <a:avLst/>
          </a:prstGeom>
          <a:noFill/>
        </p:spPr>
        <p:txBody>
          <a:bodyPr wrap="square">
            <a:spAutoFit/>
          </a:bodyPr>
          <a:lstStyle/>
          <a:p>
            <a:pPr algn="l"/>
            <a:r>
              <a:rPr sz="1000" b="0">
                <a:solidFill>
                  <a:srgbClr val="1A1A1A"/>
                </a:solidFill>
                <a:latin typeface="Calibri"/>
              </a:rPr>
              <a:t>Treatment-specific structure with proper ads, negatives, tCPA</a:t>
            </a:r>
          </a:p>
        </p:txBody>
      </p:sp>
      <p:sp>
        <p:nvSpPr>
          <p:cNvPr id="25" name="Rectangle 24"/>
          <p:cNvSpPr/>
          <p:nvPr/>
        </p:nvSpPr>
        <p:spPr>
          <a:xfrm>
            <a:off x="548640" y="4663440"/>
            <a:ext cx="5029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63440"/>
            <a:ext cx="54864" cy="64008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31520" y="4754880"/>
            <a:ext cx="411480" cy="411480"/>
          </a:xfrm>
          <a:prstGeom prst="ellipse">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4</a:t>
            </a:r>
          </a:p>
        </p:txBody>
      </p:sp>
      <p:sp>
        <p:nvSpPr>
          <p:cNvPr id="28" name="TextBox 27"/>
          <p:cNvSpPr txBox="1"/>
          <p:nvPr/>
        </p:nvSpPr>
        <p:spPr>
          <a:xfrm>
            <a:off x="1280160" y="4709160"/>
            <a:ext cx="4114800" cy="274320"/>
          </a:xfrm>
          <a:prstGeom prst="rect">
            <a:avLst/>
          </a:prstGeom>
          <a:noFill/>
        </p:spPr>
        <p:txBody>
          <a:bodyPr wrap="square">
            <a:spAutoFit/>
          </a:bodyPr>
          <a:lstStyle/>
          <a:p>
            <a:pPr algn="l"/>
            <a:r>
              <a:rPr sz="1200" b="1">
                <a:solidFill>
                  <a:srgbClr val="1A237E"/>
                </a:solidFill>
                <a:latin typeface="Calibri"/>
              </a:rPr>
              <a:t>Monthly reporting from Day 1</a:t>
            </a:r>
          </a:p>
        </p:txBody>
      </p:sp>
      <p:sp>
        <p:nvSpPr>
          <p:cNvPr id="29" name="TextBox 28"/>
          <p:cNvSpPr txBox="1"/>
          <p:nvPr/>
        </p:nvSpPr>
        <p:spPr>
          <a:xfrm>
            <a:off x="1280160" y="4983480"/>
            <a:ext cx="4114800" cy="274320"/>
          </a:xfrm>
          <a:prstGeom prst="rect">
            <a:avLst/>
          </a:prstGeom>
          <a:noFill/>
        </p:spPr>
        <p:txBody>
          <a:bodyPr wrap="square">
            <a:spAutoFit/>
          </a:bodyPr>
          <a:lstStyle/>
          <a:p>
            <a:pPr algn="l"/>
            <a:r>
              <a:rPr sz="1000" b="0">
                <a:solidFill>
                  <a:srgbClr val="1A1A1A"/>
                </a:solidFill>
                <a:latin typeface="Calibri"/>
              </a:rPr>
              <a:t>Full transparency on what changed, why, and the measured impact</a:t>
            </a:r>
          </a:p>
        </p:txBody>
      </p:sp>
      <p:sp>
        <p:nvSpPr>
          <p:cNvPr id="30" name="Rectangle 29"/>
          <p:cNvSpPr/>
          <p:nvPr/>
        </p:nvSpPr>
        <p:spPr>
          <a:xfrm>
            <a:off x="6217920" y="457200"/>
            <a:ext cx="539496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0" y="457200"/>
            <a:ext cx="73152" cy="22860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92240" y="548640"/>
            <a:ext cx="4937760" cy="320040"/>
          </a:xfrm>
          <a:prstGeom prst="rect">
            <a:avLst/>
          </a:prstGeom>
          <a:noFill/>
        </p:spPr>
        <p:txBody>
          <a:bodyPr wrap="square">
            <a:spAutoFit/>
          </a:bodyPr>
          <a:lstStyle/>
          <a:p>
            <a:pPr algn="l"/>
            <a:r>
              <a:rPr sz="1400" b="0">
                <a:solidFill>
                  <a:srgbClr val="1A237E"/>
                </a:solidFill>
                <a:latin typeface="Calibri"/>
              </a:rPr>
              <a:t>Ready to Start Immediately</a:t>
            </a:r>
          </a:p>
        </p:txBody>
      </p:sp>
      <p:sp>
        <p:nvSpPr>
          <p:cNvPr id="33" name="TextBox 32"/>
          <p:cNvSpPr txBox="1"/>
          <p:nvPr/>
        </p:nvSpPr>
        <p:spPr>
          <a:xfrm>
            <a:off x="6492240" y="914400"/>
            <a:ext cx="4937760" cy="731520"/>
          </a:xfrm>
          <a:prstGeom prst="rect">
            <a:avLst/>
          </a:prstGeom>
          <a:noFill/>
        </p:spPr>
        <p:txBody>
          <a:bodyPr wrap="square">
            <a:spAutoFit/>
          </a:bodyPr>
          <a:lstStyle/>
          <a:p>
            <a:pPr algn="l"/>
            <a:r>
              <a:rPr sz="4000" b="1">
                <a:solidFill>
                  <a:srgbClr val="4285F4"/>
                </a:solidFill>
                <a:latin typeface="Calibri"/>
              </a:rPr>
              <a:t>Christopher Hoole</a:t>
            </a:r>
          </a:p>
        </p:txBody>
      </p:sp>
      <p:sp>
        <p:nvSpPr>
          <p:cNvPr id="34" name="TextBox 33"/>
          <p:cNvSpPr txBox="1"/>
          <p:nvPr/>
        </p:nvSpPr>
        <p:spPr>
          <a:xfrm>
            <a:off x="6492240" y="1645920"/>
            <a:ext cx="4937760" cy="914400"/>
          </a:xfrm>
          <a:prstGeom prst="rect">
            <a:avLst/>
          </a:prstGeom>
          <a:noFill/>
        </p:spPr>
        <p:txBody>
          <a:bodyPr wrap="square">
            <a:spAutoFit/>
          </a:bodyPr>
          <a:lstStyle/>
          <a:p>
            <a:pPr>
              <a:spcAft>
                <a:spcPts val="400"/>
              </a:spcAft>
            </a:pPr>
            <a:r>
              <a:rPr sz="1400" b="0">
                <a:solidFill>
                  <a:srgbClr val="4285F4"/>
                </a:solidFill>
                <a:latin typeface="Calibri"/>
              </a:rPr>
              <a:t>chris@christopherhoole.com</a:t>
            </a:r>
          </a:p>
          <a:p>
            <a:pPr>
              <a:spcAft>
                <a:spcPts val="400"/>
              </a:spcAft>
            </a:pPr>
            <a:r>
              <a:rPr sz="1400" b="0">
                <a:solidFill>
                  <a:srgbClr val="4285F4"/>
                </a:solidFill>
                <a:latin typeface="Calibri"/>
              </a:rPr>
              <a:t>christopherhoole.com</a:t>
            </a:r>
          </a:p>
          <a:p>
            <a:r>
              <a:rPr sz="1400" b="0">
                <a:solidFill>
                  <a:srgbClr val="1A1A1A"/>
                </a:solidFill>
                <a:latin typeface="Calibri"/>
              </a:rPr>
              <a:t>+44 7999 500 184</a:t>
            </a:r>
          </a:p>
        </p:txBody>
      </p:sp>
      <p:sp>
        <p:nvSpPr>
          <p:cNvPr id="35" name="Rectangle 34"/>
          <p:cNvSpPr/>
          <p:nvPr/>
        </p:nvSpPr>
        <p:spPr>
          <a:xfrm>
            <a:off x="6217920"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7920" y="2926080"/>
            <a:ext cx="54864" cy="105156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3035808"/>
            <a:ext cx="1444752" cy="411480"/>
          </a:xfrm>
          <a:prstGeom prst="rect">
            <a:avLst/>
          </a:prstGeom>
          <a:noFill/>
        </p:spPr>
        <p:txBody>
          <a:bodyPr wrap="square">
            <a:spAutoFit/>
          </a:bodyPr>
          <a:lstStyle/>
          <a:p>
            <a:pPr algn="l"/>
            <a:r>
              <a:rPr sz="2200" b="1">
                <a:solidFill>
                  <a:srgbClr val="34A853"/>
                </a:solidFill>
                <a:latin typeface="Calibri"/>
              </a:rPr>
              <a:t>£50</a:t>
            </a:r>
          </a:p>
        </p:txBody>
      </p:sp>
      <p:sp>
        <p:nvSpPr>
          <p:cNvPr id="38" name="TextBox 37"/>
          <p:cNvSpPr txBox="1"/>
          <p:nvPr/>
        </p:nvSpPr>
        <p:spPr>
          <a:xfrm>
            <a:off x="6355080" y="3474720"/>
            <a:ext cx="1444752" cy="274320"/>
          </a:xfrm>
          <a:prstGeom prst="rect">
            <a:avLst/>
          </a:prstGeom>
          <a:noFill/>
        </p:spPr>
        <p:txBody>
          <a:bodyPr wrap="square">
            <a:spAutoFit/>
          </a:bodyPr>
          <a:lstStyle/>
          <a:p>
            <a:pPr algn="l"/>
            <a:r>
              <a:rPr sz="1100" b="0">
                <a:solidFill>
                  <a:srgbClr val="1A1A1A"/>
                </a:solidFill>
                <a:latin typeface="Calibri"/>
              </a:rPr>
              <a:t>Target CPA</a:t>
            </a:r>
          </a:p>
        </p:txBody>
      </p:sp>
      <p:sp>
        <p:nvSpPr>
          <p:cNvPr id="39" name="Rectangle 38"/>
          <p:cNvSpPr/>
          <p:nvPr/>
        </p:nvSpPr>
        <p:spPr>
          <a:xfrm>
            <a:off x="8074152"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074152" y="2926080"/>
            <a:ext cx="54864" cy="10515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11312" y="3035808"/>
            <a:ext cx="1444752" cy="411480"/>
          </a:xfrm>
          <a:prstGeom prst="rect">
            <a:avLst/>
          </a:prstGeom>
          <a:noFill/>
        </p:spPr>
        <p:txBody>
          <a:bodyPr wrap="square">
            <a:spAutoFit/>
          </a:bodyPr>
          <a:lstStyle/>
          <a:p>
            <a:pPr algn="l"/>
            <a:r>
              <a:rPr sz="2200" b="1">
                <a:solidFill>
                  <a:srgbClr val="4285F4"/>
                </a:solidFill>
                <a:latin typeface="Calibri"/>
              </a:rPr>
              <a:t>PMax→Search</a:t>
            </a:r>
          </a:p>
        </p:txBody>
      </p:sp>
      <p:sp>
        <p:nvSpPr>
          <p:cNvPr id="42" name="TextBox 41"/>
          <p:cNvSpPr txBox="1"/>
          <p:nvPr/>
        </p:nvSpPr>
        <p:spPr>
          <a:xfrm>
            <a:off x="8211312" y="3474720"/>
            <a:ext cx="1444752" cy="274320"/>
          </a:xfrm>
          <a:prstGeom prst="rect">
            <a:avLst/>
          </a:prstGeom>
          <a:noFill/>
        </p:spPr>
        <p:txBody>
          <a:bodyPr wrap="square">
            <a:spAutoFit/>
          </a:bodyPr>
          <a:lstStyle/>
          <a:p>
            <a:pPr algn="l"/>
            <a:r>
              <a:rPr sz="1100" b="0">
                <a:solidFill>
                  <a:srgbClr val="1A1A1A"/>
                </a:solidFill>
                <a:latin typeface="Calibri"/>
              </a:rPr>
              <a:t>90-Day Migration</a:t>
            </a:r>
          </a:p>
        </p:txBody>
      </p:sp>
      <p:sp>
        <p:nvSpPr>
          <p:cNvPr id="43" name="Rectangle 42"/>
          <p:cNvSpPr/>
          <p:nvPr/>
        </p:nvSpPr>
        <p:spPr>
          <a:xfrm>
            <a:off x="9939528" y="2926080"/>
            <a:ext cx="16733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939528" y="2926080"/>
            <a:ext cx="54864" cy="105156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076688" y="3035808"/>
            <a:ext cx="1444752" cy="411480"/>
          </a:xfrm>
          <a:prstGeom prst="rect">
            <a:avLst/>
          </a:prstGeom>
          <a:noFill/>
        </p:spPr>
        <p:txBody>
          <a:bodyPr wrap="square">
            <a:spAutoFit/>
          </a:bodyPr>
          <a:lstStyle/>
          <a:p>
            <a:pPr algn="l"/>
            <a:r>
              <a:rPr sz="2200" b="1">
                <a:solidFill>
                  <a:srgbClr val="EA4335"/>
                </a:solidFill>
                <a:latin typeface="Calibri"/>
              </a:rPr>
              <a:t>+29%</a:t>
            </a:r>
          </a:p>
        </p:txBody>
      </p:sp>
      <p:sp>
        <p:nvSpPr>
          <p:cNvPr id="46" name="TextBox 45"/>
          <p:cNvSpPr txBox="1"/>
          <p:nvPr/>
        </p:nvSpPr>
        <p:spPr>
          <a:xfrm>
            <a:off x="10076688" y="3474720"/>
            <a:ext cx="1444752" cy="274320"/>
          </a:xfrm>
          <a:prstGeom prst="rect">
            <a:avLst/>
          </a:prstGeom>
          <a:noFill/>
        </p:spPr>
        <p:txBody>
          <a:bodyPr wrap="square">
            <a:spAutoFit/>
          </a:bodyPr>
          <a:lstStyle/>
          <a:p>
            <a:pPr algn="l"/>
            <a:r>
              <a:rPr sz="1100" b="0">
                <a:solidFill>
                  <a:srgbClr val="1A1A1A"/>
                </a:solidFill>
                <a:latin typeface="Calibri"/>
              </a:rPr>
              <a:t>More Leads</a:t>
            </a:r>
          </a:p>
        </p:txBody>
      </p:sp>
      <p:sp>
        <p:nvSpPr>
          <p:cNvPr id="47" name="Rectangle 46"/>
          <p:cNvSpPr/>
          <p:nvPr/>
        </p:nvSpPr>
        <p:spPr>
          <a:xfrm>
            <a:off x="6217920" y="4206240"/>
            <a:ext cx="5394960" cy="1097280"/>
          </a:xfrm>
          <a:prstGeom prst="rect">
            <a:avLst/>
          </a:prstGeom>
          <a:solidFill>
            <a:srgbClr val="E8F0FE"/>
          </a:solidFill>
          <a:ln w="1270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46520" y="4251960"/>
            <a:ext cx="4937760" cy="1005840"/>
          </a:xfrm>
          <a:prstGeom prst="rect">
            <a:avLst/>
          </a:prstGeom>
          <a:noFill/>
        </p:spPr>
        <p:txBody>
          <a:bodyPr wrap="square">
            <a:spAutoFit/>
          </a:bodyPr>
          <a:lstStyle/>
          <a:p>
            <a:pPr algn="l"/>
            <a:r>
              <a:rPr sz="1100" b="1">
                <a:solidFill>
                  <a:srgbClr val="1A237E"/>
                </a:solidFill>
                <a:latin typeface="Calibri"/>
              </a:rPr>
              <a:t>“The data is clear. PMax is attracting the wrong patients and wasting budget on mobile games. Structured Search campaigns with proper targeting will deliver more real patient bookings for the same budget. I’m ready to implement Week 1 the day I start.”
— Christopher Hoole</a:t>
            </a:r>
          </a:p>
        </p:txBody>
      </p:sp>
      <p:sp>
        <p:nvSpPr>
          <p:cNvPr id="49" name="Rectangle 48"/>
          <p:cNvSpPr/>
          <p:nvPr/>
        </p:nvSpPr>
        <p:spPr>
          <a:xfrm>
            <a:off x="0" y="6400800"/>
            <a:ext cx="3047695" cy="36576"/>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047695" y="6400800"/>
            <a:ext cx="3047695" cy="36576"/>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095390" y="6400800"/>
            <a:ext cx="3047695" cy="36576"/>
          </a:xfrm>
          <a:prstGeom prst="rect">
            <a:avLst/>
          </a:prstGeom>
          <a:solidFill>
            <a:srgbClr val="FBBC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143085" y="6400800"/>
            <a:ext cx="3047695" cy="36576"/>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