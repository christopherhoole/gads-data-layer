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1" roundtripDataSignature="AMtx7mhmmKlqTv2ktcgQZrZo/fQJDsYi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63477AD-CC91-4D8A-8B12-AFA7241523EF}">
  <a:tblStyle styleId="{D63477AD-CC91-4D8A-8B12-AFA7241523EF}"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4"/>
          <p:cNvSpPr/>
          <p:nvPr>
            <p:ph idx="2" type="pic"/>
          </p:nvPr>
        </p:nvSpPr>
        <p:spPr>
          <a:xfrm>
            <a:off x="1792288" y="612775"/>
            <a:ext cx="5486400" cy="4114800"/>
          </a:xfrm>
          <a:prstGeom prst="rect">
            <a:avLst/>
          </a:prstGeom>
          <a:noFill/>
          <a:ln>
            <a:noFill/>
          </a:ln>
        </p:spPr>
      </p:sp>
      <p:sp>
        <p:nvSpPr>
          <p:cNvPr id="64" name="Google Shape;64;p2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83" name="Shape 83"/>
        <p:cNvGrpSpPr/>
        <p:nvPr/>
      </p:nvGrpSpPr>
      <p:grpSpPr>
        <a:xfrm>
          <a:off x="0" y="0"/>
          <a:ext cx="0" cy="0"/>
          <a:chOff x="0" y="0"/>
          <a:chExt cx="0" cy="0"/>
        </a:xfrm>
      </p:grpSpPr>
      <p:sp>
        <p:nvSpPr>
          <p:cNvPr id="84" name="Google Shape;84;p1"/>
          <p:cNvSpPr/>
          <p:nvPr/>
        </p:nvSpPr>
        <p:spPr>
          <a:xfrm>
            <a:off x="0" y="0"/>
            <a:ext cx="3047695" cy="64008"/>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
          <p:cNvSpPr/>
          <p:nvPr/>
        </p:nvSpPr>
        <p:spPr>
          <a:xfrm>
            <a:off x="3047695" y="0"/>
            <a:ext cx="3047695" cy="64008"/>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p:nvPr/>
        </p:nvSpPr>
        <p:spPr>
          <a:xfrm>
            <a:off x="6095390" y="0"/>
            <a:ext cx="3047695" cy="64008"/>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
          <p:cNvSpPr/>
          <p:nvPr/>
        </p:nvSpPr>
        <p:spPr>
          <a:xfrm>
            <a:off x="9143085" y="0"/>
            <a:ext cx="3047695" cy="64008"/>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
          <p:cNvSpPr/>
          <p:nvPr/>
        </p:nvSpPr>
        <p:spPr>
          <a:xfrm>
            <a:off x="0" y="64008"/>
            <a:ext cx="109728" cy="6793992"/>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act_logo_official.png" id="89" name="Google Shape;89;p1"/>
          <p:cNvPicPr preferRelativeResize="0"/>
          <p:nvPr/>
        </p:nvPicPr>
        <p:blipFill rotWithShape="1">
          <a:blip r:embed="rId3">
            <a:alphaModFix/>
          </a:blip>
          <a:srcRect b="0" l="0" r="0" t="0"/>
          <a:stretch/>
        </p:blipFill>
        <p:spPr>
          <a:xfrm>
            <a:off x="548640" y="457200"/>
            <a:ext cx="594360" cy="594360"/>
          </a:xfrm>
          <a:prstGeom prst="rect">
            <a:avLst/>
          </a:prstGeom>
          <a:noFill/>
          <a:ln>
            <a:noFill/>
          </a:ln>
        </p:spPr>
      </p:pic>
      <p:sp>
        <p:nvSpPr>
          <p:cNvPr id="90" name="Google Shape;90;p1"/>
          <p:cNvSpPr txBox="1"/>
          <p:nvPr/>
        </p:nvSpPr>
        <p:spPr>
          <a:xfrm>
            <a:off x="548640" y="1280160"/>
            <a:ext cx="5248656" cy="1645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400" u="none" cap="none" strike="noStrike">
                <a:solidFill>
                  <a:srgbClr val="1A237E"/>
                </a:solidFill>
                <a:latin typeface="Calibri"/>
                <a:ea typeface="Calibri"/>
                <a:cs typeface="Calibri"/>
                <a:sym typeface="Calibri"/>
              </a:rPr>
              <a:t>Waste Spend</a:t>
            </a:r>
            <a:br>
              <a:rPr b="1" i="0" lang="en-US" sz="4400" u="none" cap="none" strike="noStrike">
                <a:solidFill>
                  <a:srgbClr val="1A237E"/>
                </a:solidFill>
                <a:latin typeface="Calibri"/>
                <a:ea typeface="Calibri"/>
                <a:cs typeface="Calibri"/>
                <a:sym typeface="Calibri"/>
              </a:rPr>
            </a:br>
            <a:r>
              <a:rPr b="1" i="0" lang="en-US" sz="4400" u="none" cap="none" strike="noStrike">
                <a:solidFill>
                  <a:srgbClr val="1A237E"/>
                </a:solidFill>
                <a:latin typeface="Calibri"/>
                <a:ea typeface="Calibri"/>
                <a:cs typeface="Calibri"/>
                <a:sym typeface="Calibri"/>
              </a:rPr>
              <a:t>Analysis</a:t>
            </a:r>
            <a:endParaRPr/>
          </a:p>
        </p:txBody>
      </p:sp>
      <p:sp>
        <p:nvSpPr>
          <p:cNvPr id="91" name="Google Shape;91;p1"/>
          <p:cNvSpPr/>
          <p:nvPr/>
        </p:nvSpPr>
        <p:spPr>
          <a:xfrm>
            <a:off x="548640" y="3017520"/>
            <a:ext cx="2286000" cy="45720"/>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 name="Google Shape;92;p1"/>
          <p:cNvSpPr txBox="1"/>
          <p:nvPr/>
        </p:nvSpPr>
        <p:spPr>
          <a:xfrm>
            <a:off x="548640" y="3246120"/>
            <a:ext cx="50292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200" u="none" cap="none" strike="noStrike">
                <a:solidFill>
                  <a:srgbClr val="4285F4"/>
                </a:solidFill>
                <a:latin typeface="Calibri"/>
                <a:ea typeface="Calibri"/>
                <a:cs typeface="Calibri"/>
                <a:sym typeface="Calibri"/>
              </a:rPr>
              <a:t>Dental by Design  |  Prodent Group</a:t>
            </a:r>
            <a:endParaRPr/>
          </a:p>
        </p:txBody>
      </p:sp>
      <p:sp>
        <p:nvSpPr>
          <p:cNvPr id="93" name="Google Shape;93;p1"/>
          <p:cNvSpPr txBox="1"/>
          <p:nvPr/>
        </p:nvSpPr>
        <p:spPr>
          <a:xfrm>
            <a:off x="548640" y="3931920"/>
            <a:ext cx="5029200" cy="69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1A1A1A"/>
                </a:solidFill>
                <a:latin typeface="Calibri"/>
                <a:ea typeface="Calibri"/>
                <a:cs typeface="Calibri"/>
                <a:sym typeface="Calibri"/>
              </a:rPr>
              <a:t>Christopher Hoole</a:t>
            </a:r>
            <a:endParaRPr sz="1200"/>
          </a:p>
          <a:p>
            <a:pPr indent="0" lvl="0" marL="0" marR="0" rtl="0" algn="l">
              <a:spcBef>
                <a:spcPts val="200"/>
              </a:spcBef>
              <a:spcAft>
                <a:spcPts val="0"/>
              </a:spcAft>
              <a:buNone/>
            </a:pPr>
            <a:r>
              <a:rPr b="0" i="0" lang="en-US" sz="1200" u="none" cap="none" strike="noStrike">
                <a:solidFill>
                  <a:srgbClr val="1A1A1A"/>
                </a:solidFill>
                <a:latin typeface="Calibri"/>
                <a:ea typeface="Calibri"/>
                <a:cs typeface="Calibri"/>
                <a:sym typeface="Calibri"/>
              </a:rPr>
              <a:t>Google Ads Specialist  |  April 2026</a:t>
            </a:r>
            <a:endParaRPr sz="1200"/>
          </a:p>
          <a:p>
            <a:pPr indent="0" lvl="0" marL="0" marR="0" rtl="0" algn="l">
              <a:spcBef>
                <a:spcPts val="200"/>
              </a:spcBef>
              <a:spcAft>
                <a:spcPts val="0"/>
              </a:spcAft>
              <a:buNone/>
            </a:pPr>
            <a:r>
              <a:rPr b="0" i="0" lang="en-US" sz="1200" u="none" cap="none" strike="noStrike">
                <a:solidFill>
                  <a:srgbClr val="4285F4"/>
                </a:solidFill>
                <a:latin typeface="Calibri"/>
                <a:ea typeface="Calibri"/>
                <a:cs typeface="Calibri"/>
                <a:sym typeface="Calibri"/>
              </a:rPr>
              <a:t>christopherhoole.com</a:t>
            </a:r>
            <a:endParaRPr sz="1200"/>
          </a:p>
        </p:txBody>
      </p:sp>
      <p:sp>
        <p:nvSpPr>
          <p:cNvPr id="94" name="Google Shape;94;p1"/>
          <p:cNvSpPr/>
          <p:nvPr/>
        </p:nvSpPr>
        <p:spPr>
          <a:xfrm>
            <a:off x="548640" y="5029200"/>
            <a:ext cx="4114800" cy="457200"/>
          </a:xfrm>
          <a:prstGeom prst="rect">
            <a:avLst/>
          </a:prstGeom>
          <a:solidFill>
            <a:srgbClr val="FFFFFF"/>
          </a:solidFill>
          <a:ln cap="flat" cmpd="sng" w="12700">
            <a:solidFill>
              <a:srgbClr val="4285F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1"/>
          <p:cNvSpPr txBox="1"/>
          <p:nvPr/>
        </p:nvSpPr>
        <p:spPr>
          <a:xfrm>
            <a:off x="640080" y="5047488"/>
            <a:ext cx="39318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200">
                <a:solidFill>
                  <a:srgbClr val="4285F4"/>
                </a:solidFill>
                <a:latin typeface="Calibri"/>
                <a:ea typeface="Calibri"/>
                <a:cs typeface="Calibri"/>
                <a:sym typeface="Calibri"/>
              </a:rPr>
              <a:t>Data: 2025 (full year) + 2026 (Q1, Jan–Apr)</a:t>
            </a:r>
            <a:endParaRPr sz="1200"/>
          </a:p>
        </p:txBody>
      </p:sp>
      <p:sp>
        <p:nvSpPr>
          <p:cNvPr id="96" name="Google Shape;96;p1"/>
          <p:cNvSpPr/>
          <p:nvPr/>
        </p:nvSpPr>
        <p:spPr>
          <a:xfrm>
            <a:off x="6217920" y="457200"/>
            <a:ext cx="5394960" cy="2286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1"/>
          <p:cNvSpPr/>
          <p:nvPr/>
        </p:nvSpPr>
        <p:spPr>
          <a:xfrm>
            <a:off x="6217920" y="457200"/>
            <a:ext cx="73152" cy="228600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1"/>
          <p:cNvSpPr txBox="1"/>
          <p:nvPr/>
        </p:nvSpPr>
        <p:spPr>
          <a:xfrm>
            <a:off x="6492240" y="548640"/>
            <a:ext cx="493776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400">
                <a:solidFill>
                  <a:srgbClr val="1A237E"/>
                </a:solidFill>
                <a:latin typeface="Calibri"/>
                <a:ea typeface="Calibri"/>
                <a:cs typeface="Calibri"/>
                <a:sym typeface="Calibri"/>
              </a:rPr>
              <a:t>Identified Waste (Search Terms)</a:t>
            </a:r>
            <a:endParaRPr/>
          </a:p>
        </p:txBody>
      </p:sp>
      <p:sp>
        <p:nvSpPr>
          <p:cNvPr id="99" name="Google Shape;99;p1"/>
          <p:cNvSpPr txBox="1"/>
          <p:nvPr/>
        </p:nvSpPr>
        <p:spPr>
          <a:xfrm>
            <a:off x="6492240" y="914400"/>
            <a:ext cx="493776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400">
                <a:solidFill>
                  <a:srgbClr val="EA4335"/>
                </a:solidFill>
                <a:latin typeface="Calibri"/>
                <a:ea typeface="Calibri"/>
                <a:cs typeface="Calibri"/>
                <a:sym typeface="Calibri"/>
              </a:rPr>
              <a:t>£146,076</a:t>
            </a:r>
            <a:endParaRPr/>
          </a:p>
        </p:txBody>
      </p:sp>
      <p:sp>
        <p:nvSpPr>
          <p:cNvPr id="100" name="Google Shape;100;p1"/>
          <p:cNvSpPr txBox="1"/>
          <p:nvPr/>
        </p:nvSpPr>
        <p:spPr>
          <a:xfrm>
            <a:off x="6492240" y="1645920"/>
            <a:ext cx="49377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200">
                <a:solidFill>
                  <a:srgbClr val="1A1A1A"/>
                </a:solidFill>
                <a:latin typeface="Calibri"/>
                <a:ea typeface="Calibri"/>
                <a:cs typeface="Calibri"/>
                <a:sym typeface="Calibri"/>
              </a:rPr>
              <a:t>2025: £86,727 (47%)  |  2026 Q1: £59,349 (49%)  |  Waste rate increasing</a:t>
            </a:r>
            <a:endParaRPr sz="1200"/>
          </a:p>
        </p:txBody>
      </p:sp>
      <p:sp>
        <p:nvSpPr>
          <p:cNvPr id="101" name="Google Shape;101;p1"/>
          <p:cNvSpPr/>
          <p:nvPr/>
        </p:nvSpPr>
        <p:spPr>
          <a:xfrm>
            <a:off x="6217920" y="2926080"/>
            <a:ext cx="1673352" cy="105156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1"/>
          <p:cNvSpPr/>
          <p:nvPr/>
        </p:nvSpPr>
        <p:spPr>
          <a:xfrm>
            <a:off x="6217920" y="2926080"/>
            <a:ext cx="54864" cy="105156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1"/>
          <p:cNvSpPr txBox="1"/>
          <p:nvPr/>
        </p:nvSpPr>
        <p:spPr>
          <a:xfrm>
            <a:off x="6355080" y="3035808"/>
            <a:ext cx="1444800" cy="43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200">
                <a:solidFill>
                  <a:srgbClr val="EA4335"/>
                </a:solidFill>
                <a:latin typeface="Calibri"/>
                <a:ea typeface="Calibri"/>
                <a:cs typeface="Calibri"/>
                <a:sym typeface="Calibri"/>
              </a:rPr>
              <a:t>£46</a:t>
            </a:r>
            <a:r>
              <a:rPr b="1" lang="en-US" sz="1600">
                <a:solidFill>
                  <a:srgbClr val="EA4335"/>
                </a:solidFill>
                <a:latin typeface="Calibri"/>
                <a:ea typeface="Calibri"/>
                <a:cs typeface="Calibri"/>
                <a:sym typeface="Calibri"/>
              </a:rPr>
              <a:t>→</a:t>
            </a:r>
            <a:r>
              <a:rPr b="1" lang="en-US" sz="2200">
                <a:solidFill>
                  <a:srgbClr val="EA4335"/>
                </a:solidFill>
                <a:latin typeface="Calibri"/>
                <a:ea typeface="Calibri"/>
                <a:cs typeface="Calibri"/>
                <a:sym typeface="Calibri"/>
              </a:rPr>
              <a:t>£64</a:t>
            </a:r>
            <a:endParaRPr/>
          </a:p>
        </p:txBody>
      </p:sp>
      <p:sp>
        <p:nvSpPr>
          <p:cNvPr id="104" name="Google Shape;104;p1"/>
          <p:cNvSpPr txBox="1"/>
          <p:nvPr/>
        </p:nvSpPr>
        <p:spPr>
          <a:xfrm>
            <a:off x="6355080" y="3474720"/>
            <a:ext cx="1444800" cy="27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Non-Brand CPA (YoY)</a:t>
            </a:r>
            <a:endParaRPr/>
          </a:p>
        </p:txBody>
      </p:sp>
      <p:sp>
        <p:nvSpPr>
          <p:cNvPr id="105" name="Google Shape;105;p1"/>
          <p:cNvSpPr/>
          <p:nvPr/>
        </p:nvSpPr>
        <p:spPr>
          <a:xfrm>
            <a:off x="8074152" y="2926080"/>
            <a:ext cx="1673352" cy="105156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1"/>
          <p:cNvSpPr/>
          <p:nvPr/>
        </p:nvSpPr>
        <p:spPr>
          <a:xfrm>
            <a:off x="8074152" y="2926080"/>
            <a:ext cx="54864" cy="1051560"/>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1"/>
          <p:cNvSpPr txBox="1"/>
          <p:nvPr/>
        </p:nvSpPr>
        <p:spPr>
          <a:xfrm>
            <a:off x="8211312" y="3035808"/>
            <a:ext cx="1444752"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4285F4"/>
                </a:solidFill>
                <a:latin typeface="Calibri"/>
                <a:ea typeface="Calibri"/>
                <a:cs typeface="Calibri"/>
                <a:sym typeface="Calibri"/>
              </a:rPr>
              <a:t>£441,336</a:t>
            </a:r>
            <a:endParaRPr/>
          </a:p>
        </p:txBody>
      </p:sp>
      <p:sp>
        <p:nvSpPr>
          <p:cNvPr id="108" name="Google Shape;108;p1"/>
          <p:cNvSpPr txBox="1"/>
          <p:nvPr/>
        </p:nvSpPr>
        <p:spPr>
          <a:xfrm>
            <a:off x="8211312" y="3474720"/>
            <a:ext cx="1444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Total Spend Analysed</a:t>
            </a:r>
            <a:endParaRPr/>
          </a:p>
        </p:txBody>
      </p:sp>
      <p:sp>
        <p:nvSpPr>
          <p:cNvPr id="109" name="Google Shape;109;p1"/>
          <p:cNvSpPr/>
          <p:nvPr/>
        </p:nvSpPr>
        <p:spPr>
          <a:xfrm>
            <a:off x="9939528" y="2926080"/>
            <a:ext cx="1673352" cy="105156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1"/>
          <p:cNvSpPr/>
          <p:nvPr/>
        </p:nvSpPr>
        <p:spPr>
          <a:xfrm>
            <a:off x="9939528" y="2926080"/>
            <a:ext cx="54864" cy="1051560"/>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1"/>
          <p:cNvSpPr txBox="1"/>
          <p:nvPr/>
        </p:nvSpPr>
        <p:spPr>
          <a:xfrm>
            <a:off x="10076688" y="3035808"/>
            <a:ext cx="1444752"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34A853"/>
                </a:solidFill>
                <a:latin typeface="Calibri"/>
                <a:ea typeface="Calibri"/>
                <a:cs typeface="Calibri"/>
                <a:sym typeface="Calibri"/>
              </a:rPr>
              <a:t>8,959</a:t>
            </a:r>
            <a:endParaRPr/>
          </a:p>
        </p:txBody>
      </p:sp>
      <p:sp>
        <p:nvSpPr>
          <p:cNvPr id="112" name="Google Shape;112;p1"/>
          <p:cNvSpPr txBox="1"/>
          <p:nvPr/>
        </p:nvSpPr>
        <p:spPr>
          <a:xfrm>
            <a:off x="10076688" y="3474720"/>
            <a:ext cx="1444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Total Conversions</a:t>
            </a:r>
            <a:endParaRPr/>
          </a:p>
        </p:txBody>
      </p:sp>
      <p:sp>
        <p:nvSpPr>
          <p:cNvPr id="113" name="Google Shape;113;p1"/>
          <p:cNvSpPr/>
          <p:nvPr/>
        </p:nvSpPr>
        <p:spPr>
          <a:xfrm>
            <a:off x="109725" y="6400800"/>
            <a:ext cx="2937900" cy="63900"/>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4" name="Google Shape;114;p1"/>
          <p:cNvSpPr/>
          <p:nvPr/>
        </p:nvSpPr>
        <p:spPr>
          <a:xfrm>
            <a:off x="3047695" y="6400800"/>
            <a:ext cx="3047695" cy="36576"/>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1"/>
          <p:cNvSpPr/>
          <p:nvPr/>
        </p:nvSpPr>
        <p:spPr>
          <a:xfrm>
            <a:off x="6095390" y="6400800"/>
            <a:ext cx="3047695" cy="36576"/>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1"/>
          <p:cNvSpPr/>
          <p:nvPr/>
        </p:nvSpPr>
        <p:spPr>
          <a:xfrm>
            <a:off x="9143085" y="6400800"/>
            <a:ext cx="3047695" cy="36576"/>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 name="Shape 120"/>
        <p:cNvGrpSpPr/>
        <p:nvPr/>
      </p:nvGrpSpPr>
      <p:grpSpPr>
        <a:xfrm>
          <a:off x="0" y="0"/>
          <a:ext cx="0" cy="0"/>
          <a:chOff x="0" y="0"/>
          <a:chExt cx="0" cy="0"/>
        </a:xfrm>
      </p:grpSpPr>
      <p:sp>
        <p:nvSpPr>
          <p:cNvPr id="121" name="Google Shape;121;p2"/>
          <p:cNvSpPr/>
          <p:nvPr/>
        </p:nvSpPr>
        <p:spPr>
          <a:xfrm>
            <a:off x="0" y="0"/>
            <a:ext cx="3047695" cy="54864"/>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2"/>
          <p:cNvSpPr/>
          <p:nvPr/>
        </p:nvSpPr>
        <p:spPr>
          <a:xfrm>
            <a:off x="3047695" y="0"/>
            <a:ext cx="3047695" cy="54864"/>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2"/>
          <p:cNvSpPr/>
          <p:nvPr/>
        </p:nvSpPr>
        <p:spPr>
          <a:xfrm>
            <a:off x="6095390" y="0"/>
            <a:ext cx="3047695" cy="54864"/>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4" name="Google Shape;124;p2"/>
          <p:cNvSpPr/>
          <p:nvPr/>
        </p:nvSpPr>
        <p:spPr>
          <a:xfrm>
            <a:off x="9143085" y="0"/>
            <a:ext cx="3047695" cy="54864"/>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2"/>
          <p:cNvSpPr txBox="1"/>
          <p:nvPr/>
        </p:nvSpPr>
        <p:spPr>
          <a:xfrm>
            <a:off x="548640" y="274320"/>
            <a:ext cx="6400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1A237E"/>
                </a:solidFill>
                <a:latin typeface="Calibri"/>
                <a:ea typeface="Calibri"/>
                <a:cs typeface="Calibri"/>
                <a:sym typeface="Calibri"/>
              </a:rPr>
              <a:t>Executive Summary</a:t>
            </a:r>
            <a:endParaRPr/>
          </a:p>
        </p:txBody>
      </p:sp>
      <p:sp>
        <p:nvSpPr>
          <p:cNvPr id="126" name="Google Shape;126;p2"/>
          <p:cNvSpPr/>
          <p:nvPr/>
        </p:nvSpPr>
        <p:spPr>
          <a:xfrm>
            <a:off x="8348472" y="274320"/>
            <a:ext cx="3291840" cy="411480"/>
          </a:xfrm>
          <a:prstGeom prst="rect">
            <a:avLst/>
          </a:prstGeom>
          <a:solidFill>
            <a:srgbClr val="FFFFFF"/>
          </a:solidFill>
          <a:ln cap="flat" cmpd="sng" w="12700">
            <a:solidFill>
              <a:srgbClr val="4285F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2"/>
          <p:cNvSpPr txBox="1"/>
          <p:nvPr/>
        </p:nvSpPr>
        <p:spPr>
          <a:xfrm>
            <a:off x="8439912" y="292608"/>
            <a:ext cx="31089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4285F4"/>
                </a:solidFill>
                <a:latin typeface="Calibri"/>
                <a:ea typeface="Calibri"/>
                <a:cs typeface="Calibri"/>
                <a:sym typeface="Calibri"/>
              </a:rPr>
              <a:t>2025 + 2026 (Q1)</a:t>
            </a:r>
            <a:endParaRPr sz="1200"/>
          </a:p>
        </p:txBody>
      </p:sp>
      <p:sp>
        <p:nvSpPr>
          <p:cNvPr id="128" name="Google Shape;128;p2"/>
          <p:cNvSpPr/>
          <p:nvPr/>
        </p:nvSpPr>
        <p:spPr>
          <a:xfrm>
            <a:off x="548640" y="1097280"/>
            <a:ext cx="2560320" cy="96012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2"/>
          <p:cNvSpPr/>
          <p:nvPr/>
        </p:nvSpPr>
        <p:spPr>
          <a:xfrm>
            <a:off x="548640" y="1097280"/>
            <a:ext cx="54864" cy="960120"/>
          </a:xfrm>
          <a:prstGeom prst="rect">
            <a:avLst/>
          </a:prstGeom>
          <a:solidFill>
            <a:srgbClr val="1A237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2"/>
          <p:cNvSpPr txBox="1"/>
          <p:nvPr/>
        </p:nvSpPr>
        <p:spPr>
          <a:xfrm>
            <a:off x="731520" y="1188720"/>
            <a:ext cx="2286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1A237E"/>
                </a:solidFill>
                <a:latin typeface="Calibri"/>
                <a:ea typeface="Calibri"/>
                <a:cs typeface="Calibri"/>
                <a:sym typeface="Calibri"/>
              </a:rPr>
              <a:t>£441,336</a:t>
            </a:r>
            <a:endParaRPr/>
          </a:p>
        </p:txBody>
      </p:sp>
      <p:sp>
        <p:nvSpPr>
          <p:cNvPr id="131" name="Google Shape;131;p2"/>
          <p:cNvSpPr txBox="1"/>
          <p:nvPr/>
        </p:nvSpPr>
        <p:spPr>
          <a:xfrm>
            <a:off x="731520" y="1645920"/>
            <a:ext cx="2286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Total Spend Analysed</a:t>
            </a:r>
            <a:endParaRPr/>
          </a:p>
        </p:txBody>
      </p:sp>
      <p:sp>
        <p:nvSpPr>
          <p:cNvPr id="132" name="Google Shape;132;p2"/>
          <p:cNvSpPr/>
          <p:nvPr/>
        </p:nvSpPr>
        <p:spPr>
          <a:xfrm>
            <a:off x="3383280" y="1097280"/>
            <a:ext cx="2560320" cy="96012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2"/>
          <p:cNvSpPr/>
          <p:nvPr/>
        </p:nvSpPr>
        <p:spPr>
          <a:xfrm>
            <a:off x="3383280" y="1097280"/>
            <a:ext cx="54864" cy="96012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2"/>
          <p:cNvSpPr txBox="1"/>
          <p:nvPr/>
        </p:nvSpPr>
        <p:spPr>
          <a:xfrm>
            <a:off x="3566160" y="1188720"/>
            <a:ext cx="2286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EA4335"/>
                </a:solidFill>
                <a:latin typeface="Calibri"/>
                <a:ea typeface="Calibri"/>
                <a:cs typeface="Calibri"/>
                <a:sym typeface="Calibri"/>
              </a:rPr>
              <a:t>£146,076</a:t>
            </a:r>
            <a:endParaRPr/>
          </a:p>
        </p:txBody>
      </p:sp>
      <p:sp>
        <p:nvSpPr>
          <p:cNvPr id="135" name="Google Shape;135;p2"/>
          <p:cNvSpPr txBox="1"/>
          <p:nvPr/>
        </p:nvSpPr>
        <p:spPr>
          <a:xfrm>
            <a:off x="3566160" y="1645920"/>
            <a:ext cx="2286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Search Term Waste (0 Conv)</a:t>
            </a:r>
            <a:endParaRPr/>
          </a:p>
        </p:txBody>
      </p:sp>
      <p:sp>
        <p:nvSpPr>
          <p:cNvPr id="136" name="Google Shape;136;p2"/>
          <p:cNvSpPr/>
          <p:nvPr/>
        </p:nvSpPr>
        <p:spPr>
          <a:xfrm>
            <a:off x="6217920" y="1097280"/>
            <a:ext cx="2560320" cy="96012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2"/>
          <p:cNvSpPr/>
          <p:nvPr/>
        </p:nvSpPr>
        <p:spPr>
          <a:xfrm>
            <a:off x="6217920" y="1097280"/>
            <a:ext cx="54864" cy="960120"/>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2"/>
          <p:cNvSpPr txBox="1"/>
          <p:nvPr/>
        </p:nvSpPr>
        <p:spPr>
          <a:xfrm>
            <a:off x="6400800" y="1188720"/>
            <a:ext cx="2286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FBBC05"/>
                </a:solidFill>
                <a:latin typeface="Calibri"/>
                <a:ea typeface="Calibri"/>
                <a:cs typeface="Calibri"/>
                <a:sym typeface="Calibri"/>
              </a:rPr>
              <a:t>£46 → £64</a:t>
            </a:r>
            <a:endParaRPr/>
          </a:p>
        </p:txBody>
      </p:sp>
      <p:sp>
        <p:nvSpPr>
          <p:cNvPr id="139" name="Google Shape;139;p2"/>
          <p:cNvSpPr txBox="1"/>
          <p:nvPr/>
        </p:nvSpPr>
        <p:spPr>
          <a:xfrm>
            <a:off x="6400800" y="1645920"/>
            <a:ext cx="2286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Non-Brand CPA (YoY)</a:t>
            </a:r>
            <a:endParaRPr/>
          </a:p>
        </p:txBody>
      </p:sp>
      <p:sp>
        <p:nvSpPr>
          <p:cNvPr id="140" name="Google Shape;140;p2"/>
          <p:cNvSpPr/>
          <p:nvPr/>
        </p:nvSpPr>
        <p:spPr>
          <a:xfrm>
            <a:off x="9052560" y="1097280"/>
            <a:ext cx="2560320" cy="96012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2"/>
          <p:cNvSpPr/>
          <p:nvPr/>
        </p:nvSpPr>
        <p:spPr>
          <a:xfrm>
            <a:off x="9052560" y="1097280"/>
            <a:ext cx="54864" cy="960120"/>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2"/>
          <p:cNvSpPr txBox="1"/>
          <p:nvPr/>
        </p:nvSpPr>
        <p:spPr>
          <a:xfrm>
            <a:off x="9235440" y="1188720"/>
            <a:ext cx="2286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34A853"/>
                </a:solidFill>
                <a:latin typeface="Calibri"/>
                <a:ea typeface="Calibri"/>
                <a:cs typeface="Calibri"/>
                <a:sym typeface="Calibri"/>
              </a:rPr>
              <a:t>8,959</a:t>
            </a:r>
            <a:endParaRPr/>
          </a:p>
        </p:txBody>
      </p:sp>
      <p:sp>
        <p:nvSpPr>
          <p:cNvPr id="143" name="Google Shape;143;p2"/>
          <p:cNvSpPr txBox="1"/>
          <p:nvPr/>
        </p:nvSpPr>
        <p:spPr>
          <a:xfrm>
            <a:off x="9235440" y="1645920"/>
            <a:ext cx="2286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Total Conversions</a:t>
            </a:r>
            <a:endParaRPr/>
          </a:p>
        </p:txBody>
      </p:sp>
      <p:sp>
        <p:nvSpPr>
          <p:cNvPr id="144" name="Google Shape;144;p2"/>
          <p:cNvSpPr txBox="1"/>
          <p:nvPr/>
        </p:nvSpPr>
        <p:spPr>
          <a:xfrm>
            <a:off x="548640" y="2377440"/>
            <a:ext cx="54864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Key Findings</a:t>
            </a:r>
            <a:endParaRPr/>
          </a:p>
        </p:txBody>
      </p:sp>
      <p:sp>
        <p:nvSpPr>
          <p:cNvPr id="145" name="Google Shape;145;p2"/>
          <p:cNvSpPr txBox="1"/>
          <p:nvPr/>
        </p:nvSpPr>
        <p:spPr>
          <a:xfrm>
            <a:off x="417575" y="2743200"/>
            <a:ext cx="10738200" cy="1126800"/>
          </a:xfrm>
          <a:prstGeom prst="rect">
            <a:avLst/>
          </a:prstGeom>
          <a:noFill/>
          <a:ln>
            <a:noFill/>
          </a:ln>
        </p:spPr>
        <p:txBody>
          <a:bodyPr anchorCtr="0" anchor="t" bIns="45700" lIns="91425" spcFirstLastPara="1" rIns="91425" wrap="square" tIns="45700">
            <a:spAutoFit/>
          </a:bodyPr>
          <a:lstStyle/>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Non-brand CPA has increased 40% year-on-year (£46 → £64) while monthly spend has nearly doubled.</a:t>
            </a:r>
            <a:endParaRPr sz="1200"/>
          </a:p>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£59,349 spent on zero-conversion search terms in Q1 2026 alone </a:t>
            </a:r>
            <a:r>
              <a:rPr lang="en-US" sz="1200">
                <a:solidFill>
                  <a:srgbClr val="1A1A1A"/>
                </a:solidFill>
                <a:latin typeface="Calibri"/>
                <a:ea typeface="Calibri"/>
                <a:cs typeface="Calibri"/>
                <a:sym typeface="Calibri"/>
              </a:rPr>
              <a:t>-</a:t>
            </a:r>
            <a:r>
              <a:rPr b="0" lang="en-US" sz="1200">
                <a:solidFill>
                  <a:srgbClr val="1A1A1A"/>
                </a:solidFill>
                <a:latin typeface="Calibri"/>
                <a:ea typeface="Calibri"/>
                <a:cs typeface="Calibri"/>
                <a:sym typeface="Calibri"/>
              </a:rPr>
              <a:t> 49% of all tracked search term spend generated no patient enquiries.</a:t>
            </a:r>
            <a:endParaRPr sz="1200"/>
          </a:p>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PMax search term waste has risen from 53% to 60% year-on-year </a:t>
            </a:r>
            <a:r>
              <a:rPr lang="en-US" sz="1200">
                <a:solidFill>
                  <a:srgbClr val="1A1A1A"/>
                </a:solidFill>
                <a:latin typeface="Calibri"/>
                <a:ea typeface="Calibri"/>
                <a:cs typeface="Calibri"/>
                <a:sym typeface="Calibri"/>
              </a:rPr>
              <a:t>-</a:t>
            </a:r>
            <a:r>
              <a:rPr b="0" lang="en-US" sz="1200">
                <a:solidFill>
                  <a:srgbClr val="1A1A1A"/>
                </a:solidFill>
                <a:latin typeface="Calibri"/>
                <a:ea typeface="Calibri"/>
                <a:cs typeface="Calibri"/>
                <a:sym typeface="Calibri"/>
              </a:rPr>
              <a:t> the campaign is scaling but efficiency is declining.</a:t>
            </a:r>
            <a:endParaRPr sz="1200"/>
          </a:p>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Desktop CPA is £92 vs mobile £56 (64% higher) with no device bid adjustments in place.</a:t>
            </a:r>
            <a:endParaRPr sz="1200"/>
          </a:p>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17 keywords are running at CPA above £150 in 2026, spending £14,959 at 2-5x the account average.</a:t>
            </a:r>
            <a:endParaRPr sz="1200"/>
          </a:p>
        </p:txBody>
      </p:sp>
      <p:sp>
        <p:nvSpPr>
          <p:cNvPr id="146" name="Google Shape;146;p2"/>
          <p:cNvSpPr/>
          <p:nvPr/>
        </p:nvSpPr>
        <p:spPr>
          <a:xfrm>
            <a:off x="548650" y="5037125"/>
            <a:ext cx="11091600" cy="1126800"/>
          </a:xfrm>
          <a:prstGeom prst="rect">
            <a:avLst/>
          </a:prstGeom>
          <a:solidFill>
            <a:srgbClr val="E8F0FE"/>
          </a:solidFill>
          <a:ln cap="flat" cmpd="sng" w="12700">
            <a:solidFill>
              <a:srgbClr val="4285F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2"/>
          <p:cNvSpPr txBox="1"/>
          <p:nvPr/>
        </p:nvSpPr>
        <p:spPr>
          <a:xfrm>
            <a:off x="777250" y="5083650"/>
            <a:ext cx="10634400" cy="10440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None/>
            </a:pPr>
            <a:r>
              <a:rPr b="1" lang="en-US" sz="1200">
                <a:solidFill>
                  <a:srgbClr val="1A237E"/>
                </a:solidFill>
                <a:latin typeface="Calibri"/>
                <a:ea typeface="Calibri"/>
                <a:cs typeface="Calibri"/>
                <a:sym typeface="Calibri"/>
              </a:rPr>
              <a:t>This report identifies two types of waste: </a:t>
            </a:r>
            <a:endParaRPr b="1" sz="1200">
              <a:solidFill>
                <a:srgbClr val="1A237E"/>
              </a:solidFill>
              <a:latin typeface="Calibri"/>
              <a:ea typeface="Calibri"/>
              <a:cs typeface="Calibri"/>
              <a:sym typeface="Calibri"/>
            </a:endParaRPr>
          </a:p>
          <a:p>
            <a:pPr indent="-304800" lvl="0" marL="457200" marR="0" rtl="0" algn="l">
              <a:lnSpc>
                <a:spcPct val="115000"/>
              </a:lnSpc>
              <a:spcBef>
                <a:spcPts val="0"/>
              </a:spcBef>
              <a:spcAft>
                <a:spcPts val="0"/>
              </a:spcAft>
              <a:buClr>
                <a:srgbClr val="1A237E"/>
              </a:buClr>
              <a:buSzPts val="1200"/>
              <a:buFont typeface="Calibri"/>
              <a:buAutoNum type="arabicPeriod"/>
            </a:pPr>
            <a:r>
              <a:rPr b="1" lang="en-US" sz="1200">
                <a:solidFill>
                  <a:srgbClr val="1A237E"/>
                </a:solidFill>
                <a:latin typeface="Calibri"/>
                <a:ea typeface="Calibri"/>
                <a:cs typeface="Calibri"/>
                <a:sym typeface="Calibri"/>
              </a:rPr>
              <a:t>money that generated nothing (zero-conversion spend) </a:t>
            </a:r>
            <a:endParaRPr b="1" sz="1200">
              <a:solidFill>
                <a:srgbClr val="1A237E"/>
              </a:solidFill>
              <a:latin typeface="Calibri"/>
              <a:ea typeface="Calibri"/>
              <a:cs typeface="Calibri"/>
              <a:sym typeface="Calibri"/>
            </a:endParaRPr>
          </a:p>
          <a:p>
            <a:pPr indent="-304800" lvl="0" marL="457200" marR="0" rtl="0" algn="l">
              <a:lnSpc>
                <a:spcPct val="115000"/>
              </a:lnSpc>
              <a:spcBef>
                <a:spcPts val="0"/>
              </a:spcBef>
              <a:spcAft>
                <a:spcPts val="0"/>
              </a:spcAft>
              <a:buClr>
                <a:srgbClr val="1A237E"/>
              </a:buClr>
              <a:buSzPts val="1200"/>
              <a:buFont typeface="Calibri"/>
              <a:buAutoNum type="arabicPeriod"/>
            </a:pPr>
            <a:r>
              <a:rPr b="1" lang="en-US" sz="1200">
                <a:solidFill>
                  <a:srgbClr val="1A237E"/>
                </a:solidFill>
                <a:latin typeface="Calibri"/>
                <a:ea typeface="Calibri"/>
                <a:cs typeface="Calibri"/>
                <a:sym typeface="Calibri"/>
              </a:rPr>
              <a:t>money that could work harder (high-CPA inefficiency). </a:t>
            </a:r>
            <a:endParaRPr b="1" sz="1200">
              <a:solidFill>
                <a:srgbClr val="1A237E"/>
              </a:solidFill>
              <a:latin typeface="Calibri"/>
              <a:ea typeface="Calibri"/>
              <a:cs typeface="Calibri"/>
              <a:sym typeface="Calibri"/>
            </a:endParaRPr>
          </a:p>
          <a:p>
            <a:pPr indent="0" lvl="0" marL="0" marR="0" rtl="0" algn="l">
              <a:lnSpc>
                <a:spcPct val="115000"/>
              </a:lnSpc>
              <a:spcBef>
                <a:spcPts val="0"/>
              </a:spcBef>
              <a:spcAft>
                <a:spcPts val="0"/>
              </a:spcAft>
              <a:buNone/>
            </a:pPr>
            <a:r>
              <a:rPr b="1" lang="en-US" sz="1200">
                <a:solidFill>
                  <a:srgbClr val="1A237E"/>
                </a:solidFill>
                <a:latin typeface="Calibri"/>
                <a:ea typeface="Calibri"/>
                <a:cs typeface="Calibri"/>
                <a:sym typeface="Calibri"/>
              </a:rPr>
              <a:t>Both represent growth opportunity.</a:t>
            </a:r>
            <a:endParaRPr sz="1200"/>
          </a:p>
        </p:txBody>
      </p:sp>
      <p:sp>
        <p:nvSpPr>
          <p:cNvPr id="148" name="Google Shape;148;p2"/>
          <p:cNvSpPr/>
          <p:nvPr/>
        </p:nvSpPr>
        <p:spPr>
          <a:xfrm>
            <a:off x="548640" y="6327648"/>
            <a:ext cx="2770632" cy="27432"/>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2"/>
          <p:cNvSpPr/>
          <p:nvPr/>
        </p:nvSpPr>
        <p:spPr>
          <a:xfrm>
            <a:off x="3319272" y="6327648"/>
            <a:ext cx="2770632" cy="27432"/>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2"/>
          <p:cNvSpPr/>
          <p:nvPr/>
        </p:nvSpPr>
        <p:spPr>
          <a:xfrm>
            <a:off x="6099048" y="6327648"/>
            <a:ext cx="2770632" cy="27432"/>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2"/>
          <p:cNvSpPr/>
          <p:nvPr/>
        </p:nvSpPr>
        <p:spPr>
          <a:xfrm>
            <a:off x="8869680" y="6327648"/>
            <a:ext cx="2770632" cy="27432"/>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act_logo_official.png" id="152" name="Google Shape;152;p2"/>
          <p:cNvPicPr preferRelativeResize="0"/>
          <p:nvPr/>
        </p:nvPicPr>
        <p:blipFill rotWithShape="1">
          <a:blip r:embed="rId3">
            <a:alphaModFix/>
          </a:blip>
          <a:srcRect b="0" l="0" r="0" t="0"/>
          <a:stretch/>
        </p:blipFill>
        <p:spPr>
          <a:xfrm>
            <a:off x="548640" y="6400800"/>
            <a:ext cx="201168" cy="201168"/>
          </a:xfrm>
          <a:prstGeom prst="rect">
            <a:avLst/>
          </a:prstGeom>
          <a:noFill/>
          <a:ln>
            <a:noFill/>
          </a:ln>
        </p:spPr>
      </p:pic>
      <p:sp>
        <p:nvSpPr>
          <p:cNvPr id="153" name="Google Shape;153;p2"/>
          <p:cNvSpPr txBox="1"/>
          <p:nvPr/>
        </p:nvSpPr>
        <p:spPr>
          <a:xfrm>
            <a:off x="822960" y="6400800"/>
            <a:ext cx="5486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1A237E"/>
                </a:solidFill>
                <a:latin typeface="Calibri"/>
                <a:ea typeface="Calibri"/>
                <a:cs typeface="Calibri"/>
                <a:sym typeface="Calibri"/>
              </a:rPr>
              <a:t>Christopher Hoole  |  christopherhoole.com  |  Confidential</a:t>
            </a:r>
            <a:endParaRPr/>
          </a:p>
        </p:txBody>
      </p:sp>
      <p:sp>
        <p:nvSpPr>
          <p:cNvPr id="154" name="Google Shape;154;p2"/>
          <p:cNvSpPr txBox="1"/>
          <p:nvPr/>
        </p:nvSpPr>
        <p:spPr>
          <a:xfrm>
            <a:off x="11183112" y="6400800"/>
            <a:ext cx="45720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lang="en-US" sz="1100">
                <a:solidFill>
                  <a:srgbClr val="1A237E"/>
                </a:solidFill>
                <a:latin typeface="Calibri"/>
                <a:ea typeface="Calibri"/>
                <a:cs typeface="Calibri"/>
                <a:sym typeface="Calibri"/>
              </a:rPr>
              <a:t>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sp>
        <p:nvSpPr>
          <p:cNvPr id="159" name="Google Shape;159;p3"/>
          <p:cNvSpPr/>
          <p:nvPr/>
        </p:nvSpPr>
        <p:spPr>
          <a:xfrm>
            <a:off x="0" y="0"/>
            <a:ext cx="3047695" cy="54864"/>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3"/>
          <p:cNvSpPr/>
          <p:nvPr/>
        </p:nvSpPr>
        <p:spPr>
          <a:xfrm>
            <a:off x="3047695" y="0"/>
            <a:ext cx="3047695" cy="54864"/>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p3"/>
          <p:cNvSpPr/>
          <p:nvPr/>
        </p:nvSpPr>
        <p:spPr>
          <a:xfrm>
            <a:off x="6095390" y="0"/>
            <a:ext cx="3047695" cy="54864"/>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3"/>
          <p:cNvSpPr/>
          <p:nvPr/>
        </p:nvSpPr>
        <p:spPr>
          <a:xfrm>
            <a:off x="9143085" y="0"/>
            <a:ext cx="3047695" cy="54864"/>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3"/>
          <p:cNvSpPr txBox="1"/>
          <p:nvPr/>
        </p:nvSpPr>
        <p:spPr>
          <a:xfrm>
            <a:off x="548640" y="274320"/>
            <a:ext cx="6400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1A237E"/>
                </a:solidFill>
                <a:latin typeface="Calibri"/>
                <a:ea typeface="Calibri"/>
                <a:cs typeface="Calibri"/>
                <a:sym typeface="Calibri"/>
              </a:rPr>
              <a:t>Year-on-Year CPA Comparison</a:t>
            </a:r>
            <a:endParaRPr/>
          </a:p>
        </p:txBody>
      </p:sp>
      <p:sp>
        <p:nvSpPr>
          <p:cNvPr id="164" name="Google Shape;164;p3"/>
          <p:cNvSpPr txBox="1"/>
          <p:nvPr/>
        </p:nvSpPr>
        <p:spPr>
          <a:xfrm>
            <a:off x="548640" y="777240"/>
            <a:ext cx="82296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200">
                <a:solidFill>
                  <a:srgbClr val="EA4335"/>
                </a:solidFill>
                <a:latin typeface="Calibri"/>
                <a:ea typeface="Calibri"/>
                <a:cs typeface="Calibri"/>
                <a:sym typeface="Calibri"/>
              </a:rPr>
              <a:t>Non-brand CPA has increased across every campaign type and device</a:t>
            </a:r>
            <a:endParaRPr sz="1200"/>
          </a:p>
        </p:txBody>
      </p:sp>
      <p:sp>
        <p:nvSpPr>
          <p:cNvPr id="165" name="Google Shape;165;p3"/>
          <p:cNvSpPr/>
          <p:nvPr/>
        </p:nvSpPr>
        <p:spPr>
          <a:xfrm>
            <a:off x="8348472" y="274320"/>
            <a:ext cx="3291840" cy="411480"/>
          </a:xfrm>
          <a:prstGeom prst="rect">
            <a:avLst/>
          </a:prstGeom>
          <a:solidFill>
            <a:srgbClr val="FFFFFF"/>
          </a:solidFill>
          <a:ln cap="flat" cmpd="sng" w="12700">
            <a:solidFill>
              <a:srgbClr val="4285F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3"/>
          <p:cNvSpPr txBox="1"/>
          <p:nvPr/>
        </p:nvSpPr>
        <p:spPr>
          <a:xfrm>
            <a:off x="8439912" y="292608"/>
            <a:ext cx="31089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4285F4"/>
                </a:solidFill>
                <a:latin typeface="Calibri"/>
                <a:ea typeface="Calibri"/>
                <a:cs typeface="Calibri"/>
                <a:sym typeface="Calibri"/>
              </a:rPr>
              <a:t>2025 vs 2026</a:t>
            </a:r>
            <a:endParaRPr sz="1200"/>
          </a:p>
        </p:txBody>
      </p:sp>
      <p:pic>
        <p:nvPicPr>
          <p:cNvPr descr="yoy_cpa.png" id="167" name="Google Shape;167;p3"/>
          <p:cNvPicPr preferRelativeResize="0"/>
          <p:nvPr/>
        </p:nvPicPr>
        <p:blipFill rotWithShape="1">
          <a:blip r:embed="rId3">
            <a:alphaModFix/>
          </a:blip>
          <a:srcRect b="0" l="0" r="0" t="0"/>
          <a:stretch/>
        </p:blipFill>
        <p:spPr>
          <a:xfrm>
            <a:off x="548640" y="1188720"/>
            <a:ext cx="6858000" cy="3657600"/>
          </a:xfrm>
          <a:prstGeom prst="rect">
            <a:avLst/>
          </a:prstGeom>
          <a:noFill/>
          <a:ln>
            <a:noFill/>
          </a:ln>
        </p:spPr>
      </p:pic>
      <p:sp>
        <p:nvSpPr>
          <p:cNvPr id="168" name="Google Shape;168;p3"/>
          <p:cNvSpPr/>
          <p:nvPr/>
        </p:nvSpPr>
        <p:spPr>
          <a:xfrm>
            <a:off x="7680960" y="1188720"/>
            <a:ext cx="3931920" cy="164592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3"/>
          <p:cNvSpPr/>
          <p:nvPr/>
        </p:nvSpPr>
        <p:spPr>
          <a:xfrm>
            <a:off x="7680960" y="1188720"/>
            <a:ext cx="54864" cy="1645920"/>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3"/>
          <p:cNvSpPr txBox="1"/>
          <p:nvPr/>
        </p:nvSpPr>
        <p:spPr>
          <a:xfrm>
            <a:off x="7909560" y="1280160"/>
            <a:ext cx="356616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34A853"/>
                </a:solidFill>
                <a:latin typeface="Calibri"/>
                <a:ea typeface="Calibri"/>
                <a:cs typeface="Calibri"/>
                <a:sym typeface="Calibri"/>
              </a:rPr>
              <a:t>2025 (Full Year)</a:t>
            </a:r>
            <a:endParaRPr/>
          </a:p>
        </p:txBody>
      </p:sp>
      <p:sp>
        <p:nvSpPr>
          <p:cNvPr id="171" name="Google Shape;171;p3"/>
          <p:cNvSpPr txBox="1"/>
          <p:nvPr/>
        </p:nvSpPr>
        <p:spPr>
          <a:xfrm>
            <a:off x="7909560" y="1554480"/>
            <a:ext cx="35661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34A853"/>
                </a:solidFill>
                <a:latin typeface="Calibri"/>
                <a:ea typeface="Calibri"/>
                <a:cs typeface="Calibri"/>
                <a:sym typeface="Calibri"/>
              </a:rPr>
              <a:t>£46 Non-Brand CPA</a:t>
            </a:r>
            <a:endParaRPr/>
          </a:p>
        </p:txBody>
      </p:sp>
      <p:sp>
        <p:nvSpPr>
          <p:cNvPr id="172" name="Google Shape;172;p3"/>
          <p:cNvSpPr txBox="1"/>
          <p:nvPr/>
        </p:nvSpPr>
        <p:spPr>
          <a:xfrm>
            <a:off x="7909560" y="1874519"/>
            <a:ext cx="3566100" cy="702000"/>
          </a:xfrm>
          <a:prstGeom prst="rect">
            <a:avLst/>
          </a:prstGeom>
          <a:noFill/>
          <a:ln>
            <a:noFill/>
          </a:ln>
        </p:spPr>
        <p:txBody>
          <a:bodyPr anchorCtr="0" anchor="t" bIns="45700" lIns="91425" spcFirstLastPara="1" rIns="91425" wrap="square" tIns="45700">
            <a:spAutoFit/>
          </a:bodyPr>
          <a:lstStyle/>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£265,869 total spend</a:t>
            </a:r>
            <a:endParaRPr sz="1200">
              <a:solidFill>
                <a:srgbClr val="1A1A1A"/>
              </a:solidFill>
              <a:latin typeface="Calibri"/>
              <a:ea typeface="Calibri"/>
              <a:cs typeface="Calibri"/>
              <a:sym typeface="Calibri"/>
            </a:endParaRPr>
          </a:p>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6,070 conversions</a:t>
            </a:r>
            <a:endParaRPr sz="1200">
              <a:solidFill>
                <a:srgbClr val="1A1A1A"/>
              </a:solidFill>
              <a:latin typeface="Calibri"/>
              <a:ea typeface="Calibri"/>
              <a:cs typeface="Calibri"/>
              <a:sym typeface="Calibri"/>
            </a:endParaRPr>
          </a:p>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15 active campaigns</a:t>
            </a:r>
            <a:endParaRPr sz="1200"/>
          </a:p>
        </p:txBody>
      </p:sp>
      <p:sp>
        <p:nvSpPr>
          <p:cNvPr id="173" name="Google Shape;173;p3"/>
          <p:cNvSpPr/>
          <p:nvPr/>
        </p:nvSpPr>
        <p:spPr>
          <a:xfrm>
            <a:off x="7680960" y="3017520"/>
            <a:ext cx="3931920" cy="164592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3"/>
          <p:cNvSpPr/>
          <p:nvPr/>
        </p:nvSpPr>
        <p:spPr>
          <a:xfrm>
            <a:off x="7680960" y="3017520"/>
            <a:ext cx="54864" cy="164592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3"/>
          <p:cNvSpPr txBox="1"/>
          <p:nvPr/>
        </p:nvSpPr>
        <p:spPr>
          <a:xfrm>
            <a:off x="7909560" y="3108960"/>
            <a:ext cx="356616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EA4335"/>
                </a:solidFill>
                <a:latin typeface="Calibri"/>
                <a:ea typeface="Calibri"/>
                <a:cs typeface="Calibri"/>
                <a:sym typeface="Calibri"/>
              </a:rPr>
              <a:t>2026 (Q1, Jan–Apr)</a:t>
            </a:r>
            <a:endParaRPr/>
          </a:p>
        </p:txBody>
      </p:sp>
      <p:sp>
        <p:nvSpPr>
          <p:cNvPr id="176" name="Google Shape;176;p3"/>
          <p:cNvSpPr txBox="1"/>
          <p:nvPr/>
        </p:nvSpPr>
        <p:spPr>
          <a:xfrm>
            <a:off x="7909560" y="3383280"/>
            <a:ext cx="35661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EA4335"/>
                </a:solidFill>
                <a:latin typeface="Calibri"/>
                <a:ea typeface="Calibri"/>
                <a:cs typeface="Calibri"/>
                <a:sym typeface="Calibri"/>
              </a:rPr>
              <a:t>£64 Non-Brand CPA</a:t>
            </a:r>
            <a:endParaRPr/>
          </a:p>
        </p:txBody>
      </p:sp>
      <p:sp>
        <p:nvSpPr>
          <p:cNvPr id="177" name="Google Shape;177;p3"/>
          <p:cNvSpPr txBox="1"/>
          <p:nvPr/>
        </p:nvSpPr>
        <p:spPr>
          <a:xfrm>
            <a:off x="7909560" y="3703320"/>
            <a:ext cx="3566100" cy="646500"/>
          </a:xfrm>
          <a:prstGeom prst="rect">
            <a:avLst/>
          </a:prstGeom>
          <a:noFill/>
          <a:ln>
            <a:noFill/>
          </a:ln>
        </p:spPr>
        <p:txBody>
          <a:bodyPr anchorCtr="0" anchor="ctr" bIns="45700" lIns="91425" spcFirstLastPara="1" rIns="91425" wrap="square" tIns="45700">
            <a:noAutofit/>
          </a:bodyPr>
          <a:lstStyle/>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£175,467 total spend (annualised £526,400)</a:t>
            </a:r>
            <a:endParaRPr sz="1200">
              <a:solidFill>
                <a:srgbClr val="1A1A1A"/>
              </a:solidFill>
              <a:latin typeface="Calibri"/>
              <a:ea typeface="Calibri"/>
              <a:cs typeface="Calibri"/>
              <a:sym typeface="Calibri"/>
            </a:endParaRPr>
          </a:p>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2,889 conversions</a:t>
            </a:r>
            <a:endParaRPr sz="1200">
              <a:solidFill>
                <a:srgbClr val="1A1A1A"/>
              </a:solidFill>
              <a:latin typeface="Calibri"/>
              <a:ea typeface="Calibri"/>
              <a:cs typeface="Calibri"/>
              <a:sym typeface="Calibri"/>
            </a:endParaRPr>
          </a:p>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4 active campaigns</a:t>
            </a:r>
            <a:endParaRPr sz="1200"/>
          </a:p>
        </p:txBody>
      </p:sp>
      <p:sp>
        <p:nvSpPr>
          <p:cNvPr id="178" name="Google Shape;178;p3"/>
          <p:cNvSpPr/>
          <p:nvPr/>
        </p:nvSpPr>
        <p:spPr>
          <a:xfrm>
            <a:off x="548650" y="4988252"/>
            <a:ext cx="11064300" cy="1186500"/>
          </a:xfrm>
          <a:prstGeom prst="rect">
            <a:avLst/>
          </a:prstGeom>
          <a:solidFill>
            <a:srgbClr val="E8F0F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3"/>
          <p:cNvSpPr/>
          <p:nvPr/>
        </p:nvSpPr>
        <p:spPr>
          <a:xfrm>
            <a:off x="548649" y="4988225"/>
            <a:ext cx="54900" cy="1186500"/>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3"/>
          <p:cNvSpPr txBox="1"/>
          <p:nvPr/>
        </p:nvSpPr>
        <p:spPr>
          <a:xfrm>
            <a:off x="777240" y="5084659"/>
            <a:ext cx="10698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The Pattern</a:t>
            </a:r>
            <a:endParaRPr/>
          </a:p>
        </p:txBody>
      </p:sp>
      <p:sp>
        <p:nvSpPr>
          <p:cNvPr id="181" name="Google Shape;181;p3"/>
          <p:cNvSpPr txBox="1"/>
          <p:nvPr/>
        </p:nvSpPr>
        <p:spPr>
          <a:xfrm>
            <a:off x="777240" y="5389839"/>
            <a:ext cx="10698600" cy="702000"/>
          </a:xfrm>
          <a:prstGeom prst="rect">
            <a:avLst/>
          </a:prstGeom>
          <a:noFill/>
          <a:ln>
            <a:noFill/>
          </a:ln>
        </p:spPr>
        <p:txBody>
          <a:bodyPr anchorCtr="0" anchor="t" bIns="45700" lIns="91425" spcFirstLastPara="1" rIns="91425" wrap="square" tIns="45700">
            <a:spAutoFit/>
          </a:bodyPr>
          <a:lstStyle/>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Spend has nearly doubled but CPA has risen 40%. </a:t>
            </a:r>
            <a:endParaRPr b="0" sz="1200">
              <a:solidFill>
                <a:srgbClr val="1A1A1A"/>
              </a:solidFill>
              <a:latin typeface="Calibri"/>
              <a:ea typeface="Calibri"/>
              <a:cs typeface="Calibri"/>
              <a:sym typeface="Calibri"/>
            </a:endParaRPr>
          </a:p>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The account is scaling aggressively but efficiency is declining </a:t>
            </a:r>
            <a:r>
              <a:rPr lang="en-US" sz="1200">
                <a:solidFill>
                  <a:srgbClr val="1A1A1A"/>
                </a:solidFill>
                <a:latin typeface="Calibri"/>
                <a:ea typeface="Calibri"/>
                <a:cs typeface="Calibri"/>
                <a:sym typeface="Calibri"/>
              </a:rPr>
              <a:t>-</a:t>
            </a:r>
            <a:r>
              <a:rPr b="0" lang="en-US" sz="1200">
                <a:solidFill>
                  <a:srgbClr val="1A1A1A"/>
                </a:solidFill>
                <a:latin typeface="Calibri"/>
                <a:ea typeface="Calibri"/>
                <a:cs typeface="Calibri"/>
                <a:sym typeface="Calibri"/>
              </a:rPr>
              <a:t> meaning more money is being spent to acquire each patient. </a:t>
            </a:r>
            <a:endParaRPr b="0" sz="1200">
              <a:solidFill>
                <a:srgbClr val="1A1A1A"/>
              </a:solidFill>
              <a:latin typeface="Calibri"/>
              <a:ea typeface="Calibri"/>
              <a:cs typeface="Calibri"/>
              <a:sym typeface="Calibri"/>
            </a:endParaRPr>
          </a:p>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This is the core issue the optimisations in this report address.</a:t>
            </a:r>
            <a:endParaRPr sz="1200"/>
          </a:p>
        </p:txBody>
      </p:sp>
      <p:sp>
        <p:nvSpPr>
          <p:cNvPr id="182" name="Google Shape;182;p3"/>
          <p:cNvSpPr/>
          <p:nvPr/>
        </p:nvSpPr>
        <p:spPr>
          <a:xfrm>
            <a:off x="548640" y="6327648"/>
            <a:ext cx="2770632" cy="27432"/>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3"/>
          <p:cNvSpPr/>
          <p:nvPr/>
        </p:nvSpPr>
        <p:spPr>
          <a:xfrm>
            <a:off x="3319272" y="6327648"/>
            <a:ext cx="2770632" cy="27432"/>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3"/>
          <p:cNvSpPr/>
          <p:nvPr/>
        </p:nvSpPr>
        <p:spPr>
          <a:xfrm>
            <a:off x="6099048" y="6327648"/>
            <a:ext cx="2770632" cy="27432"/>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3"/>
          <p:cNvSpPr/>
          <p:nvPr/>
        </p:nvSpPr>
        <p:spPr>
          <a:xfrm>
            <a:off x="8869680" y="6327648"/>
            <a:ext cx="2770632" cy="27432"/>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act_logo_official.png" id="186" name="Google Shape;186;p3"/>
          <p:cNvPicPr preferRelativeResize="0"/>
          <p:nvPr/>
        </p:nvPicPr>
        <p:blipFill rotWithShape="1">
          <a:blip r:embed="rId4">
            <a:alphaModFix/>
          </a:blip>
          <a:srcRect b="0" l="0" r="0" t="0"/>
          <a:stretch/>
        </p:blipFill>
        <p:spPr>
          <a:xfrm>
            <a:off x="548640" y="6400800"/>
            <a:ext cx="201168" cy="201168"/>
          </a:xfrm>
          <a:prstGeom prst="rect">
            <a:avLst/>
          </a:prstGeom>
          <a:noFill/>
          <a:ln>
            <a:noFill/>
          </a:ln>
        </p:spPr>
      </p:pic>
      <p:sp>
        <p:nvSpPr>
          <p:cNvPr id="187" name="Google Shape;187;p3"/>
          <p:cNvSpPr txBox="1"/>
          <p:nvPr/>
        </p:nvSpPr>
        <p:spPr>
          <a:xfrm>
            <a:off x="822960" y="6400800"/>
            <a:ext cx="5486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1A237E"/>
                </a:solidFill>
                <a:latin typeface="Calibri"/>
                <a:ea typeface="Calibri"/>
                <a:cs typeface="Calibri"/>
                <a:sym typeface="Calibri"/>
              </a:rPr>
              <a:t>Christopher Hoole  |  christopherhoole.com  |  Confidential</a:t>
            </a:r>
            <a:endParaRPr/>
          </a:p>
        </p:txBody>
      </p:sp>
      <p:sp>
        <p:nvSpPr>
          <p:cNvPr id="188" name="Google Shape;188;p3"/>
          <p:cNvSpPr txBox="1"/>
          <p:nvPr/>
        </p:nvSpPr>
        <p:spPr>
          <a:xfrm>
            <a:off x="11183112" y="6400800"/>
            <a:ext cx="45720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lang="en-US" sz="1100">
                <a:solidFill>
                  <a:srgbClr val="1A237E"/>
                </a:solidFill>
                <a:latin typeface="Calibri"/>
                <a:ea typeface="Calibri"/>
                <a:cs typeface="Calibri"/>
                <a:sym typeface="Calibri"/>
              </a:rPr>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sp>
        <p:nvSpPr>
          <p:cNvPr id="193" name="Google Shape;193;p4"/>
          <p:cNvSpPr/>
          <p:nvPr/>
        </p:nvSpPr>
        <p:spPr>
          <a:xfrm>
            <a:off x="0" y="0"/>
            <a:ext cx="3047695" cy="54864"/>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4"/>
          <p:cNvSpPr/>
          <p:nvPr/>
        </p:nvSpPr>
        <p:spPr>
          <a:xfrm>
            <a:off x="3047695" y="0"/>
            <a:ext cx="3047695" cy="54864"/>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4"/>
          <p:cNvSpPr/>
          <p:nvPr/>
        </p:nvSpPr>
        <p:spPr>
          <a:xfrm>
            <a:off x="6095390" y="0"/>
            <a:ext cx="3047695" cy="54864"/>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6" name="Google Shape;196;p4"/>
          <p:cNvSpPr/>
          <p:nvPr/>
        </p:nvSpPr>
        <p:spPr>
          <a:xfrm>
            <a:off x="9143085" y="0"/>
            <a:ext cx="3047695" cy="54864"/>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4"/>
          <p:cNvSpPr txBox="1"/>
          <p:nvPr/>
        </p:nvSpPr>
        <p:spPr>
          <a:xfrm>
            <a:off x="548640" y="274320"/>
            <a:ext cx="6400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1A237E"/>
                </a:solidFill>
                <a:latin typeface="Calibri"/>
                <a:ea typeface="Calibri"/>
                <a:cs typeface="Calibri"/>
                <a:sym typeface="Calibri"/>
              </a:rPr>
              <a:t>Search Term Waste</a:t>
            </a:r>
            <a:endParaRPr/>
          </a:p>
        </p:txBody>
      </p:sp>
      <p:sp>
        <p:nvSpPr>
          <p:cNvPr id="198" name="Google Shape;198;p4"/>
          <p:cNvSpPr txBox="1"/>
          <p:nvPr/>
        </p:nvSpPr>
        <p:spPr>
          <a:xfrm>
            <a:off x="548640" y="777240"/>
            <a:ext cx="82296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200">
                <a:solidFill>
                  <a:srgbClr val="EA4335"/>
                </a:solidFill>
                <a:latin typeface="Calibri"/>
                <a:ea typeface="Calibri"/>
                <a:cs typeface="Calibri"/>
                <a:sym typeface="Calibri"/>
              </a:rPr>
              <a:t>£59,349 spent on zero-conversion search terms in Q1 2026 (49% of search term spend)</a:t>
            </a:r>
            <a:endParaRPr sz="1200"/>
          </a:p>
        </p:txBody>
      </p:sp>
      <p:sp>
        <p:nvSpPr>
          <p:cNvPr id="199" name="Google Shape;199;p4"/>
          <p:cNvSpPr/>
          <p:nvPr/>
        </p:nvSpPr>
        <p:spPr>
          <a:xfrm>
            <a:off x="8348472" y="274320"/>
            <a:ext cx="3291840" cy="411480"/>
          </a:xfrm>
          <a:prstGeom prst="rect">
            <a:avLst/>
          </a:prstGeom>
          <a:solidFill>
            <a:srgbClr val="FFFFFF"/>
          </a:solidFill>
          <a:ln cap="flat" cmpd="sng" w="12700">
            <a:solidFill>
              <a:srgbClr val="4285F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4"/>
          <p:cNvSpPr txBox="1"/>
          <p:nvPr/>
        </p:nvSpPr>
        <p:spPr>
          <a:xfrm>
            <a:off x="8439900" y="274425"/>
            <a:ext cx="31089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4285F4"/>
                </a:solidFill>
                <a:latin typeface="Calibri"/>
                <a:ea typeface="Calibri"/>
                <a:cs typeface="Calibri"/>
                <a:sym typeface="Calibri"/>
              </a:rPr>
              <a:t>2026 Focus</a:t>
            </a:r>
            <a:endParaRPr sz="1200"/>
          </a:p>
        </p:txBody>
      </p:sp>
      <p:graphicFrame>
        <p:nvGraphicFramePr>
          <p:cNvPr id="201" name="Google Shape;201;p4"/>
          <p:cNvGraphicFramePr/>
          <p:nvPr/>
        </p:nvGraphicFramePr>
        <p:xfrm>
          <a:off x="548640" y="1188720"/>
          <a:ext cx="3000000" cy="3000000"/>
        </p:xfrm>
        <a:graphic>
          <a:graphicData uri="http://schemas.openxmlformats.org/drawingml/2006/table">
            <a:tbl>
              <a:tblPr bandRow="1" firstRow="1">
                <a:noFill/>
                <a:tableStyleId>{D63477AD-CC91-4D8A-8B12-AFA7241523EF}</a:tableStyleId>
              </a:tblPr>
              <a:tblGrid>
                <a:gridCol w="2926075"/>
                <a:gridCol w="731525"/>
                <a:gridCol w="548650"/>
                <a:gridCol w="2926075"/>
              </a:tblGrid>
              <a:tr h="285750">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Search Term</a:t>
                      </a:r>
                      <a:endParaRPr/>
                    </a:p>
                  </a:txBody>
                  <a:tcPr marT="45725" marB="45725" marR="91450" marL="91450">
                    <a:solidFill>
                      <a:srgbClr val="1A237E"/>
                    </a:solidFill>
                  </a:tcPr>
                </a:tc>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Spend</a:t>
                      </a:r>
                      <a:endParaRPr/>
                    </a:p>
                  </a:txBody>
                  <a:tcPr marT="45725" marB="45725" marR="91450" marL="91450">
                    <a:solidFill>
                      <a:srgbClr val="1A237E"/>
                    </a:solidFill>
                  </a:tcPr>
                </a:tc>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Clicks</a:t>
                      </a:r>
                      <a:endParaRPr/>
                    </a:p>
                  </a:txBody>
                  <a:tcPr marT="45725" marB="45725" marR="91450" marL="91450">
                    <a:solidFill>
                      <a:srgbClr val="1A237E"/>
                    </a:solidFill>
                  </a:tcPr>
                </a:tc>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Campaign</a:t>
                      </a:r>
                      <a:endParaRPr/>
                    </a:p>
                  </a:txBody>
                  <a:tcPr marT="45725" marB="45725" marR="91450" marL="91450">
                    <a:solidFill>
                      <a:srgbClr val="1A237E"/>
                    </a:solidFill>
                  </a:tcPr>
                </a:tc>
              </a:tr>
              <a:tr h="28575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best dental implants near me</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£193</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11</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Implants Intent</a:t>
                      </a:r>
                      <a:endParaRPr/>
                    </a:p>
                  </a:txBody>
                  <a:tcPr marT="45725" marB="45725" marR="91450" marL="91450">
                    <a:solidFill>
                      <a:srgbClr val="F5F6FA"/>
                    </a:solidFill>
                  </a:tcPr>
                </a:tc>
              </a:tr>
              <a:tr h="28575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implant clinics</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£152</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3</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Implants Intent</a:t>
                      </a:r>
                      <a:endParaRPr/>
                    </a:p>
                  </a:txBody>
                  <a:tcPr marT="45725" marB="45725" marR="91450" marL="91450">
                    <a:solidFill>
                      <a:srgbClr val="FFFFFF"/>
                    </a:solidFill>
                  </a:tcPr>
                </a:tc>
              </a:tr>
              <a:tr h="28575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dentist for implants near me</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£147</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9</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Implants Intent</a:t>
                      </a:r>
                      <a:endParaRPr/>
                    </a:p>
                  </a:txBody>
                  <a:tcPr marT="45725" marB="45725" marR="91450" marL="91450">
                    <a:solidFill>
                      <a:srgbClr val="F5F6FA"/>
                    </a:solidFill>
                  </a:tcPr>
                </a:tc>
              </a:tr>
              <a:tr h="28575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by design hammersmith reviews</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£142</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41</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Implants Intent</a:t>
                      </a:r>
                      <a:endParaRPr/>
                    </a:p>
                  </a:txBody>
                  <a:tcPr marT="45725" marB="45725" marR="91450" marL="91450">
                    <a:solidFill>
                      <a:srgbClr val="FFFFFF"/>
                    </a:solidFill>
                  </a:tcPr>
                </a:tc>
              </a:tr>
              <a:tr h="28575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tooth implant cost</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£142</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36</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Implants Intent</a:t>
                      </a:r>
                      <a:endParaRPr/>
                    </a:p>
                  </a:txBody>
                  <a:tcPr marT="45725" marB="45725" marR="91450" marL="91450">
                    <a:solidFill>
                      <a:srgbClr val="F5F6FA"/>
                    </a:solidFill>
                  </a:tcPr>
                </a:tc>
              </a:tr>
              <a:tr h="28575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full dental implants</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£136</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12</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Implants Intent</a:t>
                      </a:r>
                      <a:endParaRPr/>
                    </a:p>
                  </a:txBody>
                  <a:tcPr marT="45725" marB="45725" marR="91450" marL="91450">
                    <a:solidFill>
                      <a:srgbClr val="FFFFFF"/>
                    </a:solidFill>
                  </a:tcPr>
                </a:tc>
              </a:tr>
              <a:tr h="28575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full arch dental implants</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£134</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18</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Implants Intent</a:t>
                      </a:r>
                      <a:endParaRPr/>
                    </a:p>
                  </a:txBody>
                  <a:tcPr marT="45725" marB="45725" marR="91450" marL="91450">
                    <a:solidFill>
                      <a:srgbClr val="F5F6FA"/>
                    </a:solidFill>
                  </a:tcPr>
                </a:tc>
              </a:tr>
              <a:tr h="28575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teeth in a day</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£130</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10</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Implants Intent</a:t>
                      </a:r>
                      <a:endParaRPr/>
                    </a:p>
                  </a:txBody>
                  <a:tcPr marT="45725" marB="45725" marR="91450" marL="91450">
                    <a:solidFill>
                      <a:srgbClr val="FFFFFF"/>
                    </a:solidFill>
                  </a:tcPr>
                </a:tc>
              </a:tr>
              <a:tr h="28575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best implant dentist london</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£124</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13</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Implants - Pmax</a:t>
                      </a:r>
                      <a:endParaRPr/>
                    </a:p>
                  </a:txBody>
                  <a:tcPr marT="45725" marB="45725" marR="91450" marL="91450">
                    <a:solidFill>
                      <a:srgbClr val="F5F6FA"/>
                    </a:solidFill>
                  </a:tcPr>
                </a:tc>
              </a:tr>
              <a:tr h="28575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implants near me</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£123</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8</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Implants Intent</a:t>
                      </a:r>
                      <a:endParaRPr/>
                    </a:p>
                  </a:txBody>
                  <a:tcPr marT="45725" marB="45725" marR="91450" marL="91450">
                    <a:solidFill>
                      <a:srgbClr val="FFFFFF"/>
                    </a:solidFill>
                  </a:tcPr>
                </a:tc>
              </a:tr>
              <a:tr h="28575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dentists that do implants</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£123</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2</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Implants Intent</a:t>
                      </a:r>
                      <a:endParaRPr/>
                    </a:p>
                  </a:txBody>
                  <a:tcPr marT="45725" marB="45725" marR="91450" marL="91450">
                    <a:solidFill>
                      <a:srgbClr val="F5F6FA"/>
                    </a:solidFill>
                  </a:tcPr>
                </a:tc>
              </a:tr>
              <a:tr h="28575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all on 4</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£121</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14</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Implants Intent</a:t>
                      </a:r>
                      <a:endParaRPr/>
                    </a:p>
                  </a:txBody>
                  <a:tcPr marT="45725" marB="45725" marR="91450" marL="91450">
                    <a:solidFill>
                      <a:srgbClr val="FFFFFF"/>
                    </a:solidFill>
                  </a:tcPr>
                </a:tc>
              </a:tr>
              <a:tr h="28575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implants dental</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£106</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9</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Implants Intent</a:t>
                      </a:r>
                      <a:endParaRPr/>
                    </a:p>
                  </a:txBody>
                  <a:tcPr marT="45725" marB="45725" marR="91450" marL="91450">
                    <a:solidFill>
                      <a:srgbClr val="F5F6FA"/>
                    </a:solidFill>
                  </a:tcPr>
                </a:tc>
              </a:tr>
              <a:tr h="28575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what is all on 4 dental implants</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£106</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13</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Implants Intent</a:t>
                      </a:r>
                      <a:endParaRPr/>
                    </a:p>
                  </a:txBody>
                  <a:tcPr marT="45725" marB="45725" marR="91450" marL="91450">
                    <a:solidFill>
                      <a:srgbClr val="FFFFFF"/>
                    </a:solidFill>
                  </a:tcPr>
                </a:tc>
              </a:tr>
              <a:tr h="28575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brighton implant clinic</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£105</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27</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Implants - Pmax</a:t>
                      </a:r>
                      <a:endParaRPr/>
                    </a:p>
                  </a:txBody>
                  <a:tcPr marT="45725" marB="45725" marR="91450" marL="91450">
                    <a:solidFill>
                      <a:srgbClr val="F5F6FA"/>
                    </a:solidFill>
                  </a:tcPr>
                </a:tc>
              </a:tr>
            </a:tbl>
          </a:graphicData>
        </a:graphic>
      </p:graphicFrame>
      <p:pic>
        <p:nvPicPr>
          <p:cNvPr descr="st_waste_yoy.png" id="202" name="Google Shape;202;p4"/>
          <p:cNvPicPr preferRelativeResize="0"/>
          <p:nvPr/>
        </p:nvPicPr>
        <p:blipFill rotWithShape="1">
          <a:blip r:embed="rId3">
            <a:alphaModFix/>
          </a:blip>
          <a:srcRect b="0" l="0" r="0" t="0"/>
          <a:stretch/>
        </p:blipFill>
        <p:spPr>
          <a:xfrm>
            <a:off x="7955279" y="1188720"/>
            <a:ext cx="3657600" cy="2560320"/>
          </a:xfrm>
          <a:prstGeom prst="rect">
            <a:avLst/>
          </a:prstGeom>
          <a:noFill/>
          <a:ln>
            <a:noFill/>
          </a:ln>
        </p:spPr>
      </p:pic>
      <p:sp>
        <p:nvSpPr>
          <p:cNvPr id="203" name="Google Shape;203;p4"/>
          <p:cNvSpPr/>
          <p:nvPr/>
        </p:nvSpPr>
        <p:spPr>
          <a:xfrm>
            <a:off x="7955279" y="3931920"/>
            <a:ext cx="3657600" cy="1828800"/>
          </a:xfrm>
          <a:prstGeom prst="rect">
            <a:avLst/>
          </a:prstGeom>
          <a:solidFill>
            <a:srgbClr val="FCE8E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4"/>
          <p:cNvSpPr/>
          <p:nvPr/>
        </p:nvSpPr>
        <p:spPr>
          <a:xfrm>
            <a:off x="7955279" y="3931920"/>
            <a:ext cx="54864" cy="182880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4"/>
          <p:cNvSpPr txBox="1"/>
          <p:nvPr/>
        </p:nvSpPr>
        <p:spPr>
          <a:xfrm>
            <a:off x="8183879" y="4023360"/>
            <a:ext cx="32918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Year-on-Year Trend</a:t>
            </a:r>
            <a:endParaRPr/>
          </a:p>
        </p:txBody>
      </p:sp>
      <p:sp>
        <p:nvSpPr>
          <p:cNvPr id="206" name="Google Shape;206;p4"/>
          <p:cNvSpPr txBox="1"/>
          <p:nvPr/>
        </p:nvSpPr>
        <p:spPr>
          <a:xfrm>
            <a:off x="8063375" y="4297675"/>
            <a:ext cx="3412500" cy="1108200"/>
          </a:xfrm>
          <a:prstGeom prst="rect">
            <a:avLst/>
          </a:prstGeom>
          <a:noFill/>
          <a:ln>
            <a:noFill/>
          </a:ln>
        </p:spPr>
        <p:txBody>
          <a:bodyPr anchorCtr="0" anchor="t" bIns="45700" lIns="91425" spcFirstLastPara="1" rIns="91425" wrap="square" tIns="45700">
            <a:spAutoFit/>
          </a:bodyPr>
          <a:lstStyle/>
          <a:p>
            <a:pPr indent="-298450" lvl="0" marL="457200" marR="0" rtl="0" algn="l">
              <a:spcBef>
                <a:spcPts val="0"/>
              </a:spcBef>
              <a:spcAft>
                <a:spcPts val="0"/>
              </a:spcAft>
              <a:buClr>
                <a:srgbClr val="1A1A1A"/>
              </a:buClr>
              <a:buSzPts val="1100"/>
              <a:buFont typeface="Calibri"/>
              <a:buChar char="●"/>
            </a:pPr>
            <a:r>
              <a:rPr b="0" lang="en-US" sz="1100">
                <a:solidFill>
                  <a:srgbClr val="1A1A1A"/>
                </a:solidFill>
                <a:latin typeface="Calibri"/>
                <a:ea typeface="Calibri"/>
                <a:cs typeface="Calibri"/>
                <a:sym typeface="Calibri"/>
              </a:rPr>
              <a:t>2025: £86,727 wasted (47% of ST spend)</a:t>
            </a:r>
            <a:endParaRPr sz="1100">
              <a:solidFill>
                <a:srgbClr val="1A1A1A"/>
              </a:solidFill>
              <a:latin typeface="Calibri"/>
              <a:ea typeface="Calibri"/>
              <a:cs typeface="Calibri"/>
              <a:sym typeface="Calibri"/>
            </a:endParaRPr>
          </a:p>
          <a:p>
            <a:pPr indent="-298450" lvl="0" marL="457200" marR="0" rtl="0" algn="l">
              <a:spcBef>
                <a:spcPts val="0"/>
              </a:spcBef>
              <a:spcAft>
                <a:spcPts val="0"/>
              </a:spcAft>
              <a:buClr>
                <a:srgbClr val="1A1A1A"/>
              </a:buClr>
              <a:buSzPts val="1100"/>
              <a:buFont typeface="Calibri"/>
              <a:buChar char="●"/>
            </a:pPr>
            <a:r>
              <a:rPr b="0" lang="en-US" sz="1100">
                <a:solidFill>
                  <a:srgbClr val="1A1A1A"/>
                </a:solidFill>
                <a:latin typeface="Calibri"/>
                <a:ea typeface="Calibri"/>
                <a:cs typeface="Calibri"/>
                <a:sym typeface="Calibri"/>
              </a:rPr>
              <a:t>2026: £59,349 wasted (49% of ST spend)</a:t>
            </a:r>
            <a:br>
              <a:rPr b="0" lang="en-US" sz="1100">
                <a:solidFill>
                  <a:srgbClr val="1A1A1A"/>
                </a:solidFill>
                <a:latin typeface="Calibri"/>
                <a:ea typeface="Calibri"/>
                <a:cs typeface="Calibri"/>
                <a:sym typeface="Calibri"/>
              </a:rPr>
            </a:br>
            <a:br>
              <a:rPr b="0" lang="en-US" sz="1100">
                <a:solidFill>
                  <a:srgbClr val="1A1A1A"/>
                </a:solidFill>
                <a:latin typeface="Calibri"/>
                <a:ea typeface="Calibri"/>
                <a:cs typeface="Calibri"/>
                <a:sym typeface="Calibri"/>
              </a:rPr>
            </a:br>
            <a:r>
              <a:rPr b="0" lang="en-US" sz="1100">
                <a:solidFill>
                  <a:srgbClr val="1A1A1A"/>
                </a:solidFill>
                <a:latin typeface="Calibri"/>
                <a:ea typeface="Calibri"/>
                <a:cs typeface="Calibri"/>
                <a:sym typeface="Calibri"/>
              </a:rPr>
              <a:t>The waste rate is increasing</a:t>
            </a:r>
            <a:r>
              <a:rPr lang="en-US" sz="1100">
                <a:solidFill>
                  <a:srgbClr val="1A1A1A"/>
                </a:solidFill>
                <a:latin typeface="Calibri"/>
                <a:ea typeface="Calibri"/>
                <a:cs typeface="Calibri"/>
                <a:sym typeface="Calibri"/>
              </a:rPr>
              <a:t> with</a:t>
            </a:r>
            <a:r>
              <a:rPr b="0" lang="en-US" sz="1100">
                <a:solidFill>
                  <a:srgbClr val="1A1A1A"/>
                </a:solidFill>
                <a:latin typeface="Calibri"/>
                <a:ea typeface="Calibri"/>
                <a:cs typeface="Calibri"/>
                <a:sym typeface="Calibri"/>
              </a:rPr>
              <a:t> nearly half of all search term spend now generates zero patient enquiries.</a:t>
            </a:r>
            <a:endParaRPr/>
          </a:p>
        </p:txBody>
      </p:sp>
      <p:sp>
        <p:nvSpPr>
          <p:cNvPr id="207" name="Google Shape;207;p4"/>
          <p:cNvSpPr/>
          <p:nvPr/>
        </p:nvSpPr>
        <p:spPr>
          <a:xfrm>
            <a:off x="548640" y="6327648"/>
            <a:ext cx="2770632" cy="27432"/>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4"/>
          <p:cNvSpPr/>
          <p:nvPr/>
        </p:nvSpPr>
        <p:spPr>
          <a:xfrm>
            <a:off x="3319272" y="6327648"/>
            <a:ext cx="2770632" cy="27432"/>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4"/>
          <p:cNvSpPr/>
          <p:nvPr/>
        </p:nvSpPr>
        <p:spPr>
          <a:xfrm>
            <a:off x="6099048" y="6327648"/>
            <a:ext cx="2770632" cy="27432"/>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4"/>
          <p:cNvSpPr/>
          <p:nvPr/>
        </p:nvSpPr>
        <p:spPr>
          <a:xfrm>
            <a:off x="8869680" y="6327648"/>
            <a:ext cx="2770632" cy="27432"/>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act_logo_official.png" id="211" name="Google Shape;211;p4"/>
          <p:cNvPicPr preferRelativeResize="0"/>
          <p:nvPr/>
        </p:nvPicPr>
        <p:blipFill rotWithShape="1">
          <a:blip r:embed="rId4">
            <a:alphaModFix/>
          </a:blip>
          <a:srcRect b="0" l="0" r="0" t="0"/>
          <a:stretch/>
        </p:blipFill>
        <p:spPr>
          <a:xfrm>
            <a:off x="548640" y="6400800"/>
            <a:ext cx="201168" cy="201168"/>
          </a:xfrm>
          <a:prstGeom prst="rect">
            <a:avLst/>
          </a:prstGeom>
          <a:noFill/>
          <a:ln>
            <a:noFill/>
          </a:ln>
        </p:spPr>
      </p:pic>
      <p:sp>
        <p:nvSpPr>
          <p:cNvPr id="212" name="Google Shape;212;p4"/>
          <p:cNvSpPr txBox="1"/>
          <p:nvPr/>
        </p:nvSpPr>
        <p:spPr>
          <a:xfrm>
            <a:off x="822960" y="6400800"/>
            <a:ext cx="5486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1A237E"/>
                </a:solidFill>
                <a:latin typeface="Calibri"/>
                <a:ea typeface="Calibri"/>
                <a:cs typeface="Calibri"/>
                <a:sym typeface="Calibri"/>
              </a:rPr>
              <a:t>Christopher Hoole  |  christopherhoole.com  |  Confidential</a:t>
            </a:r>
            <a:endParaRPr/>
          </a:p>
        </p:txBody>
      </p:sp>
      <p:sp>
        <p:nvSpPr>
          <p:cNvPr id="213" name="Google Shape;213;p4"/>
          <p:cNvSpPr txBox="1"/>
          <p:nvPr/>
        </p:nvSpPr>
        <p:spPr>
          <a:xfrm>
            <a:off x="11183112" y="6400800"/>
            <a:ext cx="45720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lang="en-US" sz="1100">
                <a:solidFill>
                  <a:srgbClr val="1A237E"/>
                </a:solidFill>
                <a:latin typeface="Calibri"/>
                <a:ea typeface="Calibri"/>
                <a:cs typeface="Calibri"/>
                <a:sym typeface="Calibri"/>
              </a:rPr>
              <a:t>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5"/>
          <p:cNvSpPr/>
          <p:nvPr/>
        </p:nvSpPr>
        <p:spPr>
          <a:xfrm>
            <a:off x="0" y="0"/>
            <a:ext cx="3047695" cy="54864"/>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5"/>
          <p:cNvSpPr/>
          <p:nvPr/>
        </p:nvSpPr>
        <p:spPr>
          <a:xfrm>
            <a:off x="3047695" y="0"/>
            <a:ext cx="3047695" cy="54864"/>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5"/>
          <p:cNvSpPr/>
          <p:nvPr/>
        </p:nvSpPr>
        <p:spPr>
          <a:xfrm>
            <a:off x="6095390" y="0"/>
            <a:ext cx="3047695" cy="54864"/>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5"/>
          <p:cNvSpPr/>
          <p:nvPr/>
        </p:nvSpPr>
        <p:spPr>
          <a:xfrm>
            <a:off x="9143085" y="0"/>
            <a:ext cx="3047695" cy="54864"/>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5"/>
          <p:cNvSpPr txBox="1"/>
          <p:nvPr/>
        </p:nvSpPr>
        <p:spPr>
          <a:xfrm>
            <a:off x="548640" y="274320"/>
            <a:ext cx="6400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1A237E"/>
                </a:solidFill>
                <a:latin typeface="Calibri"/>
                <a:ea typeface="Calibri"/>
                <a:cs typeface="Calibri"/>
                <a:sym typeface="Calibri"/>
              </a:rPr>
              <a:t>Waste by Category</a:t>
            </a:r>
            <a:endParaRPr/>
          </a:p>
        </p:txBody>
      </p:sp>
      <p:sp>
        <p:nvSpPr>
          <p:cNvPr id="223" name="Google Shape;223;p5"/>
          <p:cNvSpPr txBox="1"/>
          <p:nvPr/>
        </p:nvSpPr>
        <p:spPr>
          <a:xfrm>
            <a:off x="548640" y="777240"/>
            <a:ext cx="82296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200">
                <a:solidFill>
                  <a:srgbClr val="EA4335"/>
                </a:solidFill>
                <a:latin typeface="Calibri"/>
                <a:ea typeface="Calibri"/>
                <a:cs typeface="Calibri"/>
                <a:sym typeface="Calibri"/>
              </a:rPr>
              <a:t>Zero-conversion search terms grouped by intent type — 2025 vs 2026</a:t>
            </a:r>
            <a:endParaRPr sz="1200"/>
          </a:p>
        </p:txBody>
      </p:sp>
      <p:sp>
        <p:nvSpPr>
          <p:cNvPr id="224" name="Google Shape;224;p5"/>
          <p:cNvSpPr/>
          <p:nvPr/>
        </p:nvSpPr>
        <p:spPr>
          <a:xfrm>
            <a:off x="8348472" y="274320"/>
            <a:ext cx="3291840" cy="411480"/>
          </a:xfrm>
          <a:prstGeom prst="rect">
            <a:avLst/>
          </a:prstGeom>
          <a:solidFill>
            <a:srgbClr val="FFFFFF"/>
          </a:solidFill>
          <a:ln cap="flat" cmpd="sng" w="12700">
            <a:solidFill>
              <a:srgbClr val="4285F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5"/>
          <p:cNvSpPr txBox="1"/>
          <p:nvPr/>
        </p:nvSpPr>
        <p:spPr>
          <a:xfrm>
            <a:off x="8439900" y="274425"/>
            <a:ext cx="31089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4285F4"/>
                </a:solidFill>
                <a:latin typeface="Calibri"/>
                <a:ea typeface="Calibri"/>
                <a:cs typeface="Calibri"/>
                <a:sym typeface="Calibri"/>
              </a:rPr>
              <a:t>2025 vs 2026</a:t>
            </a:r>
            <a:endParaRPr sz="1200"/>
          </a:p>
        </p:txBody>
      </p:sp>
      <p:pic>
        <p:nvPicPr>
          <p:cNvPr descr="waste_cats_yoy.png" id="226" name="Google Shape;226;p5"/>
          <p:cNvPicPr preferRelativeResize="0"/>
          <p:nvPr/>
        </p:nvPicPr>
        <p:blipFill rotWithShape="1">
          <a:blip r:embed="rId3">
            <a:alphaModFix/>
          </a:blip>
          <a:srcRect b="0" l="0" r="0" t="0"/>
          <a:stretch/>
        </p:blipFill>
        <p:spPr>
          <a:xfrm>
            <a:off x="548640" y="1188720"/>
            <a:ext cx="6858000" cy="3657600"/>
          </a:xfrm>
          <a:prstGeom prst="rect">
            <a:avLst/>
          </a:prstGeom>
          <a:noFill/>
          <a:ln>
            <a:noFill/>
          </a:ln>
        </p:spPr>
      </p:pic>
      <p:sp>
        <p:nvSpPr>
          <p:cNvPr id="227" name="Google Shape;227;p5"/>
          <p:cNvSpPr txBox="1"/>
          <p:nvPr/>
        </p:nvSpPr>
        <p:spPr>
          <a:xfrm>
            <a:off x="7589520" y="1188720"/>
            <a:ext cx="40233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2025 vs 2026 Totals</a:t>
            </a:r>
            <a:endParaRPr/>
          </a:p>
        </p:txBody>
      </p:sp>
      <p:sp>
        <p:nvSpPr>
          <p:cNvPr id="228" name="Google Shape;228;p5"/>
          <p:cNvSpPr txBox="1"/>
          <p:nvPr/>
        </p:nvSpPr>
        <p:spPr>
          <a:xfrm>
            <a:off x="7483800" y="1554475"/>
            <a:ext cx="4128900" cy="1551600"/>
          </a:xfrm>
          <a:prstGeom prst="rect">
            <a:avLst/>
          </a:prstGeom>
          <a:noFill/>
          <a:ln>
            <a:noFill/>
          </a:ln>
        </p:spPr>
        <p:txBody>
          <a:bodyPr anchorCtr="0" anchor="t" bIns="45700" lIns="91425" spcFirstLastPara="1" rIns="91425" wrap="square" tIns="45700">
            <a:spAutoFit/>
          </a:bodyPr>
          <a:lstStyle/>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Other Non-Converting:  £57,191 → £36,260</a:t>
            </a:r>
            <a:endParaRPr sz="1200"/>
          </a:p>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Price Research (No Location):  £20,540 → £14,078</a:t>
            </a:r>
            <a:endParaRPr sz="1200"/>
          </a:p>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Wrong Treatment Type:  £3,112 → £3,001</a:t>
            </a:r>
            <a:endParaRPr sz="1200"/>
          </a:p>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Competitor / Dental Tourism:  £1,724 → £1,629</a:t>
            </a:r>
            <a:endParaRPr sz="1200"/>
          </a:p>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NHS / Free Treatment:  £1,378 → £706</a:t>
            </a:r>
            <a:endParaRPr sz="1200"/>
          </a:p>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Informational / Research:  £1,092 → £2,217</a:t>
            </a:r>
            <a:endParaRPr sz="1200"/>
          </a:p>
          <a:p>
            <a:pPr indent="-304800" lvl="0" marL="457200" marR="0" rtl="0" algn="l">
              <a:lnSpc>
                <a:spcPct val="115000"/>
              </a:lnSpc>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Wrong Location:  £547 → £812</a:t>
            </a:r>
            <a:endParaRPr sz="1200"/>
          </a:p>
        </p:txBody>
      </p:sp>
      <p:sp>
        <p:nvSpPr>
          <p:cNvPr id="229" name="Google Shape;229;p5"/>
          <p:cNvSpPr/>
          <p:nvPr/>
        </p:nvSpPr>
        <p:spPr>
          <a:xfrm>
            <a:off x="548640" y="5074920"/>
            <a:ext cx="11091672" cy="731520"/>
          </a:xfrm>
          <a:prstGeom prst="rect">
            <a:avLst/>
          </a:prstGeom>
          <a:solidFill>
            <a:srgbClr val="E8F0FE"/>
          </a:solidFill>
          <a:ln cap="flat" cmpd="sng" w="12700">
            <a:solidFill>
              <a:srgbClr val="4285F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5"/>
          <p:cNvSpPr txBox="1"/>
          <p:nvPr/>
        </p:nvSpPr>
        <p:spPr>
          <a:xfrm>
            <a:off x="777240" y="5120640"/>
            <a:ext cx="106344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1A237E"/>
                </a:solidFill>
                <a:latin typeface="Calibri"/>
                <a:ea typeface="Calibri"/>
                <a:cs typeface="Calibri"/>
                <a:sym typeface="Calibri"/>
              </a:rPr>
              <a:t>"Other Non-Converting" (£57,191 in 2025, £36,260 in 2026) includes relevant dental terms that didn't convert. These need landing page and ad copy work, not just negative keywords. </a:t>
            </a:r>
            <a:br>
              <a:rPr b="1" lang="en-US" sz="1200">
                <a:solidFill>
                  <a:srgbClr val="1A237E"/>
                </a:solidFill>
                <a:latin typeface="Calibri"/>
                <a:ea typeface="Calibri"/>
                <a:cs typeface="Calibri"/>
                <a:sym typeface="Calibri"/>
              </a:rPr>
            </a:br>
            <a:r>
              <a:rPr b="1" lang="en-US" sz="1200">
                <a:solidFill>
                  <a:srgbClr val="1A237E"/>
                </a:solidFill>
                <a:latin typeface="Calibri"/>
                <a:ea typeface="Calibri"/>
                <a:cs typeface="Calibri"/>
                <a:sym typeface="Calibri"/>
              </a:rPr>
              <a:t>"Price Research" (£20,540 → £14,078) are blockable with negative keywords.</a:t>
            </a:r>
            <a:endParaRPr sz="1200"/>
          </a:p>
        </p:txBody>
      </p:sp>
      <p:sp>
        <p:nvSpPr>
          <p:cNvPr id="231" name="Google Shape;231;p5"/>
          <p:cNvSpPr/>
          <p:nvPr/>
        </p:nvSpPr>
        <p:spPr>
          <a:xfrm>
            <a:off x="548640" y="6327648"/>
            <a:ext cx="2770632" cy="27432"/>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5"/>
          <p:cNvSpPr/>
          <p:nvPr/>
        </p:nvSpPr>
        <p:spPr>
          <a:xfrm>
            <a:off x="3319272" y="6327648"/>
            <a:ext cx="2770632" cy="27432"/>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5"/>
          <p:cNvSpPr/>
          <p:nvPr/>
        </p:nvSpPr>
        <p:spPr>
          <a:xfrm>
            <a:off x="6099048" y="6327648"/>
            <a:ext cx="2770632" cy="27432"/>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5"/>
          <p:cNvSpPr/>
          <p:nvPr/>
        </p:nvSpPr>
        <p:spPr>
          <a:xfrm>
            <a:off x="8869680" y="6327648"/>
            <a:ext cx="2770632" cy="27432"/>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act_logo_official.png" id="235" name="Google Shape;235;p5"/>
          <p:cNvPicPr preferRelativeResize="0"/>
          <p:nvPr/>
        </p:nvPicPr>
        <p:blipFill rotWithShape="1">
          <a:blip r:embed="rId4">
            <a:alphaModFix/>
          </a:blip>
          <a:srcRect b="0" l="0" r="0" t="0"/>
          <a:stretch/>
        </p:blipFill>
        <p:spPr>
          <a:xfrm>
            <a:off x="548640" y="6400800"/>
            <a:ext cx="201168" cy="201168"/>
          </a:xfrm>
          <a:prstGeom prst="rect">
            <a:avLst/>
          </a:prstGeom>
          <a:noFill/>
          <a:ln>
            <a:noFill/>
          </a:ln>
        </p:spPr>
      </p:pic>
      <p:sp>
        <p:nvSpPr>
          <p:cNvPr id="236" name="Google Shape;236;p5"/>
          <p:cNvSpPr txBox="1"/>
          <p:nvPr/>
        </p:nvSpPr>
        <p:spPr>
          <a:xfrm>
            <a:off x="822960" y="6400800"/>
            <a:ext cx="5486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1A237E"/>
                </a:solidFill>
                <a:latin typeface="Calibri"/>
                <a:ea typeface="Calibri"/>
                <a:cs typeface="Calibri"/>
                <a:sym typeface="Calibri"/>
              </a:rPr>
              <a:t>Christopher Hoole  |  christopherhoole.com  |  Confidential</a:t>
            </a:r>
            <a:endParaRPr/>
          </a:p>
        </p:txBody>
      </p:sp>
      <p:sp>
        <p:nvSpPr>
          <p:cNvPr id="237" name="Google Shape;237;p5"/>
          <p:cNvSpPr txBox="1"/>
          <p:nvPr/>
        </p:nvSpPr>
        <p:spPr>
          <a:xfrm>
            <a:off x="11183112" y="6400800"/>
            <a:ext cx="45720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lang="en-US" sz="1100">
                <a:solidFill>
                  <a:srgbClr val="1A237E"/>
                </a:solidFill>
                <a:latin typeface="Calibri"/>
                <a:ea typeface="Calibri"/>
                <a:cs typeface="Calibri"/>
                <a:sym typeface="Calibri"/>
              </a:rPr>
              <a:t>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6"/>
          <p:cNvSpPr/>
          <p:nvPr/>
        </p:nvSpPr>
        <p:spPr>
          <a:xfrm>
            <a:off x="0" y="0"/>
            <a:ext cx="3047695" cy="54864"/>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6"/>
          <p:cNvSpPr/>
          <p:nvPr/>
        </p:nvSpPr>
        <p:spPr>
          <a:xfrm>
            <a:off x="3047695" y="0"/>
            <a:ext cx="3047695" cy="54864"/>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6"/>
          <p:cNvSpPr/>
          <p:nvPr/>
        </p:nvSpPr>
        <p:spPr>
          <a:xfrm>
            <a:off x="6095390" y="0"/>
            <a:ext cx="3047695" cy="54864"/>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6"/>
          <p:cNvSpPr/>
          <p:nvPr/>
        </p:nvSpPr>
        <p:spPr>
          <a:xfrm>
            <a:off x="9143085" y="0"/>
            <a:ext cx="3047695" cy="54864"/>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6"/>
          <p:cNvSpPr txBox="1"/>
          <p:nvPr/>
        </p:nvSpPr>
        <p:spPr>
          <a:xfrm>
            <a:off x="548640" y="274320"/>
            <a:ext cx="6400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1A237E"/>
                </a:solidFill>
                <a:latin typeface="Calibri"/>
                <a:ea typeface="Calibri"/>
                <a:cs typeface="Calibri"/>
                <a:sym typeface="Calibri"/>
              </a:rPr>
              <a:t>PMax Campaign — Rising Waste</a:t>
            </a:r>
            <a:endParaRPr/>
          </a:p>
        </p:txBody>
      </p:sp>
      <p:sp>
        <p:nvSpPr>
          <p:cNvPr id="247" name="Google Shape;247;p6"/>
          <p:cNvSpPr txBox="1"/>
          <p:nvPr/>
        </p:nvSpPr>
        <p:spPr>
          <a:xfrm>
            <a:off x="548640" y="777240"/>
            <a:ext cx="82296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200">
                <a:solidFill>
                  <a:srgbClr val="EA4335"/>
                </a:solidFill>
                <a:latin typeface="Calibri"/>
                <a:ea typeface="Calibri"/>
                <a:cs typeface="Calibri"/>
                <a:sym typeface="Calibri"/>
              </a:rPr>
              <a:t>60% of PMax search term spend in 2026 generated zero conversions, up from 53% in 2025</a:t>
            </a:r>
            <a:endParaRPr sz="1200"/>
          </a:p>
        </p:txBody>
      </p:sp>
      <p:sp>
        <p:nvSpPr>
          <p:cNvPr id="248" name="Google Shape;248;p6"/>
          <p:cNvSpPr/>
          <p:nvPr/>
        </p:nvSpPr>
        <p:spPr>
          <a:xfrm>
            <a:off x="8348472" y="274320"/>
            <a:ext cx="3291840" cy="411480"/>
          </a:xfrm>
          <a:prstGeom prst="rect">
            <a:avLst/>
          </a:prstGeom>
          <a:solidFill>
            <a:srgbClr val="FFFFFF"/>
          </a:solidFill>
          <a:ln cap="flat" cmpd="sng" w="12700">
            <a:solidFill>
              <a:srgbClr val="4285F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6"/>
          <p:cNvSpPr txBox="1"/>
          <p:nvPr/>
        </p:nvSpPr>
        <p:spPr>
          <a:xfrm>
            <a:off x="8439912" y="292608"/>
            <a:ext cx="31089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4285F4"/>
                </a:solidFill>
                <a:latin typeface="Calibri"/>
                <a:ea typeface="Calibri"/>
                <a:cs typeface="Calibri"/>
                <a:sym typeface="Calibri"/>
              </a:rPr>
              <a:t>Performance Max</a:t>
            </a:r>
            <a:endParaRPr sz="1200"/>
          </a:p>
        </p:txBody>
      </p:sp>
      <p:sp>
        <p:nvSpPr>
          <p:cNvPr id="250" name="Google Shape;250;p6"/>
          <p:cNvSpPr/>
          <p:nvPr/>
        </p:nvSpPr>
        <p:spPr>
          <a:xfrm>
            <a:off x="548640" y="1097280"/>
            <a:ext cx="2743200" cy="96012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6"/>
          <p:cNvSpPr/>
          <p:nvPr/>
        </p:nvSpPr>
        <p:spPr>
          <a:xfrm>
            <a:off x="548640" y="1097280"/>
            <a:ext cx="54864" cy="960120"/>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6"/>
          <p:cNvSpPr txBox="1"/>
          <p:nvPr/>
        </p:nvSpPr>
        <p:spPr>
          <a:xfrm>
            <a:off x="731520" y="1188720"/>
            <a:ext cx="24688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4285F4"/>
                </a:solidFill>
                <a:latin typeface="Calibri"/>
                <a:ea typeface="Calibri"/>
                <a:cs typeface="Calibri"/>
                <a:sym typeface="Calibri"/>
              </a:rPr>
              <a:t>£93,550</a:t>
            </a:r>
            <a:endParaRPr/>
          </a:p>
        </p:txBody>
      </p:sp>
      <p:sp>
        <p:nvSpPr>
          <p:cNvPr id="253" name="Google Shape;253;p6"/>
          <p:cNvSpPr txBox="1"/>
          <p:nvPr/>
        </p:nvSpPr>
        <p:spPr>
          <a:xfrm>
            <a:off x="731520" y="1645920"/>
            <a:ext cx="24688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2026 PMax Spend</a:t>
            </a:r>
            <a:endParaRPr/>
          </a:p>
        </p:txBody>
      </p:sp>
      <p:sp>
        <p:nvSpPr>
          <p:cNvPr id="254" name="Google Shape;254;p6"/>
          <p:cNvSpPr/>
          <p:nvPr/>
        </p:nvSpPr>
        <p:spPr>
          <a:xfrm>
            <a:off x="3566160" y="1097280"/>
            <a:ext cx="2743200" cy="96012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6"/>
          <p:cNvSpPr/>
          <p:nvPr/>
        </p:nvSpPr>
        <p:spPr>
          <a:xfrm>
            <a:off x="3566160" y="1097280"/>
            <a:ext cx="54864" cy="960120"/>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6"/>
          <p:cNvSpPr txBox="1"/>
          <p:nvPr/>
        </p:nvSpPr>
        <p:spPr>
          <a:xfrm>
            <a:off x="3749040" y="1188720"/>
            <a:ext cx="24688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FBBC05"/>
                </a:solidFill>
                <a:latin typeface="Calibri"/>
                <a:ea typeface="Calibri"/>
                <a:cs typeface="Calibri"/>
                <a:sym typeface="Calibri"/>
              </a:rPr>
              <a:t>£52</a:t>
            </a:r>
            <a:endParaRPr/>
          </a:p>
        </p:txBody>
      </p:sp>
      <p:sp>
        <p:nvSpPr>
          <p:cNvPr id="257" name="Google Shape;257;p6"/>
          <p:cNvSpPr txBox="1"/>
          <p:nvPr/>
        </p:nvSpPr>
        <p:spPr>
          <a:xfrm>
            <a:off x="3749040" y="1645920"/>
            <a:ext cx="24688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2026 PMax CPA</a:t>
            </a:r>
            <a:endParaRPr/>
          </a:p>
        </p:txBody>
      </p:sp>
      <p:sp>
        <p:nvSpPr>
          <p:cNvPr id="258" name="Google Shape;258;p6"/>
          <p:cNvSpPr/>
          <p:nvPr/>
        </p:nvSpPr>
        <p:spPr>
          <a:xfrm>
            <a:off x="6583680" y="1097280"/>
            <a:ext cx="2743200" cy="96012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6"/>
          <p:cNvSpPr/>
          <p:nvPr/>
        </p:nvSpPr>
        <p:spPr>
          <a:xfrm>
            <a:off x="6583680" y="1097280"/>
            <a:ext cx="54864" cy="96012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6"/>
          <p:cNvSpPr txBox="1"/>
          <p:nvPr/>
        </p:nvSpPr>
        <p:spPr>
          <a:xfrm>
            <a:off x="6766560" y="1188720"/>
            <a:ext cx="24688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EA4335"/>
                </a:solidFill>
                <a:latin typeface="Calibri"/>
                <a:ea typeface="Calibri"/>
                <a:cs typeface="Calibri"/>
                <a:sym typeface="Calibri"/>
              </a:rPr>
              <a:t>£32,072</a:t>
            </a:r>
            <a:endParaRPr/>
          </a:p>
        </p:txBody>
      </p:sp>
      <p:sp>
        <p:nvSpPr>
          <p:cNvPr id="261" name="Google Shape;261;p6"/>
          <p:cNvSpPr txBox="1"/>
          <p:nvPr/>
        </p:nvSpPr>
        <p:spPr>
          <a:xfrm>
            <a:off x="6766560" y="1645920"/>
            <a:ext cx="24688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2026 Zero-Conv ST Spend</a:t>
            </a:r>
            <a:endParaRPr/>
          </a:p>
        </p:txBody>
      </p:sp>
      <p:sp>
        <p:nvSpPr>
          <p:cNvPr id="262" name="Google Shape;262;p6"/>
          <p:cNvSpPr/>
          <p:nvPr/>
        </p:nvSpPr>
        <p:spPr>
          <a:xfrm>
            <a:off x="9601200" y="1097280"/>
            <a:ext cx="2011680" cy="96012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6"/>
          <p:cNvSpPr/>
          <p:nvPr/>
        </p:nvSpPr>
        <p:spPr>
          <a:xfrm>
            <a:off x="9601200" y="1097280"/>
            <a:ext cx="54864" cy="96012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6"/>
          <p:cNvSpPr txBox="1"/>
          <p:nvPr/>
        </p:nvSpPr>
        <p:spPr>
          <a:xfrm>
            <a:off x="9784080" y="1188720"/>
            <a:ext cx="173736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EA4335"/>
                </a:solidFill>
                <a:latin typeface="Calibri"/>
                <a:ea typeface="Calibri"/>
                <a:cs typeface="Calibri"/>
                <a:sym typeface="Calibri"/>
              </a:rPr>
              <a:t>60%</a:t>
            </a:r>
            <a:endParaRPr/>
          </a:p>
        </p:txBody>
      </p:sp>
      <p:sp>
        <p:nvSpPr>
          <p:cNvPr id="265" name="Google Shape;265;p6"/>
          <p:cNvSpPr txBox="1"/>
          <p:nvPr/>
        </p:nvSpPr>
        <p:spPr>
          <a:xfrm>
            <a:off x="9784080" y="1645920"/>
            <a:ext cx="173736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Waste Rate</a:t>
            </a:r>
            <a:endParaRPr/>
          </a:p>
        </p:txBody>
      </p:sp>
      <p:pic>
        <p:nvPicPr>
          <p:cNvPr descr="pmax_waste_yoy.png" id="266" name="Google Shape;266;p6"/>
          <p:cNvPicPr preferRelativeResize="0"/>
          <p:nvPr/>
        </p:nvPicPr>
        <p:blipFill rotWithShape="1">
          <a:blip r:embed="rId3">
            <a:alphaModFix/>
          </a:blip>
          <a:srcRect b="0" l="0" r="0" t="0"/>
          <a:stretch/>
        </p:blipFill>
        <p:spPr>
          <a:xfrm>
            <a:off x="548640" y="2377440"/>
            <a:ext cx="4114800" cy="2743200"/>
          </a:xfrm>
          <a:prstGeom prst="rect">
            <a:avLst/>
          </a:prstGeom>
          <a:noFill/>
          <a:ln>
            <a:noFill/>
          </a:ln>
        </p:spPr>
      </p:pic>
      <p:sp>
        <p:nvSpPr>
          <p:cNvPr id="267" name="Google Shape;267;p6"/>
          <p:cNvSpPr/>
          <p:nvPr/>
        </p:nvSpPr>
        <p:spPr>
          <a:xfrm>
            <a:off x="4937760" y="2377440"/>
            <a:ext cx="6675120" cy="1280160"/>
          </a:xfrm>
          <a:prstGeom prst="rect">
            <a:avLst/>
          </a:prstGeom>
          <a:solidFill>
            <a:srgbClr val="E8F0F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6"/>
          <p:cNvSpPr/>
          <p:nvPr/>
        </p:nvSpPr>
        <p:spPr>
          <a:xfrm>
            <a:off x="4937760" y="2377440"/>
            <a:ext cx="54864" cy="1280160"/>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6"/>
          <p:cNvSpPr txBox="1"/>
          <p:nvPr/>
        </p:nvSpPr>
        <p:spPr>
          <a:xfrm>
            <a:off x="5166360" y="2468880"/>
            <a:ext cx="63093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Why PMax Waste Is High</a:t>
            </a:r>
            <a:endParaRPr/>
          </a:p>
        </p:txBody>
      </p:sp>
      <p:sp>
        <p:nvSpPr>
          <p:cNvPr id="270" name="Google Shape;270;p6"/>
          <p:cNvSpPr txBox="1"/>
          <p:nvPr/>
        </p:nvSpPr>
        <p:spPr>
          <a:xfrm>
            <a:off x="5166360" y="2743200"/>
            <a:ext cx="6309300" cy="845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en-US" sz="1100">
                <a:solidFill>
                  <a:srgbClr val="1A1A1A"/>
                </a:solidFill>
                <a:latin typeface="Calibri"/>
                <a:ea typeface="Calibri"/>
                <a:cs typeface="Calibri"/>
                <a:sym typeface="Calibri"/>
              </a:rPr>
              <a:t>Performance Max campaigns show ads across Search, Display, YouTube, Gmail, and Maps. </a:t>
            </a:r>
            <a:endParaRPr b="0" sz="1100">
              <a:solidFill>
                <a:srgbClr val="1A1A1A"/>
              </a:solidFill>
              <a:latin typeface="Calibri"/>
              <a:ea typeface="Calibri"/>
              <a:cs typeface="Calibri"/>
              <a:sym typeface="Calibri"/>
            </a:endParaRPr>
          </a:p>
          <a:p>
            <a:pPr indent="0" lvl="0" marL="0" marR="0" rtl="0" algn="l">
              <a:lnSpc>
                <a:spcPct val="115000"/>
              </a:lnSpc>
              <a:spcBef>
                <a:spcPts val="0"/>
              </a:spcBef>
              <a:spcAft>
                <a:spcPts val="0"/>
              </a:spcAft>
              <a:buNone/>
            </a:pPr>
            <a:r>
              <a:rPr b="0" lang="en-US" sz="1100">
                <a:solidFill>
                  <a:srgbClr val="1A1A1A"/>
                </a:solidFill>
                <a:latin typeface="Calibri"/>
                <a:ea typeface="Calibri"/>
                <a:cs typeface="Calibri"/>
                <a:sym typeface="Calibri"/>
              </a:rPr>
              <a:t>Many search terms triggered by PMax are broad and irrelevant</a:t>
            </a:r>
            <a:r>
              <a:rPr lang="en-US" sz="1100">
                <a:solidFill>
                  <a:srgbClr val="1A1A1A"/>
                </a:solidFill>
                <a:latin typeface="Calibri"/>
                <a:ea typeface="Calibri"/>
                <a:cs typeface="Calibri"/>
                <a:sym typeface="Calibri"/>
              </a:rPr>
              <a:t>. </a:t>
            </a:r>
            <a:endParaRPr sz="1100">
              <a:solidFill>
                <a:srgbClr val="1A1A1A"/>
              </a:solidFill>
              <a:latin typeface="Calibri"/>
              <a:ea typeface="Calibri"/>
              <a:cs typeface="Calibri"/>
              <a:sym typeface="Calibri"/>
            </a:endParaRPr>
          </a:p>
          <a:p>
            <a:pPr indent="0" lvl="0" marL="0" marR="0" rtl="0" algn="l">
              <a:lnSpc>
                <a:spcPct val="115000"/>
              </a:lnSpc>
              <a:spcBef>
                <a:spcPts val="0"/>
              </a:spcBef>
              <a:spcAft>
                <a:spcPts val="0"/>
              </a:spcAft>
              <a:buNone/>
            </a:pPr>
            <a:r>
              <a:rPr lang="en-US" sz="1100">
                <a:solidFill>
                  <a:srgbClr val="1A1A1A"/>
                </a:solidFill>
                <a:latin typeface="Calibri"/>
                <a:ea typeface="Calibri"/>
                <a:cs typeface="Calibri"/>
                <a:sym typeface="Calibri"/>
              </a:rPr>
              <a:t>B</a:t>
            </a:r>
            <a:r>
              <a:rPr b="0" lang="en-US" sz="1100">
                <a:solidFill>
                  <a:srgbClr val="1A1A1A"/>
                </a:solidFill>
                <a:latin typeface="Calibri"/>
                <a:ea typeface="Calibri"/>
                <a:cs typeface="Calibri"/>
                <a:sym typeface="Calibri"/>
              </a:rPr>
              <a:t>ut unlike Search campaigns, you have limited control over which terms PMax targets. </a:t>
            </a:r>
            <a:endParaRPr b="0" sz="1100">
              <a:solidFill>
                <a:srgbClr val="1A1A1A"/>
              </a:solidFill>
              <a:latin typeface="Calibri"/>
              <a:ea typeface="Calibri"/>
              <a:cs typeface="Calibri"/>
              <a:sym typeface="Calibri"/>
            </a:endParaRPr>
          </a:p>
          <a:p>
            <a:pPr indent="0" lvl="0" marL="0" marR="0" rtl="0" algn="l">
              <a:lnSpc>
                <a:spcPct val="115000"/>
              </a:lnSpc>
              <a:spcBef>
                <a:spcPts val="0"/>
              </a:spcBef>
              <a:spcAft>
                <a:spcPts val="0"/>
              </a:spcAft>
              <a:buNone/>
            </a:pPr>
            <a:r>
              <a:rPr b="0" lang="en-US" sz="1100">
                <a:solidFill>
                  <a:srgbClr val="1A1A1A"/>
                </a:solidFill>
                <a:latin typeface="Calibri"/>
                <a:ea typeface="Calibri"/>
                <a:cs typeface="Calibri"/>
                <a:sym typeface="Calibri"/>
              </a:rPr>
              <a:t>Negative keywords can only be applied at account level for PMax.</a:t>
            </a:r>
            <a:endParaRPr/>
          </a:p>
        </p:txBody>
      </p:sp>
      <p:sp>
        <p:nvSpPr>
          <p:cNvPr id="271" name="Google Shape;271;p6"/>
          <p:cNvSpPr/>
          <p:nvPr/>
        </p:nvSpPr>
        <p:spPr>
          <a:xfrm>
            <a:off x="4937760" y="3840480"/>
            <a:ext cx="6675120" cy="1280160"/>
          </a:xfrm>
          <a:prstGeom prst="rect">
            <a:avLst/>
          </a:prstGeom>
          <a:solidFill>
            <a:srgbClr val="FCE8E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2" name="Google Shape;272;p6"/>
          <p:cNvSpPr/>
          <p:nvPr/>
        </p:nvSpPr>
        <p:spPr>
          <a:xfrm>
            <a:off x="4937760" y="3840480"/>
            <a:ext cx="54864" cy="128016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6"/>
          <p:cNvSpPr txBox="1"/>
          <p:nvPr/>
        </p:nvSpPr>
        <p:spPr>
          <a:xfrm>
            <a:off x="5166360" y="3931920"/>
            <a:ext cx="63093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The Concern</a:t>
            </a:r>
            <a:endParaRPr/>
          </a:p>
        </p:txBody>
      </p:sp>
      <p:sp>
        <p:nvSpPr>
          <p:cNvPr id="274" name="Google Shape;274;p6"/>
          <p:cNvSpPr txBox="1"/>
          <p:nvPr/>
        </p:nvSpPr>
        <p:spPr>
          <a:xfrm>
            <a:off x="5166360" y="4206240"/>
            <a:ext cx="63093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PMax CPA has risen from £26 in 2025 to £52 in 2026</a:t>
            </a:r>
            <a:r>
              <a:rPr lang="en-US" sz="1200">
                <a:solidFill>
                  <a:srgbClr val="1A1A1A"/>
                </a:solidFill>
                <a:latin typeface="Calibri"/>
                <a:ea typeface="Calibri"/>
                <a:cs typeface="Calibri"/>
                <a:sym typeface="Calibri"/>
              </a:rPr>
              <a:t>,</a:t>
            </a:r>
            <a:r>
              <a:rPr b="0" lang="en-US" sz="1200">
                <a:solidFill>
                  <a:srgbClr val="1A1A1A"/>
                </a:solidFill>
                <a:latin typeface="Calibri"/>
                <a:ea typeface="Calibri"/>
                <a:cs typeface="Calibri"/>
                <a:sym typeface="Calibri"/>
              </a:rPr>
              <a:t> a 101% increase. </a:t>
            </a:r>
            <a:endParaRPr b="0" sz="1200">
              <a:solidFill>
                <a:srgbClr val="1A1A1A"/>
              </a:solidFill>
              <a:latin typeface="Calibri"/>
              <a:ea typeface="Calibri"/>
              <a:cs typeface="Calibri"/>
              <a:sym typeface="Calibri"/>
            </a:endParaRPr>
          </a:p>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As the campaign scales, it's reaching into less relevant search territory. </a:t>
            </a:r>
            <a:endParaRPr b="0" sz="1200">
              <a:solidFill>
                <a:srgbClr val="1A1A1A"/>
              </a:solidFill>
              <a:latin typeface="Calibri"/>
              <a:ea typeface="Calibri"/>
              <a:cs typeface="Calibri"/>
              <a:sym typeface="Calibri"/>
            </a:endParaRPr>
          </a:p>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The account-level negative keyword lists (currently 784 broad match) need a full audit to protect PMax from irrelevant traffic.</a:t>
            </a:r>
            <a:endParaRPr sz="1200"/>
          </a:p>
        </p:txBody>
      </p:sp>
      <p:sp>
        <p:nvSpPr>
          <p:cNvPr id="275" name="Google Shape;275;p6"/>
          <p:cNvSpPr/>
          <p:nvPr/>
        </p:nvSpPr>
        <p:spPr>
          <a:xfrm>
            <a:off x="548640" y="6327648"/>
            <a:ext cx="2770632" cy="27432"/>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6"/>
          <p:cNvSpPr/>
          <p:nvPr/>
        </p:nvSpPr>
        <p:spPr>
          <a:xfrm>
            <a:off x="3319272" y="6327648"/>
            <a:ext cx="2770632" cy="27432"/>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6"/>
          <p:cNvSpPr/>
          <p:nvPr/>
        </p:nvSpPr>
        <p:spPr>
          <a:xfrm>
            <a:off x="6099048" y="6327648"/>
            <a:ext cx="2770632" cy="27432"/>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6"/>
          <p:cNvSpPr/>
          <p:nvPr/>
        </p:nvSpPr>
        <p:spPr>
          <a:xfrm>
            <a:off x="8869680" y="6327648"/>
            <a:ext cx="2770632" cy="27432"/>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act_logo_official.png" id="279" name="Google Shape;279;p6"/>
          <p:cNvPicPr preferRelativeResize="0"/>
          <p:nvPr/>
        </p:nvPicPr>
        <p:blipFill rotWithShape="1">
          <a:blip r:embed="rId4">
            <a:alphaModFix/>
          </a:blip>
          <a:srcRect b="0" l="0" r="0" t="0"/>
          <a:stretch/>
        </p:blipFill>
        <p:spPr>
          <a:xfrm>
            <a:off x="548640" y="6400800"/>
            <a:ext cx="201168" cy="201168"/>
          </a:xfrm>
          <a:prstGeom prst="rect">
            <a:avLst/>
          </a:prstGeom>
          <a:noFill/>
          <a:ln>
            <a:noFill/>
          </a:ln>
        </p:spPr>
      </p:pic>
      <p:sp>
        <p:nvSpPr>
          <p:cNvPr id="280" name="Google Shape;280;p6"/>
          <p:cNvSpPr txBox="1"/>
          <p:nvPr/>
        </p:nvSpPr>
        <p:spPr>
          <a:xfrm>
            <a:off x="822960" y="6400800"/>
            <a:ext cx="5486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1A237E"/>
                </a:solidFill>
                <a:latin typeface="Calibri"/>
                <a:ea typeface="Calibri"/>
                <a:cs typeface="Calibri"/>
                <a:sym typeface="Calibri"/>
              </a:rPr>
              <a:t>Christopher Hoole  |  christopherhoole.com  |  Confidential</a:t>
            </a:r>
            <a:endParaRPr/>
          </a:p>
        </p:txBody>
      </p:sp>
      <p:sp>
        <p:nvSpPr>
          <p:cNvPr id="281" name="Google Shape;281;p6"/>
          <p:cNvSpPr txBox="1"/>
          <p:nvPr/>
        </p:nvSpPr>
        <p:spPr>
          <a:xfrm>
            <a:off x="11183112" y="6400800"/>
            <a:ext cx="45720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lang="en-US" sz="1100">
                <a:solidFill>
                  <a:srgbClr val="1A237E"/>
                </a:solidFill>
                <a:latin typeface="Calibri"/>
                <a:ea typeface="Calibri"/>
                <a:cs typeface="Calibri"/>
                <a:sym typeface="Calibri"/>
              </a:rPr>
              <a:t>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5" name="Shape 285"/>
        <p:cNvGrpSpPr/>
        <p:nvPr/>
      </p:nvGrpSpPr>
      <p:grpSpPr>
        <a:xfrm>
          <a:off x="0" y="0"/>
          <a:ext cx="0" cy="0"/>
          <a:chOff x="0" y="0"/>
          <a:chExt cx="0" cy="0"/>
        </a:xfrm>
      </p:grpSpPr>
      <p:sp>
        <p:nvSpPr>
          <p:cNvPr id="286" name="Google Shape;286;p7"/>
          <p:cNvSpPr/>
          <p:nvPr/>
        </p:nvSpPr>
        <p:spPr>
          <a:xfrm>
            <a:off x="0" y="0"/>
            <a:ext cx="3047695" cy="54864"/>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7"/>
          <p:cNvSpPr/>
          <p:nvPr/>
        </p:nvSpPr>
        <p:spPr>
          <a:xfrm>
            <a:off x="3047695" y="0"/>
            <a:ext cx="3047695" cy="54864"/>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7"/>
          <p:cNvSpPr/>
          <p:nvPr/>
        </p:nvSpPr>
        <p:spPr>
          <a:xfrm>
            <a:off x="6095390" y="0"/>
            <a:ext cx="3047695" cy="54864"/>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7"/>
          <p:cNvSpPr/>
          <p:nvPr/>
        </p:nvSpPr>
        <p:spPr>
          <a:xfrm>
            <a:off x="9143085" y="0"/>
            <a:ext cx="3047695" cy="54864"/>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7"/>
          <p:cNvSpPr txBox="1"/>
          <p:nvPr/>
        </p:nvSpPr>
        <p:spPr>
          <a:xfrm>
            <a:off x="548640" y="274320"/>
            <a:ext cx="6400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1A237E"/>
                </a:solidFill>
                <a:latin typeface="Calibri"/>
                <a:ea typeface="Calibri"/>
                <a:cs typeface="Calibri"/>
                <a:sym typeface="Calibri"/>
              </a:rPr>
              <a:t>Keyword Inefficiency</a:t>
            </a:r>
            <a:endParaRPr/>
          </a:p>
        </p:txBody>
      </p:sp>
      <p:sp>
        <p:nvSpPr>
          <p:cNvPr id="291" name="Google Shape;291;p7"/>
          <p:cNvSpPr txBox="1"/>
          <p:nvPr/>
        </p:nvSpPr>
        <p:spPr>
          <a:xfrm>
            <a:off x="548640" y="777240"/>
            <a:ext cx="82296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200">
                <a:solidFill>
                  <a:srgbClr val="EA4335"/>
                </a:solidFill>
                <a:latin typeface="Calibri"/>
                <a:ea typeface="Calibri"/>
                <a:cs typeface="Calibri"/>
                <a:sym typeface="Calibri"/>
              </a:rPr>
              <a:t>Zero-conv waste: £3,296 (2025) + £2,402 (2026)  |  High-CPA keywords: £4,118 (2025) + £14,959 (2026)</a:t>
            </a:r>
            <a:endParaRPr sz="1200"/>
          </a:p>
        </p:txBody>
      </p:sp>
      <p:sp>
        <p:nvSpPr>
          <p:cNvPr id="292" name="Google Shape;292;p7"/>
          <p:cNvSpPr/>
          <p:nvPr/>
        </p:nvSpPr>
        <p:spPr>
          <a:xfrm>
            <a:off x="8348472" y="274320"/>
            <a:ext cx="3291840" cy="411480"/>
          </a:xfrm>
          <a:prstGeom prst="rect">
            <a:avLst/>
          </a:prstGeom>
          <a:solidFill>
            <a:srgbClr val="FFFFFF"/>
          </a:solidFill>
          <a:ln cap="flat" cmpd="sng" w="12700">
            <a:solidFill>
              <a:srgbClr val="4285F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7"/>
          <p:cNvSpPr txBox="1"/>
          <p:nvPr/>
        </p:nvSpPr>
        <p:spPr>
          <a:xfrm>
            <a:off x="8439912" y="292608"/>
            <a:ext cx="31089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4285F4"/>
                </a:solidFill>
                <a:latin typeface="Calibri"/>
                <a:ea typeface="Calibri"/>
                <a:cs typeface="Calibri"/>
                <a:sym typeface="Calibri"/>
              </a:rPr>
              <a:t>High-CPA Keywords</a:t>
            </a:r>
            <a:endParaRPr sz="1200"/>
          </a:p>
        </p:txBody>
      </p:sp>
      <p:sp>
        <p:nvSpPr>
          <p:cNvPr id="294" name="Google Shape;294;p7"/>
          <p:cNvSpPr txBox="1"/>
          <p:nvPr/>
        </p:nvSpPr>
        <p:spPr>
          <a:xfrm>
            <a:off x="548640" y="1097280"/>
            <a:ext cx="530352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Angle 1: Zero Conversions</a:t>
            </a:r>
            <a:endParaRPr/>
          </a:p>
        </p:txBody>
      </p:sp>
      <p:graphicFrame>
        <p:nvGraphicFramePr>
          <p:cNvPr id="295" name="Google Shape;295;p7"/>
          <p:cNvGraphicFramePr/>
          <p:nvPr/>
        </p:nvGraphicFramePr>
        <p:xfrm>
          <a:off x="548640" y="1417320"/>
          <a:ext cx="3000000" cy="3000000"/>
        </p:xfrm>
        <a:graphic>
          <a:graphicData uri="http://schemas.openxmlformats.org/drawingml/2006/table">
            <a:tbl>
              <a:tblPr bandRow="1" firstRow="1">
                <a:noFill/>
                <a:tableStyleId>{D63477AD-CC91-4D8A-8B12-AFA7241523EF}</a:tableStyleId>
              </a:tblPr>
              <a:tblGrid>
                <a:gridCol w="3474725"/>
                <a:gridCol w="914400"/>
                <a:gridCol w="914400"/>
              </a:tblGrid>
              <a:tr h="254000">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Keyword</a:t>
                      </a:r>
                      <a:endParaRPr/>
                    </a:p>
                  </a:txBody>
                  <a:tcPr marT="45725" marB="45725" marR="91450" marL="91450">
                    <a:solidFill>
                      <a:srgbClr val="1A237E"/>
                    </a:solidFill>
                  </a:tcPr>
                </a:tc>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Spend</a:t>
                      </a:r>
                      <a:endParaRPr/>
                    </a:p>
                  </a:txBody>
                  <a:tcPr marT="45725" marB="45725" marR="91450" marL="91450">
                    <a:solidFill>
                      <a:srgbClr val="1A237E"/>
                    </a:solidFill>
                  </a:tcPr>
                </a:tc>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Clicks</a:t>
                      </a:r>
                      <a:endParaRPr/>
                    </a:p>
                  </a:txBody>
                  <a:tcPr marT="45725" marB="45725" marR="91450" marL="91450">
                    <a:solidFill>
                      <a:srgbClr val="1A237E"/>
                    </a:solidFill>
                  </a:tcPr>
                </a:tc>
              </a:tr>
              <a:tr h="25400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[all in one day dental implants]</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£335</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33</a:t>
                      </a:r>
                      <a:endParaRPr/>
                    </a:p>
                  </a:txBody>
                  <a:tcPr marT="45725" marB="45725" marR="91450" marL="91450">
                    <a:solidFill>
                      <a:srgbClr val="F5F6FA"/>
                    </a:solidFill>
                  </a:tcPr>
                </a:tc>
              </a:tr>
              <a:tr h="25400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[low cost full dental implants]</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£198</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13</a:t>
                      </a:r>
                      <a:endParaRPr/>
                    </a:p>
                  </a:txBody>
                  <a:tcPr marT="45725" marB="45725" marR="91450" marL="91450">
                    <a:solidFill>
                      <a:srgbClr val="FFFFFF"/>
                    </a:solidFill>
                  </a:tcPr>
                </a:tc>
              </a:tr>
              <a:tr h="25400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[cheap all on 4 dental implants]</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£181</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12</a:t>
                      </a:r>
                      <a:endParaRPr/>
                    </a:p>
                  </a:txBody>
                  <a:tcPr marT="45725" marB="45725" marR="91450" marL="91450">
                    <a:solidFill>
                      <a:srgbClr val="F5F6FA"/>
                    </a:solidFill>
                  </a:tcPr>
                </a:tc>
              </a:tr>
              <a:tr h="25400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[all on 4 dental implants price]</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£142</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21</a:t>
                      </a:r>
                      <a:endParaRPr/>
                    </a:p>
                  </a:txBody>
                  <a:tcPr marT="45725" marB="45725" marR="91450" marL="91450">
                    <a:solidFill>
                      <a:srgbClr val="FFFFFF"/>
                    </a:solidFill>
                  </a:tcPr>
                </a:tc>
              </a:tr>
              <a:tr h="25400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[get new teeth]</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£113</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14</a:t>
                      </a:r>
                      <a:endParaRPr/>
                    </a:p>
                  </a:txBody>
                  <a:tcPr marT="45725" marB="45725" marR="91450" marL="91450">
                    <a:solidFill>
                      <a:srgbClr val="F5F6FA"/>
                    </a:solidFill>
                  </a:tcPr>
                </a:tc>
              </a:tr>
              <a:tr h="25400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[best way to replace teeth]</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£97</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17</a:t>
                      </a:r>
                      <a:endParaRPr/>
                    </a:p>
                  </a:txBody>
                  <a:tcPr marT="45725" marB="45725" marR="91450" marL="91450">
                    <a:solidFill>
                      <a:srgbClr val="FFFFFF"/>
                    </a:solidFill>
                  </a:tcPr>
                </a:tc>
              </a:tr>
              <a:tr h="25400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implants for the whole mouth]</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£89</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8</a:t>
                      </a:r>
                      <a:endParaRPr/>
                    </a:p>
                  </a:txBody>
                  <a:tcPr marT="45725" marB="45725" marR="91450" marL="91450">
                    <a:solidFill>
                      <a:srgbClr val="F5F6FA"/>
                    </a:solidFill>
                  </a:tcPr>
                </a:tc>
              </a:tr>
              <a:tr h="25400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[getting full dental implants]</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£84</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7</a:t>
                      </a:r>
                      <a:endParaRPr/>
                    </a:p>
                  </a:txBody>
                  <a:tcPr marT="45725" marB="45725" marR="91450" marL="91450">
                    <a:solidFill>
                      <a:srgbClr val="FFFFFF"/>
                    </a:solidFill>
                  </a:tcPr>
                </a:tc>
              </a:tr>
            </a:tbl>
          </a:graphicData>
        </a:graphic>
      </p:graphicFrame>
      <p:sp>
        <p:nvSpPr>
          <p:cNvPr id="296" name="Google Shape;296;p7"/>
          <p:cNvSpPr txBox="1"/>
          <p:nvPr/>
        </p:nvSpPr>
        <p:spPr>
          <a:xfrm>
            <a:off x="6217920" y="1097280"/>
            <a:ext cx="530352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Angle 2: CPA Above £150</a:t>
            </a:r>
            <a:endParaRPr/>
          </a:p>
        </p:txBody>
      </p:sp>
      <p:graphicFrame>
        <p:nvGraphicFramePr>
          <p:cNvPr id="297" name="Google Shape;297;p7"/>
          <p:cNvGraphicFramePr/>
          <p:nvPr/>
        </p:nvGraphicFramePr>
        <p:xfrm>
          <a:off x="6217920" y="1417320"/>
          <a:ext cx="3000000" cy="3000000"/>
        </p:xfrm>
        <a:graphic>
          <a:graphicData uri="http://schemas.openxmlformats.org/drawingml/2006/table">
            <a:tbl>
              <a:tblPr bandRow="1" firstRow="1">
                <a:noFill/>
                <a:tableStyleId>{D63477AD-CC91-4D8A-8B12-AFA7241523EF}</a:tableStyleId>
              </a:tblPr>
              <a:tblGrid>
                <a:gridCol w="2743200"/>
                <a:gridCol w="914400"/>
                <a:gridCol w="640075"/>
                <a:gridCol w="1005850"/>
              </a:tblGrid>
              <a:tr h="254000">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Keyword</a:t>
                      </a:r>
                      <a:endParaRPr/>
                    </a:p>
                  </a:txBody>
                  <a:tcPr marT="45725" marB="45725" marR="91450" marL="91450">
                    <a:solidFill>
                      <a:srgbClr val="1A237E"/>
                    </a:solidFill>
                  </a:tcPr>
                </a:tc>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Spend</a:t>
                      </a:r>
                      <a:endParaRPr/>
                    </a:p>
                  </a:txBody>
                  <a:tcPr marT="45725" marB="45725" marR="91450" marL="91450">
                    <a:solidFill>
                      <a:srgbClr val="1A237E"/>
                    </a:solidFill>
                  </a:tcPr>
                </a:tc>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Conv</a:t>
                      </a:r>
                      <a:endParaRPr/>
                    </a:p>
                  </a:txBody>
                  <a:tcPr marT="45725" marB="45725" marR="91450" marL="91450">
                    <a:solidFill>
                      <a:srgbClr val="1A237E"/>
                    </a:solidFill>
                  </a:tcPr>
                </a:tc>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CPA</a:t>
                      </a:r>
                      <a:endParaRPr/>
                    </a:p>
                  </a:txBody>
                  <a:tcPr marT="45725" marB="45725" marR="91450" marL="91450">
                    <a:solidFill>
                      <a:srgbClr val="1A237E"/>
                    </a:solidFill>
                  </a:tcPr>
                </a:tc>
              </a:tr>
              <a:tr h="25400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replacement near me]</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£5,224</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31</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£170</a:t>
                      </a:r>
                      <a:endParaRPr/>
                    </a:p>
                  </a:txBody>
                  <a:tcPr marT="45725" marB="45725" marR="91450" marL="91450">
                    <a:solidFill>
                      <a:srgbClr val="F5F6FA"/>
                    </a:solidFill>
                  </a:tcPr>
                </a:tc>
              </a:tr>
              <a:tr h="25400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[all on 4 implants]</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£2,806</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16</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£175</a:t>
                      </a:r>
                      <a:endParaRPr/>
                    </a:p>
                  </a:txBody>
                  <a:tcPr marT="45725" marB="45725" marR="91450" marL="91450">
                    <a:solidFill>
                      <a:srgbClr val="FFFFFF"/>
                    </a:solidFill>
                  </a:tcPr>
                </a:tc>
              </a:tr>
              <a:tr h="25400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[dental implants close to me]</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£2,463</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15</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£160</a:t>
                      </a:r>
                      <a:endParaRPr/>
                    </a:p>
                  </a:txBody>
                  <a:tcPr marT="45725" marB="45725" marR="91450" marL="91450">
                    <a:solidFill>
                      <a:srgbClr val="F5F6FA"/>
                    </a:solidFill>
                  </a:tcPr>
                </a:tc>
              </a:tr>
              <a:tr h="25400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[cheap full dental implants]</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£796</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4</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£199</a:t>
                      </a:r>
                      <a:endParaRPr/>
                    </a:p>
                  </a:txBody>
                  <a:tcPr marT="45725" marB="45725" marR="91450" marL="91450">
                    <a:solidFill>
                      <a:srgbClr val="FFFFFF"/>
                    </a:solidFill>
                  </a:tcPr>
                </a:tc>
              </a:tr>
              <a:tr h="25400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[all 4 on one dental implants]</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£778</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3</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£259</a:t>
                      </a:r>
                      <a:endParaRPr/>
                    </a:p>
                  </a:txBody>
                  <a:tcPr marT="45725" marB="45725" marR="91450" marL="91450">
                    <a:solidFill>
                      <a:srgbClr val="F5F6FA"/>
                    </a:solidFill>
                  </a:tcPr>
                </a:tc>
              </a:tr>
              <a:tr h="25400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[replace all teeth]</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£472</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2</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£189</a:t>
                      </a:r>
                      <a:endParaRPr/>
                    </a:p>
                  </a:txBody>
                  <a:tcPr marT="45725" marB="45725" marR="91450" marL="91450">
                    <a:solidFill>
                      <a:srgbClr val="FFFFFF"/>
                    </a:solidFill>
                  </a:tcPr>
                </a:tc>
              </a:tr>
              <a:tr h="25400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[low cost dental implants in my area]</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£321</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2</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£161</a:t>
                      </a:r>
                      <a:endParaRPr/>
                    </a:p>
                  </a:txBody>
                  <a:tcPr marT="45725" marB="45725" marR="91450" marL="91450">
                    <a:solidFill>
                      <a:srgbClr val="F5F6FA"/>
                    </a:solidFill>
                  </a:tcPr>
                </a:tc>
              </a:tr>
              <a:tr h="254000">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[price of all on four dental implants]</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£318</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£318</a:t>
                      </a:r>
                      <a:endParaRPr/>
                    </a:p>
                  </a:txBody>
                  <a:tcPr marT="45725" marB="45725" marR="91450" marL="91450">
                    <a:solidFill>
                      <a:srgbClr val="FFFFFF"/>
                    </a:solidFill>
                  </a:tcPr>
                </a:tc>
              </a:tr>
            </a:tbl>
          </a:graphicData>
        </a:graphic>
      </p:graphicFrame>
      <p:sp>
        <p:nvSpPr>
          <p:cNvPr id="298" name="Google Shape;298;p7"/>
          <p:cNvSpPr/>
          <p:nvPr/>
        </p:nvSpPr>
        <p:spPr>
          <a:xfrm>
            <a:off x="548640" y="3931920"/>
            <a:ext cx="5303520" cy="1828800"/>
          </a:xfrm>
          <a:prstGeom prst="rect">
            <a:avLst/>
          </a:prstGeom>
          <a:solidFill>
            <a:srgbClr val="FCE8E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7"/>
          <p:cNvSpPr/>
          <p:nvPr/>
        </p:nvSpPr>
        <p:spPr>
          <a:xfrm>
            <a:off x="548640" y="3931920"/>
            <a:ext cx="54864" cy="182880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7"/>
          <p:cNvSpPr txBox="1"/>
          <p:nvPr/>
        </p:nvSpPr>
        <p:spPr>
          <a:xfrm>
            <a:off x="777240" y="4023360"/>
            <a:ext cx="49377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Zero-Conv Keywords: Both Years</a:t>
            </a:r>
            <a:endParaRPr/>
          </a:p>
        </p:txBody>
      </p:sp>
      <p:sp>
        <p:nvSpPr>
          <p:cNvPr id="301" name="Google Shape;301;p7"/>
          <p:cNvSpPr txBox="1"/>
          <p:nvPr/>
        </p:nvSpPr>
        <p:spPr>
          <a:xfrm>
            <a:off x="650775" y="4297675"/>
            <a:ext cx="5064300" cy="831000"/>
          </a:xfrm>
          <a:prstGeom prst="rect">
            <a:avLst/>
          </a:prstGeom>
          <a:noFill/>
          <a:ln>
            <a:noFill/>
          </a:ln>
        </p:spPr>
        <p:txBody>
          <a:bodyPr anchorCtr="0" anchor="t" bIns="45700" lIns="91425" spcFirstLastPara="1" rIns="91425" wrap="square" tIns="45700">
            <a:spAutoFit/>
          </a:bodyPr>
          <a:lstStyle/>
          <a:p>
            <a:pPr indent="-304800" lvl="0" marL="457200" marR="0" rtl="0" algn="l">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2025: 76 keywords, £3,296 wasted</a:t>
            </a:r>
            <a:endParaRPr sz="1200">
              <a:solidFill>
                <a:srgbClr val="1A1A1A"/>
              </a:solidFill>
              <a:latin typeface="Calibri"/>
              <a:ea typeface="Calibri"/>
              <a:cs typeface="Calibri"/>
              <a:sym typeface="Calibri"/>
            </a:endParaRPr>
          </a:p>
          <a:p>
            <a:pPr indent="-304800" lvl="0" marL="457200" marR="0" rtl="0" algn="l">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2026: 53 keywords, £2,402 wasted</a:t>
            </a:r>
            <a:br>
              <a:rPr b="0" lang="en-US" sz="1200">
                <a:solidFill>
                  <a:srgbClr val="1A1A1A"/>
                </a:solidFill>
                <a:latin typeface="Calibri"/>
                <a:ea typeface="Calibri"/>
                <a:cs typeface="Calibri"/>
                <a:sym typeface="Calibri"/>
              </a:rPr>
            </a:br>
            <a:br>
              <a:rPr b="0" lang="en-US" sz="1200">
                <a:solidFill>
                  <a:srgbClr val="1A1A1A"/>
                </a:solidFill>
                <a:latin typeface="Calibri"/>
                <a:ea typeface="Calibri"/>
                <a:cs typeface="Calibri"/>
                <a:sym typeface="Calibri"/>
              </a:rPr>
            </a:br>
            <a:r>
              <a:rPr b="0" lang="en-US" sz="1200">
                <a:solidFill>
                  <a:srgbClr val="1A1A1A"/>
                </a:solidFill>
                <a:latin typeface="Calibri"/>
                <a:ea typeface="Calibri"/>
                <a:cs typeface="Calibri"/>
                <a:sym typeface="Calibri"/>
              </a:rPr>
              <a:t>These should be paused and budget redirected to converting keywords.</a:t>
            </a:r>
            <a:endParaRPr sz="1200"/>
          </a:p>
        </p:txBody>
      </p:sp>
      <p:sp>
        <p:nvSpPr>
          <p:cNvPr id="302" name="Google Shape;302;p7"/>
          <p:cNvSpPr/>
          <p:nvPr/>
        </p:nvSpPr>
        <p:spPr>
          <a:xfrm>
            <a:off x="6217920" y="3931920"/>
            <a:ext cx="5303520" cy="1828800"/>
          </a:xfrm>
          <a:prstGeom prst="rect">
            <a:avLst/>
          </a:prstGeom>
          <a:solidFill>
            <a:srgbClr val="F5F6F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7"/>
          <p:cNvSpPr/>
          <p:nvPr/>
        </p:nvSpPr>
        <p:spPr>
          <a:xfrm>
            <a:off x="6217920" y="3931920"/>
            <a:ext cx="54864" cy="1828800"/>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7"/>
          <p:cNvSpPr txBox="1"/>
          <p:nvPr/>
        </p:nvSpPr>
        <p:spPr>
          <a:xfrm>
            <a:off x="6446520" y="4023360"/>
            <a:ext cx="49377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High-CPA Keywords: Both Years</a:t>
            </a:r>
            <a:endParaRPr/>
          </a:p>
        </p:txBody>
      </p:sp>
      <p:sp>
        <p:nvSpPr>
          <p:cNvPr id="305" name="Google Shape;305;p7"/>
          <p:cNvSpPr txBox="1"/>
          <p:nvPr/>
        </p:nvSpPr>
        <p:spPr>
          <a:xfrm>
            <a:off x="6319975" y="4297675"/>
            <a:ext cx="5064300" cy="1015800"/>
          </a:xfrm>
          <a:prstGeom prst="rect">
            <a:avLst/>
          </a:prstGeom>
          <a:noFill/>
          <a:ln>
            <a:noFill/>
          </a:ln>
        </p:spPr>
        <p:txBody>
          <a:bodyPr anchorCtr="0" anchor="t" bIns="45700" lIns="91425" spcFirstLastPara="1" rIns="91425" wrap="square" tIns="45700">
            <a:spAutoFit/>
          </a:bodyPr>
          <a:lstStyle/>
          <a:p>
            <a:pPr indent="-304800" lvl="0" marL="457200" marR="0" rtl="0" algn="l">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2025: 12 keywords at £150+ CPA, £4,118 spent</a:t>
            </a:r>
            <a:endParaRPr sz="1200">
              <a:solidFill>
                <a:srgbClr val="1A1A1A"/>
              </a:solidFill>
              <a:latin typeface="Calibri"/>
              <a:ea typeface="Calibri"/>
              <a:cs typeface="Calibri"/>
              <a:sym typeface="Calibri"/>
            </a:endParaRPr>
          </a:p>
          <a:p>
            <a:pPr indent="-304800" lvl="0" marL="457200" marR="0" rtl="0" algn="l">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2026: 17 keywords at £150+ CPA, £14,959 spent</a:t>
            </a:r>
            <a:br>
              <a:rPr b="0" lang="en-US" sz="1200">
                <a:solidFill>
                  <a:srgbClr val="1A1A1A"/>
                </a:solidFill>
                <a:latin typeface="Calibri"/>
                <a:ea typeface="Calibri"/>
                <a:cs typeface="Calibri"/>
                <a:sym typeface="Calibri"/>
              </a:rPr>
            </a:br>
            <a:br>
              <a:rPr b="0" lang="en-US" sz="1200">
                <a:solidFill>
                  <a:srgbClr val="1A1A1A"/>
                </a:solidFill>
                <a:latin typeface="Calibri"/>
                <a:ea typeface="Calibri"/>
                <a:cs typeface="Calibri"/>
                <a:sym typeface="Calibri"/>
              </a:rPr>
            </a:br>
            <a:r>
              <a:rPr b="0" lang="en-US" sz="1200">
                <a:solidFill>
                  <a:srgbClr val="1A1A1A"/>
                </a:solidFill>
                <a:latin typeface="Calibri"/>
                <a:ea typeface="Calibri"/>
                <a:cs typeface="Calibri"/>
                <a:sym typeface="Calibri"/>
              </a:rPr>
              <a:t>The problem is growing — 3.6x more spend on high-CPA keywords in 2026.</a:t>
            </a:r>
            <a:endParaRPr sz="1200"/>
          </a:p>
        </p:txBody>
      </p:sp>
      <p:sp>
        <p:nvSpPr>
          <p:cNvPr id="306" name="Google Shape;306;p7"/>
          <p:cNvSpPr/>
          <p:nvPr/>
        </p:nvSpPr>
        <p:spPr>
          <a:xfrm>
            <a:off x="548640" y="6327648"/>
            <a:ext cx="2770632" cy="27432"/>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7"/>
          <p:cNvSpPr/>
          <p:nvPr/>
        </p:nvSpPr>
        <p:spPr>
          <a:xfrm>
            <a:off x="3319272" y="6327648"/>
            <a:ext cx="2770632" cy="27432"/>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7"/>
          <p:cNvSpPr/>
          <p:nvPr/>
        </p:nvSpPr>
        <p:spPr>
          <a:xfrm>
            <a:off x="6099048" y="6327648"/>
            <a:ext cx="2770632" cy="27432"/>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7"/>
          <p:cNvSpPr/>
          <p:nvPr/>
        </p:nvSpPr>
        <p:spPr>
          <a:xfrm>
            <a:off x="8869680" y="6327648"/>
            <a:ext cx="2770632" cy="27432"/>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act_logo_official.png" id="310" name="Google Shape;310;p7"/>
          <p:cNvPicPr preferRelativeResize="0"/>
          <p:nvPr/>
        </p:nvPicPr>
        <p:blipFill rotWithShape="1">
          <a:blip r:embed="rId3">
            <a:alphaModFix/>
          </a:blip>
          <a:srcRect b="0" l="0" r="0" t="0"/>
          <a:stretch/>
        </p:blipFill>
        <p:spPr>
          <a:xfrm>
            <a:off x="548640" y="6400800"/>
            <a:ext cx="201168" cy="201168"/>
          </a:xfrm>
          <a:prstGeom prst="rect">
            <a:avLst/>
          </a:prstGeom>
          <a:noFill/>
          <a:ln>
            <a:noFill/>
          </a:ln>
        </p:spPr>
      </p:pic>
      <p:sp>
        <p:nvSpPr>
          <p:cNvPr id="311" name="Google Shape;311;p7"/>
          <p:cNvSpPr txBox="1"/>
          <p:nvPr/>
        </p:nvSpPr>
        <p:spPr>
          <a:xfrm>
            <a:off x="822960" y="6400800"/>
            <a:ext cx="5486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1A237E"/>
                </a:solidFill>
                <a:latin typeface="Calibri"/>
                <a:ea typeface="Calibri"/>
                <a:cs typeface="Calibri"/>
                <a:sym typeface="Calibri"/>
              </a:rPr>
              <a:t>Christopher Hoole  |  christopherhoole.com  |  Confidential</a:t>
            </a:r>
            <a:endParaRPr/>
          </a:p>
        </p:txBody>
      </p:sp>
      <p:sp>
        <p:nvSpPr>
          <p:cNvPr id="312" name="Google Shape;312;p7"/>
          <p:cNvSpPr txBox="1"/>
          <p:nvPr/>
        </p:nvSpPr>
        <p:spPr>
          <a:xfrm>
            <a:off x="11183112" y="6400800"/>
            <a:ext cx="45720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lang="en-US" sz="1100">
                <a:solidFill>
                  <a:srgbClr val="1A237E"/>
                </a:solidFill>
                <a:latin typeface="Calibri"/>
                <a:ea typeface="Calibri"/>
                <a:cs typeface="Calibri"/>
                <a:sym typeface="Calibri"/>
              </a:rPr>
              <a:t>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p8"/>
          <p:cNvSpPr/>
          <p:nvPr/>
        </p:nvSpPr>
        <p:spPr>
          <a:xfrm>
            <a:off x="0" y="0"/>
            <a:ext cx="3047695" cy="54864"/>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8"/>
          <p:cNvSpPr/>
          <p:nvPr/>
        </p:nvSpPr>
        <p:spPr>
          <a:xfrm>
            <a:off x="3047695" y="0"/>
            <a:ext cx="3047695" cy="54864"/>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8"/>
          <p:cNvSpPr/>
          <p:nvPr/>
        </p:nvSpPr>
        <p:spPr>
          <a:xfrm>
            <a:off x="6095390" y="0"/>
            <a:ext cx="3047695" cy="54864"/>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8"/>
          <p:cNvSpPr/>
          <p:nvPr/>
        </p:nvSpPr>
        <p:spPr>
          <a:xfrm>
            <a:off x="9143085" y="0"/>
            <a:ext cx="3047695" cy="54864"/>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8"/>
          <p:cNvSpPr txBox="1"/>
          <p:nvPr/>
        </p:nvSpPr>
        <p:spPr>
          <a:xfrm>
            <a:off x="548640" y="274320"/>
            <a:ext cx="6400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1A237E"/>
                </a:solidFill>
                <a:latin typeface="Calibri"/>
                <a:ea typeface="Calibri"/>
                <a:cs typeface="Calibri"/>
                <a:sym typeface="Calibri"/>
              </a:rPr>
              <a:t>Device Performance</a:t>
            </a:r>
            <a:endParaRPr/>
          </a:p>
        </p:txBody>
      </p:sp>
      <p:sp>
        <p:nvSpPr>
          <p:cNvPr id="322" name="Google Shape;322;p8"/>
          <p:cNvSpPr txBox="1"/>
          <p:nvPr/>
        </p:nvSpPr>
        <p:spPr>
          <a:xfrm>
            <a:off x="548640" y="777240"/>
            <a:ext cx="82296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200">
                <a:solidFill>
                  <a:srgbClr val="EA4335"/>
                </a:solidFill>
                <a:latin typeface="Calibri"/>
                <a:ea typeface="Calibri"/>
                <a:cs typeface="Calibri"/>
                <a:sym typeface="Calibri"/>
              </a:rPr>
              <a:t>No device bid adjustments despite significant and widening CPA gaps</a:t>
            </a:r>
            <a:endParaRPr sz="1200"/>
          </a:p>
        </p:txBody>
      </p:sp>
      <p:sp>
        <p:nvSpPr>
          <p:cNvPr id="323" name="Google Shape;323;p8"/>
          <p:cNvSpPr/>
          <p:nvPr/>
        </p:nvSpPr>
        <p:spPr>
          <a:xfrm>
            <a:off x="8348472" y="274320"/>
            <a:ext cx="3291840" cy="411480"/>
          </a:xfrm>
          <a:prstGeom prst="rect">
            <a:avLst/>
          </a:prstGeom>
          <a:solidFill>
            <a:srgbClr val="FFFFFF"/>
          </a:solidFill>
          <a:ln cap="flat" cmpd="sng" w="12700">
            <a:solidFill>
              <a:srgbClr val="4285F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8"/>
          <p:cNvSpPr txBox="1"/>
          <p:nvPr/>
        </p:nvSpPr>
        <p:spPr>
          <a:xfrm>
            <a:off x="8439912" y="292608"/>
            <a:ext cx="31089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4285F4"/>
                </a:solidFill>
                <a:latin typeface="Calibri"/>
                <a:ea typeface="Calibri"/>
                <a:cs typeface="Calibri"/>
                <a:sym typeface="Calibri"/>
              </a:rPr>
              <a:t>2025 vs 2026</a:t>
            </a:r>
            <a:endParaRPr sz="1200"/>
          </a:p>
        </p:txBody>
      </p:sp>
      <p:pic>
        <p:nvPicPr>
          <p:cNvPr descr="device_yoy.png" id="325" name="Google Shape;325;p8"/>
          <p:cNvPicPr preferRelativeResize="0"/>
          <p:nvPr/>
        </p:nvPicPr>
        <p:blipFill rotWithShape="1">
          <a:blip r:embed="rId3">
            <a:alphaModFix/>
          </a:blip>
          <a:srcRect b="0" l="0" r="0" t="0"/>
          <a:stretch/>
        </p:blipFill>
        <p:spPr>
          <a:xfrm>
            <a:off x="548640" y="1188720"/>
            <a:ext cx="6400800" cy="3200400"/>
          </a:xfrm>
          <a:prstGeom prst="rect">
            <a:avLst/>
          </a:prstGeom>
          <a:noFill/>
          <a:ln>
            <a:noFill/>
          </a:ln>
        </p:spPr>
      </p:pic>
      <p:graphicFrame>
        <p:nvGraphicFramePr>
          <p:cNvPr id="326" name="Google Shape;326;p8"/>
          <p:cNvGraphicFramePr/>
          <p:nvPr/>
        </p:nvGraphicFramePr>
        <p:xfrm>
          <a:off x="7223760" y="1188720"/>
          <a:ext cx="3000000" cy="3000000"/>
        </p:xfrm>
        <a:graphic>
          <a:graphicData uri="http://schemas.openxmlformats.org/drawingml/2006/table">
            <a:tbl>
              <a:tblPr bandRow="1" firstRow="1">
                <a:noFill/>
                <a:tableStyleId>{D63477AD-CC91-4D8A-8B12-AFA7241523EF}</a:tableStyleId>
              </a:tblPr>
              <a:tblGrid>
                <a:gridCol w="877825"/>
                <a:gridCol w="877825"/>
                <a:gridCol w="877825"/>
                <a:gridCol w="877825"/>
                <a:gridCol w="877825"/>
              </a:tblGrid>
              <a:tr h="411475">
                <a:tc>
                  <a:txBody>
                    <a:bodyPr/>
                    <a:lstStyle/>
                    <a:p>
                      <a:pPr indent="0" lvl="0" marL="0" marR="0" rtl="0" algn="l">
                        <a:spcBef>
                          <a:spcPts val="0"/>
                        </a:spcBef>
                        <a:spcAft>
                          <a:spcPts val="0"/>
                        </a:spcAft>
                        <a:buNone/>
                      </a:pPr>
                      <a:r>
                        <a:rPr b="1" lang="en-US" sz="1100" u="none" cap="none" strike="noStrike">
                          <a:solidFill>
                            <a:srgbClr val="FFFFFF"/>
                          </a:solidFill>
                          <a:latin typeface="Calibri"/>
                          <a:ea typeface="Calibri"/>
                          <a:cs typeface="Calibri"/>
                          <a:sym typeface="Calibri"/>
                        </a:rPr>
                        <a:t>Device</a:t>
                      </a:r>
                      <a:endParaRPr sz="1100"/>
                    </a:p>
                  </a:txBody>
                  <a:tcPr marT="45725" marB="45725" marR="91450" marL="91450">
                    <a:solidFill>
                      <a:srgbClr val="1A237E"/>
                    </a:solidFill>
                  </a:tcPr>
                </a:tc>
                <a:tc>
                  <a:txBody>
                    <a:bodyPr/>
                    <a:lstStyle/>
                    <a:p>
                      <a:pPr indent="0" lvl="0" marL="0" marR="0" rtl="0" algn="l">
                        <a:spcBef>
                          <a:spcPts val="0"/>
                        </a:spcBef>
                        <a:spcAft>
                          <a:spcPts val="0"/>
                        </a:spcAft>
                        <a:buNone/>
                      </a:pPr>
                      <a:r>
                        <a:rPr b="1" lang="en-US" sz="1100" u="none" cap="none" strike="noStrike">
                          <a:solidFill>
                            <a:srgbClr val="FFFFFF"/>
                          </a:solidFill>
                          <a:latin typeface="Calibri"/>
                          <a:ea typeface="Calibri"/>
                          <a:cs typeface="Calibri"/>
                          <a:sym typeface="Calibri"/>
                        </a:rPr>
                        <a:t>2025 CPA</a:t>
                      </a:r>
                      <a:endParaRPr sz="1100"/>
                    </a:p>
                  </a:txBody>
                  <a:tcPr marT="45725" marB="45725" marR="91450" marL="91450">
                    <a:solidFill>
                      <a:srgbClr val="1A237E"/>
                    </a:solidFill>
                  </a:tcPr>
                </a:tc>
                <a:tc>
                  <a:txBody>
                    <a:bodyPr/>
                    <a:lstStyle/>
                    <a:p>
                      <a:pPr indent="0" lvl="0" marL="0" marR="0" rtl="0" algn="l">
                        <a:spcBef>
                          <a:spcPts val="0"/>
                        </a:spcBef>
                        <a:spcAft>
                          <a:spcPts val="0"/>
                        </a:spcAft>
                        <a:buNone/>
                      </a:pPr>
                      <a:r>
                        <a:rPr b="1" lang="en-US" sz="1100" u="none" cap="none" strike="noStrike">
                          <a:solidFill>
                            <a:srgbClr val="FFFFFF"/>
                          </a:solidFill>
                          <a:latin typeface="Calibri"/>
                          <a:ea typeface="Calibri"/>
                          <a:cs typeface="Calibri"/>
                          <a:sym typeface="Calibri"/>
                        </a:rPr>
                        <a:t>2026 CPA</a:t>
                      </a:r>
                      <a:endParaRPr sz="1100"/>
                    </a:p>
                  </a:txBody>
                  <a:tcPr marT="45725" marB="45725" marR="91450" marL="91450">
                    <a:solidFill>
                      <a:srgbClr val="1A237E"/>
                    </a:solidFill>
                  </a:tcPr>
                </a:tc>
                <a:tc>
                  <a:txBody>
                    <a:bodyPr/>
                    <a:lstStyle/>
                    <a:p>
                      <a:pPr indent="0" lvl="0" marL="0" marR="0" rtl="0" algn="l">
                        <a:spcBef>
                          <a:spcPts val="0"/>
                        </a:spcBef>
                        <a:spcAft>
                          <a:spcPts val="0"/>
                        </a:spcAft>
                        <a:buNone/>
                      </a:pPr>
                      <a:r>
                        <a:rPr b="1" lang="en-US" sz="1100" u="none" cap="none" strike="noStrike">
                          <a:solidFill>
                            <a:srgbClr val="FFFFFF"/>
                          </a:solidFill>
                          <a:latin typeface="Calibri"/>
                          <a:ea typeface="Calibri"/>
                          <a:cs typeface="Calibri"/>
                          <a:sym typeface="Calibri"/>
                        </a:rPr>
                        <a:t>Change</a:t>
                      </a:r>
                      <a:endParaRPr sz="1100"/>
                    </a:p>
                  </a:txBody>
                  <a:tcPr marT="45725" marB="45725" marR="91450" marL="91450">
                    <a:solidFill>
                      <a:srgbClr val="1A237E"/>
                    </a:solidFill>
                  </a:tcPr>
                </a:tc>
                <a:tc>
                  <a:txBody>
                    <a:bodyPr/>
                    <a:lstStyle/>
                    <a:p>
                      <a:pPr indent="0" lvl="0" marL="0" marR="0" rtl="0" algn="l">
                        <a:spcBef>
                          <a:spcPts val="0"/>
                        </a:spcBef>
                        <a:spcAft>
                          <a:spcPts val="0"/>
                        </a:spcAft>
                        <a:buNone/>
                      </a:pPr>
                      <a:r>
                        <a:rPr b="1" lang="en-US" sz="1100" u="none" cap="none" strike="noStrike">
                          <a:solidFill>
                            <a:srgbClr val="FFFFFF"/>
                          </a:solidFill>
                          <a:latin typeface="Calibri"/>
                          <a:ea typeface="Calibri"/>
                          <a:cs typeface="Calibri"/>
                          <a:sym typeface="Calibri"/>
                        </a:rPr>
                        <a:t>Bid Adj.</a:t>
                      </a:r>
                      <a:endParaRPr sz="1100"/>
                    </a:p>
                  </a:txBody>
                  <a:tcPr marT="45725" marB="45725" marR="91450" marL="91450">
                    <a:solidFill>
                      <a:srgbClr val="1A237E"/>
                    </a:solidFill>
                  </a:tcPr>
                </a:tc>
              </a:tr>
              <a:tr h="411475">
                <a:tc>
                  <a:txBody>
                    <a:bodyPr/>
                    <a:lstStyle/>
                    <a:p>
                      <a:pPr indent="0" lvl="0" marL="0" marR="0" rtl="0" algn="l">
                        <a:spcBef>
                          <a:spcPts val="0"/>
                        </a:spcBef>
                        <a:spcAft>
                          <a:spcPts val="0"/>
                        </a:spcAft>
                        <a:buNone/>
                      </a:pPr>
                      <a:r>
                        <a:rPr lang="en-US" sz="1100" u="none" cap="none" strike="noStrike">
                          <a:solidFill>
                            <a:srgbClr val="1A1A1A"/>
                          </a:solidFill>
                          <a:latin typeface="Calibri"/>
                          <a:ea typeface="Calibri"/>
                          <a:cs typeface="Calibri"/>
                          <a:sym typeface="Calibri"/>
                        </a:rPr>
                        <a:t>Mobile</a:t>
                      </a:r>
                      <a:endParaRPr sz="1100"/>
                    </a:p>
                  </a:txBody>
                  <a:tcPr marT="45725" marB="45725" marR="91450" marL="91450">
                    <a:solidFill>
                      <a:srgbClr val="F5F6FA"/>
                    </a:solidFill>
                  </a:tcPr>
                </a:tc>
                <a:tc>
                  <a:txBody>
                    <a:bodyPr/>
                    <a:lstStyle/>
                    <a:p>
                      <a:pPr indent="0" lvl="0" marL="0" marR="0" rtl="0" algn="l">
                        <a:spcBef>
                          <a:spcPts val="0"/>
                        </a:spcBef>
                        <a:spcAft>
                          <a:spcPts val="0"/>
                        </a:spcAft>
                        <a:buNone/>
                      </a:pPr>
                      <a:r>
                        <a:rPr lang="en-US" sz="1100" u="none" cap="none" strike="noStrike">
                          <a:solidFill>
                            <a:srgbClr val="1A1A1A"/>
                          </a:solidFill>
                          <a:latin typeface="Calibri"/>
                          <a:ea typeface="Calibri"/>
                          <a:cs typeface="Calibri"/>
                          <a:sym typeface="Calibri"/>
                        </a:rPr>
                        <a:t>£42</a:t>
                      </a:r>
                      <a:endParaRPr sz="1100"/>
                    </a:p>
                  </a:txBody>
                  <a:tcPr marT="45725" marB="45725" marR="91450" marL="91450">
                    <a:solidFill>
                      <a:srgbClr val="F5F6FA"/>
                    </a:solidFill>
                  </a:tcPr>
                </a:tc>
                <a:tc>
                  <a:txBody>
                    <a:bodyPr/>
                    <a:lstStyle/>
                    <a:p>
                      <a:pPr indent="0" lvl="0" marL="0" marR="0" rtl="0" algn="l">
                        <a:spcBef>
                          <a:spcPts val="0"/>
                        </a:spcBef>
                        <a:spcAft>
                          <a:spcPts val="0"/>
                        </a:spcAft>
                        <a:buNone/>
                      </a:pPr>
                      <a:r>
                        <a:rPr lang="en-US" sz="1100" u="none" cap="none" strike="noStrike">
                          <a:solidFill>
                            <a:srgbClr val="1A1A1A"/>
                          </a:solidFill>
                          <a:latin typeface="Calibri"/>
                          <a:ea typeface="Calibri"/>
                          <a:cs typeface="Calibri"/>
                          <a:sym typeface="Calibri"/>
                        </a:rPr>
                        <a:t>£56</a:t>
                      </a:r>
                      <a:endParaRPr sz="1100"/>
                    </a:p>
                  </a:txBody>
                  <a:tcPr marT="45725" marB="45725" marR="91450" marL="91450">
                    <a:solidFill>
                      <a:srgbClr val="F5F6FA"/>
                    </a:solidFill>
                  </a:tcPr>
                </a:tc>
                <a:tc>
                  <a:txBody>
                    <a:bodyPr/>
                    <a:lstStyle/>
                    <a:p>
                      <a:pPr indent="0" lvl="0" marL="0" marR="0" rtl="0" algn="l">
                        <a:spcBef>
                          <a:spcPts val="0"/>
                        </a:spcBef>
                        <a:spcAft>
                          <a:spcPts val="0"/>
                        </a:spcAft>
                        <a:buNone/>
                      </a:pPr>
                      <a:r>
                        <a:rPr lang="en-US" sz="1100" u="none" cap="none" strike="noStrike">
                          <a:solidFill>
                            <a:srgbClr val="1A1A1A"/>
                          </a:solidFill>
                          <a:latin typeface="Calibri"/>
                          <a:ea typeface="Calibri"/>
                          <a:cs typeface="Calibri"/>
                          <a:sym typeface="Calibri"/>
                        </a:rPr>
                        <a:t>+34%</a:t>
                      </a:r>
                      <a:endParaRPr sz="1100"/>
                    </a:p>
                  </a:txBody>
                  <a:tcPr marT="45725" marB="45725" marR="91450" marL="91450">
                    <a:solidFill>
                      <a:srgbClr val="F5F6FA"/>
                    </a:solidFill>
                  </a:tcPr>
                </a:tc>
                <a:tc>
                  <a:txBody>
                    <a:bodyPr/>
                    <a:lstStyle/>
                    <a:p>
                      <a:pPr indent="0" lvl="0" marL="0" marR="0" rtl="0" algn="l">
                        <a:spcBef>
                          <a:spcPts val="0"/>
                        </a:spcBef>
                        <a:spcAft>
                          <a:spcPts val="0"/>
                        </a:spcAft>
                        <a:buNone/>
                      </a:pPr>
                      <a:r>
                        <a:rPr lang="en-US" sz="1100" u="none" cap="none" strike="noStrike">
                          <a:solidFill>
                            <a:srgbClr val="1A1A1A"/>
                          </a:solidFill>
                          <a:latin typeface="Calibri"/>
                          <a:ea typeface="Calibri"/>
                          <a:cs typeface="Calibri"/>
                          <a:sym typeface="Calibri"/>
                        </a:rPr>
                        <a:t>None</a:t>
                      </a:r>
                      <a:endParaRPr sz="1100"/>
                    </a:p>
                  </a:txBody>
                  <a:tcPr marT="45725" marB="45725" marR="91450" marL="91450">
                    <a:solidFill>
                      <a:srgbClr val="F5F6FA"/>
                    </a:solidFill>
                  </a:tcPr>
                </a:tc>
              </a:tr>
              <a:tr h="411475">
                <a:tc>
                  <a:txBody>
                    <a:bodyPr/>
                    <a:lstStyle/>
                    <a:p>
                      <a:pPr indent="0" lvl="0" marL="0" marR="0" rtl="0" algn="l">
                        <a:spcBef>
                          <a:spcPts val="0"/>
                        </a:spcBef>
                        <a:spcAft>
                          <a:spcPts val="0"/>
                        </a:spcAft>
                        <a:buNone/>
                      </a:pPr>
                      <a:r>
                        <a:rPr lang="en-US" sz="1100" u="none" cap="none" strike="noStrike">
                          <a:solidFill>
                            <a:srgbClr val="1A1A1A"/>
                          </a:solidFill>
                          <a:latin typeface="Calibri"/>
                          <a:ea typeface="Calibri"/>
                          <a:cs typeface="Calibri"/>
                          <a:sym typeface="Calibri"/>
                        </a:rPr>
                        <a:t>Desktop</a:t>
                      </a:r>
                      <a:endParaRPr sz="1100"/>
                    </a:p>
                  </a:txBody>
                  <a:tcPr marT="45725" marB="45725" marR="91450" marL="91450">
                    <a:solidFill>
                      <a:srgbClr val="FFFFFF"/>
                    </a:solidFill>
                  </a:tcPr>
                </a:tc>
                <a:tc>
                  <a:txBody>
                    <a:bodyPr/>
                    <a:lstStyle/>
                    <a:p>
                      <a:pPr indent="0" lvl="0" marL="0" marR="0" rtl="0" algn="l">
                        <a:spcBef>
                          <a:spcPts val="0"/>
                        </a:spcBef>
                        <a:spcAft>
                          <a:spcPts val="0"/>
                        </a:spcAft>
                        <a:buNone/>
                      </a:pPr>
                      <a:r>
                        <a:rPr lang="en-US" sz="1100" u="none" cap="none" strike="noStrike">
                          <a:solidFill>
                            <a:srgbClr val="1A1A1A"/>
                          </a:solidFill>
                          <a:latin typeface="Calibri"/>
                          <a:ea typeface="Calibri"/>
                          <a:cs typeface="Calibri"/>
                          <a:sym typeface="Calibri"/>
                        </a:rPr>
                        <a:t>£67</a:t>
                      </a:r>
                      <a:endParaRPr sz="1100"/>
                    </a:p>
                  </a:txBody>
                  <a:tcPr marT="45725" marB="45725" marR="91450" marL="91450">
                    <a:solidFill>
                      <a:srgbClr val="FFFFFF"/>
                    </a:solidFill>
                  </a:tcPr>
                </a:tc>
                <a:tc>
                  <a:txBody>
                    <a:bodyPr/>
                    <a:lstStyle/>
                    <a:p>
                      <a:pPr indent="0" lvl="0" marL="0" marR="0" rtl="0" algn="l">
                        <a:spcBef>
                          <a:spcPts val="0"/>
                        </a:spcBef>
                        <a:spcAft>
                          <a:spcPts val="0"/>
                        </a:spcAft>
                        <a:buNone/>
                      </a:pPr>
                      <a:r>
                        <a:rPr lang="en-US" sz="1100" u="none" cap="none" strike="noStrike">
                          <a:solidFill>
                            <a:srgbClr val="1A1A1A"/>
                          </a:solidFill>
                          <a:latin typeface="Calibri"/>
                          <a:ea typeface="Calibri"/>
                          <a:cs typeface="Calibri"/>
                          <a:sym typeface="Calibri"/>
                        </a:rPr>
                        <a:t>£92</a:t>
                      </a:r>
                      <a:endParaRPr sz="1100"/>
                    </a:p>
                  </a:txBody>
                  <a:tcPr marT="45725" marB="45725" marR="91450" marL="91450">
                    <a:solidFill>
                      <a:srgbClr val="FFFFFF"/>
                    </a:solidFill>
                  </a:tcPr>
                </a:tc>
                <a:tc>
                  <a:txBody>
                    <a:bodyPr/>
                    <a:lstStyle/>
                    <a:p>
                      <a:pPr indent="0" lvl="0" marL="0" marR="0" rtl="0" algn="l">
                        <a:spcBef>
                          <a:spcPts val="0"/>
                        </a:spcBef>
                        <a:spcAft>
                          <a:spcPts val="0"/>
                        </a:spcAft>
                        <a:buNone/>
                      </a:pPr>
                      <a:r>
                        <a:rPr lang="en-US" sz="1100" u="none" cap="none" strike="noStrike">
                          <a:solidFill>
                            <a:srgbClr val="1A1A1A"/>
                          </a:solidFill>
                          <a:latin typeface="Calibri"/>
                          <a:ea typeface="Calibri"/>
                          <a:cs typeface="Calibri"/>
                          <a:sym typeface="Calibri"/>
                        </a:rPr>
                        <a:t>+37%</a:t>
                      </a:r>
                      <a:endParaRPr sz="1100"/>
                    </a:p>
                  </a:txBody>
                  <a:tcPr marT="45725" marB="45725" marR="91450" marL="91450">
                    <a:solidFill>
                      <a:srgbClr val="FFFFFF"/>
                    </a:solidFill>
                  </a:tcPr>
                </a:tc>
                <a:tc>
                  <a:txBody>
                    <a:bodyPr/>
                    <a:lstStyle/>
                    <a:p>
                      <a:pPr indent="0" lvl="0" marL="0" marR="0" rtl="0" algn="l">
                        <a:spcBef>
                          <a:spcPts val="0"/>
                        </a:spcBef>
                        <a:spcAft>
                          <a:spcPts val="0"/>
                        </a:spcAft>
                        <a:buNone/>
                      </a:pPr>
                      <a:r>
                        <a:rPr lang="en-US" sz="1100" u="none" cap="none" strike="noStrike">
                          <a:solidFill>
                            <a:srgbClr val="1A1A1A"/>
                          </a:solidFill>
                          <a:latin typeface="Calibri"/>
                          <a:ea typeface="Calibri"/>
                          <a:cs typeface="Calibri"/>
                          <a:sym typeface="Calibri"/>
                        </a:rPr>
                        <a:t>None</a:t>
                      </a:r>
                      <a:endParaRPr sz="1100"/>
                    </a:p>
                  </a:txBody>
                  <a:tcPr marT="45725" marB="45725" marR="91450" marL="91450">
                    <a:solidFill>
                      <a:srgbClr val="FFFFFF"/>
                    </a:solidFill>
                  </a:tcPr>
                </a:tc>
              </a:tr>
              <a:tr h="411475">
                <a:tc>
                  <a:txBody>
                    <a:bodyPr/>
                    <a:lstStyle/>
                    <a:p>
                      <a:pPr indent="0" lvl="0" marL="0" marR="0" rtl="0" algn="l">
                        <a:spcBef>
                          <a:spcPts val="0"/>
                        </a:spcBef>
                        <a:spcAft>
                          <a:spcPts val="0"/>
                        </a:spcAft>
                        <a:buNone/>
                      </a:pPr>
                      <a:r>
                        <a:rPr lang="en-US" sz="1100" u="none" cap="none" strike="noStrike">
                          <a:solidFill>
                            <a:srgbClr val="1A1A1A"/>
                          </a:solidFill>
                          <a:latin typeface="Calibri"/>
                          <a:ea typeface="Calibri"/>
                          <a:cs typeface="Calibri"/>
                          <a:sym typeface="Calibri"/>
                        </a:rPr>
                        <a:t>Tablet</a:t>
                      </a:r>
                      <a:endParaRPr sz="1100"/>
                    </a:p>
                  </a:txBody>
                  <a:tcPr marT="45725" marB="45725" marR="91450" marL="91450">
                    <a:solidFill>
                      <a:srgbClr val="F5F6FA"/>
                    </a:solidFill>
                  </a:tcPr>
                </a:tc>
                <a:tc>
                  <a:txBody>
                    <a:bodyPr/>
                    <a:lstStyle/>
                    <a:p>
                      <a:pPr indent="0" lvl="0" marL="0" marR="0" rtl="0" algn="l">
                        <a:spcBef>
                          <a:spcPts val="0"/>
                        </a:spcBef>
                        <a:spcAft>
                          <a:spcPts val="0"/>
                        </a:spcAft>
                        <a:buNone/>
                      </a:pPr>
                      <a:r>
                        <a:rPr lang="en-US" sz="1100" u="none" cap="none" strike="noStrike">
                          <a:solidFill>
                            <a:srgbClr val="1A1A1A"/>
                          </a:solidFill>
                          <a:latin typeface="Calibri"/>
                          <a:ea typeface="Calibri"/>
                          <a:cs typeface="Calibri"/>
                          <a:sym typeface="Calibri"/>
                        </a:rPr>
                        <a:t>£44</a:t>
                      </a:r>
                      <a:endParaRPr sz="1100"/>
                    </a:p>
                  </a:txBody>
                  <a:tcPr marT="45725" marB="45725" marR="91450" marL="91450">
                    <a:solidFill>
                      <a:srgbClr val="F5F6FA"/>
                    </a:solidFill>
                  </a:tcPr>
                </a:tc>
                <a:tc>
                  <a:txBody>
                    <a:bodyPr/>
                    <a:lstStyle/>
                    <a:p>
                      <a:pPr indent="0" lvl="0" marL="0" marR="0" rtl="0" algn="l">
                        <a:spcBef>
                          <a:spcPts val="0"/>
                        </a:spcBef>
                        <a:spcAft>
                          <a:spcPts val="0"/>
                        </a:spcAft>
                        <a:buNone/>
                      </a:pPr>
                      <a:r>
                        <a:rPr lang="en-US" sz="1100" u="none" cap="none" strike="noStrike">
                          <a:solidFill>
                            <a:srgbClr val="1A1A1A"/>
                          </a:solidFill>
                          <a:latin typeface="Calibri"/>
                          <a:ea typeface="Calibri"/>
                          <a:cs typeface="Calibri"/>
                          <a:sym typeface="Calibri"/>
                        </a:rPr>
                        <a:t>£73</a:t>
                      </a:r>
                      <a:endParaRPr sz="1100"/>
                    </a:p>
                  </a:txBody>
                  <a:tcPr marT="45725" marB="45725" marR="91450" marL="91450">
                    <a:solidFill>
                      <a:srgbClr val="F5F6FA"/>
                    </a:solidFill>
                  </a:tcPr>
                </a:tc>
                <a:tc>
                  <a:txBody>
                    <a:bodyPr/>
                    <a:lstStyle/>
                    <a:p>
                      <a:pPr indent="0" lvl="0" marL="0" marR="0" rtl="0" algn="l">
                        <a:spcBef>
                          <a:spcPts val="0"/>
                        </a:spcBef>
                        <a:spcAft>
                          <a:spcPts val="0"/>
                        </a:spcAft>
                        <a:buNone/>
                      </a:pPr>
                      <a:r>
                        <a:rPr lang="en-US" sz="1100" u="none" cap="none" strike="noStrike">
                          <a:solidFill>
                            <a:srgbClr val="1A1A1A"/>
                          </a:solidFill>
                          <a:latin typeface="Calibri"/>
                          <a:ea typeface="Calibri"/>
                          <a:cs typeface="Calibri"/>
                          <a:sym typeface="Calibri"/>
                        </a:rPr>
                        <a:t>+66%</a:t>
                      </a:r>
                      <a:endParaRPr sz="1100"/>
                    </a:p>
                  </a:txBody>
                  <a:tcPr marT="45725" marB="45725" marR="91450" marL="91450">
                    <a:solidFill>
                      <a:srgbClr val="F5F6FA"/>
                    </a:solidFill>
                  </a:tcPr>
                </a:tc>
                <a:tc>
                  <a:txBody>
                    <a:bodyPr/>
                    <a:lstStyle/>
                    <a:p>
                      <a:pPr indent="0" lvl="0" marL="0" marR="0" rtl="0" algn="l">
                        <a:spcBef>
                          <a:spcPts val="0"/>
                        </a:spcBef>
                        <a:spcAft>
                          <a:spcPts val="0"/>
                        </a:spcAft>
                        <a:buNone/>
                      </a:pPr>
                      <a:r>
                        <a:rPr lang="en-US" sz="1100" u="none" cap="none" strike="noStrike">
                          <a:solidFill>
                            <a:srgbClr val="1A1A1A"/>
                          </a:solidFill>
                          <a:latin typeface="Calibri"/>
                          <a:ea typeface="Calibri"/>
                          <a:cs typeface="Calibri"/>
                          <a:sym typeface="Calibri"/>
                        </a:rPr>
                        <a:t>None</a:t>
                      </a:r>
                      <a:endParaRPr sz="1100"/>
                    </a:p>
                  </a:txBody>
                  <a:tcPr marT="45725" marB="45725" marR="91450" marL="91450">
                    <a:solidFill>
                      <a:srgbClr val="F5F6FA"/>
                    </a:solidFill>
                  </a:tcPr>
                </a:tc>
              </a:tr>
            </a:tbl>
          </a:graphicData>
        </a:graphic>
      </p:graphicFrame>
      <p:sp>
        <p:nvSpPr>
          <p:cNvPr id="327" name="Google Shape;327;p8"/>
          <p:cNvSpPr/>
          <p:nvPr/>
        </p:nvSpPr>
        <p:spPr>
          <a:xfrm>
            <a:off x="7223760" y="3017520"/>
            <a:ext cx="4389120" cy="1097280"/>
          </a:xfrm>
          <a:prstGeom prst="rect">
            <a:avLst/>
          </a:prstGeom>
          <a:solidFill>
            <a:srgbClr val="FCE8E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8"/>
          <p:cNvSpPr/>
          <p:nvPr/>
        </p:nvSpPr>
        <p:spPr>
          <a:xfrm>
            <a:off x="7223760" y="3017520"/>
            <a:ext cx="54864" cy="109728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8"/>
          <p:cNvSpPr txBox="1"/>
          <p:nvPr/>
        </p:nvSpPr>
        <p:spPr>
          <a:xfrm>
            <a:off x="7452360" y="3108960"/>
            <a:ext cx="40233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Desktop Premium Widening</a:t>
            </a:r>
            <a:endParaRPr/>
          </a:p>
        </p:txBody>
      </p:sp>
      <p:sp>
        <p:nvSpPr>
          <p:cNvPr id="330" name="Google Shape;330;p8"/>
          <p:cNvSpPr txBox="1"/>
          <p:nvPr/>
        </p:nvSpPr>
        <p:spPr>
          <a:xfrm>
            <a:off x="7452360" y="3383280"/>
            <a:ext cx="40233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200">
                <a:solidFill>
                  <a:srgbClr val="1A1A1A"/>
                </a:solidFill>
                <a:latin typeface="Calibri"/>
                <a:ea typeface="Calibri"/>
                <a:cs typeface="Calibri"/>
                <a:sym typeface="Calibri"/>
              </a:rPr>
              <a:t>Desktop CPA is 64% higher than mobile in 2026 (was 60% in 2025). The gap is growing.</a:t>
            </a:r>
            <a:endParaRPr sz="1200"/>
          </a:p>
        </p:txBody>
      </p:sp>
      <p:sp>
        <p:nvSpPr>
          <p:cNvPr id="331" name="Google Shape;331;p8"/>
          <p:cNvSpPr/>
          <p:nvPr/>
        </p:nvSpPr>
        <p:spPr>
          <a:xfrm>
            <a:off x="548640" y="4754880"/>
            <a:ext cx="11064300" cy="548700"/>
          </a:xfrm>
          <a:prstGeom prst="rect">
            <a:avLst/>
          </a:prstGeom>
          <a:solidFill>
            <a:srgbClr val="E8F0FE"/>
          </a:solidFill>
          <a:ln cap="flat" cmpd="sng" w="12700">
            <a:solidFill>
              <a:srgbClr val="4285F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8"/>
          <p:cNvSpPr txBox="1"/>
          <p:nvPr/>
        </p:nvSpPr>
        <p:spPr>
          <a:xfrm>
            <a:off x="777240" y="4800600"/>
            <a:ext cx="10607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1A237E"/>
                </a:solidFill>
                <a:latin typeface="Calibri"/>
                <a:ea typeface="Calibri"/>
                <a:cs typeface="Calibri"/>
                <a:sym typeface="Calibri"/>
              </a:rPr>
              <a:t>Recommendation: Implement device bid adjustments. Reduce desktop bids by 20-25% </a:t>
            </a:r>
            <a:r>
              <a:rPr b="1" lang="en-US" sz="1200">
                <a:solidFill>
                  <a:srgbClr val="1A237E"/>
                </a:solidFill>
                <a:latin typeface="Calibri"/>
                <a:ea typeface="Calibri"/>
                <a:cs typeface="Calibri"/>
                <a:sym typeface="Calibri"/>
              </a:rPr>
              <a:t>and </a:t>
            </a:r>
            <a:r>
              <a:rPr b="1" lang="en-US" sz="1200">
                <a:solidFill>
                  <a:srgbClr val="1A237E"/>
                </a:solidFill>
                <a:latin typeface="Calibri"/>
                <a:ea typeface="Calibri"/>
                <a:cs typeface="Calibri"/>
                <a:sym typeface="Calibri"/>
              </a:rPr>
              <a:t>tablet bids by 30-40% to align spend with conversion efficiency. No adjustments exist anywhere in the account.</a:t>
            </a:r>
            <a:endParaRPr sz="1200"/>
          </a:p>
        </p:txBody>
      </p:sp>
      <p:sp>
        <p:nvSpPr>
          <p:cNvPr id="333" name="Google Shape;333;p8"/>
          <p:cNvSpPr/>
          <p:nvPr/>
        </p:nvSpPr>
        <p:spPr>
          <a:xfrm>
            <a:off x="548640" y="6327648"/>
            <a:ext cx="2770632" cy="27432"/>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8"/>
          <p:cNvSpPr/>
          <p:nvPr/>
        </p:nvSpPr>
        <p:spPr>
          <a:xfrm>
            <a:off x="3319272" y="6327648"/>
            <a:ext cx="2770632" cy="27432"/>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8"/>
          <p:cNvSpPr/>
          <p:nvPr/>
        </p:nvSpPr>
        <p:spPr>
          <a:xfrm>
            <a:off x="6099048" y="6327648"/>
            <a:ext cx="2770632" cy="27432"/>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8"/>
          <p:cNvSpPr/>
          <p:nvPr/>
        </p:nvSpPr>
        <p:spPr>
          <a:xfrm>
            <a:off x="8869680" y="6327648"/>
            <a:ext cx="2770632" cy="27432"/>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act_logo_official.png" id="337" name="Google Shape;337;p8"/>
          <p:cNvPicPr preferRelativeResize="0"/>
          <p:nvPr/>
        </p:nvPicPr>
        <p:blipFill rotWithShape="1">
          <a:blip r:embed="rId4">
            <a:alphaModFix/>
          </a:blip>
          <a:srcRect b="0" l="0" r="0" t="0"/>
          <a:stretch/>
        </p:blipFill>
        <p:spPr>
          <a:xfrm>
            <a:off x="548640" y="6400800"/>
            <a:ext cx="201168" cy="201168"/>
          </a:xfrm>
          <a:prstGeom prst="rect">
            <a:avLst/>
          </a:prstGeom>
          <a:noFill/>
          <a:ln>
            <a:noFill/>
          </a:ln>
        </p:spPr>
      </p:pic>
      <p:sp>
        <p:nvSpPr>
          <p:cNvPr id="338" name="Google Shape;338;p8"/>
          <p:cNvSpPr txBox="1"/>
          <p:nvPr/>
        </p:nvSpPr>
        <p:spPr>
          <a:xfrm>
            <a:off x="822960" y="6400800"/>
            <a:ext cx="5486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1A237E"/>
                </a:solidFill>
                <a:latin typeface="Calibri"/>
                <a:ea typeface="Calibri"/>
                <a:cs typeface="Calibri"/>
                <a:sym typeface="Calibri"/>
              </a:rPr>
              <a:t>Christopher Hoole  |  christopherhoole.com  |  Confidential</a:t>
            </a:r>
            <a:endParaRPr/>
          </a:p>
        </p:txBody>
      </p:sp>
      <p:sp>
        <p:nvSpPr>
          <p:cNvPr id="339" name="Google Shape;339;p8"/>
          <p:cNvSpPr txBox="1"/>
          <p:nvPr/>
        </p:nvSpPr>
        <p:spPr>
          <a:xfrm>
            <a:off x="11183112" y="6400800"/>
            <a:ext cx="45720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lang="en-US" sz="1100">
                <a:solidFill>
                  <a:srgbClr val="1A237E"/>
                </a:solidFill>
                <a:latin typeface="Calibri"/>
                <a:ea typeface="Calibri"/>
                <a:cs typeface="Calibri"/>
                <a:sym typeface="Calibri"/>
              </a:rPr>
              <a:t>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sp>
        <p:nvSpPr>
          <p:cNvPr id="344" name="Google Shape;344;p9"/>
          <p:cNvSpPr/>
          <p:nvPr/>
        </p:nvSpPr>
        <p:spPr>
          <a:xfrm>
            <a:off x="0" y="0"/>
            <a:ext cx="3047695" cy="54864"/>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5" name="Google Shape;345;p9"/>
          <p:cNvSpPr/>
          <p:nvPr/>
        </p:nvSpPr>
        <p:spPr>
          <a:xfrm>
            <a:off x="3047695" y="0"/>
            <a:ext cx="3047695" cy="54864"/>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6" name="Google Shape;346;p9"/>
          <p:cNvSpPr/>
          <p:nvPr/>
        </p:nvSpPr>
        <p:spPr>
          <a:xfrm>
            <a:off x="6095390" y="0"/>
            <a:ext cx="3047695" cy="54864"/>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9"/>
          <p:cNvSpPr/>
          <p:nvPr/>
        </p:nvSpPr>
        <p:spPr>
          <a:xfrm>
            <a:off x="9143085" y="0"/>
            <a:ext cx="3047695" cy="54864"/>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9"/>
          <p:cNvSpPr txBox="1"/>
          <p:nvPr/>
        </p:nvSpPr>
        <p:spPr>
          <a:xfrm>
            <a:off x="548640" y="274320"/>
            <a:ext cx="6400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1A237E"/>
                </a:solidFill>
                <a:latin typeface="Calibri"/>
                <a:ea typeface="Calibri"/>
                <a:cs typeface="Calibri"/>
                <a:sym typeface="Calibri"/>
              </a:rPr>
              <a:t>Day of Week Performance</a:t>
            </a:r>
            <a:endParaRPr/>
          </a:p>
        </p:txBody>
      </p:sp>
      <p:sp>
        <p:nvSpPr>
          <p:cNvPr id="349" name="Google Shape;349;p9"/>
          <p:cNvSpPr txBox="1"/>
          <p:nvPr/>
        </p:nvSpPr>
        <p:spPr>
          <a:xfrm>
            <a:off x="548640" y="777240"/>
            <a:ext cx="82296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200">
                <a:solidFill>
                  <a:srgbClr val="EA4335"/>
                </a:solidFill>
                <a:latin typeface="Calibri"/>
                <a:ea typeface="Calibri"/>
                <a:cs typeface="Calibri"/>
                <a:sym typeface="Calibri"/>
              </a:rPr>
              <a:t>Sunday CPA: £45 (2025) → £68 (2026) — emerging as the clear waste day</a:t>
            </a:r>
            <a:endParaRPr sz="1200"/>
          </a:p>
        </p:txBody>
      </p:sp>
      <p:sp>
        <p:nvSpPr>
          <p:cNvPr id="350" name="Google Shape;350;p9"/>
          <p:cNvSpPr/>
          <p:nvPr/>
        </p:nvSpPr>
        <p:spPr>
          <a:xfrm>
            <a:off x="8348472" y="274320"/>
            <a:ext cx="3291840" cy="411480"/>
          </a:xfrm>
          <a:prstGeom prst="rect">
            <a:avLst/>
          </a:prstGeom>
          <a:solidFill>
            <a:srgbClr val="FFFFFF"/>
          </a:solidFill>
          <a:ln cap="flat" cmpd="sng" w="12700">
            <a:solidFill>
              <a:srgbClr val="4285F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9"/>
          <p:cNvSpPr txBox="1"/>
          <p:nvPr/>
        </p:nvSpPr>
        <p:spPr>
          <a:xfrm>
            <a:off x="8439912" y="292608"/>
            <a:ext cx="31089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4285F4"/>
                </a:solidFill>
                <a:latin typeface="Calibri"/>
                <a:ea typeface="Calibri"/>
                <a:cs typeface="Calibri"/>
                <a:sym typeface="Calibri"/>
              </a:rPr>
              <a:t>2025 vs 2026</a:t>
            </a:r>
            <a:endParaRPr sz="1200"/>
          </a:p>
        </p:txBody>
      </p:sp>
      <p:pic>
        <p:nvPicPr>
          <p:cNvPr descr="dow_yoy.png" id="352" name="Google Shape;352;p9"/>
          <p:cNvPicPr preferRelativeResize="0"/>
          <p:nvPr/>
        </p:nvPicPr>
        <p:blipFill rotWithShape="1">
          <a:blip r:embed="rId3">
            <a:alphaModFix/>
          </a:blip>
          <a:srcRect b="0" l="0" r="0" t="0"/>
          <a:stretch/>
        </p:blipFill>
        <p:spPr>
          <a:xfrm>
            <a:off x="548640" y="1188720"/>
            <a:ext cx="6858000" cy="3200400"/>
          </a:xfrm>
          <a:prstGeom prst="rect">
            <a:avLst/>
          </a:prstGeom>
          <a:noFill/>
          <a:ln>
            <a:noFill/>
          </a:ln>
        </p:spPr>
      </p:pic>
      <p:sp>
        <p:nvSpPr>
          <p:cNvPr id="353" name="Google Shape;353;p9"/>
          <p:cNvSpPr/>
          <p:nvPr/>
        </p:nvSpPr>
        <p:spPr>
          <a:xfrm>
            <a:off x="7680960" y="1188720"/>
            <a:ext cx="3931920" cy="1188720"/>
          </a:xfrm>
          <a:prstGeom prst="rect">
            <a:avLst/>
          </a:prstGeom>
          <a:solidFill>
            <a:srgbClr val="E6F4E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9"/>
          <p:cNvSpPr/>
          <p:nvPr/>
        </p:nvSpPr>
        <p:spPr>
          <a:xfrm>
            <a:off x="7680960" y="1188720"/>
            <a:ext cx="54864" cy="1188720"/>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9"/>
          <p:cNvSpPr txBox="1"/>
          <p:nvPr/>
        </p:nvSpPr>
        <p:spPr>
          <a:xfrm>
            <a:off x="7909560" y="1280160"/>
            <a:ext cx="35661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2025: Tight Spread</a:t>
            </a:r>
            <a:endParaRPr/>
          </a:p>
        </p:txBody>
      </p:sp>
      <p:sp>
        <p:nvSpPr>
          <p:cNvPr id="356" name="Google Shape;356;p9"/>
          <p:cNvSpPr txBox="1"/>
          <p:nvPr/>
        </p:nvSpPr>
        <p:spPr>
          <a:xfrm>
            <a:off x="7909560" y="1554480"/>
            <a:ext cx="356616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Range: £41–£46</a:t>
            </a:r>
            <a:br>
              <a:rPr b="0" lang="en-US" sz="1100">
                <a:solidFill>
                  <a:srgbClr val="1A1A1A"/>
                </a:solidFill>
                <a:latin typeface="Calibri"/>
                <a:ea typeface="Calibri"/>
                <a:cs typeface="Calibri"/>
                <a:sym typeface="Calibri"/>
              </a:rPr>
            </a:br>
            <a:r>
              <a:rPr b="0" lang="en-US" sz="1100">
                <a:solidFill>
                  <a:srgbClr val="1A1A1A"/>
                </a:solidFill>
                <a:latin typeface="Calibri"/>
                <a:ea typeface="Calibri"/>
                <a:cs typeface="Calibri"/>
                <a:sym typeface="Calibri"/>
              </a:rPr>
              <a:t>Day-of-week barely mattered. £5 spread across all days.</a:t>
            </a:r>
            <a:endParaRPr/>
          </a:p>
        </p:txBody>
      </p:sp>
      <p:sp>
        <p:nvSpPr>
          <p:cNvPr id="357" name="Google Shape;357;p9"/>
          <p:cNvSpPr/>
          <p:nvPr/>
        </p:nvSpPr>
        <p:spPr>
          <a:xfrm>
            <a:off x="7680960" y="2560320"/>
            <a:ext cx="3931920" cy="1188720"/>
          </a:xfrm>
          <a:prstGeom prst="rect">
            <a:avLst/>
          </a:prstGeom>
          <a:solidFill>
            <a:srgbClr val="FCE8E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9"/>
          <p:cNvSpPr/>
          <p:nvPr/>
        </p:nvSpPr>
        <p:spPr>
          <a:xfrm>
            <a:off x="7680960" y="2560320"/>
            <a:ext cx="54864" cy="118872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9" name="Google Shape;359;p9"/>
          <p:cNvSpPr txBox="1"/>
          <p:nvPr/>
        </p:nvSpPr>
        <p:spPr>
          <a:xfrm>
            <a:off x="7909560" y="2651760"/>
            <a:ext cx="35661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2026: Sunday Emerging</a:t>
            </a:r>
            <a:endParaRPr/>
          </a:p>
        </p:txBody>
      </p:sp>
      <p:sp>
        <p:nvSpPr>
          <p:cNvPr id="360" name="Google Shape;360;p9"/>
          <p:cNvSpPr txBox="1"/>
          <p:nvPr/>
        </p:nvSpPr>
        <p:spPr>
          <a:xfrm>
            <a:off x="7909560" y="2926080"/>
            <a:ext cx="356616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Range: £56–£68</a:t>
            </a:r>
            <a:br>
              <a:rPr b="0" lang="en-US" sz="1100">
                <a:solidFill>
                  <a:srgbClr val="1A1A1A"/>
                </a:solidFill>
                <a:latin typeface="Calibri"/>
                <a:ea typeface="Calibri"/>
                <a:cs typeface="Calibri"/>
                <a:sym typeface="Calibri"/>
              </a:rPr>
            </a:br>
            <a:r>
              <a:rPr b="0" lang="en-US" sz="1100">
                <a:solidFill>
                  <a:srgbClr val="1A1A1A"/>
                </a:solidFill>
                <a:latin typeface="Calibri"/>
                <a:ea typeface="Calibri"/>
                <a:cs typeface="Calibri"/>
                <a:sym typeface="Calibri"/>
              </a:rPr>
              <a:t>Sunday at £68 is now 22% above Friday. CVR 2.5% (lowest).</a:t>
            </a:r>
            <a:endParaRPr/>
          </a:p>
        </p:txBody>
      </p:sp>
      <p:sp>
        <p:nvSpPr>
          <p:cNvPr id="361" name="Google Shape;361;p9"/>
          <p:cNvSpPr/>
          <p:nvPr/>
        </p:nvSpPr>
        <p:spPr>
          <a:xfrm>
            <a:off x="548640" y="4663440"/>
            <a:ext cx="11064240" cy="548640"/>
          </a:xfrm>
          <a:prstGeom prst="rect">
            <a:avLst/>
          </a:prstGeom>
          <a:solidFill>
            <a:srgbClr val="E8F0FE"/>
          </a:solidFill>
          <a:ln cap="flat" cmpd="sng" w="12700">
            <a:solidFill>
              <a:srgbClr val="4285F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9"/>
          <p:cNvSpPr txBox="1"/>
          <p:nvPr/>
        </p:nvSpPr>
        <p:spPr>
          <a:xfrm>
            <a:off x="777240" y="4709160"/>
            <a:ext cx="106071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1A237E"/>
                </a:solidFill>
                <a:latin typeface="Calibri"/>
                <a:ea typeface="Calibri"/>
                <a:cs typeface="Calibri"/>
                <a:sym typeface="Calibri"/>
              </a:rPr>
              <a:t>Recommendation: Reduce Sunday bids by 15-20%. Sunday spent £89,867 in Q1 2026 at the worst CPA and CVR. No day-of-week bid adjustments exist.</a:t>
            </a:r>
            <a:endParaRPr sz="1200"/>
          </a:p>
        </p:txBody>
      </p:sp>
      <p:sp>
        <p:nvSpPr>
          <p:cNvPr id="363" name="Google Shape;363;p9"/>
          <p:cNvSpPr/>
          <p:nvPr/>
        </p:nvSpPr>
        <p:spPr>
          <a:xfrm>
            <a:off x="548640" y="6327648"/>
            <a:ext cx="2770632" cy="27432"/>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9"/>
          <p:cNvSpPr/>
          <p:nvPr/>
        </p:nvSpPr>
        <p:spPr>
          <a:xfrm>
            <a:off x="3319272" y="6327648"/>
            <a:ext cx="2770632" cy="27432"/>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9"/>
          <p:cNvSpPr/>
          <p:nvPr/>
        </p:nvSpPr>
        <p:spPr>
          <a:xfrm>
            <a:off x="6099048" y="6327648"/>
            <a:ext cx="2770632" cy="27432"/>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9"/>
          <p:cNvSpPr/>
          <p:nvPr/>
        </p:nvSpPr>
        <p:spPr>
          <a:xfrm>
            <a:off x="8869680" y="6327648"/>
            <a:ext cx="2770632" cy="27432"/>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act_logo_official.png" id="367" name="Google Shape;367;p9"/>
          <p:cNvPicPr preferRelativeResize="0"/>
          <p:nvPr/>
        </p:nvPicPr>
        <p:blipFill rotWithShape="1">
          <a:blip r:embed="rId4">
            <a:alphaModFix/>
          </a:blip>
          <a:srcRect b="0" l="0" r="0" t="0"/>
          <a:stretch/>
        </p:blipFill>
        <p:spPr>
          <a:xfrm>
            <a:off x="548640" y="6400800"/>
            <a:ext cx="201168" cy="201168"/>
          </a:xfrm>
          <a:prstGeom prst="rect">
            <a:avLst/>
          </a:prstGeom>
          <a:noFill/>
          <a:ln>
            <a:noFill/>
          </a:ln>
        </p:spPr>
      </p:pic>
      <p:sp>
        <p:nvSpPr>
          <p:cNvPr id="368" name="Google Shape;368;p9"/>
          <p:cNvSpPr txBox="1"/>
          <p:nvPr/>
        </p:nvSpPr>
        <p:spPr>
          <a:xfrm>
            <a:off x="822960" y="6400800"/>
            <a:ext cx="5486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1A237E"/>
                </a:solidFill>
                <a:latin typeface="Calibri"/>
                <a:ea typeface="Calibri"/>
                <a:cs typeface="Calibri"/>
                <a:sym typeface="Calibri"/>
              </a:rPr>
              <a:t>Christopher Hoole  |  christopherhoole.com  |  Confidential</a:t>
            </a:r>
            <a:endParaRPr/>
          </a:p>
        </p:txBody>
      </p:sp>
      <p:sp>
        <p:nvSpPr>
          <p:cNvPr id="369" name="Google Shape;369;p9"/>
          <p:cNvSpPr txBox="1"/>
          <p:nvPr/>
        </p:nvSpPr>
        <p:spPr>
          <a:xfrm>
            <a:off x="11183112" y="6400800"/>
            <a:ext cx="45720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lang="en-US" sz="1100">
                <a:solidFill>
                  <a:srgbClr val="1A237E"/>
                </a:solidFill>
                <a:latin typeface="Calibri"/>
                <a:ea typeface="Calibri"/>
                <a:cs typeface="Calibri"/>
                <a:sym typeface="Calibri"/>
              </a:rPr>
              <a:t>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10"/>
          <p:cNvSpPr/>
          <p:nvPr/>
        </p:nvSpPr>
        <p:spPr>
          <a:xfrm>
            <a:off x="0" y="0"/>
            <a:ext cx="3047695" cy="54864"/>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10"/>
          <p:cNvSpPr/>
          <p:nvPr/>
        </p:nvSpPr>
        <p:spPr>
          <a:xfrm>
            <a:off x="3047695" y="0"/>
            <a:ext cx="3047695" cy="54864"/>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6" name="Google Shape;376;p10"/>
          <p:cNvSpPr/>
          <p:nvPr/>
        </p:nvSpPr>
        <p:spPr>
          <a:xfrm>
            <a:off x="6095390" y="0"/>
            <a:ext cx="3047695" cy="54864"/>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10"/>
          <p:cNvSpPr/>
          <p:nvPr/>
        </p:nvSpPr>
        <p:spPr>
          <a:xfrm>
            <a:off x="9143085" y="0"/>
            <a:ext cx="3047695" cy="54864"/>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10"/>
          <p:cNvSpPr txBox="1"/>
          <p:nvPr/>
        </p:nvSpPr>
        <p:spPr>
          <a:xfrm>
            <a:off x="548640" y="274320"/>
            <a:ext cx="6400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1A237E"/>
                </a:solidFill>
                <a:latin typeface="Calibri"/>
                <a:ea typeface="Calibri"/>
                <a:cs typeface="Calibri"/>
                <a:sym typeface="Calibri"/>
              </a:rPr>
              <a:t>Hour of Day Performance</a:t>
            </a:r>
            <a:endParaRPr/>
          </a:p>
        </p:txBody>
      </p:sp>
      <p:sp>
        <p:nvSpPr>
          <p:cNvPr id="379" name="Google Shape;379;p10"/>
          <p:cNvSpPr txBox="1"/>
          <p:nvPr/>
        </p:nvSpPr>
        <p:spPr>
          <a:xfrm>
            <a:off x="548640" y="777240"/>
            <a:ext cx="82296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200">
                <a:solidFill>
                  <a:srgbClr val="EA4335"/>
                </a:solidFill>
                <a:latin typeface="Calibri"/>
                <a:ea typeface="Calibri"/>
                <a:cs typeface="Calibri"/>
                <a:sym typeface="Calibri"/>
              </a:rPr>
              <a:t>7am worst in both years: £56 (2025) → £74 (2026) — +32% increase</a:t>
            </a:r>
            <a:endParaRPr sz="1200"/>
          </a:p>
        </p:txBody>
      </p:sp>
      <p:sp>
        <p:nvSpPr>
          <p:cNvPr id="380" name="Google Shape;380;p10"/>
          <p:cNvSpPr/>
          <p:nvPr/>
        </p:nvSpPr>
        <p:spPr>
          <a:xfrm>
            <a:off x="8348472" y="274320"/>
            <a:ext cx="3291840" cy="411480"/>
          </a:xfrm>
          <a:prstGeom prst="rect">
            <a:avLst/>
          </a:prstGeom>
          <a:solidFill>
            <a:srgbClr val="FFFFFF"/>
          </a:solidFill>
          <a:ln cap="flat" cmpd="sng" w="12700">
            <a:solidFill>
              <a:srgbClr val="4285F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10"/>
          <p:cNvSpPr txBox="1"/>
          <p:nvPr/>
        </p:nvSpPr>
        <p:spPr>
          <a:xfrm>
            <a:off x="8439912" y="292608"/>
            <a:ext cx="31089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4285F4"/>
                </a:solidFill>
                <a:latin typeface="Calibri"/>
                <a:ea typeface="Calibri"/>
                <a:cs typeface="Calibri"/>
                <a:sym typeface="Calibri"/>
              </a:rPr>
              <a:t>2025 vs 2026</a:t>
            </a:r>
            <a:endParaRPr sz="1200"/>
          </a:p>
        </p:txBody>
      </p:sp>
      <p:pic>
        <p:nvPicPr>
          <p:cNvPr descr="hod_yoy.png" id="382" name="Google Shape;382;p10"/>
          <p:cNvPicPr preferRelativeResize="0"/>
          <p:nvPr/>
        </p:nvPicPr>
        <p:blipFill rotWithShape="1">
          <a:blip r:embed="rId3">
            <a:alphaModFix/>
          </a:blip>
          <a:srcRect b="0" l="0" r="0" t="0"/>
          <a:stretch/>
        </p:blipFill>
        <p:spPr>
          <a:xfrm>
            <a:off x="548640" y="1188720"/>
            <a:ext cx="11064240" cy="3200400"/>
          </a:xfrm>
          <a:prstGeom prst="rect">
            <a:avLst/>
          </a:prstGeom>
          <a:noFill/>
          <a:ln>
            <a:noFill/>
          </a:ln>
        </p:spPr>
      </p:pic>
      <p:sp>
        <p:nvSpPr>
          <p:cNvPr id="383" name="Google Shape;383;p10"/>
          <p:cNvSpPr/>
          <p:nvPr/>
        </p:nvSpPr>
        <p:spPr>
          <a:xfrm>
            <a:off x="548640" y="4572000"/>
            <a:ext cx="3474720" cy="1280160"/>
          </a:xfrm>
          <a:prstGeom prst="rect">
            <a:avLst/>
          </a:prstGeom>
          <a:solidFill>
            <a:srgbClr val="E6F4E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10"/>
          <p:cNvSpPr/>
          <p:nvPr/>
        </p:nvSpPr>
        <p:spPr>
          <a:xfrm>
            <a:off x="548640" y="4572000"/>
            <a:ext cx="54864" cy="1280160"/>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5" name="Google Shape;385;p10"/>
          <p:cNvSpPr txBox="1"/>
          <p:nvPr/>
        </p:nvSpPr>
        <p:spPr>
          <a:xfrm>
            <a:off x="777240" y="4663440"/>
            <a:ext cx="31089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2025 Range</a:t>
            </a:r>
            <a:endParaRPr/>
          </a:p>
        </p:txBody>
      </p:sp>
      <p:sp>
        <p:nvSpPr>
          <p:cNvPr id="386" name="Google Shape;386;p10"/>
          <p:cNvSpPr txBox="1"/>
          <p:nvPr/>
        </p:nvSpPr>
        <p:spPr>
          <a:xfrm>
            <a:off x="685750" y="4937750"/>
            <a:ext cx="3200400" cy="646500"/>
          </a:xfrm>
          <a:prstGeom prst="rect">
            <a:avLst/>
          </a:prstGeom>
          <a:noFill/>
          <a:ln>
            <a:noFill/>
          </a:ln>
        </p:spPr>
        <p:txBody>
          <a:bodyPr anchorCtr="0" anchor="t" bIns="45700" lIns="91425" spcFirstLastPara="1" rIns="91425" wrap="square" tIns="45700">
            <a:spAutoFit/>
          </a:bodyPr>
          <a:lstStyle/>
          <a:p>
            <a:pPr indent="-304800" lvl="0" marL="457200" marR="0" rtl="0" algn="l">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Best: £39 CPA (5am, 4pm, 1am)</a:t>
            </a:r>
            <a:endParaRPr sz="1200">
              <a:solidFill>
                <a:srgbClr val="1A1A1A"/>
              </a:solidFill>
              <a:latin typeface="Calibri"/>
              <a:ea typeface="Calibri"/>
              <a:cs typeface="Calibri"/>
              <a:sym typeface="Calibri"/>
            </a:endParaRPr>
          </a:p>
          <a:p>
            <a:pPr indent="-304800" lvl="0" marL="457200" marR="0" rtl="0" algn="l">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Worst: £56 CPA (7am)</a:t>
            </a:r>
            <a:endParaRPr sz="1200">
              <a:solidFill>
                <a:srgbClr val="1A1A1A"/>
              </a:solidFill>
              <a:latin typeface="Calibri"/>
              <a:ea typeface="Calibri"/>
              <a:cs typeface="Calibri"/>
              <a:sym typeface="Calibri"/>
            </a:endParaRPr>
          </a:p>
          <a:p>
            <a:pPr indent="-304800" lvl="0" marL="457200" marR="0" rtl="0" algn="l">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Spread: £17</a:t>
            </a:r>
            <a:endParaRPr sz="1200"/>
          </a:p>
        </p:txBody>
      </p:sp>
      <p:sp>
        <p:nvSpPr>
          <p:cNvPr id="387" name="Google Shape;387;p10"/>
          <p:cNvSpPr/>
          <p:nvPr/>
        </p:nvSpPr>
        <p:spPr>
          <a:xfrm>
            <a:off x="4297680" y="4572000"/>
            <a:ext cx="3474720" cy="1280160"/>
          </a:xfrm>
          <a:prstGeom prst="rect">
            <a:avLst/>
          </a:prstGeom>
          <a:solidFill>
            <a:srgbClr val="FCE8E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10"/>
          <p:cNvSpPr/>
          <p:nvPr/>
        </p:nvSpPr>
        <p:spPr>
          <a:xfrm>
            <a:off x="4297680" y="4572000"/>
            <a:ext cx="54864" cy="128016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9" name="Google Shape;389;p10"/>
          <p:cNvSpPr txBox="1"/>
          <p:nvPr/>
        </p:nvSpPr>
        <p:spPr>
          <a:xfrm>
            <a:off x="4526280" y="4663440"/>
            <a:ext cx="31089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2026 Range</a:t>
            </a:r>
            <a:endParaRPr/>
          </a:p>
        </p:txBody>
      </p:sp>
      <p:sp>
        <p:nvSpPr>
          <p:cNvPr id="390" name="Google Shape;390;p10"/>
          <p:cNvSpPr txBox="1"/>
          <p:nvPr/>
        </p:nvSpPr>
        <p:spPr>
          <a:xfrm>
            <a:off x="4434775" y="4937750"/>
            <a:ext cx="3200400" cy="646500"/>
          </a:xfrm>
          <a:prstGeom prst="rect">
            <a:avLst/>
          </a:prstGeom>
          <a:noFill/>
          <a:ln>
            <a:noFill/>
          </a:ln>
        </p:spPr>
        <p:txBody>
          <a:bodyPr anchorCtr="0" anchor="t" bIns="45700" lIns="91425" spcFirstLastPara="1" rIns="91425" wrap="square" tIns="45700">
            <a:spAutoFit/>
          </a:bodyPr>
          <a:lstStyle/>
          <a:p>
            <a:pPr indent="-304800" lvl="0" marL="457200" marR="0" rtl="0" algn="l">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Best: £42 CPA (3am)</a:t>
            </a:r>
            <a:endParaRPr sz="1200">
              <a:solidFill>
                <a:srgbClr val="1A1A1A"/>
              </a:solidFill>
              <a:latin typeface="Calibri"/>
              <a:ea typeface="Calibri"/>
              <a:cs typeface="Calibri"/>
              <a:sym typeface="Calibri"/>
            </a:endParaRPr>
          </a:p>
          <a:p>
            <a:pPr indent="-304800" lvl="0" marL="457200" marR="0" rtl="0" algn="l">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Worst: £74 CPA (7am)</a:t>
            </a:r>
            <a:endParaRPr sz="1200">
              <a:solidFill>
                <a:srgbClr val="1A1A1A"/>
              </a:solidFill>
              <a:latin typeface="Calibri"/>
              <a:ea typeface="Calibri"/>
              <a:cs typeface="Calibri"/>
              <a:sym typeface="Calibri"/>
            </a:endParaRPr>
          </a:p>
          <a:p>
            <a:pPr indent="-304800" lvl="0" marL="457200" marR="0" rtl="0" algn="l">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Spread: £32 — nearly doubled</a:t>
            </a:r>
            <a:endParaRPr sz="1200"/>
          </a:p>
        </p:txBody>
      </p:sp>
      <p:sp>
        <p:nvSpPr>
          <p:cNvPr id="391" name="Google Shape;391;p10"/>
          <p:cNvSpPr/>
          <p:nvPr/>
        </p:nvSpPr>
        <p:spPr>
          <a:xfrm>
            <a:off x="8046720" y="4572000"/>
            <a:ext cx="3566160" cy="1280160"/>
          </a:xfrm>
          <a:prstGeom prst="rect">
            <a:avLst/>
          </a:prstGeom>
          <a:solidFill>
            <a:srgbClr val="E8F0F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10"/>
          <p:cNvSpPr/>
          <p:nvPr/>
        </p:nvSpPr>
        <p:spPr>
          <a:xfrm>
            <a:off x="8046720" y="4572000"/>
            <a:ext cx="54864" cy="1280160"/>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10"/>
          <p:cNvSpPr txBox="1"/>
          <p:nvPr/>
        </p:nvSpPr>
        <p:spPr>
          <a:xfrm>
            <a:off x="8275320" y="4663440"/>
            <a:ext cx="32004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Recommendation</a:t>
            </a:r>
            <a:endParaRPr/>
          </a:p>
        </p:txBody>
      </p:sp>
      <p:sp>
        <p:nvSpPr>
          <p:cNvPr id="394" name="Google Shape;394;p10"/>
          <p:cNvSpPr txBox="1"/>
          <p:nvPr/>
        </p:nvSpPr>
        <p:spPr>
          <a:xfrm>
            <a:off x="8138200" y="4937750"/>
            <a:ext cx="3474600" cy="831000"/>
          </a:xfrm>
          <a:prstGeom prst="rect">
            <a:avLst/>
          </a:prstGeom>
          <a:noFill/>
          <a:ln>
            <a:noFill/>
          </a:ln>
        </p:spPr>
        <p:txBody>
          <a:bodyPr anchorCtr="0" anchor="t" bIns="45700" lIns="91425" spcFirstLastPara="1" rIns="91425" wrap="square" tIns="45700">
            <a:spAutoFit/>
          </a:bodyPr>
          <a:lstStyle/>
          <a:p>
            <a:pPr indent="-304800" lvl="0" marL="457200" marR="0" rtl="0" algn="l">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Implement ad schedule bid adjustments.</a:t>
            </a:r>
            <a:endParaRPr sz="1200">
              <a:solidFill>
                <a:srgbClr val="1A1A1A"/>
              </a:solidFill>
              <a:latin typeface="Calibri"/>
              <a:ea typeface="Calibri"/>
              <a:cs typeface="Calibri"/>
              <a:sym typeface="Calibri"/>
            </a:endParaRPr>
          </a:p>
          <a:p>
            <a:pPr indent="-304800" lvl="0" marL="457200" marR="0" rtl="0" algn="l">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Reduce 7-8am by 15-20%, boost 4-5pm by 10%. </a:t>
            </a:r>
            <a:endParaRPr b="0" sz="1200">
              <a:solidFill>
                <a:srgbClr val="1A1A1A"/>
              </a:solidFill>
              <a:latin typeface="Calibri"/>
              <a:ea typeface="Calibri"/>
              <a:cs typeface="Calibri"/>
              <a:sym typeface="Calibri"/>
            </a:endParaRPr>
          </a:p>
          <a:p>
            <a:pPr indent="-304800" lvl="0" marL="457200" marR="0" rtl="0" algn="l">
              <a:spcBef>
                <a:spcPts val="0"/>
              </a:spcBef>
              <a:spcAft>
                <a:spcPts val="0"/>
              </a:spcAft>
              <a:buClr>
                <a:srgbClr val="1A1A1A"/>
              </a:buClr>
              <a:buSzPts val="1200"/>
              <a:buFont typeface="Calibri"/>
              <a:buChar char="●"/>
            </a:pPr>
            <a:r>
              <a:rPr b="0" lang="en-US" sz="1200">
                <a:solidFill>
                  <a:srgbClr val="1A1A1A"/>
                </a:solidFill>
                <a:latin typeface="Calibri"/>
                <a:ea typeface="Calibri"/>
                <a:cs typeface="Calibri"/>
                <a:sym typeface="Calibri"/>
              </a:rPr>
              <a:t>No scheduling exists in the account.</a:t>
            </a:r>
            <a:endParaRPr sz="1200"/>
          </a:p>
        </p:txBody>
      </p:sp>
      <p:sp>
        <p:nvSpPr>
          <p:cNvPr id="395" name="Google Shape;395;p10"/>
          <p:cNvSpPr/>
          <p:nvPr/>
        </p:nvSpPr>
        <p:spPr>
          <a:xfrm>
            <a:off x="548640" y="6327648"/>
            <a:ext cx="2770632" cy="27432"/>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6" name="Google Shape;396;p10"/>
          <p:cNvSpPr/>
          <p:nvPr/>
        </p:nvSpPr>
        <p:spPr>
          <a:xfrm>
            <a:off x="3319272" y="6327648"/>
            <a:ext cx="2770632" cy="27432"/>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10"/>
          <p:cNvSpPr/>
          <p:nvPr/>
        </p:nvSpPr>
        <p:spPr>
          <a:xfrm>
            <a:off x="6099048" y="6327648"/>
            <a:ext cx="2770632" cy="27432"/>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10"/>
          <p:cNvSpPr/>
          <p:nvPr/>
        </p:nvSpPr>
        <p:spPr>
          <a:xfrm>
            <a:off x="8869680" y="6327648"/>
            <a:ext cx="2770632" cy="27432"/>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act_logo_official.png" id="399" name="Google Shape;399;p10"/>
          <p:cNvPicPr preferRelativeResize="0"/>
          <p:nvPr/>
        </p:nvPicPr>
        <p:blipFill rotWithShape="1">
          <a:blip r:embed="rId4">
            <a:alphaModFix/>
          </a:blip>
          <a:srcRect b="0" l="0" r="0" t="0"/>
          <a:stretch/>
        </p:blipFill>
        <p:spPr>
          <a:xfrm>
            <a:off x="548640" y="6400800"/>
            <a:ext cx="201168" cy="201168"/>
          </a:xfrm>
          <a:prstGeom prst="rect">
            <a:avLst/>
          </a:prstGeom>
          <a:noFill/>
          <a:ln>
            <a:noFill/>
          </a:ln>
        </p:spPr>
      </p:pic>
      <p:sp>
        <p:nvSpPr>
          <p:cNvPr id="400" name="Google Shape;400;p10"/>
          <p:cNvSpPr txBox="1"/>
          <p:nvPr/>
        </p:nvSpPr>
        <p:spPr>
          <a:xfrm>
            <a:off x="822960" y="6400800"/>
            <a:ext cx="5486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1A237E"/>
                </a:solidFill>
                <a:latin typeface="Calibri"/>
                <a:ea typeface="Calibri"/>
                <a:cs typeface="Calibri"/>
                <a:sym typeface="Calibri"/>
              </a:rPr>
              <a:t>Christopher Hoole  |  christopherhoole.com  |  Confidential</a:t>
            </a:r>
            <a:endParaRPr/>
          </a:p>
        </p:txBody>
      </p:sp>
      <p:sp>
        <p:nvSpPr>
          <p:cNvPr id="401" name="Google Shape;401;p10"/>
          <p:cNvSpPr txBox="1"/>
          <p:nvPr/>
        </p:nvSpPr>
        <p:spPr>
          <a:xfrm>
            <a:off x="11183112" y="6400800"/>
            <a:ext cx="45720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lang="en-US" sz="1100">
                <a:solidFill>
                  <a:srgbClr val="1A237E"/>
                </a:solidFill>
                <a:latin typeface="Calibri"/>
                <a:ea typeface="Calibri"/>
                <a:cs typeface="Calibri"/>
                <a:sym typeface="Calibri"/>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5" name="Shape 405"/>
        <p:cNvGrpSpPr/>
        <p:nvPr/>
      </p:nvGrpSpPr>
      <p:grpSpPr>
        <a:xfrm>
          <a:off x="0" y="0"/>
          <a:ext cx="0" cy="0"/>
          <a:chOff x="0" y="0"/>
          <a:chExt cx="0" cy="0"/>
        </a:xfrm>
      </p:grpSpPr>
      <p:sp>
        <p:nvSpPr>
          <p:cNvPr id="406" name="Google Shape;406;p11"/>
          <p:cNvSpPr/>
          <p:nvPr/>
        </p:nvSpPr>
        <p:spPr>
          <a:xfrm>
            <a:off x="0" y="0"/>
            <a:ext cx="3047695" cy="54864"/>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11"/>
          <p:cNvSpPr/>
          <p:nvPr/>
        </p:nvSpPr>
        <p:spPr>
          <a:xfrm>
            <a:off x="3047695" y="0"/>
            <a:ext cx="3047695" cy="54864"/>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11"/>
          <p:cNvSpPr/>
          <p:nvPr/>
        </p:nvSpPr>
        <p:spPr>
          <a:xfrm>
            <a:off x="6095390" y="0"/>
            <a:ext cx="3047695" cy="54864"/>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11"/>
          <p:cNvSpPr/>
          <p:nvPr/>
        </p:nvSpPr>
        <p:spPr>
          <a:xfrm>
            <a:off x="9143085" y="0"/>
            <a:ext cx="3047695" cy="54864"/>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p11"/>
          <p:cNvSpPr txBox="1"/>
          <p:nvPr/>
        </p:nvSpPr>
        <p:spPr>
          <a:xfrm>
            <a:off x="548640" y="274320"/>
            <a:ext cx="6400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1A237E"/>
                </a:solidFill>
                <a:latin typeface="Calibri"/>
                <a:ea typeface="Calibri"/>
                <a:cs typeface="Calibri"/>
                <a:sym typeface="Calibri"/>
              </a:rPr>
              <a:t>Geographic Performance by Postcode</a:t>
            </a:r>
            <a:endParaRPr/>
          </a:p>
        </p:txBody>
      </p:sp>
      <p:sp>
        <p:nvSpPr>
          <p:cNvPr id="411" name="Google Shape;411;p11"/>
          <p:cNvSpPr txBox="1"/>
          <p:nvPr/>
        </p:nvSpPr>
        <p:spPr>
          <a:xfrm>
            <a:off x="548640" y="777240"/>
            <a:ext cx="82296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200">
                <a:solidFill>
                  <a:srgbClr val="EA4335"/>
                </a:solidFill>
                <a:latin typeface="Calibri"/>
                <a:ea typeface="Calibri"/>
                <a:cs typeface="Calibri"/>
                <a:sym typeface="Calibri"/>
              </a:rPr>
              <a:t>Zero-conv postcodes: £2,211 waste (2025) + £2,088 waste (2026)</a:t>
            </a:r>
            <a:endParaRPr sz="1200"/>
          </a:p>
        </p:txBody>
      </p:sp>
      <p:sp>
        <p:nvSpPr>
          <p:cNvPr id="412" name="Google Shape;412;p11"/>
          <p:cNvSpPr/>
          <p:nvPr/>
        </p:nvSpPr>
        <p:spPr>
          <a:xfrm>
            <a:off x="8348472" y="274320"/>
            <a:ext cx="3291840" cy="411480"/>
          </a:xfrm>
          <a:prstGeom prst="rect">
            <a:avLst/>
          </a:prstGeom>
          <a:solidFill>
            <a:srgbClr val="FFFFFF"/>
          </a:solidFill>
          <a:ln cap="flat" cmpd="sng" w="12700">
            <a:solidFill>
              <a:srgbClr val="4285F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11"/>
          <p:cNvSpPr txBox="1"/>
          <p:nvPr/>
        </p:nvSpPr>
        <p:spPr>
          <a:xfrm>
            <a:off x="8439912" y="292608"/>
            <a:ext cx="31089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4285F4"/>
                </a:solidFill>
                <a:latin typeface="Calibri"/>
                <a:ea typeface="Calibri"/>
                <a:cs typeface="Calibri"/>
                <a:sym typeface="Calibri"/>
              </a:rPr>
              <a:t>2025 vs 2026</a:t>
            </a:r>
            <a:endParaRPr sz="1200"/>
          </a:p>
        </p:txBody>
      </p:sp>
      <p:sp>
        <p:nvSpPr>
          <p:cNvPr id="414" name="Google Shape;414;p11"/>
          <p:cNvSpPr txBox="1"/>
          <p:nvPr/>
        </p:nvSpPr>
        <p:spPr>
          <a:xfrm>
            <a:off x="548640" y="1097280"/>
            <a:ext cx="54864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1A237E"/>
                </a:solidFill>
                <a:latin typeface="Calibri"/>
                <a:ea typeface="Calibri"/>
                <a:cs typeface="Calibri"/>
                <a:sym typeface="Calibri"/>
              </a:rPr>
              <a:t>2025 — Worst CPA Postcodes (3+ conv)</a:t>
            </a:r>
            <a:endParaRPr/>
          </a:p>
        </p:txBody>
      </p:sp>
      <p:graphicFrame>
        <p:nvGraphicFramePr>
          <p:cNvPr id="415" name="Google Shape;415;p11"/>
          <p:cNvGraphicFramePr/>
          <p:nvPr/>
        </p:nvGraphicFramePr>
        <p:xfrm>
          <a:off x="548640" y="1371600"/>
          <a:ext cx="3000000" cy="3000000"/>
        </p:xfrm>
        <a:graphic>
          <a:graphicData uri="http://schemas.openxmlformats.org/drawingml/2006/table">
            <a:tbl>
              <a:tblPr bandRow="1" firstRow="1">
                <a:noFill/>
                <a:tableStyleId>{D63477AD-CC91-4D8A-8B12-AFA7241523EF}</a:tableStyleId>
              </a:tblPr>
              <a:tblGrid>
                <a:gridCol w="2011675"/>
                <a:gridCol w="1097275"/>
                <a:gridCol w="640075"/>
                <a:gridCol w="731525"/>
              </a:tblGrid>
              <a:tr h="274325">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Postcode</a:t>
                      </a:r>
                      <a:endParaRPr/>
                    </a:p>
                  </a:txBody>
                  <a:tcPr marT="45725" marB="45725" marR="91450" marL="91450">
                    <a:solidFill>
                      <a:srgbClr val="1A237E"/>
                    </a:solidFill>
                  </a:tcPr>
                </a:tc>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Spend</a:t>
                      </a:r>
                      <a:endParaRPr/>
                    </a:p>
                  </a:txBody>
                  <a:tcPr marT="45725" marB="45725" marR="91450" marL="91450">
                    <a:solidFill>
                      <a:srgbClr val="1A237E"/>
                    </a:solidFill>
                  </a:tcPr>
                </a:tc>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Conv</a:t>
                      </a:r>
                      <a:endParaRPr/>
                    </a:p>
                  </a:txBody>
                  <a:tcPr marT="45725" marB="45725" marR="91450" marL="91450">
                    <a:solidFill>
                      <a:srgbClr val="1A237E"/>
                    </a:solidFill>
                  </a:tcPr>
                </a:tc>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CPA</a:t>
                      </a:r>
                      <a:endParaRPr/>
                    </a:p>
                  </a:txBody>
                  <a:tcPr marT="45725" marB="45725" marR="91450" marL="91450">
                    <a:solidFill>
                      <a:srgbClr val="1A237E"/>
                    </a:solidFill>
                  </a:tcPr>
                </a:tc>
              </a:tr>
              <a:tr h="274325">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SL2, England, United King</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£712</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4</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£158</a:t>
                      </a:r>
                      <a:endParaRPr/>
                    </a:p>
                  </a:txBody>
                  <a:tcPr marT="45725" marB="45725" marR="91450" marL="91450">
                    <a:solidFill>
                      <a:srgbClr val="F5F6FA"/>
                    </a:solidFill>
                  </a:tcPr>
                </a:tc>
              </a:tr>
              <a:tr h="274325">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SW1P, England, United Kin</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£962</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8</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£120</a:t>
                      </a:r>
                      <a:endParaRPr/>
                    </a:p>
                  </a:txBody>
                  <a:tcPr marT="45725" marB="45725" marR="91450" marL="91450">
                    <a:solidFill>
                      <a:srgbClr val="FFFFFF"/>
                    </a:solidFill>
                  </a:tcPr>
                </a:tc>
              </a:tr>
              <a:tr h="274325">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IG2, England, United King</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£703</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7</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£100</a:t>
                      </a:r>
                      <a:endParaRPr/>
                    </a:p>
                  </a:txBody>
                  <a:tcPr marT="45725" marB="45725" marR="91450" marL="91450">
                    <a:solidFill>
                      <a:srgbClr val="F5F6FA"/>
                    </a:solidFill>
                  </a:tcPr>
                </a:tc>
              </a:tr>
              <a:tr h="274325">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TW9, England, United King</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£786</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8</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£98</a:t>
                      </a:r>
                      <a:endParaRPr/>
                    </a:p>
                  </a:txBody>
                  <a:tcPr marT="45725" marB="45725" marR="91450" marL="91450">
                    <a:solidFill>
                      <a:srgbClr val="FFFFFF"/>
                    </a:solidFill>
                  </a:tcPr>
                </a:tc>
              </a:tr>
              <a:tr h="274325">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SE23, England, United Kin</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£389</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4</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£97</a:t>
                      </a:r>
                      <a:endParaRPr/>
                    </a:p>
                  </a:txBody>
                  <a:tcPr marT="45725" marB="45725" marR="91450" marL="91450">
                    <a:solidFill>
                      <a:srgbClr val="F5F6FA"/>
                    </a:solidFill>
                  </a:tcPr>
                </a:tc>
              </a:tr>
              <a:tr h="274325">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UB7, England, United King</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£286</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3</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£95</a:t>
                      </a:r>
                      <a:endParaRPr/>
                    </a:p>
                  </a:txBody>
                  <a:tcPr marT="45725" marB="45725" marR="91450" marL="91450">
                    <a:solidFill>
                      <a:srgbClr val="FFFFFF"/>
                    </a:solidFill>
                  </a:tcPr>
                </a:tc>
              </a:tr>
            </a:tbl>
          </a:graphicData>
        </a:graphic>
      </p:graphicFrame>
      <p:sp>
        <p:nvSpPr>
          <p:cNvPr id="416" name="Google Shape;416;p11"/>
          <p:cNvSpPr txBox="1"/>
          <p:nvPr/>
        </p:nvSpPr>
        <p:spPr>
          <a:xfrm>
            <a:off x="6217920" y="1097280"/>
            <a:ext cx="54864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1A237E"/>
                </a:solidFill>
                <a:latin typeface="Calibri"/>
                <a:ea typeface="Calibri"/>
                <a:cs typeface="Calibri"/>
                <a:sym typeface="Calibri"/>
              </a:rPr>
              <a:t>2026 — Worst CPA Postcodes (3+ conv)</a:t>
            </a:r>
            <a:endParaRPr/>
          </a:p>
        </p:txBody>
      </p:sp>
      <p:graphicFrame>
        <p:nvGraphicFramePr>
          <p:cNvPr id="417" name="Google Shape;417;p11"/>
          <p:cNvGraphicFramePr/>
          <p:nvPr/>
        </p:nvGraphicFramePr>
        <p:xfrm>
          <a:off x="6217920" y="1371600"/>
          <a:ext cx="3000000" cy="3000000"/>
        </p:xfrm>
        <a:graphic>
          <a:graphicData uri="http://schemas.openxmlformats.org/drawingml/2006/table">
            <a:tbl>
              <a:tblPr bandRow="1" firstRow="1">
                <a:noFill/>
                <a:tableStyleId>{D63477AD-CC91-4D8A-8B12-AFA7241523EF}</a:tableStyleId>
              </a:tblPr>
              <a:tblGrid>
                <a:gridCol w="2011675"/>
                <a:gridCol w="1097275"/>
                <a:gridCol w="640075"/>
                <a:gridCol w="731525"/>
              </a:tblGrid>
              <a:tr h="274325">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Postcode</a:t>
                      </a:r>
                      <a:endParaRPr/>
                    </a:p>
                  </a:txBody>
                  <a:tcPr marT="45725" marB="45725" marR="91450" marL="91450">
                    <a:solidFill>
                      <a:srgbClr val="1A237E"/>
                    </a:solidFill>
                  </a:tcPr>
                </a:tc>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Spend</a:t>
                      </a:r>
                      <a:endParaRPr/>
                    </a:p>
                  </a:txBody>
                  <a:tcPr marT="45725" marB="45725" marR="91450" marL="91450">
                    <a:solidFill>
                      <a:srgbClr val="1A237E"/>
                    </a:solidFill>
                  </a:tcPr>
                </a:tc>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Conv</a:t>
                      </a:r>
                      <a:endParaRPr/>
                    </a:p>
                  </a:txBody>
                  <a:tcPr marT="45725" marB="45725" marR="91450" marL="91450">
                    <a:solidFill>
                      <a:srgbClr val="1A237E"/>
                    </a:solidFill>
                  </a:tcPr>
                </a:tc>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CPA</a:t>
                      </a:r>
                      <a:endParaRPr/>
                    </a:p>
                  </a:txBody>
                  <a:tcPr marT="45725" marB="45725" marR="91450" marL="91450">
                    <a:solidFill>
                      <a:srgbClr val="1A237E"/>
                    </a:solidFill>
                  </a:tcPr>
                </a:tc>
              </a:tr>
              <a:tr h="274325">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N13, England, United King</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£508</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3</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£169</a:t>
                      </a:r>
                      <a:endParaRPr/>
                    </a:p>
                  </a:txBody>
                  <a:tcPr marT="45725" marB="45725" marR="91450" marL="91450">
                    <a:solidFill>
                      <a:srgbClr val="F5F6FA"/>
                    </a:solidFill>
                  </a:tcPr>
                </a:tc>
              </a:tr>
              <a:tr h="274325">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TW2, England, United King</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£683</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5</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£137</a:t>
                      </a:r>
                      <a:endParaRPr/>
                    </a:p>
                  </a:txBody>
                  <a:tcPr marT="45725" marB="45725" marR="91450" marL="91450">
                    <a:solidFill>
                      <a:srgbClr val="FFFFFF"/>
                    </a:solidFill>
                  </a:tcPr>
                </a:tc>
              </a:tr>
              <a:tr h="274325">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WD23, England, United Kin</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£617</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5</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£123</a:t>
                      </a:r>
                      <a:endParaRPr/>
                    </a:p>
                  </a:txBody>
                  <a:tcPr marT="45725" marB="45725" marR="91450" marL="91450">
                    <a:solidFill>
                      <a:srgbClr val="F5F6FA"/>
                    </a:solidFill>
                  </a:tcPr>
                </a:tc>
              </a:tr>
              <a:tr h="274325">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SM3, England, United King</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£491</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4</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£123</a:t>
                      </a:r>
                      <a:endParaRPr/>
                    </a:p>
                  </a:txBody>
                  <a:tcPr marT="45725" marB="45725" marR="91450" marL="91450">
                    <a:solidFill>
                      <a:srgbClr val="FFFFFF"/>
                    </a:solidFill>
                  </a:tcPr>
                </a:tc>
              </a:tr>
              <a:tr h="274325">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N17, England, United King</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£361</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3</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£120</a:t>
                      </a:r>
                      <a:endParaRPr/>
                    </a:p>
                  </a:txBody>
                  <a:tcPr marT="45725" marB="45725" marR="91450" marL="91450">
                    <a:solidFill>
                      <a:srgbClr val="F5F6FA"/>
                    </a:solidFill>
                  </a:tcPr>
                </a:tc>
              </a:tr>
              <a:tr h="274325">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W13, England, United King</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£594</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5</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£119</a:t>
                      </a:r>
                      <a:endParaRPr/>
                    </a:p>
                  </a:txBody>
                  <a:tcPr marT="45725" marB="45725" marR="91450" marL="91450">
                    <a:solidFill>
                      <a:srgbClr val="FFFFFF"/>
                    </a:solidFill>
                  </a:tcPr>
                </a:tc>
              </a:tr>
            </a:tbl>
          </a:graphicData>
        </a:graphic>
      </p:graphicFrame>
      <p:sp>
        <p:nvSpPr>
          <p:cNvPr id="418" name="Google Shape;418;p11"/>
          <p:cNvSpPr txBox="1"/>
          <p:nvPr/>
        </p:nvSpPr>
        <p:spPr>
          <a:xfrm>
            <a:off x="548640" y="3474720"/>
            <a:ext cx="5486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34A853"/>
                </a:solidFill>
                <a:latin typeface="Calibri"/>
                <a:ea typeface="Calibri"/>
                <a:cs typeface="Calibri"/>
                <a:sym typeface="Calibri"/>
              </a:rPr>
              <a:t>2026 — Best CPA Postcodes (3+ conv)</a:t>
            </a:r>
            <a:endParaRPr sz="1200"/>
          </a:p>
        </p:txBody>
      </p:sp>
      <p:graphicFrame>
        <p:nvGraphicFramePr>
          <p:cNvPr id="419" name="Google Shape;419;p11"/>
          <p:cNvGraphicFramePr/>
          <p:nvPr/>
        </p:nvGraphicFramePr>
        <p:xfrm>
          <a:off x="548640" y="3749039"/>
          <a:ext cx="3000000" cy="3000000"/>
        </p:xfrm>
        <a:graphic>
          <a:graphicData uri="http://schemas.openxmlformats.org/drawingml/2006/table">
            <a:tbl>
              <a:tblPr bandRow="1" firstRow="1">
                <a:noFill/>
                <a:tableStyleId>{D63477AD-CC91-4D8A-8B12-AFA7241523EF}</a:tableStyleId>
              </a:tblPr>
              <a:tblGrid>
                <a:gridCol w="2011675"/>
                <a:gridCol w="1097275"/>
                <a:gridCol w="640075"/>
                <a:gridCol w="731525"/>
              </a:tblGrid>
              <a:tr h="274325">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Postcode</a:t>
                      </a:r>
                      <a:endParaRPr/>
                    </a:p>
                  </a:txBody>
                  <a:tcPr marT="45725" marB="45725" marR="91450" marL="91450">
                    <a:solidFill>
                      <a:srgbClr val="1A237E"/>
                    </a:solidFill>
                  </a:tcPr>
                </a:tc>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Spend</a:t>
                      </a:r>
                      <a:endParaRPr/>
                    </a:p>
                  </a:txBody>
                  <a:tcPr marT="45725" marB="45725" marR="91450" marL="91450">
                    <a:solidFill>
                      <a:srgbClr val="1A237E"/>
                    </a:solidFill>
                  </a:tcPr>
                </a:tc>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Conv</a:t>
                      </a:r>
                      <a:endParaRPr/>
                    </a:p>
                  </a:txBody>
                  <a:tcPr marT="45725" marB="45725" marR="91450" marL="91450">
                    <a:solidFill>
                      <a:srgbClr val="1A237E"/>
                    </a:solidFill>
                  </a:tcPr>
                </a:tc>
                <a:tc>
                  <a:txBody>
                    <a:bodyPr/>
                    <a:lstStyle/>
                    <a:p>
                      <a:pPr indent="0" lvl="0" marL="0" marR="0" rtl="0" algn="l">
                        <a:spcBef>
                          <a:spcPts val="0"/>
                        </a:spcBef>
                        <a:spcAft>
                          <a:spcPts val="0"/>
                        </a:spcAft>
                        <a:buNone/>
                      </a:pPr>
                      <a:r>
                        <a:rPr b="1" lang="en-US" sz="1000" u="none" cap="none" strike="noStrike">
                          <a:solidFill>
                            <a:srgbClr val="FFFFFF"/>
                          </a:solidFill>
                          <a:latin typeface="Calibri"/>
                          <a:ea typeface="Calibri"/>
                          <a:cs typeface="Calibri"/>
                          <a:sym typeface="Calibri"/>
                        </a:rPr>
                        <a:t>CPA</a:t>
                      </a:r>
                      <a:endParaRPr/>
                    </a:p>
                  </a:txBody>
                  <a:tcPr marT="45725" marB="45725" marR="91450" marL="91450">
                    <a:solidFill>
                      <a:srgbClr val="1A237E"/>
                    </a:solidFill>
                  </a:tcPr>
                </a:tc>
              </a:tr>
              <a:tr h="274325">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SM4, England, United King</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£68</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5</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£14</a:t>
                      </a:r>
                      <a:endParaRPr/>
                    </a:p>
                  </a:txBody>
                  <a:tcPr marT="45725" marB="45725" marR="91450" marL="91450">
                    <a:solidFill>
                      <a:srgbClr val="F5F6FA"/>
                    </a:solidFill>
                  </a:tcPr>
                </a:tc>
              </a:tr>
              <a:tr h="274325">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EN4, England, United King</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£41</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3</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£14</a:t>
                      </a:r>
                      <a:endParaRPr/>
                    </a:p>
                  </a:txBody>
                  <a:tcPr marT="45725" marB="45725" marR="91450" marL="91450">
                    <a:solidFill>
                      <a:srgbClr val="FFFFFF"/>
                    </a:solidFill>
                  </a:tcPr>
                </a:tc>
              </a:tr>
              <a:tr h="274325">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CM18, England, United Kin</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£45</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3</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£15</a:t>
                      </a:r>
                      <a:endParaRPr/>
                    </a:p>
                  </a:txBody>
                  <a:tcPr marT="45725" marB="45725" marR="91450" marL="91450">
                    <a:solidFill>
                      <a:srgbClr val="F5F6FA"/>
                    </a:solidFill>
                  </a:tcPr>
                </a:tc>
              </a:tr>
              <a:tr h="274325">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WD7, England, United King</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£73</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4</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£18</a:t>
                      </a:r>
                      <a:endParaRPr/>
                    </a:p>
                  </a:txBody>
                  <a:tcPr marT="45725" marB="45725" marR="91450" marL="91450">
                    <a:solidFill>
                      <a:srgbClr val="FFFFFF"/>
                    </a:solidFill>
                  </a:tcPr>
                </a:tc>
              </a:tr>
              <a:tr h="274325">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SW13, England, United Kin</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£57</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3</a:t>
                      </a:r>
                      <a:endParaRPr/>
                    </a:p>
                  </a:txBody>
                  <a:tcPr marT="45725" marB="45725" marR="91450" marL="91450">
                    <a:solidFill>
                      <a:srgbClr val="F5F6FA"/>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£19</a:t>
                      </a:r>
                      <a:endParaRPr/>
                    </a:p>
                  </a:txBody>
                  <a:tcPr marT="45725" marB="45725" marR="91450" marL="91450">
                    <a:solidFill>
                      <a:srgbClr val="F5F6FA"/>
                    </a:solidFill>
                  </a:tcPr>
                </a:tc>
              </a:tr>
              <a:tr h="274325">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RM2, England, United King</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£80</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4</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000" u="none" cap="none" strike="noStrike">
                          <a:solidFill>
                            <a:srgbClr val="1A1A1A"/>
                          </a:solidFill>
                          <a:latin typeface="Calibri"/>
                          <a:ea typeface="Calibri"/>
                          <a:cs typeface="Calibri"/>
                          <a:sym typeface="Calibri"/>
                        </a:rPr>
                        <a:t>£20</a:t>
                      </a:r>
                      <a:endParaRPr/>
                    </a:p>
                  </a:txBody>
                  <a:tcPr marT="45725" marB="45725" marR="91450" marL="91450">
                    <a:solidFill>
                      <a:srgbClr val="FFFFFF"/>
                    </a:solidFill>
                  </a:tcPr>
                </a:tc>
              </a:tr>
            </a:tbl>
          </a:graphicData>
        </a:graphic>
      </p:graphicFrame>
      <p:sp>
        <p:nvSpPr>
          <p:cNvPr id="420" name="Google Shape;420;p11"/>
          <p:cNvSpPr/>
          <p:nvPr/>
        </p:nvSpPr>
        <p:spPr>
          <a:xfrm>
            <a:off x="6217920" y="3474720"/>
            <a:ext cx="5303520" cy="2286000"/>
          </a:xfrm>
          <a:prstGeom prst="rect">
            <a:avLst/>
          </a:prstGeom>
          <a:solidFill>
            <a:srgbClr val="E6F4E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11"/>
          <p:cNvSpPr/>
          <p:nvPr/>
        </p:nvSpPr>
        <p:spPr>
          <a:xfrm>
            <a:off x="6217920" y="3474720"/>
            <a:ext cx="54864" cy="2286000"/>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11"/>
          <p:cNvSpPr txBox="1"/>
          <p:nvPr/>
        </p:nvSpPr>
        <p:spPr>
          <a:xfrm>
            <a:off x="6446520" y="3566160"/>
            <a:ext cx="49377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Recommendation: Postcode Targeting</a:t>
            </a:r>
            <a:endParaRPr/>
          </a:p>
        </p:txBody>
      </p:sp>
      <p:sp>
        <p:nvSpPr>
          <p:cNvPr id="423" name="Google Shape;423;p11"/>
          <p:cNvSpPr txBox="1"/>
          <p:nvPr/>
        </p:nvSpPr>
        <p:spPr>
          <a:xfrm>
            <a:off x="6446520" y="3840480"/>
            <a:ext cx="4937700" cy="15516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The data shows CPA ranging from £14 to £169 across London postcodes. Replace radius targeting with individual postcodes to unlock bid adjustments per area. </a:t>
            </a:r>
            <a:endParaRPr b="0" sz="1200">
              <a:solidFill>
                <a:srgbClr val="1A1A1A"/>
              </a:solidFill>
              <a:latin typeface="Calibri"/>
              <a:ea typeface="Calibri"/>
              <a:cs typeface="Calibri"/>
              <a:sym typeface="Calibri"/>
            </a:endParaRPr>
          </a:p>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Bid higher for postcodes near the clinic (W6, W12, W3) and lower for outer areas with high CPAs. </a:t>
            </a:r>
            <a:endParaRPr b="0" sz="1200">
              <a:solidFill>
                <a:srgbClr val="1A1A1A"/>
              </a:solidFill>
              <a:latin typeface="Calibri"/>
              <a:ea typeface="Calibri"/>
              <a:cs typeface="Calibri"/>
              <a:sym typeface="Calibri"/>
            </a:endParaRPr>
          </a:p>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All campaigns should share the same postcode targets — one unified geographic view across the account.</a:t>
            </a:r>
            <a:endParaRPr sz="1200"/>
          </a:p>
        </p:txBody>
      </p:sp>
      <p:sp>
        <p:nvSpPr>
          <p:cNvPr id="424" name="Google Shape;424;p11"/>
          <p:cNvSpPr/>
          <p:nvPr/>
        </p:nvSpPr>
        <p:spPr>
          <a:xfrm>
            <a:off x="548640" y="6327648"/>
            <a:ext cx="2770632" cy="27432"/>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11"/>
          <p:cNvSpPr/>
          <p:nvPr/>
        </p:nvSpPr>
        <p:spPr>
          <a:xfrm>
            <a:off x="3319272" y="6327648"/>
            <a:ext cx="2770632" cy="27432"/>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11"/>
          <p:cNvSpPr/>
          <p:nvPr/>
        </p:nvSpPr>
        <p:spPr>
          <a:xfrm>
            <a:off x="6099048" y="6327648"/>
            <a:ext cx="2770632" cy="27432"/>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11"/>
          <p:cNvSpPr/>
          <p:nvPr/>
        </p:nvSpPr>
        <p:spPr>
          <a:xfrm>
            <a:off x="8869680" y="6327648"/>
            <a:ext cx="2770632" cy="27432"/>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act_logo_official.png" id="428" name="Google Shape;428;p11"/>
          <p:cNvPicPr preferRelativeResize="0"/>
          <p:nvPr/>
        </p:nvPicPr>
        <p:blipFill rotWithShape="1">
          <a:blip r:embed="rId3">
            <a:alphaModFix/>
          </a:blip>
          <a:srcRect b="0" l="0" r="0" t="0"/>
          <a:stretch/>
        </p:blipFill>
        <p:spPr>
          <a:xfrm>
            <a:off x="548640" y="6400800"/>
            <a:ext cx="201168" cy="201168"/>
          </a:xfrm>
          <a:prstGeom prst="rect">
            <a:avLst/>
          </a:prstGeom>
          <a:noFill/>
          <a:ln>
            <a:noFill/>
          </a:ln>
        </p:spPr>
      </p:pic>
      <p:sp>
        <p:nvSpPr>
          <p:cNvPr id="429" name="Google Shape;429;p11"/>
          <p:cNvSpPr txBox="1"/>
          <p:nvPr/>
        </p:nvSpPr>
        <p:spPr>
          <a:xfrm>
            <a:off x="822960" y="6400800"/>
            <a:ext cx="5486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1A237E"/>
                </a:solidFill>
                <a:latin typeface="Calibri"/>
                <a:ea typeface="Calibri"/>
                <a:cs typeface="Calibri"/>
                <a:sym typeface="Calibri"/>
              </a:rPr>
              <a:t>Christopher Hoole  |  christopherhoole.com  |  Confidential</a:t>
            </a:r>
            <a:endParaRPr/>
          </a:p>
        </p:txBody>
      </p:sp>
      <p:sp>
        <p:nvSpPr>
          <p:cNvPr id="430" name="Google Shape;430;p11"/>
          <p:cNvSpPr txBox="1"/>
          <p:nvPr/>
        </p:nvSpPr>
        <p:spPr>
          <a:xfrm>
            <a:off x="11183112" y="6400800"/>
            <a:ext cx="45720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lang="en-US" sz="1100">
                <a:solidFill>
                  <a:srgbClr val="1A237E"/>
                </a:solidFill>
                <a:latin typeface="Calibri"/>
                <a:ea typeface="Calibri"/>
                <a:cs typeface="Calibri"/>
                <a:sym typeface="Calibri"/>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4" name="Shape 434"/>
        <p:cNvGrpSpPr/>
        <p:nvPr/>
      </p:nvGrpSpPr>
      <p:grpSpPr>
        <a:xfrm>
          <a:off x="0" y="0"/>
          <a:ext cx="0" cy="0"/>
          <a:chOff x="0" y="0"/>
          <a:chExt cx="0" cy="0"/>
        </a:xfrm>
      </p:grpSpPr>
      <p:sp>
        <p:nvSpPr>
          <p:cNvPr id="435" name="Google Shape;435;p12"/>
          <p:cNvSpPr/>
          <p:nvPr/>
        </p:nvSpPr>
        <p:spPr>
          <a:xfrm>
            <a:off x="0" y="0"/>
            <a:ext cx="3047695" cy="54864"/>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6" name="Google Shape;436;p12"/>
          <p:cNvSpPr/>
          <p:nvPr/>
        </p:nvSpPr>
        <p:spPr>
          <a:xfrm>
            <a:off x="3047695" y="0"/>
            <a:ext cx="3047695" cy="54864"/>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12"/>
          <p:cNvSpPr/>
          <p:nvPr/>
        </p:nvSpPr>
        <p:spPr>
          <a:xfrm>
            <a:off x="6095390" y="0"/>
            <a:ext cx="3047695" cy="54864"/>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12"/>
          <p:cNvSpPr/>
          <p:nvPr/>
        </p:nvSpPr>
        <p:spPr>
          <a:xfrm>
            <a:off x="9143085" y="0"/>
            <a:ext cx="3047695" cy="54864"/>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12"/>
          <p:cNvSpPr txBox="1"/>
          <p:nvPr/>
        </p:nvSpPr>
        <p:spPr>
          <a:xfrm>
            <a:off x="548640" y="274320"/>
            <a:ext cx="6400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1A237E"/>
                </a:solidFill>
                <a:latin typeface="Calibri"/>
                <a:ea typeface="Calibri"/>
                <a:cs typeface="Calibri"/>
                <a:sym typeface="Calibri"/>
              </a:rPr>
              <a:t>Negative Keyword Gaps</a:t>
            </a:r>
            <a:endParaRPr/>
          </a:p>
        </p:txBody>
      </p:sp>
      <p:sp>
        <p:nvSpPr>
          <p:cNvPr id="440" name="Google Shape;440;p12"/>
          <p:cNvSpPr txBox="1"/>
          <p:nvPr/>
        </p:nvSpPr>
        <p:spPr>
          <a:xfrm>
            <a:off x="548640" y="777240"/>
            <a:ext cx="82296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200">
                <a:solidFill>
                  <a:srgbClr val="EA4335"/>
                </a:solidFill>
                <a:latin typeface="Calibri"/>
                <a:ea typeface="Calibri"/>
                <a:cs typeface="Calibri"/>
                <a:sym typeface="Calibri"/>
              </a:rPr>
              <a:t>784 account-level negatives use broad match — a risk to legitimate converting traffic</a:t>
            </a:r>
            <a:endParaRPr sz="1200"/>
          </a:p>
        </p:txBody>
      </p:sp>
      <p:sp>
        <p:nvSpPr>
          <p:cNvPr id="441" name="Google Shape;441;p12"/>
          <p:cNvSpPr/>
          <p:nvPr/>
        </p:nvSpPr>
        <p:spPr>
          <a:xfrm>
            <a:off x="8348472" y="274320"/>
            <a:ext cx="3291840" cy="411480"/>
          </a:xfrm>
          <a:prstGeom prst="rect">
            <a:avLst/>
          </a:prstGeom>
          <a:solidFill>
            <a:srgbClr val="FFFFFF"/>
          </a:solidFill>
          <a:ln cap="flat" cmpd="sng" w="12700">
            <a:solidFill>
              <a:srgbClr val="4285F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12"/>
          <p:cNvSpPr txBox="1"/>
          <p:nvPr/>
        </p:nvSpPr>
        <p:spPr>
          <a:xfrm>
            <a:off x="8439912" y="292608"/>
            <a:ext cx="31089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4285F4"/>
                </a:solidFill>
                <a:latin typeface="Calibri"/>
                <a:ea typeface="Calibri"/>
                <a:cs typeface="Calibri"/>
                <a:sym typeface="Calibri"/>
              </a:rPr>
              <a:t>Protection Gaps</a:t>
            </a:r>
            <a:endParaRPr sz="1200"/>
          </a:p>
        </p:txBody>
      </p:sp>
      <p:sp>
        <p:nvSpPr>
          <p:cNvPr id="443" name="Google Shape;443;p12"/>
          <p:cNvSpPr/>
          <p:nvPr/>
        </p:nvSpPr>
        <p:spPr>
          <a:xfrm>
            <a:off x="548640" y="1097280"/>
            <a:ext cx="2743200" cy="96012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12"/>
          <p:cNvSpPr/>
          <p:nvPr/>
        </p:nvSpPr>
        <p:spPr>
          <a:xfrm>
            <a:off x="548640" y="1097280"/>
            <a:ext cx="54864" cy="960120"/>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12"/>
          <p:cNvSpPr txBox="1"/>
          <p:nvPr/>
        </p:nvSpPr>
        <p:spPr>
          <a:xfrm>
            <a:off x="731520" y="1188720"/>
            <a:ext cx="24688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4285F4"/>
                </a:solidFill>
                <a:latin typeface="Calibri"/>
                <a:ea typeface="Calibri"/>
                <a:cs typeface="Calibri"/>
                <a:sym typeface="Calibri"/>
              </a:rPr>
              <a:t>2,192</a:t>
            </a:r>
            <a:endParaRPr/>
          </a:p>
        </p:txBody>
      </p:sp>
      <p:sp>
        <p:nvSpPr>
          <p:cNvPr id="446" name="Google Shape;446;p12"/>
          <p:cNvSpPr txBox="1"/>
          <p:nvPr/>
        </p:nvSpPr>
        <p:spPr>
          <a:xfrm>
            <a:off x="731520" y="1645920"/>
            <a:ext cx="24688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Total Negative Keywords</a:t>
            </a:r>
            <a:endParaRPr/>
          </a:p>
        </p:txBody>
      </p:sp>
      <p:sp>
        <p:nvSpPr>
          <p:cNvPr id="447" name="Google Shape;447;p12"/>
          <p:cNvSpPr/>
          <p:nvPr/>
        </p:nvSpPr>
        <p:spPr>
          <a:xfrm>
            <a:off x="3566160" y="1097280"/>
            <a:ext cx="2743200" cy="96012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12"/>
          <p:cNvSpPr/>
          <p:nvPr/>
        </p:nvSpPr>
        <p:spPr>
          <a:xfrm>
            <a:off x="3566160" y="1097280"/>
            <a:ext cx="54864" cy="96012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12"/>
          <p:cNvSpPr txBox="1"/>
          <p:nvPr/>
        </p:nvSpPr>
        <p:spPr>
          <a:xfrm>
            <a:off x="3749040" y="1188720"/>
            <a:ext cx="24688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EA4335"/>
                </a:solidFill>
                <a:latin typeface="Calibri"/>
                <a:ea typeface="Calibri"/>
                <a:cs typeface="Calibri"/>
                <a:sym typeface="Calibri"/>
              </a:rPr>
              <a:t>784</a:t>
            </a:r>
            <a:endParaRPr/>
          </a:p>
        </p:txBody>
      </p:sp>
      <p:sp>
        <p:nvSpPr>
          <p:cNvPr id="450" name="Google Shape;450;p12"/>
          <p:cNvSpPr txBox="1"/>
          <p:nvPr/>
        </p:nvSpPr>
        <p:spPr>
          <a:xfrm>
            <a:off x="3749040" y="1645920"/>
            <a:ext cx="24688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Broad Match (Risky)</a:t>
            </a:r>
            <a:endParaRPr/>
          </a:p>
        </p:txBody>
      </p:sp>
      <p:sp>
        <p:nvSpPr>
          <p:cNvPr id="451" name="Google Shape;451;p12"/>
          <p:cNvSpPr/>
          <p:nvPr/>
        </p:nvSpPr>
        <p:spPr>
          <a:xfrm>
            <a:off x="6583680" y="1097280"/>
            <a:ext cx="2743200" cy="96012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12"/>
          <p:cNvSpPr/>
          <p:nvPr/>
        </p:nvSpPr>
        <p:spPr>
          <a:xfrm>
            <a:off x="6583680" y="1097280"/>
            <a:ext cx="54864" cy="960120"/>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12"/>
          <p:cNvSpPr txBox="1"/>
          <p:nvPr/>
        </p:nvSpPr>
        <p:spPr>
          <a:xfrm>
            <a:off x="6766560" y="1188720"/>
            <a:ext cx="24688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34A853"/>
                </a:solidFill>
                <a:latin typeface="Calibri"/>
                <a:ea typeface="Calibri"/>
                <a:cs typeface="Calibri"/>
                <a:sym typeface="Calibri"/>
              </a:rPr>
              <a:t>770</a:t>
            </a:r>
            <a:endParaRPr/>
          </a:p>
        </p:txBody>
      </p:sp>
      <p:sp>
        <p:nvSpPr>
          <p:cNvPr id="454" name="Google Shape;454;p12"/>
          <p:cNvSpPr txBox="1"/>
          <p:nvPr/>
        </p:nvSpPr>
        <p:spPr>
          <a:xfrm>
            <a:off x="6766560" y="1645920"/>
            <a:ext cx="24688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Phrase Match</a:t>
            </a:r>
            <a:endParaRPr/>
          </a:p>
        </p:txBody>
      </p:sp>
      <p:sp>
        <p:nvSpPr>
          <p:cNvPr id="455" name="Google Shape;455;p12"/>
          <p:cNvSpPr/>
          <p:nvPr/>
        </p:nvSpPr>
        <p:spPr>
          <a:xfrm>
            <a:off x="9601200" y="1097280"/>
            <a:ext cx="2011680" cy="96012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12"/>
          <p:cNvSpPr/>
          <p:nvPr/>
        </p:nvSpPr>
        <p:spPr>
          <a:xfrm>
            <a:off x="9601200" y="1097280"/>
            <a:ext cx="54864" cy="960120"/>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12"/>
          <p:cNvSpPr txBox="1"/>
          <p:nvPr/>
        </p:nvSpPr>
        <p:spPr>
          <a:xfrm>
            <a:off x="9784080" y="1188720"/>
            <a:ext cx="173736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FBBC05"/>
                </a:solidFill>
                <a:latin typeface="Calibri"/>
                <a:ea typeface="Calibri"/>
                <a:cs typeface="Calibri"/>
                <a:sym typeface="Calibri"/>
              </a:rPr>
              <a:t>425</a:t>
            </a:r>
            <a:endParaRPr/>
          </a:p>
        </p:txBody>
      </p:sp>
      <p:sp>
        <p:nvSpPr>
          <p:cNvPr id="458" name="Google Shape;458;p12"/>
          <p:cNvSpPr txBox="1"/>
          <p:nvPr/>
        </p:nvSpPr>
        <p:spPr>
          <a:xfrm>
            <a:off x="9784080" y="1645920"/>
            <a:ext cx="173736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Exact Match</a:t>
            </a:r>
            <a:endParaRPr/>
          </a:p>
        </p:txBody>
      </p:sp>
      <p:sp>
        <p:nvSpPr>
          <p:cNvPr id="459" name="Google Shape;459;p12"/>
          <p:cNvSpPr/>
          <p:nvPr/>
        </p:nvSpPr>
        <p:spPr>
          <a:xfrm>
            <a:off x="548640" y="2377440"/>
            <a:ext cx="5303520" cy="1828800"/>
          </a:xfrm>
          <a:prstGeom prst="rect">
            <a:avLst/>
          </a:prstGeom>
          <a:solidFill>
            <a:srgbClr val="FCE8E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12"/>
          <p:cNvSpPr/>
          <p:nvPr/>
        </p:nvSpPr>
        <p:spPr>
          <a:xfrm>
            <a:off x="548640" y="2377440"/>
            <a:ext cx="54864" cy="182880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12"/>
          <p:cNvSpPr txBox="1"/>
          <p:nvPr/>
        </p:nvSpPr>
        <p:spPr>
          <a:xfrm>
            <a:off x="777240" y="2468880"/>
            <a:ext cx="49377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The Broad Match Problem</a:t>
            </a:r>
            <a:endParaRPr/>
          </a:p>
        </p:txBody>
      </p:sp>
      <p:sp>
        <p:nvSpPr>
          <p:cNvPr id="462" name="Google Shape;462;p12"/>
          <p:cNvSpPr txBox="1"/>
          <p:nvPr/>
        </p:nvSpPr>
        <p:spPr>
          <a:xfrm>
            <a:off x="777240" y="2743200"/>
            <a:ext cx="4937700" cy="1126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784 negative keywords at account level use broad match. </a:t>
            </a:r>
            <a:endParaRPr b="0" sz="1200">
              <a:solidFill>
                <a:srgbClr val="1A1A1A"/>
              </a:solidFill>
              <a:latin typeface="Calibri"/>
              <a:ea typeface="Calibri"/>
              <a:cs typeface="Calibri"/>
              <a:sym typeface="Calibri"/>
            </a:endParaRPr>
          </a:p>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Broad match negatives can block legitimate searches. </a:t>
            </a:r>
            <a:endParaRPr b="0" sz="1200">
              <a:solidFill>
                <a:srgbClr val="1A1A1A"/>
              </a:solidFill>
              <a:latin typeface="Calibri"/>
              <a:ea typeface="Calibri"/>
              <a:cs typeface="Calibri"/>
              <a:sym typeface="Calibri"/>
            </a:endParaRPr>
          </a:p>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For example, a broad negative for 'bridge' would block 'dental bridge implants'</a:t>
            </a:r>
            <a:r>
              <a:rPr lang="en-US" sz="1200">
                <a:solidFill>
                  <a:srgbClr val="1A1A1A"/>
                </a:solidFill>
                <a:latin typeface="Calibri"/>
                <a:ea typeface="Calibri"/>
                <a:cs typeface="Calibri"/>
                <a:sym typeface="Calibri"/>
              </a:rPr>
              <a:t>,</a:t>
            </a:r>
            <a:r>
              <a:rPr b="0" lang="en-US" sz="1200">
                <a:solidFill>
                  <a:srgbClr val="1A1A1A"/>
                </a:solidFill>
                <a:latin typeface="Calibri"/>
                <a:ea typeface="Calibri"/>
                <a:cs typeface="Calibri"/>
                <a:sym typeface="Calibri"/>
              </a:rPr>
              <a:t> a high-intent search. </a:t>
            </a:r>
            <a:endParaRPr b="0" sz="1200">
              <a:solidFill>
                <a:srgbClr val="1A1A1A"/>
              </a:solidFill>
              <a:latin typeface="Calibri"/>
              <a:ea typeface="Calibri"/>
              <a:cs typeface="Calibri"/>
              <a:sym typeface="Calibri"/>
            </a:endParaRPr>
          </a:p>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These need a full audit to ensure they're not blocking revenue.</a:t>
            </a:r>
            <a:endParaRPr sz="1200"/>
          </a:p>
        </p:txBody>
      </p:sp>
      <p:sp>
        <p:nvSpPr>
          <p:cNvPr id="463" name="Google Shape;463;p12"/>
          <p:cNvSpPr/>
          <p:nvPr/>
        </p:nvSpPr>
        <p:spPr>
          <a:xfrm>
            <a:off x="6217920" y="2377440"/>
            <a:ext cx="5303520" cy="1828800"/>
          </a:xfrm>
          <a:prstGeom prst="rect">
            <a:avLst/>
          </a:prstGeom>
          <a:solidFill>
            <a:srgbClr val="E6F4E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4" name="Google Shape;464;p12"/>
          <p:cNvSpPr/>
          <p:nvPr/>
        </p:nvSpPr>
        <p:spPr>
          <a:xfrm>
            <a:off x="6217920" y="2377440"/>
            <a:ext cx="54864" cy="1828800"/>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12"/>
          <p:cNvSpPr txBox="1"/>
          <p:nvPr/>
        </p:nvSpPr>
        <p:spPr>
          <a:xfrm>
            <a:off x="6446520" y="2468880"/>
            <a:ext cx="49377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Recommended Framework</a:t>
            </a:r>
            <a:endParaRPr/>
          </a:p>
        </p:txBody>
      </p:sp>
      <p:sp>
        <p:nvSpPr>
          <p:cNvPr id="466" name="Google Shape;466;p12"/>
          <p:cNvSpPr txBox="1"/>
          <p:nvPr/>
        </p:nvSpPr>
        <p:spPr>
          <a:xfrm>
            <a:off x="6446520" y="2743200"/>
            <a:ext cx="4937700" cy="1126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Replace broad match negatives with phrase or exact match. </a:t>
            </a:r>
            <a:endParaRPr b="0" sz="1200">
              <a:solidFill>
                <a:srgbClr val="1A1A1A"/>
              </a:solidFill>
              <a:latin typeface="Calibri"/>
              <a:ea typeface="Calibri"/>
              <a:cs typeface="Calibri"/>
              <a:sym typeface="Calibri"/>
            </a:endParaRPr>
          </a:p>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Implement a structured 9-list system organised by word count and match type. </a:t>
            </a:r>
            <a:endParaRPr b="0" sz="1200">
              <a:solidFill>
                <a:srgbClr val="1A1A1A"/>
              </a:solidFill>
              <a:latin typeface="Calibri"/>
              <a:ea typeface="Calibri"/>
              <a:cs typeface="Calibri"/>
              <a:sym typeface="Calibri"/>
            </a:endParaRPr>
          </a:p>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Weekly search term reviews to keep the lists current. </a:t>
            </a:r>
            <a:endParaRPr b="0" sz="1200">
              <a:solidFill>
                <a:srgbClr val="1A1A1A"/>
              </a:solidFill>
              <a:latin typeface="Calibri"/>
              <a:ea typeface="Calibri"/>
              <a:cs typeface="Calibri"/>
              <a:sym typeface="Calibri"/>
            </a:endParaRPr>
          </a:p>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This gives precise control without accidentally blocking converting traffic.</a:t>
            </a:r>
            <a:endParaRPr sz="1200"/>
          </a:p>
        </p:txBody>
      </p:sp>
      <p:sp>
        <p:nvSpPr>
          <p:cNvPr id="467" name="Google Shape;467;p12"/>
          <p:cNvSpPr/>
          <p:nvPr/>
        </p:nvSpPr>
        <p:spPr>
          <a:xfrm>
            <a:off x="548650" y="4434852"/>
            <a:ext cx="11064300" cy="1629600"/>
          </a:xfrm>
          <a:prstGeom prst="rect">
            <a:avLst/>
          </a:prstGeom>
          <a:solidFill>
            <a:srgbClr val="F5F6F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8" name="Google Shape;468;p12"/>
          <p:cNvSpPr/>
          <p:nvPr/>
        </p:nvSpPr>
        <p:spPr>
          <a:xfrm>
            <a:off x="548624" y="4434852"/>
            <a:ext cx="54900" cy="1629600"/>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12"/>
          <p:cNvSpPr txBox="1"/>
          <p:nvPr/>
        </p:nvSpPr>
        <p:spPr>
          <a:xfrm>
            <a:off x="777240" y="4526280"/>
            <a:ext cx="106984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Auto-Apply: 5 Recommendations Enabled</a:t>
            </a:r>
            <a:endParaRPr/>
          </a:p>
        </p:txBody>
      </p:sp>
      <p:sp>
        <p:nvSpPr>
          <p:cNvPr id="470" name="Google Shape;470;p12"/>
          <p:cNvSpPr txBox="1"/>
          <p:nvPr/>
        </p:nvSpPr>
        <p:spPr>
          <a:xfrm>
            <a:off x="777240" y="4800600"/>
            <a:ext cx="10698600" cy="1126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Google is automatically applying 5 recommendation types, including 'Remove conflicting negative keywords' (~20 times historically). </a:t>
            </a:r>
            <a:endParaRPr b="0" sz="1200">
              <a:solidFill>
                <a:srgbClr val="1A1A1A"/>
              </a:solidFill>
              <a:latin typeface="Calibri"/>
              <a:ea typeface="Calibri"/>
              <a:cs typeface="Calibri"/>
              <a:sym typeface="Calibri"/>
            </a:endParaRPr>
          </a:p>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This means Google has been removing negative keywords it considers conflicting</a:t>
            </a:r>
            <a:r>
              <a:rPr lang="en-US" sz="1200">
                <a:solidFill>
                  <a:srgbClr val="1A1A1A"/>
                </a:solidFill>
                <a:latin typeface="Calibri"/>
                <a:ea typeface="Calibri"/>
                <a:cs typeface="Calibri"/>
                <a:sym typeface="Calibri"/>
              </a:rPr>
              <a:t>, </a:t>
            </a:r>
            <a:r>
              <a:rPr b="0" lang="en-US" sz="1200">
                <a:solidFill>
                  <a:srgbClr val="1A1A1A"/>
                </a:solidFill>
                <a:latin typeface="Calibri"/>
                <a:ea typeface="Calibri"/>
                <a:cs typeface="Calibri"/>
                <a:sym typeface="Calibri"/>
              </a:rPr>
              <a:t> potentially re-opening waste that was deliberately blocked. </a:t>
            </a:r>
            <a:endParaRPr b="0" sz="1200">
              <a:solidFill>
                <a:srgbClr val="1A1A1A"/>
              </a:solidFill>
              <a:latin typeface="Calibri"/>
              <a:ea typeface="Calibri"/>
              <a:cs typeface="Calibri"/>
              <a:sym typeface="Calibri"/>
            </a:endParaRPr>
          </a:p>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Last auto-applied: 19 Feb 2026. </a:t>
            </a:r>
            <a:endParaRPr b="0" sz="1200">
              <a:solidFill>
                <a:srgbClr val="1A1A1A"/>
              </a:solidFill>
              <a:latin typeface="Calibri"/>
              <a:ea typeface="Calibri"/>
              <a:cs typeface="Calibri"/>
              <a:sym typeface="Calibri"/>
            </a:endParaRPr>
          </a:p>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Additionally, 'Remove redundant keywords' has been applied 170 times</a:t>
            </a:r>
            <a:r>
              <a:rPr lang="en-US" sz="1200">
                <a:solidFill>
                  <a:srgbClr val="1A1A1A"/>
                </a:solidFill>
                <a:latin typeface="Calibri"/>
                <a:ea typeface="Calibri"/>
                <a:cs typeface="Calibri"/>
                <a:sym typeface="Calibri"/>
              </a:rPr>
              <a:t>,</a:t>
            </a:r>
            <a:r>
              <a:rPr b="0" lang="en-US" sz="1200">
                <a:solidFill>
                  <a:srgbClr val="1A1A1A"/>
                </a:solidFill>
                <a:latin typeface="Calibri"/>
                <a:ea typeface="Calibri"/>
                <a:cs typeface="Calibri"/>
                <a:sym typeface="Calibri"/>
              </a:rPr>
              <a:t> pausing keywords without human review. </a:t>
            </a:r>
            <a:endParaRPr b="0" sz="1200">
              <a:solidFill>
                <a:srgbClr val="1A1A1A"/>
              </a:solidFill>
              <a:latin typeface="Calibri"/>
              <a:ea typeface="Calibri"/>
              <a:cs typeface="Calibri"/>
              <a:sym typeface="Calibri"/>
            </a:endParaRPr>
          </a:p>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Recommendation: Disable all auto-apply except 'Use optimised ad rotation'</a:t>
            </a:r>
            <a:r>
              <a:rPr lang="en-US" sz="1200">
                <a:solidFill>
                  <a:srgbClr val="1A1A1A"/>
                </a:solidFill>
                <a:latin typeface="Calibri"/>
                <a:ea typeface="Calibri"/>
                <a:cs typeface="Calibri"/>
                <a:sym typeface="Calibri"/>
              </a:rPr>
              <a:t>.</a:t>
            </a:r>
            <a:endParaRPr sz="1200"/>
          </a:p>
        </p:txBody>
      </p:sp>
      <p:sp>
        <p:nvSpPr>
          <p:cNvPr id="471" name="Google Shape;471;p12"/>
          <p:cNvSpPr/>
          <p:nvPr/>
        </p:nvSpPr>
        <p:spPr>
          <a:xfrm>
            <a:off x="548640" y="6327648"/>
            <a:ext cx="2770632" cy="27432"/>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12"/>
          <p:cNvSpPr/>
          <p:nvPr/>
        </p:nvSpPr>
        <p:spPr>
          <a:xfrm>
            <a:off x="3319272" y="6327648"/>
            <a:ext cx="2770632" cy="27432"/>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12"/>
          <p:cNvSpPr/>
          <p:nvPr/>
        </p:nvSpPr>
        <p:spPr>
          <a:xfrm>
            <a:off x="6099048" y="6327648"/>
            <a:ext cx="2770632" cy="27432"/>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12"/>
          <p:cNvSpPr/>
          <p:nvPr/>
        </p:nvSpPr>
        <p:spPr>
          <a:xfrm>
            <a:off x="8869680" y="6327648"/>
            <a:ext cx="2770632" cy="27432"/>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act_logo_official.png" id="475" name="Google Shape;475;p12"/>
          <p:cNvPicPr preferRelativeResize="0"/>
          <p:nvPr/>
        </p:nvPicPr>
        <p:blipFill rotWithShape="1">
          <a:blip r:embed="rId3">
            <a:alphaModFix/>
          </a:blip>
          <a:srcRect b="0" l="0" r="0" t="0"/>
          <a:stretch/>
        </p:blipFill>
        <p:spPr>
          <a:xfrm>
            <a:off x="548640" y="6400800"/>
            <a:ext cx="201168" cy="201168"/>
          </a:xfrm>
          <a:prstGeom prst="rect">
            <a:avLst/>
          </a:prstGeom>
          <a:noFill/>
          <a:ln>
            <a:noFill/>
          </a:ln>
        </p:spPr>
      </p:pic>
      <p:sp>
        <p:nvSpPr>
          <p:cNvPr id="476" name="Google Shape;476;p12"/>
          <p:cNvSpPr txBox="1"/>
          <p:nvPr/>
        </p:nvSpPr>
        <p:spPr>
          <a:xfrm>
            <a:off x="822960" y="6400800"/>
            <a:ext cx="5486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1A237E"/>
                </a:solidFill>
                <a:latin typeface="Calibri"/>
                <a:ea typeface="Calibri"/>
                <a:cs typeface="Calibri"/>
                <a:sym typeface="Calibri"/>
              </a:rPr>
              <a:t>Christopher Hoole  |  christopherhoole.com  |  Confidential</a:t>
            </a:r>
            <a:endParaRPr/>
          </a:p>
        </p:txBody>
      </p:sp>
      <p:sp>
        <p:nvSpPr>
          <p:cNvPr id="477" name="Google Shape;477;p12"/>
          <p:cNvSpPr txBox="1"/>
          <p:nvPr/>
        </p:nvSpPr>
        <p:spPr>
          <a:xfrm>
            <a:off x="11183112" y="6400800"/>
            <a:ext cx="45720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lang="en-US" sz="1100">
                <a:solidFill>
                  <a:srgbClr val="1A237E"/>
                </a:solidFill>
                <a:latin typeface="Calibri"/>
                <a:ea typeface="Calibri"/>
                <a:cs typeface="Calibri"/>
                <a:sym typeface="Calibri"/>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1" name="Shape 481"/>
        <p:cNvGrpSpPr/>
        <p:nvPr/>
      </p:nvGrpSpPr>
      <p:grpSpPr>
        <a:xfrm>
          <a:off x="0" y="0"/>
          <a:ext cx="0" cy="0"/>
          <a:chOff x="0" y="0"/>
          <a:chExt cx="0" cy="0"/>
        </a:xfrm>
      </p:grpSpPr>
      <p:sp>
        <p:nvSpPr>
          <p:cNvPr id="482" name="Google Shape;482;p13"/>
          <p:cNvSpPr/>
          <p:nvPr/>
        </p:nvSpPr>
        <p:spPr>
          <a:xfrm>
            <a:off x="0" y="0"/>
            <a:ext cx="3047695" cy="54864"/>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3" name="Google Shape;483;p13"/>
          <p:cNvSpPr/>
          <p:nvPr/>
        </p:nvSpPr>
        <p:spPr>
          <a:xfrm>
            <a:off x="3047695" y="0"/>
            <a:ext cx="3047695" cy="54864"/>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13"/>
          <p:cNvSpPr/>
          <p:nvPr/>
        </p:nvSpPr>
        <p:spPr>
          <a:xfrm>
            <a:off x="6095390" y="0"/>
            <a:ext cx="3047695" cy="54864"/>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13"/>
          <p:cNvSpPr/>
          <p:nvPr/>
        </p:nvSpPr>
        <p:spPr>
          <a:xfrm>
            <a:off x="9143085" y="0"/>
            <a:ext cx="3047695" cy="54864"/>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13"/>
          <p:cNvSpPr txBox="1"/>
          <p:nvPr/>
        </p:nvSpPr>
        <p:spPr>
          <a:xfrm>
            <a:off x="548640" y="274320"/>
            <a:ext cx="6400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1A237E"/>
                </a:solidFill>
                <a:latin typeface="Calibri"/>
                <a:ea typeface="Calibri"/>
                <a:cs typeface="Calibri"/>
                <a:sym typeface="Calibri"/>
              </a:rPr>
              <a:t>Total Waste Summary</a:t>
            </a:r>
            <a:endParaRPr/>
          </a:p>
        </p:txBody>
      </p:sp>
      <p:sp>
        <p:nvSpPr>
          <p:cNvPr id="487" name="Google Shape;487;p13"/>
          <p:cNvSpPr/>
          <p:nvPr/>
        </p:nvSpPr>
        <p:spPr>
          <a:xfrm>
            <a:off x="8348472" y="274320"/>
            <a:ext cx="3291840" cy="411480"/>
          </a:xfrm>
          <a:prstGeom prst="rect">
            <a:avLst/>
          </a:prstGeom>
          <a:solidFill>
            <a:srgbClr val="FFFFFF"/>
          </a:solidFill>
          <a:ln cap="flat" cmpd="sng" w="12700">
            <a:solidFill>
              <a:srgbClr val="4285F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13"/>
          <p:cNvSpPr txBox="1"/>
          <p:nvPr/>
        </p:nvSpPr>
        <p:spPr>
          <a:xfrm>
            <a:off x="8439900" y="247000"/>
            <a:ext cx="31089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4285F4"/>
                </a:solidFill>
                <a:latin typeface="Calibri"/>
                <a:ea typeface="Calibri"/>
                <a:cs typeface="Calibri"/>
                <a:sym typeface="Calibri"/>
              </a:rPr>
              <a:t>Two Angles</a:t>
            </a:r>
            <a:endParaRPr sz="1200"/>
          </a:p>
        </p:txBody>
      </p:sp>
      <p:sp>
        <p:nvSpPr>
          <p:cNvPr id="489" name="Google Shape;489;p13"/>
          <p:cNvSpPr/>
          <p:nvPr/>
        </p:nvSpPr>
        <p:spPr>
          <a:xfrm>
            <a:off x="548640" y="1005840"/>
            <a:ext cx="5303520" cy="73152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0" name="Google Shape;490;p13"/>
          <p:cNvSpPr/>
          <p:nvPr/>
        </p:nvSpPr>
        <p:spPr>
          <a:xfrm>
            <a:off x="548640" y="1005840"/>
            <a:ext cx="73152" cy="73152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1" name="Google Shape;491;p13"/>
          <p:cNvSpPr txBox="1"/>
          <p:nvPr/>
        </p:nvSpPr>
        <p:spPr>
          <a:xfrm>
            <a:off x="822960" y="1051560"/>
            <a:ext cx="484632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Angle 1: Money That Generated Nothing</a:t>
            </a:r>
            <a:endParaRPr/>
          </a:p>
        </p:txBody>
      </p:sp>
      <p:sp>
        <p:nvSpPr>
          <p:cNvPr id="492" name="Google Shape;492;p13"/>
          <p:cNvSpPr txBox="1"/>
          <p:nvPr/>
        </p:nvSpPr>
        <p:spPr>
          <a:xfrm>
            <a:off x="822960" y="1371600"/>
            <a:ext cx="4846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EA4335"/>
                </a:solidFill>
                <a:latin typeface="Calibri"/>
                <a:ea typeface="Calibri"/>
                <a:cs typeface="Calibri"/>
                <a:sym typeface="Calibri"/>
              </a:rPr>
              <a:t>£59,349 in Q1 2026 (search terms with zero conversions)</a:t>
            </a:r>
            <a:endParaRPr sz="1200"/>
          </a:p>
        </p:txBody>
      </p:sp>
      <p:sp>
        <p:nvSpPr>
          <p:cNvPr id="493" name="Google Shape;493;p13"/>
          <p:cNvSpPr/>
          <p:nvPr/>
        </p:nvSpPr>
        <p:spPr>
          <a:xfrm>
            <a:off x="548640" y="1874519"/>
            <a:ext cx="5303520" cy="45720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13"/>
          <p:cNvSpPr/>
          <p:nvPr/>
        </p:nvSpPr>
        <p:spPr>
          <a:xfrm>
            <a:off x="548640" y="1874519"/>
            <a:ext cx="54864" cy="45720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13"/>
          <p:cNvSpPr txBox="1"/>
          <p:nvPr/>
        </p:nvSpPr>
        <p:spPr>
          <a:xfrm>
            <a:off x="777240" y="1947671"/>
            <a:ext cx="4846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200">
                <a:solidFill>
                  <a:srgbClr val="1A1A1A"/>
                </a:solidFill>
                <a:latin typeface="Calibri"/>
                <a:ea typeface="Calibri"/>
                <a:cs typeface="Calibri"/>
                <a:sym typeface="Calibri"/>
              </a:rPr>
              <a:t>Zero-conv search terms (2026)  </a:t>
            </a:r>
            <a:r>
              <a:rPr b="1" lang="en-US" sz="1200">
                <a:solidFill>
                  <a:srgbClr val="EA4335"/>
                </a:solidFill>
                <a:latin typeface="Calibri"/>
                <a:ea typeface="Calibri"/>
                <a:cs typeface="Calibri"/>
                <a:sym typeface="Calibri"/>
              </a:rPr>
              <a:t>£59,349</a:t>
            </a:r>
            <a:r>
              <a:rPr b="0" lang="en-US" sz="1200">
                <a:solidFill>
                  <a:srgbClr val="1A1A1A"/>
                </a:solidFill>
                <a:latin typeface="Calibri"/>
                <a:ea typeface="Calibri"/>
                <a:cs typeface="Calibri"/>
                <a:sym typeface="Calibri"/>
              </a:rPr>
              <a:t>  </a:t>
            </a:r>
            <a:r>
              <a:rPr b="0" lang="en-US" sz="1200">
                <a:solidFill>
                  <a:srgbClr val="666666"/>
                </a:solidFill>
                <a:latin typeface="Calibri"/>
                <a:ea typeface="Calibri"/>
                <a:cs typeface="Calibri"/>
                <a:sym typeface="Calibri"/>
              </a:rPr>
              <a:t>(49% of ST spend)</a:t>
            </a:r>
            <a:endParaRPr sz="1200">
              <a:solidFill>
                <a:srgbClr val="666666"/>
              </a:solidFill>
            </a:endParaRPr>
          </a:p>
        </p:txBody>
      </p:sp>
      <p:sp>
        <p:nvSpPr>
          <p:cNvPr id="496" name="Google Shape;496;p13"/>
          <p:cNvSpPr/>
          <p:nvPr/>
        </p:nvSpPr>
        <p:spPr>
          <a:xfrm>
            <a:off x="548640" y="2423160"/>
            <a:ext cx="5303520" cy="45720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13"/>
          <p:cNvSpPr/>
          <p:nvPr/>
        </p:nvSpPr>
        <p:spPr>
          <a:xfrm>
            <a:off x="548640" y="2423160"/>
            <a:ext cx="54864" cy="457200"/>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8" name="Google Shape;498;p13"/>
          <p:cNvSpPr txBox="1"/>
          <p:nvPr/>
        </p:nvSpPr>
        <p:spPr>
          <a:xfrm>
            <a:off x="777240" y="2496312"/>
            <a:ext cx="4846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200">
                <a:solidFill>
                  <a:srgbClr val="1A1A1A"/>
                </a:solidFill>
                <a:latin typeface="Calibri"/>
                <a:ea typeface="Calibri"/>
                <a:cs typeface="Calibri"/>
                <a:sym typeface="Calibri"/>
              </a:rPr>
              <a:t>Zero-conv keywords (2026)  </a:t>
            </a:r>
            <a:r>
              <a:rPr b="1" lang="en-US" sz="1200">
                <a:solidFill>
                  <a:srgbClr val="FBBC05"/>
                </a:solidFill>
                <a:latin typeface="Calibri"/>
                <a:ea typeface="Calibri"/>
                <a:cs typeface="Calibri"/>
                <a:sym typeface="Calibri"/>
              </a:rPr>
              <a:t>£2,402</a:t>
            </a:r>
            <a:r>
              <a:rPr b="0" lang="en-US" sz="1200">
                <a:solidFill>
                  <a:srgbClr val="1A1A1A"/>
                </a:solidFill>
                <a:latin typeface="Calibri"/>
                <a:ea typeface="Calibri"/>
                <a:cs typeface="Calibri"/>
                <a:sym typeface="Calibri"/>
              </a:rPr>
              <a:t> </a:t>
            </a:r>
            <a:r>
              <a:rPr b="0" lang="en-US" sz="1200">
                <a:solidFill>
                  <a:srgbClr val="666666"/>
                </a:solidFill>
                <a:latin typeface="Calibri"/>
                <a:ea typeface="Calibri"/>
                <a:cs typeface="Calibri"/>
                <a:sym typeface="Calibri"/>
              </a:rPr>
              <a:t> (53 keywords)</a:t>
            </a:r>
            <a:endParaRPr sz="1200">
              <a:solidFill>
                <a:srgbClr val="666666"/>
              </a:solidFill>
            </a:endParaRPr>
          </a:p>
        </p:txBody>
      </p:sp>
      <p:sp>
        <p:nvSpPr>
          <p:cNvPr id="499" name="Google Shape;499;p13"/>
          <p:cNvSpPr/>
          <p:nvPr/>
        </p:nvSpPr>
        <p:spPr>
          <a:xfrm>
            <a:off x="548640" y="2971800"/>
            <a:ext cx="5303520" cy="45720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13"/>
          <p:cNvSpPr/>
          <p:nvPr/>
        </p:nvSpPr>
        <p:spPr>
          <a:xfrm>
            <a:off x="548640" y="2971800"/>
            <a:ext cx="54864" cy="45720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1" name="Google Shape;501;p13"/>
          <p:cNvSpPr txBox="1"/>
          <p:nvPr/>
        </p:nvSpPr>
        <p:spPr>
          <a:xfrm>
            <a:off x="777240" y="3044952"/>
            <a:ext cx="4846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200">
                <a:solidFill>
                  <a:srgbClr val="1A1A1A"/>
                </a:solidFill>
                <a:latin typeface="Calibri"/>
                <a:ea typeface="Calibri"/>
                <a:cs typeface="Calibri"/>
                <a:sym typeface="Calibri"/>
              </a:rPr>
              <a:t>Zero-conv search terms (2025)  </a:t>
            </a:r>
            <a:r>
              <a:rPr b="1" lang="en-US" sz="1200">
                <a:solidFill>
                  <a:srgbClr val="EA4335"/>
                </a:solidFill>
                <a:latin typeface="Calibri"/>
                <a:ea typeface="Calibri"/>
                <a:cs typeface="Calibri"/>
                <a:sym typeface="Calibri"/>
              </a:rPr>
              <a:t>£86,727</a:t>
            </a:r>
            <a:r>
              <a:rPr b="0" lang="en-US" sz="1200">
                <a:solidFill>
                  <a:srgbClr val="1A1A1A"/>
                </a:solidFill>
                <a:latin typeface="Calibri"/>
                <a:ea typeface="Calibri"/>
                <a:cs typeface="Calibri"/>
                <a:sym typeface="Calibri"/>
              </a:rPr>
              <a:t>  </a:t>
            </a:r>
            <a:r>
              <a:rPr lang="en-US" sz="1200">
                <a:solidFill>
                  <a:srgbClr val="666666"/>
                </a:solidFill>
                <a:latin typeface="Calibri"/>
                <a:ea typeface="Calibri"/>
                <a:cs typeface="Calibri"/>
                <a:sym typeface="Calibri"/>
              </a:rPr>
              <a:t>(</a:t>
            </a:r>
            <a:r>
              <a:rPr b="0" lang="en-US" sz="1200">
                <a:solidFill>
                  <a:srgbClr val="666666"/>
                </a:solidFill>
                <a:latin typeface="Calibri"/>
                <a:ea typeface="Calibri"/>
                <a:cs typeface="Calibri"/>
                <a:sym typeface="Calibri"/>
              </a:rPr>
              <a:t>47% of ST spend)</a:t>
            </a:r>
            <a:endParaRPr sz="1200">
              <a:solidFill>
                <a:srgbClr val="666666"/>
              </a:solidFill>
            </a:endParaRPr>
          </a:p>
        </p:txBody>
      </p:sp>
      <p:sp>
        <p:nvSpPr>
          <p:cNvPr id="502" name="Google Shape;502;p13"/>
          <p:cNvSpPr/>
          <p:nvPr/>
        </p:nvSpPr>
        <p:spPr>
          <a:xfrm>
            <a:off x="548640" y="3520439"/>
            <a:ext cx="5303520" cy="45720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3" name="Google Shape;503;p13"/>
          <p:cNvSpPr/>
          <p:nvPr/>
        </p:nvSpPr>
        <p:spPr>
          <a:xfrm>
            <a:off x="548640" y="3520439"/>
            <a:ext cx="54864" cy="457200"/>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13"/>
          <p:cNvSpPr txBox="1"/>
          <p:nvPr/>
        </p:nvSpPr>
        <p:spPr>
          <a:xfrm>
            <a:off x="777240" y="3593591"/>
            <a:ext cx="4846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200">
                <a:solidFill>
                  <a:srgbClr val="1A1A1A"/>
                </a:solidFill>
                <a:latin typeface="Calibri"/>
                <a:ea typeface="Calibri"/>
                <a:cs typeface="Calibri"/>
                <a:sym typeface="Calibri"/>
              </a:rPr>
              <a:t>Zero-conv keywords (2025)  </a:t>
            </a:r>
            <a:r>
              <a:rPr b="1" lang="en-US" sz="1200">
                <a:solidFill>
                  <a:srgbClr val="FBBC05"/>
                </a:solidFill>
                <a:latin typeface="Calibri"/>
                <a:ea typeface="Calibri"/>
                <a:cs typeface="Calibri"/>
                <a:sym typeface="Calibri"/>
              </a:rPr>
              <a:t>£3,296</a:t>
            </a:r>
            <a:r>
              <a:rPr b="0" lang="en-US" sz="1200">
                <a:solidFill>
                  <a:srgbClr val="1A1A1A"/>
                </a:solidFill>
                <a:latin typeface="Calibri"/>
                <a:ea typeface="Calibri"/>
                <a:cs typeface="Calibri"/>
                <a:sym typeface="Calibri"/>
              </a:rPr>
              <a:t>  </a:t>
            </a:r>
            <a:r>
              <a:rPr b="0" lang="en-US" sz="1200">
                <a:solidFill>
                  <a:srgbClr val="666666"/>
                </a:solidFill>
                <a:latin typeface="Calibri"/>
                <a:ea typeface="Calibri"/>
                <a:cs typeface="Calibri"/>
                <a:sym typeface="Calibri"/>
              </a:rPr>
              <a:t>(76 keywords)</a:t>
            </a:r>
            <a:endParaRPr sz="1200">
              <a:solidFill>
                <a:srgbClr val="666666"/>
              </a:solidFill>
            </a:endParaRPr>
          </a:p>
        </p:txBody>
      </p:sp>
      <p:sp>
        <p:nvSpPr>
          <p:cNvPr id="505" name="Google Shape;505;p13"/>
          <p:cNvSpPr/>
          <p:nvPr/>
        </p:nvSpPr>
        <p:spPr>
          <a:xfrm>
            <a:off x="6217920" y="1005840"/>
            <a:ext cx="5303520" cy="73152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p13"/>
          <p:cNvSpPr/>
          <p:nvPr/>
        </p:nvSpPr>
        <p:spPr>
          <a:xfrm>
            <a:off x="6217920" y="1005840"/>
            <a:ext cx="73152" cy="731520"/>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7" name="Google Shape;507;p13"/>
          <p:cNvSpPr txBox="1"/>
          <p:nvPr/>
        </p:nvSpPr>
        <p:spPr>
          <a:xfrm>
            <a:off x="6492240" y="1051560"/>
            <a:ext cx="484632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Angle 2: Money That Could Work Harder</a:t>
            </a:r>
            <a:endParaRPr/>
          </a:p>
        </p:txBody>
      </p:sp>
      <p:sp>
        <p:nvSpPr>
          <p:cNvPr id="508" name="Google Shape;508;p13"/>
          <p:cNvSpPr txBox="1"/>
          <p:nvPr/>
        </p:nvSpPr>
        <p:spPr>
          <a:xfrm>
            <a:off x="6492250" y="1371600"/>
            <a:ext cx="5029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FBBC05"/>
                </a:solidFill>
                <a:latin typeface="Calibri"/>
                <a:ea typeface="Calibri"/>
                <a:cs typeface="Calibri"/>
                <a:sym typeface="Calibri"/>
              </a:rPr>
              <a:t>High-CPA keywords: £4,118 (2025) + £14,959 (2026) at 2-5x account average</a:t>
            </a:r>
            <a:endParaRPr sz="1200"/>
          </a:p>
        </p:txBody>
      </p:sp>
      <p:sp>
        <p:nvSpPr>
          <p:cNvPr id="509" name="Google Shape;509;p13"/>
          <p:cNvSpPr/>
          <p:nvPr/>
        </p:nvSpPr>
        <p:spPr>
          <a:xfrm>
            <a:off x="6217920" y="1874519"/>
            <a:ext cx="5303520" cy="45720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13"/>
          <p:cNvSpPr/>
          <p:nvPr/>
        </p:nvSpPr>
        <p:spPr>
          <a:xfrm>
            <a:off x="6217920" y="1874519"/>
            <a:ext cx="54864" cy="45720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1" name="Google Shape;511;p13"/>
          <p:cNvSpPr txBox="1"/>
          <p:nvPr/>
        </p:nvSpPr>
        <p:spPr>
          <a:xfrm>
            <a:off x="6446525" y="1947675"/>
            <a:ext cx="5029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200">
                <a:solidFill>
                  <a:srgbClr val="1A1A1A"/>
                </a:solidFill>
                <a:latin typeface="Calibri"/>
                <a:ea typeface="Calibri"/>
                <a:cs typeface="Calibri"/>
                <a:sym typeface="Calibri"/>
              </a:rPr>
              <a:t>Desktop: £67→£92 vs mobile £42→£56  </a:t>
            </a:r>
            <a:r>
              <a:rPr b="1" lang="en-US" sz="1200">
                <a:solidFill>
                  <a:srgbClr val="EA4335"/>
                </a:solidFill>
                <a:latin typeface="Calibri"/>
                <a:ea typeface="Calibri"/>
                <a:cs typeface="Calibri"/>
                <a:sym typeface="Calibri"/>
              </a:rPr>
              <a:t>Gap widening</a:t>
            </a:r>
            <a:r>
              <a:rPr b="0" lang="en-US" sz="1200">
                <a:solidFill>
                  <a:srgbClr val="1A1A1A"/>
                </a:solidFill>
                <a:latin typeface="Calibri"/>
                <a:ea typeface="Calibri"/>
                <a:cs typeface="Calibri"/>
                <a:sym typeface="Calibri"/>
              </a:rPr>
              <a:t>  </a:t>
            </a:r>
            <a:r>
              <a:rPr b="0" lang="en-US" sz="1200">
                <a:solidFill>
                  <a:srgbClr val="666666"/>
                </a:solidFill>
                <a:latin typeface="Calibri"/>
                <a:ea typeface="Calibri"/>
                <a:cs typeface="Calibri"/>
                <a:sym typeface="Calibri"/>
              </a:rPr>
              <a:t>(No bid adjustments)</a:t>
            </a:r>
            <a:endParaRPr sz="1200">
              <a:solidFill>
                <a:srgbClr val="666666"/>
              </a:solidFill>
            </a:endParaRPr>
          </a:p>
        </p:txBody>
      </p:sp>
      <p:sp>
        <p:nvSpPr>
          <p:cNvPr id="512" name="Google Shape;512;p13"/>
          <p:cNvSpPr/>
          <p:nvPr/>
        </p:nvSpPr>
        <p:spPr>
          <a:xfrm>
            <a:off x="6217920" y="2423160"/>
            <a:ext cx="5303520" cy="45720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13"/>
          <p:cNvSpPr/>
          <p:nvPr/>
        </p:nvSpPr>
        <p:spPr>
          <a:xfrm>
            <a:off x="6217920" y="2423160"/>
            <a:ext cx="54864" cy="457200"/>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p13"/>
          <p:cNvSpPr txBox="1"/>
          <p:nvPr/>
        </p:nvSpPr>
        <p:spPr>
          <a:xfrm>
            <a:off x="6446525" y="2496300"/>
            <a:ext cx="50748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Sunday: £45→£68 CPA (worst day)  </a:t>
            </a:r>
            <a:r>
              <a:rPr b="1" lang="en-US" sz="1100">
                <a:solidFill>
                  <a:srgbClr val="FBBC05"/>
                </a:solidFill>
                <a:latin typeface="Calibri"/>
                <a:ea typeface="Calibri"/>
                <a:cs typeface="Calibri"/>
                <a:sym typeface="Calibri"/>
              </a:rPr>
              <a:t>Emerging problem</a:t>
            </a:r>
            <a:r>
              <a:rPr b="0" lang="en-US" sz="1100">
                <a:solidFill>
                  <a:srgbClr val="1A1A1A"/>
                </a:solidFill>
                <a:latin typeface="Calibri"/>
                <a:ea typeface="Calibri"/>
                <a:cs typeface="Calibri"/>
                <a:sym typeface="Calibri"/>
              </a:rPr>
              <a:t>  </a:t>
            </a:r>
            <a:r>
              <a:rPr b="0" lang="en-US" sz="1100">
                <a:solidFill>
                  <a:srgbClr val="666666"/>
                </a:solidFill>
                <a:latin typeface="Calibri"/>
                <a:ea typeface="Calibri"/>
                <a:cs typeface="Calibri"/>
                <a:sym typeface="Calibri"/>
              </a:rPr>
              <a:t>(No schedule adjustments)</a:t>
            </a:r>
            <a:endParaRPr sz="1100">
              <a:solidFill>
                <a:srgbClr val="666666"/>
              </a:solidFill>
            </a:endParaRPr>
          </a:p>
        </p:txBody>
      </p:sp>
      <p:sp>
        <p:nvSpPr>
          <p:cNvPr id="515" name="Google Shape;515;p13"/>
          <p:cNvSpPr/>
          <p:nvPr/>
        </p:nvSpPr>
        <p:spPr>
          <a:xfrm>
            <a:off x="6217920" y="2971800"/>
            <a:ext cx="5303520" cy="45720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13"/>
          <p:cNvSpPr/>
          <p:nvPr/>
        </p:nvSpPr>
        <p:spPr>
          <a:xfrm>
            <a:off x="6217920" y="2971800"/>
            <a:ext cx="54864" cy="45720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13"/>
          <p:cNvSpPr txBox="1"/>
          <p:nvPr/>
        </p:nvSpPr>
        <p:spPr>
          <a:xfrm>
            <a:off x="6446525" y="3044950"/>
            <a:ext cx="4982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200">
                <a:solidFill>
                  <a:srgbClr val="1A1A1A"/>
                </a:solidFill>
                <a:latin typeface="Calibri"/>
                <a:ea typeface="Calibri"/>
                <a:cs typeface="Calibri"/>
                <a:sym typeface="Calibri"/>
              </a:rPr>
              <a:t>High-CPA keywords: 12→17 at £150+  </a:t>
            </a:r>
            <a:r>
              <a:rPr b="1" lang="en-US" sz="1200">
                <a:solidFill>
                  <a:srgbClr val="EA4335"/>
                </a:solidFill>
                <a:latin typeface="Calibri"/>
                <a:ea typeface="Calibri"/>
                <a:cs typeface="Calibri"/>
                <a:sym typeface="Calibri"/>
              </a:rPr>
              <a:t>£19,078 total</a:t>
            </a:r>
            <a:r>
              <a:rPr b="0" lang="en-US" sz="1200">
                <a:solidFill>
                  <a:srgbClr val="1A1A1A"/>
                </a:solidFill>
                <a:latin typeface="Calibri"/>
                <a:ea typeface="Calibri"/>
                <a:cs typeface="Calibri"/>
                <a:sym typeface="Calibri"/>
              </a:rPr>
              <a:t>  </a:t>
            </a:r>
            <a:r>
              <a:rPr b="0" lang="en-US" sz="1200">
                <a:solidFill>
                  <a:srgbClr val="666666"/>
                </a:solidFill>
                <a:latin typeface="Calibri"/>
                <a:ea typeface="Calibri"/>
                <a:cs typeface="Calibri"/>
                <a:sym typeface="Calibri"/>
              </a:rPr>
              <a:t>(Bid reduction needed)</a:t>
            </a:r>
            <a:endParaRPr sz="1200">
              <a:solidFill>
                <a:srgbClr val="666666"/>
              </a:solidFill>
            </a:endParaRPr>
          </a:p>
        </p:txBody>
      </p:sp>
      <p:sp>
        <p:nvSpPr>
          <p:cNvPr id="518" name="Google Shape;518;p13"/>
          <p:cNvSpPr/>
          <p:nvPr/>
        </p:nvSpPr>
        <p:spPr>
          <a:xfrm>
            <a:off x="6217920" y="3520439"/>
            <a:ext cx="5303520" cy="45720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9" name="Google Shape;519;p13"/>
          <p:cNvSpPr/>
          <p:nvPr/>
        </p:nvSpPr>
        <p:spPr>
          <a:xfrm>
            <a:off x="6217920" y="3520439"/>
            <a:ext cx="54864" cy="457200"/>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0" name="Google Shape;520;p13"/>
          <p:cNvSpPr txBox="1"/>
          <p:nvPr/>
        </p:nvSpPr>
        <p:spPr>
          <a:xfrm>
            <a:off x="6446575" y="3593600"/>
            <a:ext cx="51663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Geo: worst postcodes £120-169 CPA vs best £14-29  </a:t>
            </a:r>
            <a:r>
              <a:rPr b="1" lang="en-US" sz="1100">
                <a:solidFill>
                  <a:srgbClr val="FBBC05"/>
                </a:solidFill>
                <a:latin typeface="Calibri"/>
                <a:ea typeface="Calibri"/>
                <a:cs typeface="Calibri"/>
                <a:sym typeface="Calibri"/>
              </a:rPr>
              <a:t>5-10x range</a:t>
            </a:r>
            <a:r>
              <a:rPr b="0" lang="en-US" sz="1100">
                <a:solidFill>
                  <a:srgbClr val="1A1A1A"/>
                </a:solidFill>
                <a:latin typeface="Calibri"/>
                <a:ea typeface="Calibri"/>
                <a:cs typeface="Calibri"/>
                <a:sym typeface="Calibri"/>
              </a:rPr>
              <a:t>  </a:t>
            </a:r>
            <a:r>
              <a:rPr b="0" lang="en-US" sz="1100">
                <a:solidFill>
                  <a:srgbClr val="666666"/>
                </a:solidFill>
                <a:latin typeface="Calibri"/>
                <a:ea typeface="Calibri"/>
                <a:cs typeface="Calibri"/>
                <a:sym typeface="Calibri"/>
              </a:rPr>
              <a:t>(Switch to postcodes)</a:t>
            </a:r>
            <a:endParaRPr sz="1100">
              <a:solidFill>
                <a:srgbClr val="666666"/>
              </a:solidFill>
            </a:endParaRPr>
          </a:p>
        </p:txBody>
      </p:sp>
      <p:sp>
        <p:nvSpPr>
          <p:cNvPr id="521" name="Google Shape;521;p13"/>
          <p:cNvSpPr/>
          <p:nvPr/>
        </p:nvSpPr>
        <p:spPr>
          <a:xfrm>
            <a:off x="548640" y="4206240"/>
            <a:ext cx="11064240" cy="457200"/>
          </a:xfrm>
          <a:prstGeom prst="rect">
            <a:avLst/>
          </a:prstGeom>
          <a:solidFill>
            <a:srgbClr val="E8F0FE"/>
          </a:solidFill>
          <a:ln cap="flat" cmpd="sng" w="12700">
            <a:solidFill>
              <a:srgbClr val="4285F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13"/>
          <p:cNvSpPr txBox="1"/>
          <p:nvPr/>
        </p:nvSpPr>
        <p:spPr>
          <a:xfrm>
            <a:off x="777250" y="4206350"/>
            <a:ext cx="106071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200">
                <a:solidFill>
                  <a:srgbClr val="1A237E"/>
                </a:solidFill>
                <a:latin typeface="Calibri"/>
                <a:ea typeface="Calibri"/>
                <a:cs typeface="Calibri"/>
                <a:sym typeface="Calibri"/>
              </a:rPr>
              <a:t>Combined: £151,774 in zero-conversion waste across the data period, plus significant efficiency gaps in device, schedule, geo, and keyword bidding.</a:t>
            </a:r>
            <a:endParaRPr sz="1200"/>
          </a:p>
        </p:txBody>
      </p:sp>
      <p:sp>
        <p:nvSpPr>
          <p:cNvPr id="523" name="Google Shape;523;p13"/>
          <p:cNvSpPr/>
          <p:nvPr/>
        </p:nvSpPr>
        <p:spPr>
          <a:xfrm>
            <a:off x="548650" y="4846326"/>
            <a:ext cx="11064300" cy="1389300"/>
          </a:xfrm>
          <a:prstGeom prst="rect">
            <a:avLst/>
          </a:prstGeom>
          <a:solidFill>
            <a:srgbClr val="E8F0F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4" name="Google Shape;524;p13"/>
          <p:cNvSpPr/>
          <p:nvPr/>
        </p:nvSpPr>
        <p:spPr>
          <a:xfrm>
            <a:off x="530400" y="4846325"/>
            <a:ext cx="73200" cy="1389300"/>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5" name="Google Shape;525;p13"/>
          <p:cNvSpPr txBox="1"/>
          <p:nvPr/>
        </p:nvSpPr>
        <p:spPr>
          <a:xfrm>
            <a:off x="777240" y="4937760"/>
            <a:ext cx="106984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A237E"/>
                </a:solidFill>
                <a:latin typeface="Calibri"/>
                <a:ea typeface="Calibri"/>
                <a:cs typeface="Calibri"/>
                <a:sym typeface="Calibri"/>
              </a:rPr>
              <a:t>Important Note: Conversion Tracking</a:t>
            </a:r>
            <a:endParaRPr/>
          </a:p>
        </p:txBody>
      </p:sp>
      <p:sp>
        <p:nvSpPr>
          <p:cNvPr id="526" name="Google Shape;526;p13"/>
          <p:cNvSpPr txBox="1"/>
          <p:nvPr/>
        </p:nvSpPr>
        <p:spPr>
          <a:xfrm>
            <a:off x="777240" y="5212080"/>
            <a:ext cx="106986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These numbers use the conversions reported in Google Ads, which include Dengro offline leads (4,663), form submissions, phone calls, quiz completions, and several soft signals (booking clicks, phone clicks, WhatsApp clicks). </a:t>
            </a:r>
            <a:br>
              <a:rPr b="0" lang="en-US" sz="1200">
                <a:solidFill>
                  <a:srgbClr val="1A1A1A"/>
                </a:solidFill>
                <a:latin typeface="Calibri"/>
                <a:ea typeface="Calibri"/>
                <a:cs typeface="Calibri"/>
                <a:sym typeface="Calibri"/>
              </a:rPr>
            </a:br>
            <a:r>
              <a:rPr b="0" lang="en-US" sz="1200">
                <a:solidFill>
                  <a:srgbClr val="1A1A1A"/>
                </a:solidFill>
                <a:latin typeface="Calibri"/>
                <a:ea typeface="Calibri"/>
                <a:cs typeface="Calibri"/>
                <a:sym typeface="Calibri"/>
              </a:rPr>
              <a:t>If soft signals are excluded, the true CPA is higher and the efficiency gaps are wider. </a:t>
            </a:r>
            <a:endParaRPr b="0" sz="1200">
              <a:solidFill>
                <a:srgbClr val="1A1A1A"/>
              </a:solidFill>
              <a:latin typeface="Calibri"/>
              <a:ea typeface="Calibri"/>
              <a:cs typeface="Calibri"/>
              <a:sym typeface="Calibri"/>
            </a:endParaRPr>
          </a:p>
          <a:p>
            <a:pPr indent="0" lvl="0" marL="0" marR="0" rtl="0" algn="l">
              <a:lnSpc>
                <a:spcPct val="115000"/>
              </a:lnSpc>
              <a:spcBef>
                <a:spcPts val="0"/>
              </a:spcBef>
              <a:spcAft>
                <a:spcPts val="0"/>
              </a:spcAft>
              <a:buNone/>
            </a:pPr>
            <a:r>
              <a:rPr b="0" lang="en-US" sz="1200">
                <a:solidFill>
                  <a:srgbClr val="1A1A1A"/>
                </a:solidFill>
                <a:latin typeface="Calibri"/>
                <a:ea typeface="Calibri"/>
                <a:cs typeface="Calibri"/>
                <a:sym typeface="Calibri"/>
              </a:rPr>
              <a:t>A conversion tracking audit is recommended as part of Report 2: Account Structure &amp; Issues.</a:t>
            </a:r>
            <a:endParaRPr sz="1200"/>
          </a:p>
        </p:txBody>
      </p:sp>
      <p:sp>
        <p:nvSpPr>
          <p:cNvPr id="527" name="Google Shape;527;p13"/>
          <p:cNvSpPr/>
          <p:nvPr/>
        </p:nvSpPr>
        <p:spPr>
          <a:xfrm>
            <a:off x="548640" y="6327648"/>
            <a:ext cx="2770632" cy="27432"/>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8" name="Google Shape;528;p13"/>
          <p:cNvSpPr/>
          <p:nvPr/>
        </p:nvSpPr>
        <p:spPr>
          <a:xfrm>
            <a:off x="3319272" y="6327648"/>
            <a:ext cx="2770632" cy="27432"/>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9" name="Google Shape;529;p13"/>
          <p:cNvSpPr/>
          <p:nvPr/>
        </p:nvSpPr>
        <p:spPr>
          <a:xfrm>
            <a:off x="6099048" y="6327648"/>
            <a:ext cx="2770632" cy="27432"/>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30" name="Google Shape;530;p13"/>
          <p:cNvSpPr/>
          <p:nvPr/>
        </p:nvSpPr>
        <p:spPr>
          <a:xfrm>
            <a:off x="8869680" y="6327648"/>
            <a:ext cx="2770632" cy="27432"/>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act_logo_official.png" id="531" name="Google Shape;531;p13"/>
          <p:cNvPicPr preferRelativeResize="0"/>
          <p:nvPr/>
        </p:nvPicPr>
        <p:blipFill rotWithShape="1">
          <a:blip r:embed="rId3">
            <a:alphaModFix/>
          </a:blip>
          <a:srcRect b="0" l="0" r="0" t="0"/>
          <a:stretch/>
        </p:blipFill>
        <p:spPr>
          <a:xfrm>
            <a:off x="548640" y="6400800"/>
            <a:ext cx="201168" cy="201168"/>
          </a:xfrm>
          <a:prstGeom prst="rect">
            <a:avLst/>
          </a:prstGeom>
          <a:noFill/>
          <a:ln>
            <a:noFill/>
          </a:ln>
        </p:spPr>
      </p:pic>
      <p:sp>
        <p:nvSpPr>
          <p:cNvPr id="532" name="Google Shape;532;p13"/>
          <p:cNvSpPr txBox="1"/>
          <p:nvPr/>
        </p:nvSpPr>
        <p:spPr>
          <a:xfrm>
            <a:off x="822960" y="6400800"/>
            <a:ext cx="54864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1A237E"/>
                </a:solidFill>
                <a:latin typeface="Calibri"/>
                <a:ea typeface="Calibri"/>
                <a:cs typeface="Calibri"/>
                <a:sym typeface="Calibri"/>
              </a:rPr>
              <a:t>Christopher Hoole  |  christopherhoole.com  |  Confidential</a:t>
            </a:r>
            <a:endParaRPr/>
          </a:p>
        </p:txBody>
      </p:sp>
      <p:sp>
        <p:nvSpPr>
          <p:cNvPr id="533" name="Google Shape;533;p13"/>
          <p:cNvSpPr txBox="1"/>
          <p:nvPr/>
        </p:nvSpPr>
        <p:spPr>
          <a:xfrm>
            <a:off x="11183112" y="6400800"/>
            <a:ext cx="45720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lang="en-US" sz="1100">
                <a:solidFill>
                  <a:srgbClr val="1A237E"/>
                </a:solidFill>
                <a:latin typeface="Calibri"/>
                <a:ea typeface="Calibri"/>
                <a:cs typeface="Calibri"/>
                <a:sym typeface="Calibri"/>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537" name="Shape 537"/>
        <p:cNvGrpSpPr/>
        <p:nvPr/>
      </p:nvGrpSpPr>
      <p:grpSpPr>
        <a:xfrm>
          <a:off x="0" y="0"/>
          <a:ext cx="0" cy="0"/>
          <a:chOff x="0" y="0"/>
          <a:chExt cx="0" cy="0"/>
        </a:xfrm>
      </p:grpSpPr>
      <p:sp>
        <p:nvSpPr>
          <p:cNvPr id="538" name="Google Shape;538;p14"/>
          <p:cNvSpPr/>
          <p:nvPr/>
        </p:nvSpPr>
        <p:spPr>
          <a:xfrm>
            <a:off x="0" y="0"/>
            <a:ext cx="3047695" cy="64008"/>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39" name="Google Shape;539;p14"/>
          <p:cNvSpPr/>
          <p:nvPr/>
        </p:nvSpPr>
        <p:spPr>
          <a:xfrm>
            <a:off x="3047695" y="0"/>
            <a:ext cx="3047695" cy="64008"/>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p14"/>
          <p:cNvSpPr/>
          <p:nvPr/>
        </p:nvSpPr>
        <p:spPr>
          <a:xfrm>
            <a:off x="6095390" y="0"/>
            <a:ext cx="3047695" cy="64008"/>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1" name="Google Shape;541;p14"/>
          <p:cNvSpPr/>
          <p:nvPr/>
        </p:nvSpPr>
        <p:spPr>
          <a:xfrm>
            <a:off x="9143085" y="0"/>
            <a:ext cx="3047695" cy="64008"/>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2" name="Google Shape;542;p14"/>
          <p:cNvSpPr/>
          <p:nvPr/>
        </p:nvSpPr>
        <p:spPr>
          <a:xfrm>
            <a:off x="0" y="64008"/>
            <a:ext cx="109728" cy="6793992"/>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act_logo_official.png" id="543" name="Google Shape;543;p14"/>
          <p:cNvPicPr preferRelativeResize="0"/>
          <p:nvPr/>
        </p:nvPicPr>
        <p:blipFill rotWithShape="1">
          <a:blip r:embed="rId3">
            <a:alphaModFix/>
          </a:blip>
          <a:srcRect b="0" l="0" r="0" t="0"/>
          <a:stretch/>
        </p:blipFill>
        <p:spPr>
          <a:xfrm>
            <a:off x="548640" y="457200"/>
            <a:ext cx="594360" cy="594360"/>
          </a:xfrm>
          <a:prstGeom prst="rect">
            <a:avLst/>
          </a:prstGeom>
          <a:noFill/>
          <a:ln>
            <a:noFill/>
          </a:ln>
        </p:spPr>
      </p:pic>
      <p:sp>
        <p:nvSpPr>
          <p:cNvPr id="544" name="Google Shape;544;p14"/>
          <p:cNvSpPr txBox="1"/>
          <p:nvPr/>
        </p:nvSpPr>
        <p:spPr>
          <a:xfrm>
            <a:off x="548640" y="1280160"/>
            <a:ext cx="50292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400">
                <a:solidFill>
                  <a:srgbClr val="1A237E"/>
                </a:solidFill>
                <a:latin typeface="Calibri"/>
                <a:ea typeface="Calibri"/>
                <a:cs typeface="Calibri"/>
                <a:sym typeface="Calibri"/>
              </a:rPr>
              <a:t>Quick Wins</a:t>
            </a:r>
            <a:endParaRPr/>
          </a:p>
        </p:txBody>
      </p:sp>
      <p:sp>
        <p:nvSpPr>
          <p:cNvPr id="545" name="Google Shape;545;p14"/>
          <p:cNvSpPr/>
          <p:nvPr/>
        </p:nvSpPr>
        <p:spPr>
          <a:xfrm>
            <a:off x="548640" y="2011680"/>
            <a:ext cx="2286000" cy="45720"/>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14"/>
          <p:cNvSpPr txBox="1"/>
          <p:nvPr/>
        </p:nvSpPr>
        <p:spPr>
          <a:xfrm>
            <a:off x="548640" y="2194560"/>
            <a:ext cx="5029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400">
                <a:solidFill>
                  <a:srgbClr val="1A237E"/>
                </a:solidFill>
                <a:latin typeface="Calibri"/>
                <a:ea typeface="Calibri"/>
                <a:cs typeface="Calibri"/>
                <a:sym typeface="Calibri"/>
              </a:rPr>
              <a:t>Immediate actions to reduce waste and improve efficiency</a:t>
            </a:r>
            <a:endParaRPr/>
          </a:p>
        </p:txBody>
      </p:sp>
      <p:sp>
        <p:nvSpPr>
          <p:cNvPr id="547" name="Google Shape;547;p14"/>
          <p:cNvSpPr/>
          <p:nvPr/>
        </p:nvSpPr>
        <p:spPr>
          <a:xfrm>
            <a:off x="548640" y="2606040"/>
            <a:ext cx="5029200" cy="41148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8" name="Google Shape;548;p14"/>
          <p:cNvSpPr/>
          <p:nvPr/>
        </p:nvSpPr>
        <p:spPr>
          <a:xfrm>
            <a:off x="548640" y="2606040"/>
            <a:ext cx="54864" cy="41148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9" name="Google Shape;549;p14"/>
          <p:cNvSpPr txBox="1"/>
          <p:nvPr/>
        </p:nvSpPr>
        <p:spPr>
          <a:xfrm>
            <a:off x="777240" y="2660904"/>
            <a:ext cx="45720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EA4335"/>
                </a:solidFill>
                <a:latin typeface="Calibri"/>
                <a:ea typeface="Calibri"/>
                <a:cs typeface="Calibri"/>
                <a:sym typeface="Calibri"/>
              </a:rPr>
              <a:t>1.  </a:t>
            </a:r>
            <a:r>
              <a:rPr b="1" lang="en-US" sz="1200">
                <a:solidFill>
                  <a:srgbClr val="1A237E"/>
                </a:solidFill>
                <a:latin typeface="Calibri"/>
                <a:ea typeface="Calibri"/>
                <a:cs typeface="Calibri"/>
                <a:sym typeface="Calibri"/>
              </a:rPr>
              <a:t>Total negative keyword overhaul</a:t>
            </a:r>
            <a:endParaRPr sz="1200"/>
          </a:p>
        </p:txBody>
      </p:sp>
      <p:sp>
        <p:nvSpPr>
          <p:cNvPr id="550" name="Google Shape;550;p14"/>
          <p:cNvSpPr/>
          <p:nvPr/>
        </p:nvSpPr>
        <p:spPr>
          <a:xfrm>
            <a:off x="548640" y="3081528"/>
            <a:ext cx="5029200" cy="41148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1" name="Google Shape;551;p14"/>
          <p:cNvSpPr/>
          <p:nvPr/>
        </p:nvSpPr>
        <p:spPr>
          <a:xfrm>
            <a:off x="548640" y="3081528"/>
            <a:ext cx="54864" cy="41148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14"/>
          <p:cNvSpPr txBox="1"/>
          <p:nvPr/>
        </p:nvSpPr>
        <p:spPr>
          <a:xfrm>
            <a:off x="777240" y="3136392"/>
            <a:ext cx="45720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EA4335"/>
                </a:solidFill>
                <a:latin typeface="Calibri"/>
                <a:ea typeface="Calibri"/>
                <a:cs typeface="Calibri"/>
                <a:sym typeface="Calibri"/>
              </a:rPr>
              <a:t>2.  </a:t>
            </a:r>
            <a:r>
              <a:rPr b="1" lang="en-US" sz="1200">
                <a:solidFill>
                  <a:srgbClr val="1A237E"/>
                </a:solidFill>
                <a:latin typeface="Calibri"/>
                <a:ea typeface="Calibri"/>
                <a:cs typeface="Calibri"/>
                <a:sym typeface="Calibri"/>
              </a:rPr>
              <a:t>Add negative keywords for top waste categories</a:t>
            </a:r>
            <a:endParaRPr sz="1200"/>
          </a:p>
        </p:txBody>
      </p:sp>
      <p:sp>
        <p:nvSpPr>
          <p:cNvPr id="553" name="Google Shape;553;p14"/>
          <p:cNvSpPr/>
          <p:nvPr/>
        </p:nvSpPr>
        <p:spPr>
          <a:xfrm>
            <a:off x="548640" y="3557016"/>
            <a:ext cx="5029200" cy="41148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14"/>
          <p:cNvSpPr/>
          <p:nvPr/>
        </p:nvSpPr>
        <p:spPr>
          <a:xfrm>
            <a:off x="548640" y="3557016"/>
            <a:ext cx="54864" cy="411480"/>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5" name="Google Shape;555;p14"/>
          <p:cNvSpPr txBox="1"/>
          <p:nvPr/>
        </p:nvSpPr>
        <p:spPr>
          <a:xfrm>
            <a:off x="777240" y="3611880"/>
            <a:ext cx="45720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4285F4"/>
                </a:solidFill>
                <a:latin typeface="Calibri"/>
                <a:ea typeface="Calibri"/>
                <a:cs typeface="Calibri"/>
                <a:sym typeface="Calibri"/>
              </a:rPr>
              <a:t>3.  </a:t>
            </a:r>
            <a:r>
              <a:rPr b="1" lang="en-US" sz="1200">
                <a:solidFill>
                  <a:srgbClr val="1A237E"/>
                </a:solidFill>
                <a:latin typeface="Calibri"/>
                <a:ea typeface="Calibri"/>
                <a:cs typeface="Calibri"/>
                <a:sym typeface="Calibri"/>
              </a:rPr>
              <a:t>Implement device bid adjustments</a:t>
            </a:r>
            <a:endParaRPr sz="1200"/>
          </a:p>
        </p:txBody>
      </p:sp>
      <p:sp>
        <p:nvSpPr>
          <p:cNvPr id="556" name="Google Shape;556;p14"/>
          <p:cNvSpPr/>
          <p:nvPr/>
        </p:nvSpPr>
        <p:spPr>
          <a:xfrm>
            <a:off x="548640" y="4032504"/>
            <a:ext cx="5029200" cy="41148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7" name="Google Shape;557;p14"/>
          <p:cNvSpPr/>
          <p:nvPr/>
        </p:nvSpPr>
        <p:spPr>
          <a:xfrm>
            <a:off x="548640" y="4032504"/>
            <a:ext cx="54864" cy="411480"/>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8" name="Google Shape;558;p14"/>
          <p:cNvSpPr txBox="1"/>
          <p:nvPr/>
        </p:nvSpPr>
        <p:spPr>
          <a:xfrm>
            <a:off x="777240" y="4087368"/>
            <a:ext cx="45720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4285F4"/>
                </a:solidFill>
                <a:latin typeface="Calibri"/>
                <a:ea typeface="Calibri"/>
                <a:cs typeface="Calibri"/>
                <a:sym typeface="Calibri"/>
              </a:rPr>
              <a:t>4.  </a:t>
            </a:r>
            <a:r>
              <a:rPr b="1" lang="en-US" sz="1200">
                <a:solidFill>
                  <a:srgbClr val="1A237E"/>
                </a:solidFill>
                <a:latin typeface="Calibri"/>
                <a:ea typeface="Calibri"/>
                <a:cs typeface="Calibri"/>
                <a:sym typeface="Calibri"/>
              </a:rPr>
              <a:t>Implement day-of-week bid adjustments</a:t>
            </a:r>
            <a:endParaRPr sz="1200"/>
          </a:p>
        </p:txBody>
      </p:sp>
      <p:sp>
        <p:nvSpPr>
          <p:cNvPr id="559" name="Google Shape;559;p14"/>
          <p:cNvSpPr/>
          <p:nvPr/>
        </p:nvSpPr>
        <p:spPr>
          <a:xfrm>
            <a:off x="548640" y="4507992"/>
            <a:ext cx="5029200" cy="41148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0" name="Google Shape;560;p14"/>
          <p:cNvSpPr/>
          <p:nvPr/>
        </p:nvSpPr>
        <p:spPr>
          <a:xfrm>
            <a:off x="548640" y="4507992"/>
            <a:ext cx="54864" cy="411480"/>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14"/>
          <p:cNvSpPr txBox="1"/>
          <p:nvPr/>
        </p:nvSpPr>
        <p:spPr>
          <a:xfrm>
            <a:off x="777240" y="4562856"/>
            <a:ext cx="45720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4285F4"/>
                </a:solidFill>
                <a:latin typeface="Calibri"/>
                <a:ea typeface="Calibri"/>
                <a:cs typeface="Calibri"/>
                <a:sym typeface="Calibri"/>
              </a:rPr>
              <a:t>5.  </a:t>
            </a:r>
            <a:r>
              <a:rPr b="1" lang="en-US" sz="1200">
                <a:solidFill>
                  <a:srgbClr val="1A237E"/>
                </a:solidFill>
                <a:latin typeface="Calibri"/>
                <a:ea typeface="Calibri"/>
                <a:cs typeface="Calibri"/>
                <a:sym typeface="Calibri"/>
              </a:rPr>
              <a:t>Implement hour-of-day bid adjustments</a:t>
            </a:r>
            <a:endParaRPr sz="1200"/>
          </a:p>
        </p:txBody>
      </p:sp>
      <p:sp>
        <p:nvSpPr>
          <p:cNvPr id="562" name="Google Shape;562;p14"/>
          <p:cNvSpPr/>
          <p:nvPr/>
        </p:nvSpPr>
        <p:spPr>
          <a:xfrm>
            <a:off x="548640" y="4983480"/>
            <a:ext cx="5029200" cy="41148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14"/>
          <p:cNvSpPr/>
          <p:nvPr/>
        </p:nvSpPr>
        <p:spPr>
          <a:xfrm>
            <a:off x="548640" y="4983480"/>
            <a:ext cx="54864" cy="411480"/>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14"/>
          <p:cNvSpPr txBox="1"/>
          <p:nvPr/>
        </p:nvSpPr>
        <p:spPr>
          <a:xfrm>
            <a:off x="777240" y="5038344"/>
            <a:ext cx="45720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FBBC05"/>
                </a:solidFill>
                <a:latin typeface="Calibri"/>
                <a:ea typeface="Calibri"/>
                <a:cs typeface="Calibri"/>
                <a:sym typeface="Calibri"/>
              </a:rPr>
              <a:t>6.  </a:t>
            </a:r>
            <a:r>
              <a:rPr b="1" lang="en-US" sz="1200">
                <a:solidFill>
                  <a:srgbClr val="1A237E"/>
                </a:solidFill>
                <a:latin typeface="Calibri"/>
                <a:ea typeface="Calibri"/>
                <a:cs typeface="Calibri"/>
                <a:sym typeface="Calibri"/>
              </a:rPr>
              <a:t>Review 17 high-CPA keywords (£150+)</a:t>
            </a:r>
            <a:endParaRPr sz="1200"/>
          </a:p>
        </p:txBody>
      </p:sp>
      <p:sp>
        <p:nvSpPr>
          <p:cNvPr id="565" name="Google Shape;565;p14"/>
          <p:cNvSpPr/>
          <p:nvPr/>
        </p:nvSpPr>
        <p:spPr>
          <a:xfrm>
            <a:off x="548640" y="5458968"/>
            <a:ext cx="5029200" cy="41148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6" name="Google Shape;566;p14"/>
          <p:cNvSpPr/>
          <p:nvPr/>
        </p:nvSpPr>
        <p:spPr>
          <a:xfrm>
            <a:off x="548640" y="5458968"/>
            <a:ext cx="54864" cy="411480"/>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14"/>
          <p:cNvSpPr txBox="1"/>
          <p:nvPr/>
        </p:nvSpPr>
        <p:spPr>
          <a:xfrm>
            <a:off x="777240" y="5513832"/>
            <a:ext cx="45720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34A853"/>
                </a:solidFill>
                <a:latin typeface="Calibri"/>
                <a:ea typeface="Calibri"/>
                <a:cs typeface="Calibri"/>
                <a:sym typeface="Calibri"/>
              </a:rPr>
              <a:t>7.  </a:t>
            </a:r>
            <a:r>
              <a:rPr b="1" lang="en-US" sz="1200">
                <a:solidFill>
                  <a:srgbClr val="1A237E"/>
                </a:solidFill>
                <a:latin typeface="Calibri"/>
                <a:ea typeface="Calibri"/>
                <a:cs typeface="Calibri"/>
                <a:sym typeface="Calibri"/>
              </a:rPr>
              <a:t>Disable auto-apply for negative keyword removal</a:t>
            </a:r>
            <a:endParaRPr sz="1200"/>
          </a:p>
        </p:txBody>
      </p:sp>
      <p:sp>
        <p:nvSpPr>
          <p:cNvPr id="568" name="Google Shape;568;p14"/>
          <p:cNvSpPr/>
          <p:nvPr/>
        </p:nvSpPr>
        <p:spPr>
          <a:xfrm>
            <a:off x="548640" y="5934456"/>
            <a:ext cx="5029200" cy="41148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9" name="Google Shape;569;p14"/>
          <p:cNvSpPr/>
          <p:nvPr/>
        </p:nvSpPr>
        <p:spPr>
          <a:xfrm>
            <a:off x="548640" y="5934456"/>
            <a:ext cx="54864" cy="411480"/>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14"/>
          <p:cNvSpPr txBox="1"/>
          <p:nvPr/>
        </p:nvSpPr>
        <p:spPr>
          <a:xfrm>
            <a:off x="777240" y="5989320"/>
            <a:ext cx="45720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34A853"/>
                </a:solidFill>
                <a:latin typeface="Calibri"/>
                <a:ea typeface="Calibri"/>
                <a:cs typeface="Calibri"/>
                <a:sym typeface="Calibri"/>
              </a:rPr>
              <a:t>8.  </a:t>
            </a:r>
            <a:r>
              <a:rPr b="1" lang="en-US" sz="1200">
                <a:solidFill>
                  <a:srgbClr val="1A237E"/>
                </a:solidFill>
                <a:latin typeface="Calibri"/>
                <a:ea typeface="Calibri"/>
                <a:cs typeface="Calibri"/>
                <a:sym typeface="Calibri"/>
              </a:rPr>
              <a:t>Tighten geo targeting: 35km radius → postcodes</a:t>
            </a:r>
            <a:endParaRPr sz="1200"/>
          </a:p>
        </p:txBody>
      </p:sp>
      <p:sp>
        <p:nvSpPr>
          <p:cNvPr id="571" name="Google Shape;571;p14"/>
          <p:cNvSpPr/>
          <p:nvPr/>
        </p:nvSpPr>
        <p:spPr>
          <a:xfrm>
            <a:off x="6217920" y="457200"/>
            <a:ext cx="5394960" cy="2286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14"/>
          <p:cNvSpPr/>
          <p:nvPr/>
        </p:nvSpPr>
        <p:spPr>
          <a:xfrm>
            <a:off x="6217920" y="457200"/>
            <a:ext cx="73152" cy="2286000"/>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3" name="Google Shape;573;p14"/>
          <p:cNvSpPr txBox="1"/>
          <p:nvPr/>
        </p:nvSpPr>
        <p:spPr>
          <a:xfrm>
            <a:off x="6492240" y="548640"/>
            <a:ext cx="493776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400">
                <a:solidFill>
                  <a:srgbClr val="1A237E"/>
                </a:solidFill>
                <a:latin typeface="Calibri"/>
                <a:ea typeface="Calibri"/>
                <a:cs typeface="Calibri"/>
                <a:sym typeface="Calibri"/>
              </a:rPr>
              <a:t>What's Next</a:t>
            </a:r>
            <a:endParaRPr/>
          </a:p>
        </p:txBody>
      </p:sp>
      <p:sp>
        <p:nvSpPr>
          <p:cNvPr id="574" name="Google Shape;574;p14"/>
          <p:cNvSpPr txBox="1"/>
          <p:nvPr/>
        </p:nvSpPr>
        <p:spPr>
          <a:xfrm>
            <a:off x="6492240" y="914400"/>
            <a:ext cx="49377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1" lang="en-US" sz="4000">
                <a:solidFill>
                  <a:srgbClr val="34A853"/>
                </a:solidFill>
                <a:latin typeface="Calibri"/>
                <a:ea typeface="Calibri"/>
                <a:cs typeface="Calibri"/>
                <a:sym typeface="Calibri"/>
              </a:rPr>
              <a:t>Report 2:</a:t>
            </a:r>
            <a:br>
              <a:rPr b="1" lang="en-US" sz="4000">
                <a:solidFill>
                  <a:srgbClr val="34A853"/>
                </a:solidFill>
                <a:latin typeface="Calibri"/>
                <a:ea typeface="Calibri"/>
                <a:cs typeface="Calibri"/>
                <a:sym typeface="Calibri"/>
              </a:rPr>
            </a:br>
            <a:r>
              <a:rPr b="1" lang="en-US" sz="4000">
                <a:solidFill>
                  <a:srgbClr val="34A853"/>
                </a:solidFill>
                <a:latin typeface="Calibri"/>
                <a:ea typeface="Calibri"/>
                <a:cs typeface="Calibri"/>
                <a:sym typeface="Calibri"/>
              </a:rPr>
              <a:t>Account Structure</a:t>
            </a:r>
            <a:endParaRPr/>
          </a:p>
        </p:txBody>
      </p:sp>
      <p:sp>
        <p:nvSpPr>
          <p:cNvPr id="575" name="Google Shape;575;p14"/>
          <p:cNvSpPr txBox="1"/>
          <p:nvPr/>
        </p:nvSpPr>
        <p:spPr>
          <a:xfrm>
            <a:off x="6492240" y="2174593"/>
            <a:ext cx="49377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200">
                <a:solidFill>
                  <a:srgbClr val="1A1A1A"/>
                </a:solidFill>
                <a:latin typeface="Calibri"/>
                <a:ea typeface="Calibri"/>
                <a:cs typeface="Calibri"/>
                <a:sym typeface="Calibri"/>
              </a:rPr>
              <a:t>Conversion tracking audit, bid strategy analysis, Quality Scores, ad copy, and the structural issues driving CPA higher.</a:t>
            </a:r>
            <a:endParaRPr sz="1200"/>
          </a:p>
        </p:txBody>
      </p:sp>
      <p:sp>
        <p:nvSpPr>
          <p:cNvPr id="576" name="Google Shape;576;p14"/>
          <p:cNvSpPr/>
          <p:nvPr/>
        </p:nvSpPr>
        <p:spPr>
          <a:xfrm>
            <a:off x="6217920" y="2926080"/>
            <a:ext cx="1673352" cy="105156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7" name="Google Shape;577;p14"/>
          <p:cNvSpPr/>
          <p:nvPr/>
        </p:nvSpPr>
        <p:spPr>
          <a:xfrm>
            <a:off x="6217920" y="2926080"/>
            <a:ext cx="54864" cy="1051560"/>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8" name="Google Shape;578;p14"/>
          <p:cNvSpPr txBox="1"/>
          <p:nvPr/>
        </p:nvSpPr>
        <p:spPr>
          <a:xfrm>
            <a:off x="6355080" y="3035808"/>
            <a:ext cx="14448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EA4335"/>
                </a:solidFill>
                <a:latin typeface="Calibri"/>
                <a:ea typeface="Calibri"/>
                <a:cs typeface="Calibri"/>
                <a:sym typeface="Calibri"/>
              </a:rPr>
              <a:t>£46</a:t>
            </a:r>
            <a:r>
              <a:rPr b="1" lang="en-US" sz="1600">
                <a:solidFill>
                  <a:srgbClr val="EA4335"/>
                </a:solidFill>
                <a:latin typeface="Calibri"/>
                <a:ea typeface="Calibri"/>
                <a:cs typeface="Calibri"/>
                <a:sym typeface="Calibri"/>
              </a:rPr>
              <a:t>→</a:t>
            </a:r>
            <a:r>
              <a:rPr b="1" lang="en-US" sz="2200">
                <a:solidFill>
                  <a:srgbClr val="EA4335"/>
                </a:solidFill>
                <a:latin typeface="Calibri"/>
                <a:ea typeface="Calibri"/>
                <a:cs typeface="Calibri"/>
                <a:sym typeface="Calibri"/>
              </a:rPr>
              <a:t>£64</a:t>
            </a:r>
            <a:endParaRPr/>
          </a:p>
        </p:txBody>
      </p:sp>
      <p:sp>
        <p:nvSpPr>
          <p:cNvPr id="579" name="Google Shape;579;p14"/>
          <p:cNvSpPr txBox="1"/>
          <p:nvPr/>
        </p:nvSpPr>
        <p:spPr>
          <a:xfrm>
            <a:off x="6355080" y="3474720"/>
            <a:ext cx="1444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CPA Trend (YoY)</a:t>
            </a:r>
            <a:endParaRPr/>
          </a:p>
        </p:txBody>
      </p:sp>
      <p:sp>
        <p:nvSpPr>
          <p:cNvPr id="580" name="Google Shape;580;p14"/>
          <p:cNvSpPr/>
          <p:nvPr/>
        </p:nvSpPr>
        <p:spPr>
          <a:xfrm>
            <a:off x="8074152" y="2926080"/>
            <a:ext cx="1673352" cy="105156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p14"/>
          <p:cNvSpPr/>
          <p:nvPr/>
        </p:nvSpPr>
        <p:spPr>
          <a:xfrm>
            <a:off x="8074152" y="2926080"/>
            <a:ext cx="54864" cy="1051560"/>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2" name="Google Shape;582;p14"/>
          <p:cNvSpPr txBox="1"/>
          <p:nvPr/>
        </p:nvSpPr>
        <p:spPr>
          <a:xfrm>
            <a:off x="8211312" y="3035808"/>
            <a:ext cx="1444752"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4285F4"/>
                </a:solidFill>
                <a:latin typeface="Calibri"/>
                <a:ea typeface="Calibri"/>
                <a:cs typeface="Calibri"/>
                <a:sym typeface="Calibri"/>
              </a:rPr>
              <a:t>8</a:t>
            </a:r>
            <a:endParaRPr/>
          </a:p>
        </p:txBody>
      </p:sp>
      <p:sp>
        <p:nvSpPr>
          <p:cNvPr id="583" name="Google Shape;583;p14"/>
          <p:cNvSpPr txBox="1"/>
          <p:nvPr/>
        </p:nvSpPr>
        <p:spPr>
          <a:xfrm>
            <a:off x="8211312" y="3474720"/>
            <a:ext cx="1444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Quick Win Actions</a:t>
            </a:r>
            <a:endParaRPr/>
          </a:p>
        </p:txBody>
      </p:sp>
      <p:sp>
        <p:nvSpPr>
          <p:cNvPr id="584" name="Google Shape;584;p14"/>
          <p:cNvSpPr/>
          <p:nvPr/>
        </p:nvSpPr>
        <p:spPr>
          <a:xfrm>
            <a:off x="9939528" y="2926080"/>
            <a:ext cx="1673352" cy="105156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14"/>
          <p:cNvSpPr/>
          <p:nvPr/>
        </p:nvSpPr>
        <p:spPr>
          <a:xfrm>
            <a:off x="9939528" y="2926080"/>
            <a:ext cx="54864" cy="1051560"/>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6" name="Google Shape;586;p14"/>
          <p:cNvSpPr txBox="1"/>
          <p:nvPr/>
        </p:nvSpPr>
        <p:spPr>
          <a:xfrm>
            <a:off x="10076688" y="3035808"/>
            <a:ext cx="1444752"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34A853"/>
                </a:solidFill>
                <a:latin typeface="Calibri"/>
                <a:ea typeface="Calibri"/>
                <a:cs typeface="Calibri"/>
                <a:sym typeface="Calibri"/>
              </a:rPr>
              <a:t>Report 2</a:t>
            </a:r>
            <a:endParaRPr/>
          </a:p>
        </p:txBody>
      </p:sp>
      <p:sp>
        <p:nvSpPr>
          <p:cNvPr id="587" name="Google Shape;587;p14"/>
          <p:cNvSpPr txBox="1"/>
          <p:nvPr/>
        </p:nvSpPr>
        <p:spPr>
          <a:xfrm>
            <a:off x="10076688" y="3474720"/>
            <a:ext cx="144475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1A1A1A"/>
                </a:solidFill>
                <a:latin typeface="Calibri"/>
                <a:ea typeface="Calibri"/>
                <a:cs typeface="Calibri"/>
                <a:sym typeface="Calibri"/>
              </a:rPr>
              <a:t>Coming Next</a:t>
            </a:r>
            <a:endParaRPr/>
          </a:p>
        </p:txBody>
      </p:sp>
      <p:sp>
        <p:nvSpPr>
          <p:cNvPr id="588" name="Google Shape;588;p14"/>
          <p:cNvSpPr/>
          <p:nvPr/>
        </p:nvSpPr>
        <p:spPr>
          <a:xfrm>
            <a:off x="109725" y="6400800"/>
            <a:ext cx="2937900" cy="36600"/>
          </a:xfrm>
          <a:prstGeom prst="rect">
            <a:avLst/>
          </a:prstGeom>
          <a:solidFill>
            <a:srgbClr val="4285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p14"/>
          <p:cNvSpPr/>
          <p:nvPr/>
        </p:nvSpPr>
        <p:spPr>
          <a:xfrm>
            <a:off x="3047695" y="6400800"/>
            <a:ext cx="3047695" cy="36576"/>
          </a:xfrm>
          <a:prstGeom prst="rect">
            <a:avLst/>
          </a:prstGeom>
          <a:solidFill>
            <a:srgbClr val="EA433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90" name="Google Shape;590;p14"/>
          <p:cNvSpPr/>
          <p:nvPr/>
        </p:nvSpPr>
        <p:spPr>
          <a:xfrm>
            <a:off x="6095390" y="6400800"/>
            <a:ext cx="3047695" cy="36576"/>
          </a:xfrm>
          <a:prstGeom prst="rect">
            <a:avLst/>
          </a:prstGeom>
          <a:solidFill>
            <a:srgbClr val="FBBC0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91" name="Google Shape;591;p14"/>
          <p:cNvSpPr/>
          <p:nvPr/>
        </p:nvSpPr>
        <p:spPr>
          <a:xfrm>
            <a:off x="9143085" y="6400800"/>
            <a:ext cx="3047695" cy="36576"/>
          </a:xfrm>
          <a:prstGeom prst="rect">
            <a:avLst/>
          </a:prstGeom>
          <a:solidFill>
            <a:srgbClr val="34A853"/>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