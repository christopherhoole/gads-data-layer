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Brand Avg CPC — 8 week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CPC (£)</c:v>
                </c:pt>
              </c:strCache>
            </c:strRef>
          </c:tx>
          <c:spPr>
            <a:solidFill>
              <a:srgbClr val="D4A843"/>
            </a:solidFill>
            <a:ln w="38100" cap="flat">
              <a:solidFill>
                <a:srgbClr val="D4A843"/>
              </a:solidFill>
              <a:prstDash val="solid"/>
              <a:round/>
            </a:ln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23 Feb</c:v>
                  </c:pt>
                  <c:pt idx="1">
                    <c:v>2 Mar</c:v>
                  </c:pt>
                  <c:pt idx="2">
                    <c:v>9 Mar</c:v>
                  </c:pt>
                  <c:pt idx="3">
                    <c:v>16 Mar</c:v>
                  </c:pt>
                  <c:pt idx="4">
                    <c:v>23 Mar</c:v>
                  </c:pt>
                  <c:pt idx="5">
                    <c:v>30 Mar</c:v>
                  </c:pt>
                  <c:pt idx="6">
                    <c:v>6 Apr</c:v>
                  </c:pt>
                  <c:pt idx="7">
                    <c:v>13 Apr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3.09</c:v>
                </c:pt>
                <c:pt idx="1">
                  <c:v>2.41</c:v>
                </c:pt>
                <c:pt idx="2">
                  <c:v>3.49</c:v>
                </c:pt>
                <c:pt idx="3">
                  <c:v>4</c:v>
                </c:pt>
                <c:pt idx="4">
                  <c:v>3.24</c:v>
                </c:pt>
                <c:pt idx="5">
                  <c:v>2.31</c:v>
                </c:pt>
                <c:pt idx="6">
                  <c:v>2.9</c:v>
                </c:pt>
                <c:pt idx="7">
                  <c:v>2.16</c:v>
                </c:pt>
              </c:numCache>
            </c:numRef>
          </c:val>
          <c:smooth val="0"/>
        </c:ser>
        <c:dLbls>
          <c:numFmt formatCode="£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£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Weekly Spend — 8 weeks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Spend (£)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23 Feb</c:v>
                  </c:pt>
                  <c:pt idx="1">
                    <c:v>2 Mar</c:v>
                  </c:pt>
                  <c:pt idx="2">
                    <c:v>9 Mar</c:v>
                  </c:pt>
                  <c:pt idx="3">
                    <c:v>16 Mar</c:v>
                  </c:pt>
                  <c:pt idx="4">
                    <c:v>23 Mar</c:v>
                  </c:pt>
                  <c:pt idx="5">
                    <c:v>30 Mar</c:v>
                  </c:pt>
                  <c:pt idx="6">
                    <c:v>6 Apr</c:v>
                  </c:pt>
                  <c:pt idx="7">
                    <c:v>13 Apr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17101</c:v>
                </c:pt>
                <c:pt idx="1">
                  <c:v>14475</c:v>
                </c:pt>
                <c:pt idx="2">
                  <c:v>8115</c:v>
                </c:pt>
                <c:pt idx="3">
                  <c:v>13173</c:v>
                </c:pt>
                <c:pt idx="4">
                  <c:v>11558</c:v>
                </c:pt>
                <c:pt idx="5">
                  <c:v>9997</c:v>
                </c:pt>
                <c:pt idx="6">
                  <c:v>10291</c:v>
                </c:pt>
                <c:pt idx="7">
                  <c:v>8462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£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Weekly Primary Conversions — 8 weeks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Conversions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23 Feb</c:v>
                  </c:pt>
                  <c:pt idx="1">
                    <c:v>2 Mar</c:v>
                  </c:pt>
                  <c:pt idx="2">
                    <c:v>9 Mar</c:v>
                  </c:pt>
                  <c:pt idx="3">
                    <c:v>16 Mar</c:v>
                  </c:pt>
                  <c:pt idx="4">
                    <c:v>23 Mar</c:v>
                  </c:pt>
                  <c:pt idx="5">
                    <c:v>30 Mar</c:v>
                  </c:pt>
                  <c:pt idx="6">
                    <c:v>6 Apr</c:v>
                  </c:pt>
                  <c:pt idx="7">
                    <c:v>13 Apr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229.5</c:v>
                </c:pt>
                <c:pt idx="1">
                  <c:v>184.6</c:v>
                </c:pt>
                <c:pt idx="2">
                  <c:v>115.7</c:v>
                </c:pt>
                <c:pt idx="3">
                  <c:v>133.7</c:v>
                </c:pt>
                <c:pt idx="4">
                  <c:v>239.2</c:v>
                </c:pt>
                <c:pt idx="5">
                  <c:v>148.4</c:v>
                </c:pt>
                <c:pt idx="6">
                  <c:v>134.1</c:v>
                </c:pt>
                <c:pt idx="7">
                  <c:v>101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PERFORMANCE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April  –  17 April 2026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3657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by Design  |  Prodent Group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christopherhoole.com</a:t>
            </a:r>
            <a:endParaRPr lang="en-US" sz="1100" dirty="0"/>
          </a:p>
        </p:txBody>
      </p:sp>
      <p:pic>
        <p:nvPicPr>
          <p:cNvPr id="10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5760720"/>
            <a:ext cx="18288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Headlines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2331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£8,462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5511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2973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active campaigns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64592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28800"/>
            <a:ext cx="2331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25511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Dengro Leads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92973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business leads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4592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828800"/>
            <a:ext cx="2331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5511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Enquiries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92973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Dengro bookings / purchases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16459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64592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828800"/>
            <a:ext cx="23317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26880" y="25511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292973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 economics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47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week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focused on rebuilding the account's structural foundations.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4,700+ negative keywords restructured into 11 organised shared lists, the Brand campaign rebuilt with proper bid controls, and the Dental Implants Intent campaign re-engineered into 25 tightly-themed ad groups with 75 new keyword-aligned ads.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166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matter: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qualified Dengro leads and 4 patient enquiries at £97 per lead / £2,115 per enquiry. That’s a healthy business-level return while the new structure enters Google's learning period.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1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DELIVERED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Day-by-day, Tuesday to Friday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7040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14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keyword overhaul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4,700+ negatives restructured into 11 organised shared lists covering competitors, abroad, wrong locations, non-DBD services, brand-specific research and cheap/NHS-seeker traffic.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15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rebuild + account-wide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campaign: Target Impression Share 90% / £1.50 max CPC ceiling, 266 London postcodes, 42-cell ad schedule, 2 new RSAs. Account: auto-apply disabled, PMax → Target CPA £60, DII → Target CPA £75, 8 new RSAs, 356 more negatives.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16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Implants Intent rebuild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new ad groups built with 537 keywords and 60 RSAs. 4 legacy underperforming ad groups paused (£99+ CPA). Ad structure now maps to patient intent: service, cost, finance, location, quality.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17 Apr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ad groups + full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AG21-25 built (5 ad groups, 15 RSAs). Daily search terms review of 1,786 queries. 173 DBD-blocking terms removed across all 11 negative lists. Ad Strength audit across 63 live RSAs to push toward Excellent.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8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now in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structured shared lists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737360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73736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0632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Keywords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Brand + DII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66360" y="1737360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173736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39496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RSAs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 headlines / 280 descriptions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1737360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73736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7266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Ad Groups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2668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patient-intent structure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29800" y="1737360"/>
            <a:ext cx="2194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9800" y="173736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005840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Targets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London, 3 campaigns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legacy patchwork to a clean, structured account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" y="47091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the account carried 47 campaigns (only 4 active), legacy conversion tracking, and a keyword base built across multiple agencies.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Friday it runs on 3 structured campaigns (Brand, PMax, Dental Implants Intent), one bid strategy per campaign, one negative keyword architecture, and one postcode geo framework. Every future optimisation now compounds on a consistent base.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5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CAMPAIGN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targeting, stronger signals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CPC vs March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78531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£3.29 → £2.16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3756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204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35.14%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85800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478731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26% March avg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93776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120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" y="5742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6078931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page, every search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206240" y="173736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3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CAMPAIGN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at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Dengro Leads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73736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Enquiries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Dengro bookings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737360"/>
            <a:ext cx="73152" cy="1554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(primary)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£86 prior week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737360"/>
            <a:ext cx="73152" cy="1554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2688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Best-day CPA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15 Apr, after tCPA switch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11247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Bid strategy switched from Max Conversion Value (tROAS 80%) to Target CPA £60.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Removed 3 dangerous single-word negatives that were blocking DBD's own postcodes.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Geo + schedule aligned with Brand (270 postcodes, 42-cell schedule).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negative lists cleaned — zero NHS/cheap-seeker junk in search terms this week.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Week 2: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still reports "most asset groups limited by policy" on PMax. Queued for rebuild next week with premium-positioned assets.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0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IMPLANTS INTENT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mode —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patient intent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73736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RSAs Live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keyword-aligned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737360"/>
            <a:ext cx="73152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+ exact, all in DBD's service range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1737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73736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1920240"/>
            <a:ext cx="23774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26880" y="2592324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Share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294985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visibility on intent traffic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11247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CPA temporarily spiked — and why that's fine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was restructured mid-week (Tue-Thu): 20 new ad groups built, 4 legacy groups paused, bid strategy switched to Target CPA £75, and the keyword base rebuilt from the ground up.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needs ~14-21 days to rebalance bids against the new structure.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 1 CPA is an average of 1 day of the old structure + 4 days of learning. Week 2 will give the first clean read.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positives: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delivered 3 primary conversions at £122 CPA — first sign the new structure is converting. All Ad Strength scores being pushed toward Excellent this week as part of the audit.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0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MATTER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outcomes this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Dengro leads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£97 per qualified lead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577840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enquiries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£2,115 per enquiry — healthy vs implant LTV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828800"/>
                <a:gridCol w="22860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CAMPAIGN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DENGRO LEADS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PATIENT ENQUIRIES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 / LEAD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Implants Intent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£2,222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£5,960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£8,462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6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EIGHT-WEEK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Here’s where we started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11247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" y="4069080"/>
          <a:ext cx="11247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9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+ Week 2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5486400" cy="5486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ITEMS NEED YOUR 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Consultation pricing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currently say "Free Consultation". Website says £95. Need to align — free, £95, or tiered — so ads match reality and clear Google's misleading pricing policy.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"25+ Years" experience claim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reference "25+ years" — clinic founded 2010 (16 years). Clarify whether this refers to team principal experience, combined team years, or something else. Ads will be updated to a verifiable claim.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your reply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5577840" cy="4663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691640"/>
            <a:ext cx="5577840" cy="548640"/>
          </a:xfrm>
          <a:prstGeom prst="rect">
            <a:avLst/>
          </a:prstGeom>
          <a:solidFill>
            <a:srgbClr val="131A4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91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PLAN  (20 - 24 APRIL)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20 Apr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conversion tracking audit — priority before any CPA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474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21 Apr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7490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Strength audit resumed on AG22-25 (once Google review clears)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Wed-Thu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709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Max rebuild — new assets, policy compliance, lift "limited" status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5394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24 Apr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5669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Dentistry campaign scoping + Week 2 report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christopherhoole.com  |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6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2720" y="6126480"/>
            <a:ext cx="14630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part of this report — or jump on a call to discuss Week 2 priorities.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754880"/>
            <a:ext cx="3657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  |  Google Ads Specialist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  |  chrishoole101@gmail.com</a:t>
            </a:r>
            <a:endParaRPr lang="en-US" sz="1300" dirty="0"/>
          </a:p>
        </p:txBody>
      </p:sp>
      <p:pic>
        <p:nvPicPr>
          <p:cNvPr id="8" name="Image 0" descr="C:/Users/User/Desktop/gads-data-layer/potential_clients/Inserta Dental/act_logo_offi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92640" y="5760720"/>
            <a:ext cx="18288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by Design - Week 1 Report - 13-17 April 2026</dc:title>
  <dc:subject>PptxGenJS Presentation</dc:subject>
  <dc:creator>Christopher Hoole</dc:creator>
  <cp:lastModifiedBy>Christopher Hoole</cp:lastModifiedBy>
  <cp:revision>1</cp:revision>
  <dcterms:created xsi:type="dcterms:W3CDTF">2026-04-18T12:38:00Z</dcterms:created>
  <dcterms:modified xsi:type="dcterms:W3CDTF">2026-04-18T12:38:00Z</dcterms:modified>
</cp:coreProperties>
</file>