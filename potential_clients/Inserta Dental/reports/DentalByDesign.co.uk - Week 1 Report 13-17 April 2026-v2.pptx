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A237E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1A237E"/>
                </a:solidFill>
                <a:latin typeface="Calibri"/>
              </a:rPr>
              <a:t>Brand Avg CPC — 8 week trend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CPC (£)</c:v>
                </c:pt>
              </c:strCache>
            </c:strRef>
          </c:tx>
          <c:spPr>
            <a:solidFill>
              <a:srgbClr val="4285F4"/>
            </a:solidFill>
            <a:ln w="38100" cap="flat">
              <a:solidFill>
                <a:srgbClr val="4285F4"/>
              </a:solidFill>
              <a:prstDash val="solid"/>
              <a:round/>
            </a:ln>
            <a:effectLst/>
          </c:spPr>
          <c:invertIfNegative val="0"/>
          <c:dLbls>
            <c:numFmt formatCode="£0.0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A237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4285F4"/>
              </a:solidFill>
              <a:ln w="9525" cap="flat">
                <a:solidFill>
                  <a:srgbClr val="4285F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23 Feb</c:v>
                  </c:pt>
                  <c:pt idx="1">
                    <c:v>2 Mar</c:v>
                  </c:pt>
                  <c:pt idx="2">
                    <c:v>9 Mar</c:v>
                  </c:pt>
                  <c:pt idx="3">
                    <c:v>16 Mar</c:v>
                  </c:pt>
                  <c:pt idx="4">
                    <c:v>23 Mar</c:v>
                  </c:pt>
                  <c:pt idx="5">
                    <c:v>30 Mar</c:v>
                  </c:pt>
                  <c:pt idx="6">
                    <c:v>6 Apr</c:v>
                  </c:pt>
                  <c:pt idx="7">
                    <c:v>13 Apr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3.09</c:v>
                </c:pt>
                <c:pt idx="1">
                  <c:v>2.41</c:v>
                </c:pt>
                <c:pt idx="2">
                  <c:v>3.49</c:v>
                </c:pt>
                <c:pt idx="3">
                  <c:v>4</c:v>
                </c:pt>
                <c:pt idx="4">
                  <c:v>3.24</c:v>
                </c:pt>
                <c:pt idx="5">
                  <c:v>2.31</c:v>
                </c:pt>
                <c:pt idx="6">
                  <c:v>2.9</c:v>
                </c:pt>
                <c:pt idx="7">
                  <c:v>2.16</c:v>
                </c:pt>
              </c:numCache>
            </c:numRef>
          </c:val>
          <c:smooth val="0"/>
        </c:ser>
        <c:dLbls>
          <c:numFmt formatCode="£0.00" sourceLinked="0"/>
          <c:txPr>
            <a:bodyPr/>
            <a:lstStyle/>
            <a:p>
              <a:pPr>
                <a:defRPr b="1" i="0" strike="noStrike" sz="1000" u="none">
                  <a:solidFill>
                    <a:srgbClr val="1A237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£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6FA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A237E"/>
                </a:solidFill>
                <a:latin typeface="Calibri"/>
              </a:defRPr>
            </a:pPr>
            <a:r>
              <a:rPr sz="1200" b="1" i="0" u="none" strike="noStrike">
                <a:solidFill>
                  <a:srgbClr val="1A237E"/>
                </a:solidFill>
                <a:latin typeface="Calibri"/>
              </a:rPr>
              <a:t>Weekly Spend (£)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Weekly Spend (£)</c:v>
                </c:pt>
              </c:strCache>
            </c:strRef>
          </c:tx>
          <c:spPr>
            <a:solidFill>
              <a:srgbClr val="4285F4"/>
            </a:solidFill>
            <a:effectLst/>
          </c:spPr>
          <c:invertIfNegative val="0"/>
          <c:dLbls>
            <c:numFmt formatCode="£#,##0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A237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23 Feb</c:v>
                  </c:pt>
                  <c:pt idx="1">
                    <c:v>2 Mar</c:v>
                  </c:pt>
                  <c:pt idx="2">
                    <c:v>9 Mar</c:v>
                  </c:pt>
                  <c:pt idx="3">
                    <c:v>16 Mar</c:v>
                  </c:pt>
                  <c:pt idx="4">
                    <c:v>23 Mar</c:v>
                  </c:pt>
                  <c:pt idx="5">
                    <c:v>30 Mar</c:v>
                  </c:pt>
                  <c:pt idx="6">
                    <c:v>6 Apr</c:v>
                  </c:pt>
                  <c:pt idx="7">
                    <c:v>13 Apr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17101</c:v>
                </c:pt>
                <c:pt idx="1">
                  <c:v>14475</c:v>
                </c:pt>
                <c:pt idx="2">
                  <c:v>8115</c:v>
                </c:pt>
                <c:pt idx="3">
                  <c:v>13173</c:v>
                </c:pt>
                <c:pt idx="4">
                  <c:v>11558</c:v>
                </c:pt>
                <c:pt idx="5">
                  <c:v>9997</c:v>
                </c:pt>
                <c:pt idx="6">
                  <c:v>10291</c:v>
                </c:pt>
                <c:pt idx="7">
                  <c:v>8462</c:v>
                </c:pt>
              </c:numCache>
            </c:numRef>
          </c:val>
        </c:ser>
        <c:dLbls>
          <c:numFmt formatCode="£#,##0" sourceLinked="0"/>
          <c:txPr>
            <a:bodyPr/>
            <a:lstStyle/>
            <a:p>
              <a:pPr>
                <a:defRPr b="1" i="0" strike="noStrike" sz="800" u="none">
                  <a:solidFill>
                    <a:srgbClr val="1A237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£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A237E"/>
                </a:solidFill>
                <a:latin typeface="Calibri"/>
              </a:defRPr>
            </a:pPr>
            <a:r>
              <a:rPr sz="1200" b="1" i="0" u="none" strike="noStrike">
                <a:solidFill>
                  <a:srgbClr val="1A237E"/>
                </a:solidFill>
                <a:latin typeface="Calibri"/>
              </a:rPr>
              <a:t>Primary Conversions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 Conversions</c:v>
                </c:pt>
              </c:strCache>
            </c:strRef>
          </c:tx>
          <c:spPr>
            <a:solidFill>
              <a:srgbClr val="34A85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A237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23 Feb</c:v>
                  </c:pt>
                  <c:pt idx="1">
                    <c:v>2 Mar</c:v>
                  </c:pt>
                  <c:pt idx="2">
                    <c:v>9 Mar</c:v>
                  </c:pt>
                  <c:pt idx="3">
                    <c:v>16 Mar</c:v>
                  </c:pt>
                  <c:pt idx="4">
                    <c:v>23 Mar</c:v>
                  </c:pt>
                  <c:pt idx="5">
                    <c:v>30 Mar</c:v>
                  </c:pt>
                  <c:pt idx="6">
                    <c:v>6 Apr</c:v>
                  </c:pt>
                  <c:pt idx="7">
                    <c:v>13 Apr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229.5</c:v>
                </c:pt>
                <c:pt idx="1">
                  <c:v>184.6</c:v>
                </c:pt>
                <c:pt idx="2">
                  <c:v>115.7</c:v>
                </c:pt>
                <c:pt idx="3">
                  <c:v>133.7</c:v>
                </c:pt>
                <c:pt idx="4">
                  <c:v>239.2</c:v>
                </c:pt>
                <c:pt idx="5">
                  <c:v>148.4</c:v>
                </c:pt>
                <c:pt idx="6">
                  <c:v>134.1</c:v>
                </c:pt>
                <c:pt idx="7">
                  <c:v>101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900" u="none">
                  <a:solidFill>
                    <a:srgbClr val="1A237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1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44952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0" y="0"/>
            <a:ext cx="3044952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PERFORMANCE REPORT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Overhaul  |  Foundation Build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3200400" cy="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383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 by Design  |  Prodent Group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794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April – 17 April 2026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2606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663440"/>
            <a:ext cx="54864" cy="10972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754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£8,462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31520" y="5349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4663440"/>
            <a:ext cx="2606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4663440"/>
            <a:ext cx="54864" cy="109728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4754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566160" y="5349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leads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4663440"/>
            <a:ext cx="2606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4663440"/>
            <a:ext cx="54864" cy="109728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754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400800" y="5349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enquiries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52560" y="4663440"/>
            <a:ext cx="2606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52560" y="4663440"/>
            <a:ext cx="54864" cy="10972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6" name="Text 24"/>
          <p:cNvSpPr/>
          <p:nvPr/>
        </p:nvSpPr>
        <p:spPr>
          <a:xfrm>
            <a:off x="9235440" y="4754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£97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235440" y="5349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lead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Specialist  |  christopherhoole.com</a:t>
            </a:r>
            <a:endParaRPr lang="en-US" sz="1100" dirty="0"/>
          </a:p>
        </p:txBody>
      </p:sp>
      <p:pic>
        <p:nvPicPr>
          <p:cNvPr id="30" name="Image 0" descr="C:/Users/User/Desktop/gads-data-layer/potential_clients/Inserta Dental/act_logo_offici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41280" y="6080760"/>
            <a:ext cx="182880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44952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0" y="0"/>
            <a:ext cx="3044952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274320"/>
            <a:ext cx="14630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900" dirty="0"/>
          </a:p>
        </p:txBody>
      </p:sp>
      <p:pic>
        <p:nvPicPr>
          <p:cNvPr id="9" name="Image 0" descr="C:/Users/User/Desktop/gads-data-layer/potential_clients/Inserta Dental/act_logo_offici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6446520"/>
            <a:ext cx="146304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9669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274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48640" y="7772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headlines — a foundation week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1188720"/>
            <a:ext cx="2560320" cy="96012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1188720"/>
            <a:ext cx="54864" cy="9601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1280160"/>
            <a:ext cx="228600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£8,462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731520" y="1764792"/>
            <a:ext cx="228600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383280" y="1188720"/>
            <a:ext cx="2560320" cy="96012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83280" y="1188720"/>
            <a:ext cx="54864" cy="9601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9" name="Text 16"/>
          <p:cNvSpPr/>
          <p:nvPr/>
        </p:nvSpPr>
        <p:spPr>
          <a:xfrm>
            <a:off x="3566160" y="1280160"/>
            <a:ext cx="228600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3566160" y="1764792"/>
            <a:ext cx="228600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Dengro Leads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17920" y="1188720"/>
            <a:ext cx="2560320" cy="96012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17920" y="1188720"/>
            <a:ext cx="54864" cy="96012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0" y="1280160"/>
            <a:ext cx="228600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6400800" y="1764792"/>
            <a:ext cx="228600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Enquiries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9052560" y="1188720"/>
            <a:ext cx="2560320" cy="96012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052560" y="1188720"/>
            <a:ext cx="54864" cy="9601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7" name="Text 24"/>
          <p:cNvSpPr/>
          <p:nvPr/>
        </p:nvSpPr>
        <p:spPr>
          <a:xfrm>
            <a:off x="9235440" y="1280160"/>
            <a:ext cx="228600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£97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9235440" y="1764792"/>
            <a:ext cx="228600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Lead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48640" y="2377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at a Glance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48640" y="2834640"/>
            <a:ext cx="3657600" cy="320040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48640" y="2834640"/>
            <a:ext cx="3657600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2" name="Text 29"/>
          <p:cNvSpPr/>
          <p:nvPr/>
        </p:nvSpPr>
        <p:spPr>
          <a:xfrm>
            <a:off x="73152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DELIVERED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31520" y="3383280"/>
            <a:ext cx="3291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4,700+ negatives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structured into 11 shared lists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campaign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on tIS 90% / £1.50 max CPC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 Implants Intent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re-engineered — 25 ad groups, 75 RSAs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PMax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Target CPA £60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 DBD-blocking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caught + removed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live RSAs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toward Excellent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343400" y="2834640"/>
            <a:ext cx="3657600" cy="320040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343400" y="2834640"/>
            <a:ext cx="3657600" cy="457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6" name="Text 33"/>
          <p:cNvSpPr/>
          <p:nvPr/>
        </p:nvSpPr>
        <p:spPr>
          <a:xfrm>
            <a:off x="452628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SIGNAL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526280" y="3383280"/>
            <a:ext cx="3291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CPC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£3.29 → £2.16 (-35%)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CTR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35.14% vs 26% prior avg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Impression Share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100% top of page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PMax best day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£25 CPA (Wed 15 Apr)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terms quality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zero NHS/abroad junk this week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Google Learning mode — clean read in Week 2-3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8138160" y="2834640"/>
            <a:ext cx="3474720" cy="320040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138160" y="2834640"/>
            <a:ext cx="3474720" cy="4572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40" name="Text 37"/>
          <p:cNvSpPr/>
          <p:nvPr/>
        </p:nvSpPr>
        <p:spPr>
          <a:xfrm>
            <a:off x="8321040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49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8321040" y="3383280"/>
            <a:ext cx="31089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20 Apr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tracking audit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21 Apr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AG22-25 Ad Strength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Wed-Thu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PMax asset rebuild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24 Apr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 campaign scoping + Week 2 report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your decision on two items: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pricing and the "25+ years" claim. See slide 10.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44952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0" y="0"/>
            <a:ext cx="3044952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274320"/>
            <a:ext cx="14630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900" dirty="0"/>
          </a:p>
        </p:txBody>
      </p:sp>
      <p:pic>
        <p:nvPicPr>
          <p:cNvPr id="9" name="Image 0" descr="C:/Users/User/Desktop/gads-data-layer/potential_clients/Inserta Dental/act_logo_offici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6446520"/>
            <a:ext cx="146304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9669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274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Delivered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48640" y="7772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Day-by-day, 14-17 April (client signed Mon 14 Apr)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active working days — ~20 hours of deep structural rebuild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560320"/>
                <a:gridCol w="72237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 14 Apr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keyword overhaul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4,700+ negatives restructured into 11 organised shared lists — competitors, abroad, wrong locations, non-DBD services, brand-specific research, and cheap/NHS-seeker traffic.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 15 Apr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rebuild + account-wide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Brand: Target Impression Share 90% / £1.50 max CPC, 266 London postcodes, 42-cell ad schedule, 2 new RSAs. Account: auto-apply disabled, PMax → Target CPA £60, DII → Target CPA £75, 8 new RSAs, 356 more negatives.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 16 Apr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Dental Implants Intent rebuild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new ad groups built, 537 keywords added, 60 RSAs written. 4 legacy under-performing ad groups paused (£99+ CPA). Ad structure mapped to patient intent: service, cost, finance, location, quality.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 17 Apr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ad groups + full audit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AG21-25 built (5 ad groups, 15 RSAs). 1,786 daily search queries reviewed. 173 DBD-blocking terms caught and removed across all 11 negative lists. Ad Strength audit across 63 live RSAs to push toward Excellent.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44952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0" y="0"/>
            <a:ext cx="3044952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274320"/>
            <a:ext cx="14630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900" dirty="0"/>
          </a:p>
        </p:txBody>
      </p:sp>
      <p:pic>
        <p:nvPicPr>
          <p:cNvPr id="9" name="Image 0" descr="C:/Users/User/Desktop/gads-data-layer/potential_clients/Inserta Dental/act_logo_offici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6446520"/>
            <a:ext cx="146304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9669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274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48640" y="7772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now in place after this week's rebuild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1280160"/>
            <a:ext cx="2194560" cy="128016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1280160"/>
            <a:ext cx="54864" cy="12801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1371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731520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Keywords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1520" y="22677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structured lists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834640" y="1280160"/>
            <a:ext cx="2194560" cy="128016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834640" y="1280160"/>
            <a:ext cx="54864" cy="12801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Text 17"/>
          <p:cNvSpPr/>
          <p:nvPr/>
        </p:nvSpPr>
        <p:spPr>
          <a:xfrm>
            <a:off x="3017520" y="1371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546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3017520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Keywords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017520" y="22677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+ DII, structured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120640" y="1280160"/>
            <a:ext cx="2194560" cy="128016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120640" y="1280160"/>
            <a:ext cx="54864" cy="12801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5" name="Text 22"/>
          <p:cNvSpPr/>
          <p:nvPr/>
        </p:nvSpPr>
        <p:spPr>
          <a:xfrm>
            <a:off x="5303520" y="1371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5303520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RSAs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303520" y="22677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1,050 headlines / 280 descs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406640" y="1280160"/>
            <a:ext cx="2194560" cy="128016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06640" y="1280160"/>
            <a:ext cx="54864" cy="128016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0" name="Text 27"/>
          <p:cNvSpPr/>
          <p:nvPr/>
        </p:nvSpPr>
        <p:spPr>
          <a:xfrm>
            <a:off x="7589520" y="1371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000" dirty="0"/>
          </a:p>
        </p:txBody>
      </p:sp>
      <p:sp>
        <p:nvSpPr>
          <p:cNvPr id="31" name="Text 28"/>
          <p:cNvSpPr/>
          <p:nvPr/>
        </p:nvSpPr>
        <p:spPr>
          <a:xfrm>
            <a:off x="7589520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 Ad Groups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589520" y="22677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patient-intent themed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9692640" y="1280160"/>
            <a:ext cx="2194560" cy="128016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692640" y="1280160"/>
            <a:ext cx="54864" cy="128016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5" name="Text 32"/>
          <p:cNvSpPr/>
          <p:nvPr/>
        </p:nvSpPr>
        <p:spPr>
          <a:xfrm>
            <a:off x="9875520" y="1371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810</a:t>
            </a:r>
            <a:endParaRPr lang="en-US" sz="3000" dirty="0"/>
          </a:p>
        </p:txBody>
      </p:sp>
      <p:sp>
        <p:nvSpPr>
          <p:cNvPr id="36" name="Text 33"/>
          <p:cNvSpPr/>
          <p:nvPr/>
        </p:nvSpPr>
        <p:spPr>
          <a:xfrm>
            <a:off x="9875520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Targets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75520" y="22677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Gtr London, 3 campaigns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48640" y="28803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LEGACY PATCHWORK → CLEAN, STRUCTURED ACCOUNT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846320"/>
                <a:gridCol w="393192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(pre-engagement)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(Fri 17 Apr)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 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campaigns (only 4 active, 43 legacy)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7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active, structured campaigns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 strategy (DII + PMax)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Conversion Value (tROAS) — arbitrary £300 values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7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CPA £75 (DII) / £60 (PMax) — real cost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keywords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Unstructured broad-match, 2 legacy lists, DBD-blocking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7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organised lists, 5,000+ negatives, DBD-safe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DII ad group 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legacy ad groups averaging £99+ CPA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7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ad groups mapped to patient intent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 targeting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25-mile radius (Reading → Romford), 1 rogue Pakistan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7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 Greater London postcodes, 4-tier 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44952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0" y="0"/>
            <a:ext cx="3044952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274320"/>
            <a:ext cx="14630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900" dirty="0"/>
          </a:p>
        </p:txBody>
      </p:sp>
      <p:pic>
        <p:nvPicPr>
          <p:cNvPr id="9" name="Image 0" descr="C:/Users/User/Desktop/gads-data-layer/potential_clients/Inserta Dental/act_logo_offici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6446520"/>
            <a:ext cx="146304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9669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274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Campaign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48640" y="7772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targeting is already showing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1188720"/>
            <a:ext cx="3108960" cy="141732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1188720"/>
            <a:ext cx="54864" cy="14173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1280160"/>
            <a:ext cx="283464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-35%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731520" y="2039112"/>
            <a:ext cx="283464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CPC vs March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1520" y="2331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£3.29 → £2.16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2743200"/>
            <a:ext cx="3108960" cy="141732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" y="2743200"/>
            <a:ext cx="54864" cy="14173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2834640"/>
            <a:ext cx="283464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35.14%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731520" y="3593592"/>
            <a:ext cx="283464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 Rate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31520" y="3886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26% March avg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4297680"/>
            <a:ext cx="3108960" cy="141732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" y="4297680"/>
            <a:ext cx="54864" cy="14173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4389120"/>
            <a:ext cx="283464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731520" y="5148072"/>
            <a:ext cx="283464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 Share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31520" y="5440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page, absolute top</a:t>
            </a:r>
            <a:endParaRPr lang="en-US" sz="11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3886200" y="1188720"/>
          <a:ext cx="772668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44952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0" y="0"/>
            <a:ext cx="3044952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274320"/>
            <a:ext cx="14630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900" dirty="0"/>
          </a:p>
        </p:txBody>
      </p:sp>
      <p:pic>
        <p:nvPicPr>
          <p:cNvPr id="9" name="Image 0" descr="C:/Users/User/Desktop/gads-data-layer/potential_clients/Inserta Dental/act_logo_offici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6446520"/>
            <a:ext cx="146304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9669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274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Max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48640" y="7772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the bulk of qualified leads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1188720"/>
            <a:ext cx="2697480" cy="118872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1188720"/>
            <a:ext cx="54864" cy="11887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1280160"/>
            <a:ext cx="24231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78.5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731520" y="1901952"/>
            <a:ext cx="24231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Dengro Leads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383280" y="1188720"/>
            <a:ext cx="2697480" cy="118872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83280" y="1188720"/>
            <a:ext cx="54864" cy="118872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9" name="Text 16"/>
          <p:cNvSpPr/>
          <p:nvPr/>
        </p:nvSpPr>
        <p:spPr>
          <a:xfrm>
            <a:off x="3566160" y="1280160"/>
            <a:ext cx="24231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3566160" y="1901952"/>
            <a:ext cx="24231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Enquiries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17920" y="1188720"/>
            <a:ext cx="2697480" cy="118872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17920" y="1188720"/>
            <a:ext cx="54864" cy="1188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0" y="1280160"/>
            <a:ext cx="24231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£73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6400800" y="1901952"/>
            <a:ext cx="24231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(primary)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9052560" y="1188720"/>
            <a:ext cx="2606040" cy="118872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052560" y="1188720"/>
            <a:ext cx="54864" cy="11887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7" name="Text 24"/>
          <p:cNvSpPr/>
          <p:nvPr/>
        </p:nvSpPr>
        <p:spPr>
          <a:xfrm>
            <a:off x="9235440" y="1280160"/>
            <a:ext cx="23317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£25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9235440" y="1901952"/>
            <a:ext cx="23317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Best-day CPA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48640" y="2514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£86 prior week → £73 this week. Wednesday 15 April hit £25 CPA (best single-day in the account) after the Target CPA switch.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48640" y="3017520"/>
            <a:ext cx="5440680" cy="297180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48640" y="3017520"/>
            <a:ext cx="5440680" cy="457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2" name="Text 29"/>
          <p:cNvSpPr/>
          <p:nvPr/>
        </p:nvSpPr>
        <p:spPr>
          <a:xfrm>
            <a:off x="731520" y="318211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THIS WEEK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31520" y="3520440"/>
            <a:ext cx="5074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strategy switched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Conv Value (tROAS 80%) → Target CPA £60</a:t>
            </a:r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dangerous negatives removed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single-word exacts blocking DBD postcodes (stratford, southall, twickenham)</a:t>
            </a:r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+ ad schedule aligned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 postcodes, 42-cell schedule</a:t>
            </a:r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negative lists cleaned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NHS/cheap/abroad junk in search terms this week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172200" y="3017520"/>
            <a:ext cx="5486400" cy="297180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172200" y="3017520"/>
            <a:ext cx="5486400" cy="4572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6" name="Text 33"/>
          <p:cNvSpPr/>
          <p:nvPr/>
        </p:nvSpPr>
        <p:spPr>
          <a:xfrm>
            <a:off x="6355080" y="31821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WEEK 2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355080" y="352044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groups limited by policy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still flags "most asset groups limited by policy" — PMax is not running at full potential until this is resolved.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fix: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asset rebuild Wed-Thu Week 2. Strip unverified claims ("99.12% success", "Voted #1 UK", "Save 60%") and replace with premium-positioned, verifiable assets aligned to the £1,695-£15,990 service range.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upside: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lifting policy limits typically unlocks 2-3× reach at the same CPA.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44952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0" y="0"/>
            <a:ext cx="3044952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274320"/>
            <a:ext cx="14630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900" dirty="0"/>
          </a:p>
        </p:txBody>
      </p:sp>
      <p:pic>
        <p:nvPicPr>
          <p:cNvPr id="9" name="Image 0" descr="C:/Users/User/Desktop/gads-data-layer/potential_clients/Inserta Dental/act_logo_offici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6446520"/>
            <a:ext cx="146304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9669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274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 Implants Intent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48640" y="7772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Google Learning mode — by design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1188720"/>
            <a:ext cx="2697480" cy="118872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1188720"/>
            <a:ext cx="54864" cy="1188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1280160"/>
            <a:ext cx="24231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731520" y="1901952"/>
            <a:ext cx="24231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Ad Groups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383280" y="1188720"/>
            <a:ext cx="2697480" cy="118872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83280" y="1188720"/>
            <a:ext cx="54864" cy="1188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9" name="Text 16"/>
          <p:cNvSpPr/>
          <p:nvPr/>
        </p:nvSpPr>
        <p:spPr>
          <a:xfrm>
            <a:off x="3566160" y="1280160"/>
            <a:ext cx="24231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3566160" y="1901952"/>
            <a:ext cx="24231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RSAs Live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17920" y="1188720"/>
            <a:ext cx="2697480" cy="118872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17920" y="1188720"/>
            <a:ext cx="54864" cy="1188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0" y="1280160"/>
            <a:ext cx="24231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~650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6400800" y="1901952"/>
            <a:ext cx="24231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9052560" y="1188720"/>
            <a:ext cx="2606040" cy="118872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052560" y="1188720"/>
            <a:ext cx="54864" cy="11887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7" name="Text 24"/>
          <p:cNvSpPr/>
          <p:nvPr/>
        </p:nvSpPr>
        <p:spPr>
          <a:xfrm>
            <a:off x="9235440" y="1280160"/>
            <a:ext cx="23317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9235440" y="1901952"/>
            <a:ext cx="23317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 Share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" y="2651760"/>
            <a:ext cx="11064240" cy="352044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48640" y="2651760"/>
            <a:ext cx="11064240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1" name="Text 28"/>
          <p:cNvSpPr/>
          <p:nvPr/>
        </p:nvSpPr>
        <p:spPr>
          <a:xfrm>
            <a:off x="731520" y="28346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WEEK 1 CPA IS NOT THE CLEAN READ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31520" y="3200400"/>
            <a:ext cx="10698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campaign was fully restructured mid-week (Tue-Thu):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new ad groups built + 4 legacy groups paused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strategy switched to Target CPA £75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base rebuilt from the ground up (537 new keywords)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Fri 17 Apr, AG21-25 added — bringing the structure to 25 ad groups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requires 14-21 days to rebalance bids against a restructured campaign.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CPA blends 1 day of the old structure with 4 days of Google's learning phase.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2-3 is when we get the first clean performance read.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positive: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 15 April delivered 3 primary conversions at £122 CPA — the first sign the new structure is converting.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DII impression share climbed to 76% on Thursday and 58% on Friday, confirming the new ad groups are winning their intended auctions.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44952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0" y="0"/>
            <a:ext cx="3044952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274320"/>
            <a:ext cx="14630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900" dirty="0"/>
          </a:p>
        </p:txBody>
      </p:sp>
      <p:pic>
        <p:nvPicPr>
          <p:cNvPr id="9" name="Image 0" descr="C:/Users/User/Desktop/gads-data-layer/potential_clients/Inserta Dental/act_logo_offici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6446520"/>
            <a:ext cx="146304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9669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274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That Matter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48640" y="7772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business outcomes — Dengro CRM data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1188720"/>
            <a:ext cx="5486400" cy="22860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1188720"/>
            <a:ext cx="5486400" cy="73152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13716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8800" dirty="0"/>
          </a:p>
        </p:txBody>
      </p:sp>
      <p:sp>
        <p:nvSpPr>
          <p:cNvPr id="16" name="Text 13"/>
          <p:cNvSpPr/>
          <p:nvPr/>
        </p:nvSpPr>
        <p:spPr>
          <a:xfrm>
            <a:off x="731520" y="2606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Dengro Leads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31520" y="3017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£97 per qualified lead across all campaigns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72200" y="1188720"/>
            <a:ext cx="5486400" cy="228600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9" name="Shape 16"/>
          <p:cNvSpPr/>
          <p:nvPr/>
        </p:nvSpPr>
        <p:spPr>
          <a:xfrm>
            <a:off x="6172200" y="1188720"/>
            <a:ext cx="5486400" cy="7315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0" name="Text 17"/>
          <p:cNvSpPr/>
          <p:nvPr/>
        </p:nvSpPr>
        <p:spPr>
          <a:xfrm>
            <a:off x="6355080" y="13716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800" dirty="0"/>
          </a:p>
        </p:txBody>
      </p:sp>
      <p:sp>
        <p:nvSpPr>
          <p:cNvPr id="21" name="Text 18"/>
          <p:cNvSpPr/>
          <p:nvPr/>
        </p:nvSpPr>
        <p:spPr>
          <a:xfrm>
            <a:off x="6355080" y="2606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Enquiries (Bookings + Purchases)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355080" y="3017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£2,115 per enquiry — strong vs implant £1,695-£15,990 LTV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111099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554480"/>
                <a:gridCol w="1965960"/>
                <a:gridCol w="1463040"/>
                <a:gridCol w="1463040"/>
                <a:gridCol w="14630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DENGRO LEADS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ENQUIRIES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 /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 / ENQUIRY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Dental Implants Intent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£2,222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£342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£2,222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Max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£5,960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£1,987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£8,462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£2,115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44952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0" y="0"/>
            <a:ext cx="3044952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274320"/>
            <a:ext cx="14630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900" dirty="0"/>
          </a:p>
        </p:txBody>
      </p:sp>
      <p:pic>
        <p:nvPicPr>
          <p:cNvPr id="9" name="Image 0" descr="C:/Users/User/Desktop/gads-data-layer/potential_clients/Inserta Dental/act_logo_offici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6446520"/>
            <a:ext cx="146304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9669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274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Eight-Week Context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48640" y="7772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account sits vs prior 7 weeks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48640" y="1188720"/>
          <a:ext cx="54864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4" name="Chart 1" descr=""/>
          <p:cNvGraphicFramePr/>
          <p:nvPr/>
        </p:nvGraphicFramePr>
        <p:xfrm>
          <a:off x="6172200" y="1188720"/>
          <a:ext cx="54864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Shape 10"/>
          <p:cNvSpPr/>
          <p:nvPr/>
        </p:nvSpPr>
        <p:spPr>
          <a:xfrm>
            <a:off x="548640" y="3657600"/>
            <a:ext cx="11064240" cy="2514600"/>
          </a:xfrm>
          <a:prstGeom prst="rect">
            <a:avLst/>
          </a:prstGeom>
          <a:solidFill>
            <a:srgbClr val="E8F0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48640" y="3657600"/>
            <a:ext cx="11064240" cy="457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7" name="Text 12"/>
          <p:cNvSpPr/>
          <p:nvPr/>
        </p:nvSpPr>
        <p:spPr>
          <a:xfrm>
            <a:off x="731520" y="38404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CONTEXT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731520" y="4160520"/>
            <a:ext cx="10698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spend was trimmed from ~£17K to £8.5K —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previous setup was optimising toward arbitrary £300 booking values via Max Conv Value bidding. Switching to Target CPA + paused legacy campaigns tightened spend to converting traffic only.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conversion volume dipped to 101 in Week 1 —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is in Google Learning mode while the new bid strategy and ad group structure rebalance. All-conversions (including Dengro leads) reached 231 — our real business-signal metric.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2-3 will show the true impact once Learning completes.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44952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0" y="0"/>
            <a:ext cx="3044952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274320"/>
            <a:ext cx="14630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900" dirty="0"/>
          </a:p>
        </p:txBody>
      </p:sp>
      <p:pic>
        <p:nvPicPr>
          <p:cNvPr id="9" name="Image 0" descr="C:/Users/User/Desktop/gads-data-layer/potential_clients/Inserta Dental/act_logo_offici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6446520"/>
            <a:ext cx="146304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9669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274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48640" y="7772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decisions needed + Week 2 plan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1188720"/>
            <a:ext cx="5486400" cy="4983480"/>
          </a:xfrm>
          <a:prstGeom prst="rect">
            <a:avLst/>
          </a:prstGeom>
          <a:solidFill>
            <a:srgbClr val="FFFFFF"/>
          </a:solidFill>
          <a:ln w="25400">
            <a:solidFill>
              <a:srgbClr val="EA433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1188720"/>
            <a:ext cx="5486400" cy="5029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11887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DECISIONS NEED YOUR CALL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1520" y="18745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1325880" y="1920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pricing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25880" y="23317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currently say </a:t>
            </a:r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"Free Consultation"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Website says </a:t>
            </a:r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£95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Need to align — free, £95, or tiered by service — so ads match reality and clear Google's misleading-pricing policy.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31520" y="37033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1325880" y="3749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"25+ Years" experience claim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325880" y="416052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reference </a:t>
            </a:r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"25+ years"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clinic founded 2010 (16 years). Clarify whether this refers to the principal's personal experience, combined team years, or something else. Ads will be updated to a verifiable claim.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31520" y="5669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your reply to refine ads in Week 2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172200" y="1188720"/>
            <a:ext cx="5486400" cy="49834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4" name="Shape 21"/>
          <p:cNvSpPr/>
          <p:nvPr/>
        </p:nvSpPr>
        <p:spPr>
          <a:xfrm>
            <a:off x="6172200" y="1188720"/>
            <a:ext cx="5486400" cy="502920"/>
          </a:xfrm>
          <a:prstGeom prst="rect">
            <a:avLst/>
          </a:prstGeom>
          <a:solidFill>
            <a:srgbClr val="131A5C"/>
          </a:solidFill>
          <a:ln/>
        </p:spPr>
      </p:sp>
      <p:sp>
        <p:nvSpPr>
          <p:cNvPr id="25" name="Text 22"/>
          <p:cNvSpPr/>
          <p:nvPr/>
        </p:nvSpPr>
        <p:spPr>
          <a:xfrm>
            <a:off x="6355080" y="11887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PLAN   (20 – 24 APRIL)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355080" y="1874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20 Apr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355080" y="213055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conversion tracking audit (priority — before any CPA decisions)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355080" y="27157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21 Apr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355080" y="2971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Ad Strength audit on AG22-25 once Google approves them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355080" y="355701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22 Apr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355080" y="381304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Max asset rebuild — lift the policy limit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355080" y="43982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23 Apr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355080" y="465429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Sitelink + callout + structured snippet extensions across all campaigns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355080" y="5239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24 Apr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355080" y="549554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 Dentistry campaign scoping + Week 2 report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44952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0" y="0"/>
            <a:ext cx="3044952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274320"/>
            <a:ext cx="14630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0" y="274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900" dirty="0"/>
          </a:p>
        </p:txBody>
      </p:sp>
      <p:pic>
        <p:nvPicPr>
          <p:cNvPr id="9" name="Image 0" descr="C:/Users/User/Desktop/gads-data-layer/potential_clients/Inserta Dental/act_logo_offici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6446520"/>
            <a:ext cx="146304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9669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1371600"/>
            <a:ext cx="11064240" cy="9144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6400" dirty="0"/>
          </a:p>
        </p:txBody>
      </p:sp>
      <p:sp>
        <p:nvSpPr>
          <p:cNvPr id="14" name="Text 11"/>
          <p:cNvSpPr/>
          <p:nvPr/>
        </p:nvSpPr>
        <p:spPr>
          <a:xfrm>
            <a:off x="822960" y="3017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walk through any part of this report — or jump on a 20-minute call to align on Week 2 priorities.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22960" y="3977640"/>
            <a:ext cx="3200400" cy="0"/>
          </a:xfrm>
          <a:prstGeom prst="line">
            <a:avLst/>
          </a:prstGeom>
          <a:noFill/>
          <a:ln w="25400">
            <a:solidFill>
              <a:srgbClr val="FBBC0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4160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Google Ads Specialist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22960" y="44988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christopherhoole.com  |  chrishoole101@gmail.com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Dental by Design - Week 1 Report - 13-17 April 2026</dc:title>
  <dc:subject>PptxGenJS Presentation</dc:subject>
  <dc:creator>Christopher Hoole</dc:creator>
  <cp:lastModifiedBy>Christopher Hoole</cp:lastModifiedBy>
  <cp:revision>1</cp:revision>
  <dcterms:created xsi:type="dcterms:W3CDTF">2026-04-18T12:51:01Z</dcterms:created>
  <dcterms:modified xsi:type="dcterms:W3CDTF">2026-04-18T12:51:01Z</dcterms:modified>
</cp:coreProperties>
</file>