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3047695"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6400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64008"/>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6400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008"/>
            <a:ext cx="109728" cy="67939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logo_official.png"/>
          <p:cNvPicPr>
            <a:picLocks noChangeAspect="1"/>
          </p:cNvPicPr>
          <p:nvPr/>
        </p:nvPicPr>
        <p:blipFill>
          <a:blip r:embed="rId2"/>
          <a:stretch>
            <a:fillRect/>
          </a:stretch>
        </p:blipFill>
        <p:spPr>
          <a:xfrm>
            <a:off x="548640" y="457200"/>
            <a:ext cx="594360" cy="594360"/>
          </a:xfrm>
          <a:prstGeom prst="rect">
            <a:avLst/>
          </a:prstGeom>
        </p:spPr>
      </p:pic>
      <p:sp>
        <p:nvSpPr>
          <p:cNvPr id="8" name="TextBox 7"/>
          <p:cNvSpPr txBox="1"/>
          <p:nvPr/>
        </p:nvSpPr>
        <p:spPr>
          <a:xfrm>
            <a:off x="548640" y="1280160"/>
            <a:ext cx="5248656" cy="1645920"/>
          </a:xfrm>
          <a:prstGeom prst="rect">
            <a:avLst/>
          </a:prstGeom>
          <a:noFill/>
        </p:spPr>
        <p:txBody>
          <a:bodyPr wrap="square">
            <a:spAutoFit/>
          </a:bodyPr>
          <a:lstStyle/>
          <a:p>
            <a:pPr algn="l"/>
            <a:r>
              <a:rPr sz="4400" b="1">
                <a:solidFill>
                  <a:srgbClr val="1A237E"/>
                </a:solidFill>
                <a:latin typeface="Calibri"/>
              </a:rPr>
              <a:t>Business Discovery
Questionnaire</a:t>
            </a:r>
          </a:p>
        </p:txBody>
      </p:sp>
      <p:sp>
        <p:nvSpPr>
          <p:cNvPr id="9" name="Rectangle 8"/>
          <p:cNvSpPr/>
          <p:nvPr/>
        </p:nvSpPr>
        <p:spPr>
          <a:xfrm>
            <a:off x="548640" y="3017520"/>
            <a:ext cx="2286000" cy="45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029200" cy="457200"/>
          </a:xfrm>
          <a:prstGeom prst="rect">
            <a:avLst/>
          </a:prstGeom>
          <a:noFill/>
        </p:spPr>
        <p:txBody>
          <a:bodyPr wrap="square">
            <a:spAutoFit/>
          </a:bodyPr>
          <a:lstStyle/>
          <a:p>
            <a:pPr algn="l"/>
            <a:r>
              <a:rPr sz="2200" b="0">
                <a:solidFill>
                  <a:srgbClr val="4285F4"/>
                </a:solidFill>
                <a:latin typeface="Calibri"/>
              </a:rPr>
              <a:t>Dental by Design  |  Prodent Group</a:t>
            </a:r>
          </a:p>
        </p:txBody>
      </p:sp>
      <p:sp>
        <p:nvSpPr>
          <p:cNvPr id="11" name="TextBox 10"/>
          <p:cNvSpPr txBox="1"/>
          <p:nvPr/>
        </p:nvSpPr>
        <p:spPr>
          <a:xfrm>
            <a:off x="548640" y="3931920"/>
            <a:ext cx="5029200" cy="914400"/>
          </a:xfrm>
          <a:prstGeom prst="rect">
            <a:avLst/>
          </a:prstGeom>
          <a:noFill/>
        </p:spPr>
        <p:txBody>
          <a:bodyPr wrap="square">
            <a:spAutoFit/>
          </a:bodyPr>
          <a:lstStyle/>
          <a:p>
            <a:pPr>
              <a:spcAft>
                <a:spcPts val="200"/>
              </a:spcAft>
            </a:pPr>
            <a:r>
              <a:rPr sz="1100" b="1">
                <a:solidFill>
                  <a:srgbClr val="1A1A1A"/>
                </a:solidFill>
                <a:latin typeface="Calibri"/>
              </a:rPr>
              <a:t>Christopher Hoole</a:t>
            </a:r>
          </a:p>
          <a:p>
            <a:pPr>
              <a:spcAft>
                <a:spcPts val="200"/>
              </a:spcAft>
            </a:pPr>
            <a:r>
              <a:rPr sz="1100" b="0">
                <a:solidFill>
                  <a:srgbClr val="1A1A1A"/>
                </a:solidFill>
                <a:latin typeface="Calibri"/>
              </a:rPr>
              <a:t>Google Ads Specialist  |  April 2026</a:t>
            </a:r>
          </a:p>
          <a:p>
            <a:r>
              <a:rPr sz="1100" b="0">
                <a:solidFill>
                  <a:srgbClr val="4285F4"/>
                </a:solidFill>
                <a:latin typeface="Calibri"/>
              </a:rPr>
              <a:t>christopherhoole.com</a:t>
            </a:r>
          </a:p>
        </p:txBody>
      </p:sp>
      <p:sp>
        <p:nvSpPr>
          <p:cNvPr id="12" name="Rectangle 11"/>
          <p:cNvSpPr/>
          <p:nvPr/>
        </p:nvSpPr>
        <p:spPr>
          <a:xfrm>
            <a:off x="548640" y="5029200"/>
            <a:ext cx="4114800" cy="45720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047488"/>
            <a:ext cx="3931920" cy="411480"/>
          </a:xfrm>
          <a:prstGeom prst="rect">
            <a:avLst/>
          </a:prstGeom>
          <a:noFill/>
        </p:spPr>
        <p:txBody>
          <a:bodyPr wrap="square">
            <a:spAutoFit/>
          </a:bodyPr>
          <a:lstStyle/>
          <a:p>
            <a:pPr algn="l"/>
            <a:r>
              <a:rPr sz="1100" b="1">
                <a:solidFill>
                  <a:srgbClr val="4285F4"/>
                </a:solidFill>
                <a:latin typeface="Calibri"/>
              </a:rPr>
              <a:t>Onboarding  |  Document 1 of 2</a:t>
            </a:r>
          </a:p>
        </p:txBody>
      </p:sp>
      <p:sp>
        <p:nvSpPr>
          <p:cNvPr id="14" name="Rectangle 13"/>
          <p:cNvSpPr/>
          <p:nvPr/>
        </p:nvSpPr>
        <p:spPr>
          <a:xfrm>
            <a:off x="6217920" y="457200"/>
            <a:ext cx="53949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457200"/>
            <a:ext cx="73152"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548640"/>
            <a:ext cx="4937760" cy="320040"/>
          </a:xfrm>
          <a:prstGeom prst="rect">
            <a:avLst/>
          </a:prstGeom>
          <a:noFill/>
        </p:spPr>
        <p:txBody>
          <a:bodyPr wrap="square">
            <a:spAutoFit/>
          </a:bodyPr>
          <a:lstStyle/>
          <a:p>
            <a:pPr algn="l"/>
            <a:r>
              <a:rPr sz="1400" b="0">
                <a:solidFill>
                  <a:srgbClr val="1A237E"/>
                </a:solidFill>
                <a:latin typeface="Calibri"/>
              </a:rPr>
              <a:t>Purpose</a:t>
            </a:r>
          </a:p>
        </p:txBody>
      </p:sp>
      <p:sp>
        <p:nvSpPr>
          <p:cNvPr id="17" name="TextBox 16"/>
          <p:cNvSpPr txBox="1"/>
          <p:nvPr/>
        </p:nvSpPr>
        <p:spPr>
          <a:xfrm>
            <a:off x="6492240" y="914400"/>
            <a:ext cx="4937760" cy="1645920"/>
          </a:xfrm>
          <a:prstGeom prst="rect">
            <a:avLst/>
          </a:prstGeom>
          <a:noFill/>
        </p:spPr>
        <p:txBody>
          <a:bodyPr wrap="square">
            <a:spAutoFit/>
          </a:bodyPr>
          <a:lstStyle/>
          <a:p>
            <a:pPr algn="l"/>
            <a:r>
              <a:rPr sz="1200" b="0">
                <a:solidFill>
                  <a:srgbClr val="1A1A1A"/>
                </a:solidFill>
                <a:latin typeface="Calibri"/>
              </a:rPr>
              <a:t>This questionnaire helps me understand your business, patients, goals, and competitive landscape in detail.
I've pre-filled answers where I already have data from the audit reports. On the onboarding call we'll validate these and fill in the gaps.
The answers will directly inform campaign structure, ad copy, targeting, and bidding strategy.</a:t>
            </a:r>
          </a:p>
        </p:txBody>
      </p:sp>
      <p:sp>
        <p:nvSpPr>
          <p:cNvPr id="18" name="Rectangle 17"/>
          <p:cNvSpPr/>
          <p:nvPr/>
        </p:nvSpPr>
        <p:spPr>
          <a:xfrm>
            <a:off x="6217920"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2926080"/>
            <a:ext cx="54864" cy="1051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3035808"/>
            <a:ext cx="1444752" cy="411480"/>
          </a:xfrm>
          <a:prstGeom prst="rect">
            <a:avLst/>
          </a:prstGeom>
          <a:noFill/>
        </p:spPr>
        <p:txBody>
          <a:bodyPr wrap="square">
            <a:spAutoFit/>
          </a:bodyPr>
          <a:lstStyle/>
          <a:p>
            <a:pPr algn="l"/>
            <a:r>
              <a:rPr sz="2200" b="1">
                <a:solidFill>
                  <a:srgbClr val="4285F4"/>
                </a:solidFill>
                <a:latin typeface="Calibri"/>
              </a:rPr>
              <a:t>10</a:t>
            </a:r>
          </a:p>
        </p:txBody>
      </p:sp>
      <p:sp>
        <p:nvSpPr>
          <p:cNvPr id="21" name="TextBox 20"/>
          <p:cNvSpPr txBox="1"/>
          <p:nvPr/>
        </p:nvSpPr>
        <p:spPr>
          <a:xfrm>
            <a:off x="6355080" y="3474720"/>
            <a:ext cx="1444752" cy="274320"/>
          </a:xfrm>
          <a:prstGeom prst="rect">
            <a:avLst/>
          </a:prstGeom>
          <a:noFill/>
        </p:spPr>
        <p:txBody>
          <a:bodyPr wrap="square">
            <a:spAutoFit/>
          </a:bodyPr>
          <a:lstStyle/>
          <a:p>
            <a:pPr algn="l"/>
            <a:r>
              <a:rPr sz="1100" b="0">
                <a:solidFill>
                  <a:srgbClr val="1A1A1A"/>
                </a:solidFill>
                <a:latin typeface="Calibri"/>
              </a:rPr>
              <a:t>Sections to Cover</a:t>
            </a:r>
          </a:p>
        </p:txBody>
      </p:sp>
      <p:sp>
        <p:nvSpPr>
          <p:cNvPr id="22" name="Rectangle 21"/>
          <p:cNvSpPr/>
          <p:nvPr/>
        </p:nvSpPr>
        <p:spPr>
          <a:xfrm>
            <a:off x="8074152"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74152" y="2926080"/>
            <a:ext cx="54864" cy="10515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11312" y="3035808"/>
            <a:ext cx="1444752" cy="411480"/>
          </a:xfrm>
          <a:prstGeom prst="rect">
            <a:avLst/>
          </a:prstGeom>
          <a:noFill/>
        </p:spPr>
        <p:txBody>
          <a:bodyPr wrap="square">
            <a:spAutoFit/>
          </a:bodyPr>
          <a:lstStyle/>
          <a:p>
            <a:pPr algn="l"/>
            <a:r>
              <a:rPr sz="2200" b="1">
                <a:solidFill>
                  <a:srgbClr val="34A853"/>
                </a:solidFill>
                <a:latin typeface="Calibri"/>
              </a:rPr>
              <a:t>3</a:t>
            </a:r>
          </a:p>
        </p:txBody>
      </p:sp>
      <p:sp>
        <p:nvSpPr>
          <p:cNvPr id="25" name="TextBox 24"/>
          <p:cNvSpPr txBox="1"/>
          <p:nvPr/>
        </p:nvSpPr>
        <p:spPr>
          <a:xfrm>
            <a:off x="8211312" y="3474720"/>
            <a:ext cx="1444752" cy="274320"/>
          </a:xfrm>
          <a:prstGeom prst="rect">
            <a:avLst/>
          </a:prstGeom>
          <a:noFill/>
        </p:spPr>
        <p:txBody>
          <a:bodyPr wrap="square">
            <a:spAutoFit/>
          </a:bodyPr>
          <a:lstStyle/>
          <a:p>
            <a:pPr algn="l"/>
            <a:r>
              <a:rPr sz="1100" b="0">
                <a:solidFill>
                  <a:srgbClr val="1A1A1A"/>
                </a:solidFill>
                <a:latin typeface="Calibri"/>
              </a:rPr>
              <a:t>Patient Personas</a:t>
            </a:r>
          </a:p>
        </p:txBody>
      </p:sp>
      <p:sp>
        <p:nvSpPr>
          <p:cNvPr id="26" name="Rectangle 25"/>
          <p:cNvSpPr/>
          <p:nvPr/>
        </p:nvSpPr>
        <p:spPr>
          <a:xfrm>
            <a:off x="9930384"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930384" y="2926080"/>
            <a:ext cx="54864" cy="105156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67544" y="3035808"/>
            <a:ext cx="1444752" cy="411480"/>
          </a:xfrm>
          <a:prstGeom prst="rect">
            <a:avLst/>
          </a:prstGeom>
          <a:noFill/>
        </p:spPr>
        <p:txBody>
          <a:bodyPr wrap="square">
            <a:spAutoFit/>
          </a:bodyPr>
          <a:lstStyle/>
          <a:p>
            <a:pPr algn="l"/>
            <a:r>
              <a:rPr sz="2200" b="1">
                <a:solidFill>
                  <a:srgbClr val="FBBC05"/>
                </a:solidFill>
                <a:latin typeface="Calibri"/>
              </a:rPr>
              <a:t>Pre-filled</a:t>
            </a:r>
          </a:p>
        </p:txBody>
      </p:sp>
      <p:sp>
        <p:nvSpPr>
          <p:cNvPr id="29" name="TextBox 28"/>
          <p:cNvSpPr txBox="1"/>
          <p:nvPr/>
        </p:nvSpPr>
        <p:spPr>
          <a:xfrm>
            <a:off x="10067544" y="3474720"/>
            <a:ext cx="1444752" cy="274320"/>
          </a:xfrm>
          <a:prstGeom prst="rect">
            <a:avLst/>
          </a:prstGeom>
          <a:noFill/>
        </p:spPr>
        <p:txBody>
          <a:bodyPr wrap="square">
            <a:spAutoFit/>
          </a:bodyPr>
          <a:lstStyle/>
          <a:p>
            <a:pPr algn="l"/>
            <a:r>
              <a:rPr sz="1100" b="0">
                <a:solidFill>
                  <a:srgbClr val="1A1A1A"/>
                </a:solidFill>
                <a:latin typeface="Calibri"/>
              </a:rPr>
              <a:t>From Audit Data</a:t>
            </a:r>
          </a:p>
        </p:txBody>
      </p:sp>
      <p:sp>
        <p:nvSpPr>
          <p:cNvPr id="30" name="Rectangle 29"/>
          <p:cNvSpPr/>
          <p:nvPr/>
        </p:nvSpPr>
        <p:spPr>
          <a:xfrm>
            <a:off x="0" y="6400800"/>
            <a:ext cx="3047695" cy="36576"/>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047695" y="6400800"/>
            <a:ext cx="3047695" cy="36576"/>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95390" y="6400800"/>
            <a:ext cx="3047695" cy="36576"/>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143085" y="6400800"/>
            <a:ext cx="3047695" cy="36576"/>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Business Deep-Dive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Understanding how your business works, your revenue model, and what makes you different</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1 of 10</a:t>
            </a:r>
          </a:p>
        </p:txBody>
      </p:sp>
      <p:sp>
        <p:nvSpPr>
          <p:cNvPr id="10" name="Rectangle 9"/>
          <p:cNvSpPr/>
          <p:nvPr/>
        </p:nvSpPr>
        <p:spPr>
          <a:xfrm>
            <a:off x="548640" y="1097280"/>
            <a:ext cx="5303520" cy="25603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25603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188720"/>
            <a:ext cx="4937760" cy="274320"/>
          </a:xfrm>
          <a:prstGeom prst="rect">
            <a:avLst/>
          </a:prstGeom>
          <a:noFill/>
        </p:spPr>
        <p:txBody>
          <a:bodyPr wrap="square">
            <a:spAutoFit/>
          </a:bodyPr>
          <a:lstStyle/>
          <a:p>
            <a:pPr algn="l"/>
            <a:r>
              <a:rPr sz="1400" b="1">
                <a:solidFill>
                  <a:srgbClr val="1A237E"/>
                </a:solidFill>
                <a:latin typeface="Calibri"/>
              </a:rPr>
              <a:t>What We Already Know (From Audit)</a:t>
            </a:r>
          </a:p>
        </p:txBody>
      </p:sp>
      <p:sp>
        <p:nvSpPr>
          <p:cNvPr id="13" name="TextBox 12"/>
          <p:cNvSpPr txBox="1"/>
          <p:nvPr/>
        </p:nvSpPr>
        <p:spPr>
          <a:xfrm>
            <a:off x="777240" y="1463040"/>
            <a:ext cx="4937760" cy="2103120"/>
          </a:xfrm>
          <a:prstGeom prst="rect">
            <a:avLst/>
          </a:prstGeom>
          <a:noFill/>
        </p:spPr>
        <p:txBody>
          <a:bodyPr wrap="square">
            <a:spAutoFit/>
          </a:bodyPr>
          <a:lstStyle/>
          <a:p>
            <a:pPr algn="l"/>
            <a:r>
              <a:rPr sz="1100" b="0">
                <a:solidFill>
                  <a:srgbClr val="1A1A1A"/>
                </a:solidFill>
                <a:latin typeface="Calibri"/>
              </a:rPr>
              <a:t>• Integrated model: Clinic (DBD) + Lab (Vivo) + Manufacturer (Inserta)
• Competitive advantage: “up to 60% less” due to in-house production
• Signature product: Vivo Bridge (permanent teeth in 48 hours)
• 4.8★ rating, 399+ Google reviews
• Prices: Single implant from £1,695, Full Arch from £9,995, Vivo Bridge £15,990+
• 0% finance available
• CQC registered, Hammersmith location (W6)</a:t>
            </a:r>
          </a:p>
        </p:txBody>
      </p:sp>
      <p:sp>
        <p:nvSpPr>
          <p:cNvPr id="14" name="Rectangle 13"/>
          <p:cNvSpPr/>
          <p:nvPr/>
        </p:nvSpPr>
        <p:spPr>
          <a:xfrm>
            <a:off x="6217920" y="1097280"/>
            <a:ext cx="5303520" cy="256032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097280"/>
            <a:ext cx="54864" cy="25603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188720"/>
            <a:ext cx="4937760" cy="274320"/>
          </a:xfrm>
          <a:prstGeom prst="rect">
            <a:avLst/>
          </a:prstGeom>
          <a:noFill/>
        </p:spPr>
        <p:txBody>
          <a:bodyPr wrap="square">
            <a:spAutoFit/>
          </a:bodyPr>
          <a:lstStyle/>
          <a:p>
            <a:pPr algn="l"/>
            <a:r>
              <a:rPr sz="1400" b="1">
                <a:solidFill>
                  <a:srgbClr val="1A237E"/>
                </a:solidFill>
                <a:latin typeface="Calibri"/>
              </a:rPr>
              <a:t>Questions for the Call</a:t>
            </a:r>
          </a:p>
        </p:txBody>
      </p:sp>
      <p:sp>
        <p:nvSpPr>
          <p:cNvPr id="17" name="TextBox 16"/>
          <p:cNvSpPr txBox="1"/>
          <p:nvPr/>
        </p:nvSpPr>
        <p:spPr>
          <a:xfrm>
            <a:off x="6446520" y="1463040"/>
            <a:ext cx="4937760" cy="2103120"/>
          </a:xfrm>
          <a:prstGeom prst="rect">
            <a:avLst/>
          </a:prstGeom>
          <a:noFill/>
        </p:spPr>
        <p:txBody>
          <a:bodyPr wrap="square">
            <a:spAutoFit/>
          </a:bodyPr>
          <a:lstStyle/>
          <a:p>
            <a:pPr algn="l"/>
            <a:r>
              <a:rPr sz="1100" b="0">
                <a:solidFill>
                  <a:srgbClr val="1A1A1A"/>
                </a:solidFill>
                <a:latin typeface="Calibri"/>
              </a:rPr>
              <a:t>1. What is the average patient lifetime value by treatment type?
2. What percentage of consultations convert to booked treatment?
3. Average time from first enquiry to treatment completion?
4. How does the in-house lab/manufacturing keep costs down day-to-day?
5. How many treatment chairs / surgeons / capacity per day?
6. What's the current monthly revenue attributed to Google Ads patients?
7. Who handles inbound enquiries? How quickly are leads followed up?</a:t>
            </a:r>
          </a:p>
        </p:txBody>
      </p:sp>
      <p:sp>
        <p:nvSpPr>
          <p:cNvPr id="18" name="Rectangle 17"/>
          <p:cNvSpPr/>
          <p:nvPr/>
        </p:nvSpPr>
        <p:spPr>
          <a:xfrm>
            <a:off x="548640" y="3840480"/>
            <a:ext cx="1106424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840480"/>
            <a:ext cx="54864" cy="201168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931920"/>
            <a:ext cx="10698480" cy="274320"/>
          </a:xfrm>
          <a:prstGeom prst="rect">
            <a:avLst/>
          </a:prstGeom>
          <a:noFill/>
        </p:spPr>
        <p:txBody>
          <a:bodyPr wrap="square">
            <a:spAutoFit/>
          </a:bodyPr>
          <a:lstStyle/>
          <a:p>
            <a:pPr algn="l"/>
            <a:r>
              <a:rPr sz="1400" b="1">
                <a:solidFill>
                  <a:srgbClr val="1A237E"/>
                </a:solidFill>
                <a:latin typeface="Calibri"/>
              </a:rPr>
              <a:t>Answers (To Complete on Call)</a:t>
            </a:r>
          </a:p>
        </p:txBody>
      </p:sp>
      <p:sp>
        <p:nvSpPr>
          <p:cNvPr id="21" name="TextBox 20"/>
          <p:cNvSpPr txBox="1"/>
          <p:nvPr/>
        </p:nvSpPr>
        <p:spPr>
          <a:xfrm>
            <a:off x="777240" y="4206240"/>
            <a:ext cx="10698480" cy="1554480"/>
          </a:xfrm>
          <a:prstGeom prst="rect">
            <a:avLst/>
          </a:prstGeom>
          <a:noFill/>
        </p:spPr>
        <p:txBody>
          <a:bodyPr wrap="square">
            <a:spAutoFit/>
          </a:bodyPr>
          <a:lstStyle/>
          <a:p>
            <a:pPr algn="l"/>
            <a:r>
              <a:rPr sz="1100" b="0">
                <a:solidFill>
                  <a:srgbClr val="1A1A1A"/>
                </a:solidFill>
                <a:latin typeface="Calibri"/>
              </a:rPr>
              <a:t>
</a:t>
            </a:r>
          </a:p>
        </p:txBody>
      </p:sp>
      <p:sp>
        <p:nvSpPr>
          <p:cNvPr id="22" name="Rectangle 2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7" name="TextBox 2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8" name="TextBox 2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Client Personas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Proposed 3 personas based on account data — validate and refine on the call</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2 of 10</a:t>
            </a:r>
          </a:p>
        </p:txBody>
      </p:sp>
      <p:sp>
        <p:nvSpPr>
          <p:cNvPr id="10" name="Rectangle 9"/>
          <p:cNvSpPr/>
          <p:nvPr/>
        </p:nvSpPr>
        <p:spPr>
          <a:xfrm>
            <a:off x="548640" y="1097280"/>
            <a:ext cx="3474720" cy="34747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34747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188720"/>
            <a:ext cx="3108960" cy="274320"/>
          </a:xfrm>
          <a:prstGeom prst="rect">
            <a:avLst/>
          </a:prstGeom>
          <a:noFill/>
        </p:spPr>
        <p:txBody>
          <a:bodyPr wrap="square">
            <a:spAutoFit/>
          </a:bodyPr>
          <a:lstStyle/>
          <a:p>
            <a:pPr algn="l"/>
            <a:r>
              <a:rPr sz="1400" b="1">
                <a:solidFill>
                  <a:srgbClr val="1A237E"/>
                </a:solidFill>
                <a:latin typeface="Calibri"/>
              </a:rPr>
              <a:t>Persona 1: Price-Conscious Researcher</a:t>
            </a:r>
          </a:p>
        </p:txBody>
      </p:sp>
      <p:sp>
        <p:nvSpPr>
          <p:cNvPr id="13" name="TextBox 12"/>
          <p:cNvSpPr txBox="1"/>
          <p:nvPr/>
        </p:nvSpPr>
        <p:spPr>
          <a:xfrm>
            <a:off x="777240" y="1463040"/>
            <a:ext cx="3108960" cy="3017520"/>
          </a:xfrm>
          <a:prstGeom prst="rect">
            <a:avLst/>
          </a:prstGeom>
          <a:noFill/>
        </p:spPr>
        <p:txBody>
          <a:bodyPr wrap="square">
            <a:spAutoFit/>
          </a:bodyPr>
          <a:lstStyle/>
          <a:p>
            <a:pPr algn="l"/>
            <a:r>
              <a:rPr sz="1100" b="0">
                <a:solidFill>
                  <a:srgbClr val="1A1A1A"/>
                </a:solidFill>
                <a:latin typeface="Calibri"/>
              </a:rPr>
              <a:t>Age: 45-65. Lost teeth or facing extraction.
Searches: “dental implants cost”, “cheapest implants”, “payment plans”
Pain point: Shocked by implant costs. Comparing prices.
Decision trigger: Quality at a price they can justify + finance.
Why DBD wins: “Up to 60% less”, 0% finance, in-house lab.
Data: Financing ad group = £34 CPA, 24.7% CVR (proven).</a:t>
            </a:r>
          </a:p>
        </p:txBody>
      </p:sp>
      <p:sp>
        <p:nvSpPr>
          <p:cNvPr id="14" name="Rectangle 13"/>
          <p:cNvSpPr/>
          <p:nvPr/>
        </p:nvSpPr>
        <p:spPr>
          <a:xfrm>
            <a:off x="4297680" y="1097280"/>
            <a:ext cx="3474720" cy="347472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097280"/>
            <a:ext cx="54864" cy="3474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188720"/>
            <a:ext cx="3108960" cy="274320"/>
          </a:xfrm>
          <a:prstGeom prst="rect">
            <a:avLst/>
          </a:prstGeom>
          <a:noFill/>
        </p:spPr>
        <p:txBody>
          <a:bodyPr wrap="square">
            <a:spAutoFit/>
          </a:bodyPr>
          <a:lstStyle/>
          <a:p>
            <a:pPr algn="l"/>
            <a:r>
              <a:rPr sz="1400" b="1">
                <a:solidFill>
                  <a:srgbClr val="1A237E"/>
                </a:solidFill>
                <a:latin typeface="Calibri"/>
              </a:rPr>
              <a:t>Persona 2: Quality-Driven Urgent Case</a:t>
            </a:r>
          </a:p>
        </p:txBody>
      </p:sp>
      <p:sp>
        <p:nvSpPr>
          <p:cNvPr id="17" name="TextBox 16"/>
          <p:cNvSpPr txBox="1"/>
          <p:nvPr/>
        </p:nvSpPr>
        <p:spPr>
          <a:xfrm>
            <a:off x="4526280" y="1463040"/>
            <a:ext cx="3108960" cy="3017520"/>
          </a:xfrm>
          <a:prstGeom prst="rect">
            <a:avLst/>
          </a:prstGeom>
          <a:noFill/>
        </p:spPr>
        <p:txBody>
          <a:bodyPr wrap="square">
            <a:spAutoFit/>
          </a:bodyPr>
          <a:lstStyle/>
          <a:p>
            <a:pPr algn="l"/>
            <a:r>
              <a:rPr sz="1100" b="0">
                <a:solidFill>
                  <a:srgbClr val="1A1A1A"/>
                </a:solidFill>
                <a:latin typeface="Calibri"/>
              </a:rPr>
              <a:t>Age: 50-70. Failed dental work or deteriorating health.
Searches: “all on 4”, “full mouth restoration”, “teeth in a day”
Pain point: Wants it done properly this time. Willing to pay.
Decision trigger: Trust (reviews, CQC), speed (48hrs).
Why DBD wins: 4.8★, Vivo Bridge 48hrs, expert surgeons.
Data: All-on-4 ad group = £106-128 CPA (high value).</a:t>
            </a:r>
          </a:p>
        </p:txBody>
      </p:sp>
      <p:sp>
        <p:nvSpPr>
          <p:cNvPr id="18" name="Rectangle 17"/>
          <p:cNvSpPr/>
          <p:nvPr/>
        </p:nvSpPr>
        <p:spPr>
          <a:xfrm>
            <a:off x="8046720" y="1097280"/>
            <a:ext cx="3566160" cy="347472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097280"/>
            <a:ext cx="54864" cy="34747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188720"/>
            <a:ext cx="3200400" cy="274320"/>
          </a:xfrm>
          <a:prstGeom prst="rect">
            <a:avLst/>
          </a:prstGeom>
          <a:noFill/>
        </p:spPr>
        <p:txBody>
          <a:bodyPr wrap="square">
            <a:spAutoFit/>
          </a:bodyPr>
          <a:lstStyle/>
          <a:p>
            <a:pPr algn="l"/>
            <a:r>
              <a:rPr sz="1400" b="1">
                <a:solidFill>
                  <a:srgbClr val="1A237E"/>
                </a:solidFill>
                <a:latin typeface="Calibri"/>
              </a:rPr>
              <a:t>Persona 3: Cosmetic Improver</a:t>
            </a:r>
          </a:p>
        </p:txBody>
      </p:sp>
      <p:sp>
        <p:nvSpPr>
          <p:cNvPr id="21" name="TextBox 20"/>
          <p:cNvSpPr txBox="1"/>
          <p:nvPr/>
        </p:nvSpPr>
        <p:spPr>
          <a:xfrm>
            <a:off x="8275320" y="1463040"/>
            <a:ext cx="3200400" cy="3017520"/>
          </a:xfrm>
          <a:prstGeom prst="rect">
            <a:avLst/>
          </a:prstGeom>
          <a:noFill/>
        </p:spPr>
        <p:txBody>
          <a:bodyPr wrap="square">
            <a:spAutoFit/>
          </a:bodyPr>
          <a:lstStyle/>
          <a:p>
            <a:pPr algn="l"/>
            <a:r>
              <a:rPr sz="1100" b="0">
                <a:solidFill>
                  <a:srgbClr val="1A1A1A"/>
                </a:solidFill>
                <a:latin typeface="Calibri"/>
              </a:rPr>
              <a:t>Age: 30-50. Functional teeth but wants a better smile.
Searches: “Invisalign London”, “veneers near me”, “smile makeover”
Pain point: Self-conscious. Wants transformation.
Decision trigger: Before/after photos, ease of treatment.
Why DBD wins: Diamond Apex Invisalign, premium location.
Data: Invisalign = £45 CPA, 10.1% CVR.</a:t>
            </a:r>
          </a:p>
        </p:txBody>
      </p:sp>
      <p:sp>
        <p:nvSpPr>
          <p:cNvPr id="22" name="Rectangle 21"/>
          <p:cNvSpPr/>
          <p:nvPr/>
        </p:nvSpPr>
        <p:spPr>
          <a:xfrm>
            <a:off x="548640" y="4754880"/>
            <a:ext cx="11064240" cy="109728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754880"/>
            <a:ext cx="54864" cy="10972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846320"/>
            <a:ext cx="10698480" cy="274320"/>
          </a:xfrm>
          <a:prstGeom prst="rect">
            <a:avLst/>
          </a:prstGeom>
          <a:noFill/>
        </p:spPr>
        <p:txBody>
          <a:bodyPr wrap="square">
            <a:spAutoFit/>
          </a:bodyPr>
          <a:lstStyle/>
          <a:p>
            <a:pPr algn="l"/>
            <a:r>
              <a:rPr sz="1400" b="1">
                <a:solidFill>
                  <a:srgbClr val="1A237E"/>
                </a:solidFill>
                <a:latin typeface="Calibri"/>
              </a:rPr>
              <a:t>Questions for the Call</a:t>
            </a:r>
          </a:p>
        </p:txBody>
      </p:sp>
      <p:sp>
        <p:nvSpPr>
          <p:cNvPr id="25" name="TextBox 24"/>
          <p:cNvSpPr txBox="1"/>
          <p:nvPr/>
        </p:nvSpPr>
        <p:spPr>
          <a:xfrm>
            <a:off x="777240" y="5120640"/>
            <a:ext cx="10698480" cy="640080"/>
          </a:xfrm>
          <a:prstGeom prst="rect">
            <a:avLst/>
          </a:prstGeom>
          <a:noFill/>
        </p:spPr>
        <p:txBody>
          <a:bodyPr wrap="square">
            <a:spAutoFit/>
          </a:bodyPr>
          <a:lstStyle/>
          <a:p>
            <a:pPr algn="l"/>
            <a:r>
              <a:rPr sz="1100" b="0">
                <a:solidFill>
                  <a:srgbClr val="1A1A1A"/>
                </a:solidFill>
                <a:latin typeface="Calibri"/>
              </a:rPr>
              <a:t>1. Do these 3 personas match who actually walks through your door?  2. Which persona has the highest lifetime value?  3. Which has the highest consultation-to-treatment rate?  4. Are there patient types you actively DON'T want?  5. What's the typical age range of paying implant patients?  6. Do family members often research on behalf of the patient?</a:t>
            </a:r>
          </a:p>
        </p:txBody>
      </p:sp>
      <p:sp>
        <p:nvSpPr>
          <p:cNvPr id="26" name="Rectangle 25"/>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31" name="TextBox 30"/>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32" name="TextBox 31"/>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Key Services to Promote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Which treatments should we prioritise in Google Ads?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3 of 10</a:t>
            </a:r>
          </a:p>
        </p:txBody>
      </p:sp>
      <p:graphicFrame>
        <p:nvGraphicFramePr>
          <p:cNvPr id="10" name="Table 9"/>
          <p:cNvGraphicFramePr>
            <a:graphicFrameLocks noGrp="1"/>
          </p:cNvGraphicFramePr>
          <p:nvPr/>
        </p:nvGraphicFramePr>
        <p:xfrm>
          <a:off x="548640" y="1097280"/>
          <a:ext cx="6858000" cy="2926080"/>
        </p:xfrm>
        <a:graphic>
          <a:graphicData uri="http://schemas.openxmlformats.org/drawingml/2006/table">
            <a:tbl>
              <a:tblPr firstRow="1" bandRow="1">
                <a:tableStyleId>{5C22544A-7EE6-4342-B048-85BDC9FD1C3A}</a:tableStyleId>
              </a:tblPr>
              <a:tblGrid>
                <a:gridCol w="1645920"/>
                <a:gridCol w="1097280"/>
                <a:gridCol w="822960"/>
                <a:gridCol w="731520"/>
                <a:gridCol w="2560320"/>
              </a:tblGrid>
              <a:tr h="365760">
                <a:tc>
                  <a:txBody>
                    <a:bodyPr/>
                    <a:lstStyle/>
                    <a:p>
                      <a:pPr>
                        <a:defRPr sz="1000" b="1">
                          <a:solidFill>
                            <a:srgbClr val="FFFFFF"/>
                          </a:solidFill>
                          <a:latin typeface="Calibri"/>
                        </a:defRPr>
                      </a:pPr>
                      <a:r>
                        <a:t>Service</a:t>
                      </a:r>
                    </a:p>
                  </a:txBody>
                  <a:tcPr>
                    <a:solidFill>
                      <a:srgbClr val="1A237E"/>
                    </a:solidFill>
                  </a:tcPr>
                </a:tc>
                <a:tc>
                  <a:txBody>
                    <a:bodyPr/>
                    <a:lstStyle/>
                    <a:p>
                      <a:pPr>
                        <a:defRPr sz="1000" b="1">
                          <a:solidFill>
                            <a:srgbClr val="FFFFFF"/>
                          </a:solidFill>
                          <a:latin typeface="Calibri"/>
                        </a:defRPr>
                      </a:pPr>
                      <a:r>
                        <a:t>Current Ad Spend</a:t>
                      </a:r>
                    </a:p>
                  </a:txBody>
                  <a:tcPr>
                    <a:solidFill>
                      <a:srgbClr val="1A237E"/>
                    </a:solidFill>
                  </a:tcPr>
                </a:tc>
                <a:tc>
                  <a:txBody>
                    <a:bodyPr/>
                    <a:lstStyle/>
                    <a:p>
                      <a:pPr>
                        <a:defRPr sz="1000" b="1">
                          <a:solidFill>
                            <a:srgbClr val="FFFFFF"/>
                          </a:solidFill>
                          <a:latin typeface="Calibri"/>
                        </a:defRPr>
                      </a:pPr>
                      <a:r>
                        <a:t>Current CPA</a:t>
                      </a:r>
                    </a:p>
                  </a:txBody>
                  <a:tcPr>
                    <a:solidFill>
                      <a:srgbClr val="1A237E"/>
                    </a:solidFill>
                  </a:tcPr>
                </a:tc>
                <a:tc>
                  <a:txBody>
                    <a:bodyPr/>
                    <a:lstStyle/>
                    <a:p>
                      <a:pPr>
                        <a:defRPr sz="1000" b="1">
                          <a:solidFill>
                            <a:srgbClr val="FFFFFF"/>
                          </a:solidFill>
                          <a:latin typeface="Calibri"/>
                        </a:defRPr>
                      </a:pPr>
                      <a:r>
                        <a:t>Priority?</a:t>
                      </a:r>
                    </a:p>
                  </a:txBody>
                  <a:tcPr>
                    <a:solidFill>
                      <a:srgbClr val="1A237E"/>
                    </a:solidFill>
                  </a:tcPr>
                </a:tc>
                <a:tc>
                  <a:txBody>
                    <a:bodyPr/>
                    <a:lstStyle/>
                    <a:p>
                      <a:pPr>
                        <a:defRPr sz="1000" b="1">
                          <a:solidFill>
                            <a:srgbClr val="FFFFFF"/>
                          </a:solidFill>
                          <a:latin typeface="Calibri"/>
                        </a:defRPr>
                      </a:pPr>
                      <a:r>
                        <a:t>Notes</a:t>
                      </a:r>
                    </a:p>
                  </a:txBody>
                  <a:tcPr>
                    <a:solidFill>
                      <a:srgbClr val="1A237E"/>
                    </a:solidFill>
                  </a:tcPr>
                </a:tc>
              </a:tr>
              <a:tr h="365760">
                <a:tc>
                  <a:txBody>
                    <a:bodyPr/>
                    <a:lstStyle/>
                    <a:p>
                      <a:pPr>
                        <a:defRPr sz="1000">
                          <a:solidFill>
                            <a:srgbClr val="1A1A1A"/>
                          </a:solidFill>
                          <a:latin typeface="Calibri"/>
                        </a:defRPr>
                      </a:pPr>
                      <a:r>
                        <a:t>Dental Implants (single)</a:t>
                      </a:r>
                    </a:p>
                  </a:txBody>
                  <a:tcPr>
                    <a:solidFill>
                      <a:srgbClr val="F5F6FA"/>
                    </a:solidFill>
                  </a:tcPr>
                </a:tc>
                <a:tc>
                  <a:txBody>
                    <a:bodyPr/>
                    <a:lstStyle/>
                    <a:p>
                      <a:pPr>
                        <a:defRPr sz="1000">
                          <a:solidFill>
                            <a:srgbClr val="1A1A1A"/>
                          </a:solidFill>
                          <a:latin typeface="Calibri"/>
                        </a:defRPr>
                      </a:pPr>
                      <a:r>
                        <a:t>£74K (2026 Q1)</a:t>
                      </a:r>
                    </a:p>
                  </a:txBody>
                  <a:tcPr>
                    <a:solidFill>
                      <a:srgbClr val="F5F6FA"/>
                    </a:solidFill>
                  </a:tcPr>
                </a:tc>
                <a:tc>
                  <a:txBody>
                    <a:bodyPr/>
                    <a:lstStyle/>
                    <a:p>
                      <a:pPr>
                        <a:defRPr sz="1000">
                          <a:solidFill>
                            <a:srgbClr val="1A1A1A"/>
                          </a:solidFill>
                          <a:latin typeface="Calibri"/>
                        </a:defRPr>
                      </a:pPr>
                      <a:r>
                        <a:t>£94 (Search)</a:t>
                      </a:r>
                    </a:p>
                  </a:txBody>
                  <a:tcPr>
                    <a:solidFill>
                      <a:srgbClr val="F5F6FA"/>
                    </a:solidFill>
                  </a:tcPr>
                </a:tc>
                <a:tc>
                  <a:txBody>
                    <a:bodyPr/>
                    <a:lstStyle/>
                    <a:p>
                      <a:pPr>
                        <a:defRPr sz="1000">
                          <a:solidFill>
                            <a:srgbClr val="1A1A1A"/>
                          </a:solidFill>
                          <a:latin typeface="Calibri"/>
                        </a:defRPr>
                      </a:pPr>
                      <a:r>
                        <a:t>Primary?</a:t>
                      </a:r>
                    </a:p>
                  </a:txBody>
                  <a:tcPr>
                    <a:solidFill>
                      <a:srgbClr val="F5F6FA"/>
                    </a:solidFill>
                  </a:tcPr>
                </a:tc>
                <a:tc>
                  <a:txBody>
                    <a:bodyPr/>
                    <a:lstStyle/>
                    <a:p>
                      <a:pPr>
                        <a:defRPr sz="1000">
                          <a:solidFill>
                            <a:srgbClr val="1A1A1A"/>
                          </a:solidFill>
                          <a:latin typeface="Calibri"/>
                        </a:defRPr>
                      </a:pPr>
                      <a:r>
                        <a:t>Highest volume. Needs restructure.</a:t>
                      </a:r>
                    </a:p>
                  </a:txBody>
                  <a:tcPr>
                    <a:solidFill>
                      <a:srgbClr val="F5F6FA"/>
                    </a:solidFill>
                  </a:tcPr>
                </a:tc>
              </a:tr>
              <a:tr h="365760">
                <a:tc>
                  <a:txBody>
                    <a:bodyPr/>
                    <a:lstStyle/>
                    <a:p>
                      <a:pPr>
                        <a:defRPr sz="1000">
                          <a:solidFill>
                            <a:srgbClr val="1A1A1A"/>
                          </a:solidFill>
                          <a:latin typeface="Calibri"/>
                        </a:defRPr>
                      </a:pPr>
                      <a:r>
                        <a:t>Full Arch / All-on-4</a:t>
                      </a:r>
                    </a:p>
                  </a:txBody>
                  <a:tcPr>
                    <a:solidFill>
                      <a:srgbClr val="FFFFFF"/>
                    </a:solidFill>
                  </a:tcPr>
                </a:tc>
                <a:tc>
                  <a:txBody>
                    <a:bodyPr/>
                    <a:lstStyle/>
                    <a:p>
                      <a:pPr>
                        <a:defRPr sz="1000">
                          <a:solidFill>
                            <a:srgbClr val="1A1A1A"/>
                          </a:solidFill>
                          <a:latin typeface="Calibri"/>
                        </a:defRPr>
                      </a:pPr>
                      <a:r>
                        <a:t>£16.5K (2026 Q1)</a:t>
                      </a:r>
                    </a:p>
                  </a:txBody>
                  <a:tcPr>
                    <a:solidFill>
                      <a:srgbClr val="FFFFFF"/>
                    </a:solidFill>
                  </a:tcPr>
                </a:tc>
                <a:tc>
                  <a:txBody>
                    <a:bodyPr/>
                    <a:lstStyle/>
                    <a:p>
                      <a:pPr>
                        <a:defRPr sz="1000">
                          <a:solidFill>
                            <a:srgbClr val="1A1A1A"/>
                          </a:solidFill>
                          <a:latin typeface="Calibri"/>
                        </a:defRPr>
                      </a:pPr>
                      <a:r>
                        <a:t>£106-128</a:t>
                      </a:r>
                    </a:p>
                  </a:txBody>
                  <a:tcPr>
                    <a:solidFill>
                      <a:srgbClr val="FFFFFF"/>
                    </a:solidFill>
                  </a:tcPr>
                </a:tc>
                <a:tc>
                  <a:txBody>
                    <a:bodyPr/>
                    <a:lstStyle/>
                    <a:p>
                      <a:pPr>
                        <a:defRPr sz="1000">
                          <a:solidFill>
                            <a:srgbClr val="1A1A1A"/>
                          </a:solidFill>
                          <a:latin typeface="Calibri"/>
                        </a:defRPr>
                      </a:pPr>
                      <a:r>
                        <a:t>Primary?</a:t>
                      </a:r>
                    </a:p>
                  </a:txBody>
                  <a:tcPr>
                    <a:solidFill>
                      <a:srgbClr val="FFFFFF"/>
                    </a:solidFill>
                  </a:tcPr>
                </a:tc>
                <a:tc>
                  <a:txBody>
                    <a:bodyPr/>
                    <a:lstStyle/>
                    <a:p>
                      <a:pPr>
                        <a:defRPr sz="1000">
                          <a:solidFill>
                            <a:srgbClr val="1A1A1A"/>
                          </a:solidFill>
                          <a:latin typeface="Calibri"/>
                        </a:defRPr>
                      </a:pPr>
                      <a:r>
                        <a:t>Highest patient value. Worth the CPA?</a:t>
                      </a:r>
                    </a:p>
                  </a:txBody>
                  <a:tcPr>
                    <a:solidFill>
                      <a:srgbClr val="FFFFFF"/>
                    </a:solidFill>
                  </a:tcPr>
                </a:tc>
              </a:tr>
              <a:tr h="365760">
                <a:tc>
                  <a:txBody>
                    <a:bodyPr/>
                    <a:lstStyle/>
                    <a:p>
                      <a:pPr>
                        <a:defRPr sz="1000">
                          <a:solidFill>
                            <a:srgbClr val="1A1A1A"/>
                          </a:solidFill>
                          <a:latin typeface="Calibri"/>
                        </a:defRPr>
                      </a:pPr>
                      <a:r>
                        <a:t>Financing / Payment Plans</a:t>
                      </a:r>
                    </a:p>
                  </a:txBody>
                  <a:tcPr>
                    <a:solidFill>
                      <a:srgbClr val="F5F6FA"/>
                    </a:solidFill>
                  </a:tcPr>
                </a:tc>
                <a:tc>
                  <a:txBody>
                    <a:bodyPr/>
                    <a:lstStyle/>
                    <a:p>
                      <a:pPr>
                        <a:defRPr sz="1000">
                          <a:solidFill>
                            <a:srgbClr val="1A1A1A"/>
                          </a:solidFill>
                          <a:latin typeface="Calibri"/>
                        </a:defRPr>
                      </a:pPr>
                      <a:r>
                        <a:t>£2.9K (2026 Q1)</a:t>
                      </a:r>
                    </a:p>
                  </a:txBody>
                  <a:tcPr>
                    <a:solidFill>
                      <a:srgbClr val="F5F6FA"/>
                    </a:solidFill>
                  </a:tcPr>
                </a:tc>
                <a:tc>
                  <a:txBody>
                    <a:bodyPr/>
                    <a:lstStyle/>
                    <a:p>
                      <a:pPr>
                        <a:defRPr sz="1000">
                          <a:solidFill>
                            <a:srgbClr val="1A1A1A"/>
                          </a:solidFill>
                          <a:latin typeface="Calibri"/>
                        </a:defRPr>
                      </a:pPr>
                      <a:r>
                        <a:t>£34</a:t>
                      </a:r>
                    </a:p>
                  </a:txBody>
                  <a:tcPr>
                    <a:solidFill>
                      <a:srgbClr val="F5F6FA"/>
                    </a:solidFill>
                  </a:tcPr>
                </a:tc>
                <a:tc>
                  <a:txBody>
                    <a:bodyPr/>
                    <a:lstStyle/>
                    <a:p>
                      <a:pPr>
                        <a:defRPr sz="1000">
                          <a:solidFill>
                            <a:srgbClr val="1A1A1A"/>
                          </a:solidFill>
                          <a:latin typeface="Calibri"/>
                        </a:defRPr>
                      </a:pPr>
                      <a:r>
                        <a:t>Scale up?</a:t>
                      </a:r>
                    </a:p>
                  </a:txBody>
                  <a:tcPr>
                    <a:solidFill>
                      <a:srgbClr val="F5F6FA"/>
                    </a:solidFill>
                  </a:tcPr>
                </a:tc>
                <a:tc>
                  <a:txBody>
                    <a:bodyPr/>
                    <a:lstStyle/>
                    <a:p>
                      <a:pPr>
                        <a:defRPr sz="1000">
                          <a:solidFill>
                            <a:srgbClr val="1A1A1A"/>
                          </a:solidFill>
                          <a:latin typeface="Calibri"/>
                        </a:defRPr>
                      </a:pPr>
                      <a:r>
                        <a:t>Best CPA. Proven demand.</a:t>
                      </a:r>
                    </a:p>
                  </a:txBody>
                  <a:tcPr>
                    <a:solidFill>
                      <a:srgbClr val="F5F6FA"/>
                    </a:solidFill>
                  </a:tcPr>
                </a:tc>
              </a:tr>
              <a:tr h="365760">
                <a:tc>
                  <a:txBody>
                    <a:bodyPr/>
                    <a:lstStyle/>
                    <a:p>
                      <a:pPr>
                        <a:defRPr sz="1000">
                          <a:solidFill>
                            <a:srgbClr val="1A1A1A"/>
                          </a:solidFill>
                          <a:latin typeface="Calibri"/>
                        </a:defRPr>
                      </a:pPr>
                      <a:r>
                        <a:t>Vivo Bridge (48hrs)</a:t>
                      </a:r>
                    </a:p>
                  </a:txBody>
                  <a:tcPr>
                    <a:solidFill>
                      <a:srgbClr val="FFFFFF"/>
                    </a:solidFill>
                  </a:tcPr>
                </a:tc>
                <a:tc>
                  <a:txBody>
                    <a:bodyPr/>
                    <a:lstStyle/>
                    <a:p>
                      <a:pPr>
                        <a:defRPr sz="1000">
                          <a:solidFill>
                            <a:srgbClr val="1A1A1A"/>
                          </a:solidFill>
                          <a:latin typeface="Calibri"/>
                        </a:defRPr>
                      </a:pPr>
                      <a:r>
                        <a:t>— (bundled)</a:t>
                      </a:r>
                    </a:p>
                  </a:txBody>
                  <a:tcPr>
                    <a:solidFill>
                      <a:srgbClr val="FFFFFF"/>
                    </a:solidFill>
                  </a:tcPr>
                </a:tc>
                <a:tc>
                  <a:txBody>
                    <a:bodyPr/>
                    <a:lstStyle/>
                    <a:p>
                      <a:pPr>
                        <a:defRPr sz="1000">
                          <a:solidFill>
                            <a:srgbClr val="1A1A1A"/>
                          </a:solidFill>
                          <a:latin typeface="Calibri"/>
                        </a:defRPr>
                      </a:pPr>
                      <a:r>
                        <a:t>—</a:t>
                      </a:r>
                    </a:p>
                  </a:txBody>
                  <a:tcPr>
                    <a:solidFill>
                      <a:srgbClr val="FFFFFF"/>
                    </a:solidFill>
                  </a:tcPr>
                </a:tc>
                <a:tc>
                  <a:txBody>
                    <a:bodyPr/>
                    <a:lstStyle/>
                    <a:p>
                      <a:pPr>
                        <a:defRPr sz="1000">
                          <a:solidFill>
                            <a:srgbClr val="1A1A1A"/>
                          </a:solidFill>
                          <a:latin typeface="Calibri"/>
                        </a:defRPr>
                      </a:pPr>
                      <a:r>
                        <a:t>Discuss</a:t>
                      </a:r>
                    </a:p>
                  </a:txBody>
                  <a:tcPr>
                    <a:solidFill>
                      <a:srgbClr val="FFFFFF"/>
                    </a:solidFill>
                  </a:tcPr>
                </a:tc>
                <a:tc>
                  <a:txBody>
                    <a:bodyPr/>
                    <a:lstStyle/>
                    <a:p>
                      <a:pPr>
                        <a:defRPr sz="1000">
                          <a:solidFill>
                            <a:srgbClr val="1A1A1A"/>
                          </a:solidFill>
                          <a:latin typeface="Calibri"/>
                        </a:defRPr>
                      </a:pPr>
                      <a:r>
                        <a:t>Separate campaign or USP within implants?</a:t>
                      </a:r>
                    </a:p>
                  </a:txBody>
                  <a:tcPr>
                    <a:solidFill>
                      <a:srgbClr val="FFFFFF"/>
                    </a:solidFill>
                  </a:tcPr>
                </a:tc>
              </a:tr>
              <a:tr h="365760">
                <a:tc>
                  <a:txBody>
                    <a:bodyPr/>
                    <a:lstStyle/>
                    <a:p>
                      <a:pPr>
                        <a:defRPr sz="1000">
                          <a:solidFill>
                            <a:srgbClr val="1A1A1A"/>
                          </a:solidFill>
                          <a:latin typeface="Calibri"/>
                        </a:defRPr>
                      </a:pPr>
                      <a:r>
                        <a:t>Invisalign</a:t>
                      </a:r>
                    </a:p>
                  </a:txBody>
                  <a:tcPr>
                    <a:solidFill>
                      <a:srgbClr val="F5F6FA"/>
                    </a:solidFill>
                  </a:tcPr>
                </a:tc>
                <a:tc>
                  <a:txBody>
                    <a:bodyPr/>
                    <a:lstStyle/>
                    <a:p>
                      <a:pPr>
                        <a:defRPr sz="1000">
                          <a:solidFill>
                            <a:srgbClr val="1A1A1A"/>
                          </a:solidFill>
                          <a:latin typeface="Calibri"/>
                        </a:defRPr>
                      </a:pPr>
                      <a:r>
                        <a:t>£3.8K (2026 Q1)</a:t>
                      </a:r>
                    </a:p>
                  </a:txBody>
                  <a:tcPr>
                    <a:solidFill>
                      <a:srgbClr val="F5F6FA"/>
                    </a:solidFill>
                  </a:tcPr>
                </a:tc>
                <a:tc>
                  <a:txBody>
                    <a:bodyPr/>
                    <a:lstStyle/>
                    <a:p>
                      <a:pPr>
                        <a:defRPr sz="1000">
                          <a:solidFill>
                            <a:srgbClr val="1A1A1A"/>
                          </a:solidFill>
                          <a:latin typeface="Calibri"/>
                        </a:defRPr>
                      </a:pPr>
                      <a:r>
                        <a:t>£45</a:t>
                      </a:r>
                    </a:p>
                  </a:txBody>
                  <a:tcPr>
                    <a:solidFill>
                      <a:srgbClr val="F5F6FA"/>
                    </a:solidFill>
                  </a:tcPr>
                </a:tc>
                <a:tc>
                  <a:txBody>
                    <a:bodyPr/>
                    <a:lstStyle/>
                    <a:p>
                      <a:pPr>
                        <a:defRPr sz="1000">
                          <a:solidFill>
                            <a:srgbClr val="1A1A1A"/>
                          </a:solidFill>
                          <a:latin typeface="Calibri"/>
                        </a:defRPr>
                      </a:pPr>
                      <a:r>
                        <a:t>Secondary?</a:t>
                      </a:r>
                    </a:p>
                  </a:txBody>
                  <a:tcPr>
                    <a:solidFill>
                      <a:srgbClr val="F5F6FA"/>
                    </a:solidFill>
                  </a:tcPr>
                </a:tc>
                <a:tc>
                  <a:txBody>
                    <a:bodyPr/>
                    <a:lstStyle/>
                    <a:p>
                      <a:pPr>
                        <a:defRPr sz="1000">
                          <a:solidFill>
                            <a:srgbClr val="1A1A1A"/>
                          </a:solidFill>
                          <a:latin typeface="Calibri"/>
                        </a:defRPr>
                      </a:pPr>
                      <a:r>
                        <a:t>Good CPA. Currently paused.</a:t>
                      </a:r>
                    </a:p>
                  </a:txBody>
                  <a:tcPr>
                    <a:solidFill>
                      <a:srgbClr val="F5F6FA"/>
                    </a:solidFill>
                  </a:tcPr>
                </a:tc>
              </a:tr>
              <a:tr h="365760">
                <a:tc>
                  <a:txBody>
                    <a:bodyPr/>
                    <a:lstStyle/>
                    <a:p>
                      <a:pPr>
                        <a:defRPr sz="1000">
                          <a:solidFill>
                            <a:srgbClr val="1A1A1A"/>
                          </a:solidFill>
                          <a:latin typeface="Calibri"/>
                        </a:defRPr>
                      </a:pPr>
                      <a:r>
                        <a:t>General Dentistry</a:t>
                      </a:r>
                    </a:p>
                  </a:txBody>
                  <a:tcPr>
                    <a:solidFill>
                      <a:srgbClr val="FFFFFF"/>
                    </a:solidFill>
                  </a:tcPr>
                </a:tc>
                <a:tc>
                  <a:txBody>
                    <a:bodyPr/>
                    <a:lstStyle/>
                    <a:p>
                      <a:pPr>
                        <a:defRPr sz="1000">
                          <a:solidFill>
                            <a:srgbClr val="1A1A1A"/>
                          </a:solidFill>
                          <a:latin typeface="Calibri"/>
                        </a:defRPr>
                      </a:pPr>
                      <a:r>
                        <a:t>£0 (paused)</a:t>
                      </a:r>
                    </a:p>
                  </a:txBody>
                  <a:tcPr>
                    <a:solidFill>
                      <a:srgbClr val="FFFFFF"/>
                    </a:solidFill>
                  </a:tcPr>
                </a:tc>
                <a:tc>
                  <a:txBody>
                    <a:bodyPr/>
                    <a:lstStyle/>
                    <a:p>
                      <a:pPr>
                        <a:defRPr sz="1000">
                          <a:solidFill>
                            <a:srgbClr val="1A1A1A"/>
                          </a:solidFill>
                          <a:latin typeface="Calibri"/>
                        </a:defRPr>
                      </a:pPr>
                      <a:r>
                        <a:t>£118 (when active)</a:t>
                      </a:r>
                    </a:p>
                  </a:txBody>
                  <a:tcPr>
                    <a:solidFill>
                      <a:srgbClr val="FFFFFF"/>
                    </a:solidFill>
                  </a:tcPr>
                </a:tc>
                <a:tc>
                  <a:txBody>
                    <a:bodyPr/>
                    <a:lstStyle/>
                    <a:p>
                      <a:pPr>
                        <a:defRPr sz="1000">
                          <a:solidFill>
                            <a:srgbClr val="1A1A1A"/>
                          </a:solidFill>
                          <a:latin typeface="Calibri"/>
                        </a:defRPr>
                      </a:pPr>
                      <a:r>
                        <a:t>Discuss</a:t>
                      </a:r>
                    </a:p>
                  </a:txBody>
                  <a:tcPr>
                    <a:solidFill>
                      <a:srgbClr val="FFFFFF"/>
                    </a:solidFill>
                  </a:tcPr>
                </a:tc>
                <a:tc>
                  <a:txBody>
                    <a:bodyPr/>
                    <a:lstStyle/>
                    <a:p>
                      <a:pPr>
                        <a:defRPr sz="1000">
                          <a:solidFill>
                            <a:srgbClr val="1A1A1A"/>
                          </a:solidFill>
                          <a:latin typeface="Calibri"/>
                        </a:defRPr>
                      </a:pPr>
                      <a:r>
                        <a:t>Gateway to implant patients?</a:t>
                      </a:r>
                    </a:p>
                  </a:txBody>
                  <a:tcPr>
                    <a:solidFill>
                      <a:srgbClr val="FFFFFF"/>
                    </a:solidFill>
                  </a:tcPr>
                </a:tc>
              </a:tr>
              <a:tr h="365760">
                <a:tc>
                  <a:txBody>
                    <a:bodyPr/>
                    <a:lstStyle/>
                    <a:p>
                      <a:pPr>
                        <a:defRPr sz="1000">
                          <a:solidFill>
                            <a:srgbClr val="1A1A1A"/>
                          </a:solidFill>
                          <a:latin typeface="Calibri"/>
                        </a:defRPr>
                      </a:pPr>
                      <a:r>
                        <a:t>Emergency Dental</a:t>
                      </a:r>
                    </a:p>
                  </a:txBody>
                  <a:tcPr>
                    <a:solidFill>
                      <a:srgbClr val="F5F6FA"/>
                    </a:solidFill>
                  </a:tcPr>
                </a:tc>
                <a:tc>
                  <a:txBody>
                    <a:bodyPr/>
                    <a:lstStyle/>
                    <a:p>
                      <a:pPr>
                        <a:defRPr sz="1000">
                          <a:solidFill>
                            <a:srgbClr val="1A1A1A"/>
                          </a:solidFill>
                          <a:latin typeface="Calibri"/>
                        </a:defRPr>
                      </a:pPr>
                      <a:r>
                        <a:t>£0</a:t>
                      </a:r>
                    </a:p>
                  </a:txBody>
                  <a:tcPr>
                    <a:solidFill>
                      <a:srgbClr val="F5F6FA"/>
                    </a:solidFill>
                  </a:tcPr>
                </a:tc>
                <a:tc>
                  <a:txBody>
                    <a:bodyPr/>
                    <a:lstStyle/>
                    <a:p>
                      <a:pPr>
                        <a:defRPr sz="1000">
                          <a:solidFill>
                            <a:srgbClr val="1A1A1A"/>
                          </a:solidFill>
                          <a:latin typeface="Calibri"/>
                        </a:defRPr>
                      </a:pPr>
                      <a:r>
                        <a:t>—</a:t>
                      </a:r>
                    </a:p>
                  </a:txBody>
                  <a:tcPr>
                    <a:solidFill>
                      <a:srgbClr val="F5F6FA"/>
                    </a:solidFill>
                  </a:tcPr>
                </a:tc>
                <a:tc>
                  <a:txBody>
                    <a:bodyPr/>
                    <a:lstStyle/>
                    <a:p>
                      <a:pPr>
                        <a:defRPr sz="1000">
                          <a:solidFill>
                            <a:srgbClr val="1A1A1A"/>
                          </a:solidFill>
                          <a:latin typeface="Calibri"/>
                        </a:defRPr>
                      </a:pPr>
                      <a:r>
                        <a:t>Discuss</a:t>
                      </a:r>
                    </a:p>
                  </a:txBody>
                  <a:tcPr>
                    <a:solidFill>
                      <a:srgbClr val="F5F6FA"/>
                    </a:solidFill>
                  </a:tcPr>
                </a:tc>
                <a:tc>
                  <a:txBody>
                    <a:bodyPr/>
                    <a:lstStyle/>
                    <a:p>
                      <a:pPr>
                        <a:defRPr sz="1000">
                          <a:solidFill>
                            <a:srgbClr val="1A1A1A"/>
                          </a:solidFill>
                          <a:latin typeface="Calibri"/>
                        </a:defRPr>
                      </a:pPr>
                      <a:r>
                        <a:t>Worth advertising?</a:t>
                      </a:r>
                    </a:p>
                  </a:txBody>
                  <a:tcPr>
                    <a:solidFill>
                      <a:srgbClr val="F5F6FA"/>
                    </a:solidFill>
                  </a:tcPr>
                </a:tc>
              </a:tr>
            </a:tbl>
          </a:graphicData>
        </a:graphic>
      </p:graphicFrame>
      <p:sp>
        <p:nvSpPr>
          <p:cNvPr id="11" name="Rectangle 10"/>
          <p:cNvSpPr/>
          <p:nvPr/>
        </p:nvSpPr>
        <p:spPr>
          <a:xfrm>
            <a:off x="7680960" y="1097280"/>
            <a:ext cx="3931920" cy="292608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1097280"/>
            <a:ext cx="54864" cy="29260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188720"/>
            <a:ext cx="3566160" cy="274320"/>
          </a:xfrm>
          <a:prstGeom prst="rect">
            <a:avLst/>
          </a:prstGeom>
          <a:noFill/>
        </p:spPr>
        <p:txBody>
          <a:bodyPr wrap="square">
            <a:spAutoFit/>
          </a:bodyPr>
          <a:lstStyle/>
          <a:p>
            <a:pPr algn="l"/>
            <a:r>
              <a:rPr sz="1400" b="1">
                <a:solidFill>
                  <a:srgbClr val="1A237E"/>
                </a:solidFill>
                <a:latin typeface="Calibri"/>
              </a:rPr>
              <a:t>Questions for the Call</a:t>
            </a:r>
          </a:p>
        </p:txBody>
      </p:sp>
      <p:sp>
        <p:nvSpPr>
          <p:cNvPr id="14" name="TextBox 13"/>
          <p:cNvSpPr txBox="1"/>
          <p:nvPr/>
        </p:nvSpPr>
        <p:spPr>
          <a:xfrm>
            <a:off x="7909560" y="1463040"/>
            <a:ext cx="3566160" cy="2468880"/>
          </a:xfrm>
          <a:prstGeom prst="rect">
            <a:avLst/>
          </a:prstGeom>
          <a:noFill/>
        </p:spPr>
        <p:txBody>
          <a:bodyPr wrap="square">
            <a:spAutoFit/>
          </a:bodyPr>
          <a:lstStyle/>
          <a:p>
            <a:pPr algn="l"/>
            <a:r>
              <a:rPr sz="1100" b="0">
                <a:solidFill>
                  <a:srgbClr val="1A1A1A"/>
                </a:solidFill>
                <a:latin typeface="Calibri"/>
              </a:rPr>
              <a:t>1. Rank these services by profitability — which puts the most revenue per chair-hour?
2. Should Vivo Bridge be a separate campaign or a USP within implants?
3. Appetite to restart Invisalign?
4. General dentistry / emergency — worth advertising?
5. Any NEW services launching?
6. Which services have the longest waiting list?</a:t>
            </a:r>
          </a:p>
        </p:txBody>
      </p:sp>
      <p:sp>
        <p:nvSpPr>
          <p:cNvPr id="15" name="Rectangle 14"/>
          <p:cNvSpPr/>
          <p:nvPr/>
        </p:nvSpPr>
        <p:spPr>
          <a:xfrm>
            <a:off x="548640" y="4206240"/>
            <a:ext cx="1106424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06240"/>
            <a:ext cx="54864" cy="164592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297680"/>
            <a:ext cx="10698480" cy="274320"/>
          </a:xfrm>
          <a:prstGeom prst="rect">
            <a:avLst/>
          </a:prstGeom>
          <a:noFill/>
        </p:spPr>
        <p:txBody>
          <a:bodyPr wrap="square">
            <a:spAutoFit/>
          </a:bodyPr>
          <a:lstStyle/>
          <a:p>
            <a:pPr algn="l"/>
            <a:r>
              <a:rPr sz="1400" b="1">
                <a:solidFill>
                  <a:srgbClr val="1A237E"/>
                </a:solidFill>
                <a:latin typeface="Calibri"/>
              </a:rPr>
              <a:t>Answers (To Complete on Call)</a:t>
            </a:r>
          </a:p>
        </p:txBody>
      </p:sp>
      <p:sp>
        <p:nvSpPr>
          <p:cNvPr id="18" name="TextBox 17"/>
          <p:cNvSpPr txBox="1"/>
          <p:nvPr/>
        </p:nvSpPr>
        <p:spPr>
          <a:xfrm>
            <a:off x="777240" y="4572000"/>
            <a:ext cx="10698480" cy="1188720"/>
          </a:xfrm>
          <a:prstGeom prst="rect">
            <a:avLst/>
          </a:prstGeom>
          <a:noFill/>
        </p:spPr>
        <p:txBody>
          <a:bodyPr wrap="square">
            <a:spAutoFit/>
          </a:bodyPr>
          <a:lstStyle/>
          <a:p>
            <a:pPr algn="l"/>
            <a:r>
              <a:rPr sz="1100" b="0">
                <a:solidFill>
                  <a:srgbClr val="1A1A1A"/>
                </a:solidFill>
                <a:latin typeface="Calibri"/>
              </a:rPr>
              <a:t>
</a:t>
            </a:r>
          </a:p>
        </p:txBody>
      </p:sp>
      <p:sp>
        <p:nvSpPr>
          <p:cNvPr id="19" name="Rectangle 18"/>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4" name="TextBox 23"/>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5" name="TextBox 24"/>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Business Goals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What does success look like?</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4 of 10</a:t>
            </a:r>
          </a:p>
        </p:txBody>
      </p:sp>
      <p:sp>
        <p:nvSpPr>
          <p:cNvPr id="10" name="Rectangle 9"/>
          <p:cNvSpPr/>
          <p:nvPr/>
        </p:nvSpPr>
        <p:spPr>
          <a:xfrm>
            <a:off x="548640" y="1097280"/>
            <a:ext cx="5303520" cy="27432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27432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188720"/>
            <a:ext cx="4937760" cy="274320"/>
          </a:xfrm>
          <a:prstGeom prst="rect">
            <a:avLst/>
          </a:prstGeom>
          <a:noFill/>
        </p:spPr>
        <p:txBody>
          <a:bodyPr wrap="square">
            <a:spAutoFit/>
          </a:bodyPr>
          <a:lstStyle/>
          <a:p>
            <a:pPr algn="l"/>
            <a:r>
              <a:rPr sz="1400" b="1">
                <a:solidFill>
                  <a:srgbClr val="1A237E"/>
                </a:solidFill>
                <a:latin typeface="Calibri"/>
              </a:rPr>
              <a:t>Questions for the Call</a:t>
            </a:r>
          </a:p>
        </p:txBody>
      </p:sp>
      <p:sp>
        <p:nvSpPr>
          <p:cNvPr id="13" name="TextBox 12"/>
          <p:cNvSpPr txBox="1"/>
          <p:nvPr/>
        </p:nvSpPr>
        <p:spPr>
          <a:xfrm>
            <a:off x="777240" y="1463040"/>
            <a:ext cx="4937760" cy="2286000"/>
          </a:xfrm>
          <a:prstGeom prst="rect">
            <a:avLst/>
          </a:prstGeom>
          <a:noFill/>
        </p:spPr>
        <p:txBody>
          <a:bodyPr wrap="square">
            <a:spAutoFit/>
          </a:bodyPr>
          <a:lstStyle/>
          <a:p>
            <a:pPr algn="l"/>
            <a:r>
              <a:rPr sz="1100" b="0">
                <a:solidFill>
                  <a:srgbClr val="1A1A1A"/>
                </a:solidFill>
                <a:latin typeface="Calibri"/>
              </a:rPr>
              <a:t>1. Primary goal right now — more leads, better quality leads, or lower cost per lead?
2. Is there a monthly patient acquisition target? (e.g. “50 new implant patients/month”)
3. What does “success” look like in 90 days? (Specific number.)
4. Are there revenue targets tied to marketing?
5. Is £54K/month the budget ceiling, or would you scale up if CPA hits target?
6. What's the growth plan for the next 12 months?</a:t>
            </a:r>
          </a:p>
        </p:txBody>
      </p:sp>
      <p:sp>
        <p:nvSpPr>
          <p:cNvPr id="14" name="Rectangle 13"/>
          <p:cNvSpPr/>
          <p:nvPr/>
        </p:nvSpPr>
        <p:spPr>
          <a:xfrm>
            <a:off x="6217920" y="1097280"/>
            <a:ext cx="5303520" cy="27432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097280"/>
            <a:ext cx="54864" cy="27432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188720"/>
            <a:ext cx="4937760" cy="274320"/>
          </a:xfrm>
          <a:prstGeom prst="rect">
            <a:avLst/>
          </a:prstGeom>
          <a:noFill/>
        </p:spPr>
        <p:txBody>
          <a:bodyPr wrap="square">
            <a:spAutoFit/>
          </a:bodyPr>
          <a:lstStyle/>
          <a:p>
            <a:pPr algn="l"/>
            <a:r>
              <a:rPr sz="1400" b="1">
                <a:solidFill>
                  <a:srgbClr val="1A237E"/>
                </a:solidFill>
                <a:latin typeface="Calibri"/>
              </a:rPr>
              <a:t>What We Already Know</a:t>
            </a:r>
          </a:p>
        </p:txBody>
      </p:sp>
      <p:sp>
        <p:nvSpPr>
          <p:cNvPr id="17" name="TextBox 16"/>
          <p:cNvSpPr txBox="1"/>
          <p:nvPr/>
        </p:nvSpPr>
        <p:spPr>
          <a:xfrm>
            <a:off x="6446520" y="1463040"/>
            <a:ext cx="4937760" cy="2286000"/>
          </a:xfrm>
          <a:prstGeom prst="rect">
            <a:avLst/>
          </a:prstGeom>
          <a:noFill/>
        </p:spPr>
        <p:txBody>
          <a:bodyPr wrap="square">
            <a:spAutoFit/>
          </a:bodyPr>
          <a:lstStyle/>
          <a:p>
            <a:pPr algn="l"/>
            <a:r>
              <a:rPr sz="1100" b="0">
                <a:solidFill>
                  <a:srgbClr val="1A1A1A"/>
                </a:solidFill>
                <a:latin typeface="Calibri"/>
              </a:rPr>
              <a:t>Current state (2026 Q1):
• Monthly spend: ~£54,000
• Non-brand CPA: £64
• ~820 non-brand leads/month
• Real booking CPA: £418 (PMax)
• Lead-to-booking rate: 13.3%
Our proposed targets (from Report 3):
• Non-brand CPA target: £50
• +236 additional leads/month OR £12K/month saving</a:t>
            </a:r>
          </a:p>
        </p:txBody>
      </p:sp>
      <p:sp>
        <p:nvSpPr>
          <p:cNvPr id="18" name="Rectangle 17"/>
          <p:cNvSpPr/>
          <p:nvPr/>
        </p:nvSpPr>
        <p:spPr>
          <a:xfrm>
            <a:off x="548640" y="4023360"/>
            <a:ext cx="1106424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023360"/>
            <a:ext cx="54864" cy="182880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114800"/>
            <a:ext cx="10698480" cy="274320"/>
          </a:xfrm>
          <a:prstGeom prst="rect">
            <a:avLst/>
          </a:prstGeom>
          <a:noFill/>
        </p:spPr>
        <p:txBody>
          <a:bodyPr wrap="square">
            <a:spAutoFit/>
          </a:bodyPr>
          <a:lstStyle/>
          <a:p>
            <a:pPr algn="l"/>
            <a:r>
              <a:rPr sz="1400" b="1">
                <a:solidFill>
                  <a:srgbClr val="1A237E"/>
                </a:solidFill>
                <a:latin typeface="Calibri"/>
              </a:rPr>
              <a:t>Answers (To Complete on Call)</a:t>
            </a:r>
          </a:p>
        </p:txBody>
      </p:sp>
      <p:sp>
        <p:nvSpPr>
          <p:cNvPr id="21" name="TextBox 20"/>
          <p:cNvSpPr txBox="1"/>
          <p:nvPr/>
        </p:nvSpPr>
        <p:spPr>
          <a:xfrm>
            <a:off x="777240" y="4389120"/>
            <a:ext cx="10698480" cy="1371600"/>
          </a:xfrm>
          <a:prstGeom prst="rect">
            <a:avLst/>
          </a:prstGeom>
          <a:noFill/>
        </p:spPr>
        <p:txBody>
          <a:bodyPr wrap="square">
            <a:spAutoFit/>
          </a:bodyPr>
          <a:lstStyle/>
          <a:p>
            <a:pPr algn="l"/>
            <a:r>
              <a:rPr sz="1100" b="0">
                <a:solidFill>
                  <a:srgbClr val="1A1A1A"/>
                </a:solidFill>
                <a:latin typeface="Calibri"/>
              </a:rPr>
              <a:t>
</a:t>
            </a:r>
          </a:p>
        </p:txBody>
      </p:sp>
      <p:sp>
        <p:nvSpPr>
          <p:cNvPr id="22" name="Rectangle 2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7" name="TextBox 2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8" name="TextBox 2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Seasonality &amp; Busy/Quiet Periods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Understanding demand patterns to optimise budget pacing</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5 of 10</a:t>
            </a:r>
          </a:p>
        </p:txBody>
      </p:sp>
      <p:sp>
        <p:nvSpPr>
          <p:cNvPr id="10" name="Rectangle 9"/>
          <p:cNvSpPr/>
          <p:nvPr/>
        </p:nvSpPr>
        <p:spPr>
          <a:xfrm>
            <a:off x="548640" y="1097280"/>
            <a:ext cx="530352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2286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188720"/>
            <a:ext cx="4937760" cy="274320"/>
          </a:xfrm>
          <a:prstGeom prst="rect">
            <a:avLst/>
          </a:prstGeom>
          <a:noFill/>
        </p:spPr>
        <p:txBody>
          <a:bodyPr wrap="square">
            <a:spAutoFit/>
          </a:bodyPr>
          <a:lstStyle/>
          <a:p>
            <a:pPr algn="l"/>
            <a:r>
              <a:rPr sz="1400" b="1">
                <a:solidFill>
                  <a:srgbClr val="1A237E"/>
                </a:solidFill>
                <a:latin typeface="Calibri"/>
              </a:rPr>
              <a:t>Questions for the Call</a:t>
            </a:r>
          </a:p>
        </p:txBody>
      </p:sp>
      <p:sp>
        <p:nvSpPr>
          <p:cNvPr id="13" name="TextBox 12"/>
          <p:cNvSpPr txBox="1"/>
          <p:nvPr/>
        </p:nvSpPr>
        <p:spPr>
          <a:xfrm>
            <a:off x="777240" y="1463040"/>
            <a:ext cx="4937760" cy="1828800"/>
          </a:xfrm>
          <a:prstGeom prst="rect">
            <a:avLst/>
          </a:prstGeom>
          <a:noFill/>
        </p:spPr>
        <p:txBody>
          <a:bodyPr wrap="square">
            <a:spAutoFit/>
          </a:bodyPr>
          <a:lstStyle/>
          <a:p>
            <a:pPr algn="l"/>
            <a:r>
              <a:rPr sz="1100" b="0">
                <a:solidFill>
                  <a:srgbClr val="1A1A1A"/>
                </a:solidFill>
                <a:latin typeface="Calibri"/>
              </a:rPr>
              <a:t>1. Which months are busiest for implant enquiries? (Jan/New Year resolutions? Post-summer?)
2. Is there a seasonal pattern to consultations vs treatments? (e.g. enquire in Jan, book in Mar)
3. Any quiet periods where we should reduce spend? (August? Christmas?)
4. Do you run seasonal promotions? (January offers, Black Friday?)
5. How far in advance do patients typically book?</a:t>
            </a:r>
          </a:p>
        </p:txBody>
      </p:sp>
      <p:sp>
        <p:nvSpPr>
          <p:cNvPr id="14" name="Rectangle 13"/>
          <p:cNvSpPr/>
          <p:nvPr/>
        </p:nvSpPr>
        <p:spPr>
          <a:xfrm>
            <a:off x="6217920" y="1097280"/>
            <a:ext cx="5303520" cy="2286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097280"/>
            <a:ext cx="54864"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188720"/>
            <a:ext cx="4937760" cy="274320"/>
          </a:xfrm>
          <a:prstGeom prst="rect">
            <a:avLst/>
          </a:prstGeom>
          <a:noFill/>
        </p:spPr>
        <p:txBody>
          <a:bodyPr wrap="square">
            <a:spAutoFit/>
          </a:bodyPr>
          <a:lstStyle/>
          <a:p>
            <a:pPr algn="l"/>
            <a:r>
              <a:rPr sz="1400" b="1">
                <a:solidFill>
                  <a:srgbClr val="1A237E"/>
                </a:solidFill>
                <a:latin typeface="Calibri"/>
              </a:rPr>
              <a:t>What the Data Shows</a:t>
            </a:r>
          </a:p>
        </p:txBody>
      </p:sp>
      <p:sp>
        <p:nvSpPr>
          <p:cNvPr id="17" name="TextBox 16"/>
          <p:cNvSpPr txBox="1"/>
          <p:nvPr/>
        </p:nvSpPr>
        <p:spPr>
          <a:xfrm>
            <a:off x="6446520" y="1463040"/>
            <a:ext cx="4937760" cy="1828800"/>
          </a:xfrm>
          <a:prstGeom prst="rect">
            <a:avLst/>
          </a:prstGeom>
          <a:noFill/>
        </p:spPr>
        <p:txBody>
          <a:bodyPr wrap="square">
            <a:spAutoFit/>
          </a:bodyPr>
          <a:lstStyle/>
          <a:p>
            <a:pPr algn="l"/>
            <a:r>
              <a:rPr sz="1100" b="0">
                <a:solidFill>
                  <a:srgbClr val="1A1A1A"/>
                </a:solidFill>
                <a:latin typeface="Calibri"/>
              </a:rPr>
              <a:t>From the account data (2025-2026):
• Spend ramped significantly from Sep 2025 (£20K/month) to Jan 2026 (£55K/month)
• CPA was lowest in Sep-Oct 2025 (when PMax launched)
• CPA has been rising since Jan 2026 as spend scaled
• No clear seasonal pattern visible yet in the ad data — but the business will know their demand cycles better than the data shows</a:t>
            </a:r>
          </a:p>
        </p:txBody>
      </p:sp>
      <p:sp>
        <p:nvSpPr>
          <p:cNvPr id="18" name="Rectangle 17"/>
          <p:cNvSpPr/>
          <p:nvPr/>
        </p:nvSpPr>
        <p:spPr>
          <a:xfrm>
            <a:off x="548640" y="3566160"/>
            <a:ext cx="1106424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66160"/>
            <a:ext cx="54864" cy="228600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657600"/>
            <a:ext cx="10698480" cy="274320"/>
          </a:xfrm>
          <a:prstGeom prst="rect">
            <a:avLst/>
          </a:prstGeom>
          <a:noFill/>
        </p:spPr>
        <p:txBody>
          <a:bodyPr wrap="square">
            <a:spAutoFit/>
          </a:bodyPr>
          <a:lstStyle/>
          <a:p>
            <a:pPr algn="l"/>
            <a:r>
              <a:rPr sz="1400" b="1">
                <a:solidFill>
                  <a:srgbClr val="1A237E"/>
                </a:solidFill>
                <a:latin typeface="Calibri"/>
              </a:rPr>
              <a:t>Answers (To Complete on Call)</a:t>
            </a:r>
          </a:p>
        </p:txBody>
      </p:sp>
      <p:sp>
        <p:nvSpPr>
          <p:cNvPr id="21" name="TextBox 20"/>
          <p:cNvSpPr txBox="1"/>
          <p:nvPr/>
        </p:nvSpPr>
        <p:spPr>
          <a:xfrm>
            <a:off x="777240" y="3931920"/>
            <a:ext cx="10698480" cy="1828800"/>
          </a:xfrm>
          <a:prstGeom prst="rect">
            <a:avLst/>
          </a:prstGeom>
          <a:noFill/>
        </p:spPr>
        <p:txBody>
          <a:bodyPr wrap="square">
            <a:spAutoFit/>
          </a:bodyPr>
          <a:lstStyle/>
          <a:p>
            <a:pPr algn="l"/>
            <a:r>
              <a:rPr sz="1100" b="0">
                <a:solidFill>
                  <a:srgbClr val="1A1A1A"/>
                </a:solidFill>
                <a:latin typeface="Calibri"/>
              </a:rPr>
              <a:t>
</a:t>
            </a:r>
          </a:p>
        </p:txBody>
      </p:sp>
      <p:sp>
        <p:nvSpPr>
          <p:cNvPr id="22" name="Rectangle 2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7" name="TextBox 2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8" name="TextBox 2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Target KPIs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Pre-filled from audit reports — validate and agree on the call</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6 of 10</a:t>
            </a:r>
          </a:p>
        </p:txBody>
      </p:sp>
      <p:graphicFrame>
        <p:nvGraphicFramePr>
          <p:cNvPr id="10" name="Table 9"/>
          <p:cNvGraphicFramePr>
            <a:graphicFrameLocks noGrp="1"/>
          </p:cNvGraphicFramePr>
          <p:nvPr/>
        </p:nvGraphicFramePr>
        <p:xfrm>
          <a:off x="548640" y="1097280"/>
          <a:ext cx="6858000" cy="2560320"/>
        </p:xfrm>
        <a:graphic>
          <a:graphicData uri="http://schemas.openxmlformats.org/drawingml/2006/table">
            <a:tbl>
              <a:tblPr firstRow="1" bandRow="1">
                <a:tableStyleId>{5C22544A-7EE6-4342-B048-85BDC9FD1C3A}</a:tableStyleId>
              </a:tblPr>
              <a:tblGrid>
                <a:gridCol w="1828800"/>
                <a:gridCol w="1371600"/>
                <a:gridCol w="1371600"/>
                <a:gridCol w="2286000"/>
              </a:tblGrid>
              <a:tr h="365760">
                <a:tc>
                  <a:txBody>
                    <a:bodyPr/>
                    <a:lstStyle/>
                    <a:p>
                      <a:pPr>
                        <a:defRPr sz="1000" b="1">
                          <a:solidFill>
                            <a:srgbClr val="FFFFFF"/>
                          </a:solidFill>
                          <a:latin typeface="Calibri"/>
                        </a:defRPr>
                      </a:pPr>
                      <a:r>
                        <a:t>KPI</a:t>
                      </a:r>
                    </a:p>
                  </a:txBody>
                  <a:tcPr>
                    <a:solidFill>
                      <a:srgbClr val="1A237E"/>
                    </a:solidFill>
                  </a:tcPr>
                </a:tc>
                <a:tc>
                  <a:txBody>
                    <a:bodyPr/>
                    <a:lstStyle/>
                    <a:p>
                      <a:pPr>
                        <a:defRPr sz="1000" b="1">
                          <a:solidFill>
                            <a:srgbClr val="FFFFFF"/>
                          </a:solidFill>
                          <a:latin typeface="Calibri"/>
                        </a:defRPr>
                      </a:pPr>
                      <a:r>
                        <a:t>Current (2026 Q1)</a:t>
                      </a:r>
                    </a:p>
                  </a:txBody>
                  <a:tcPr>
                    <a:solidFill>
                      <a:srgbClr val="1A237E"/>
                    </a:solidFill>
                  </a:tcPr>
                </a:tc>
                <a:tc>
                  <a:txBody>
                    <a:bodyPr/>
                    <a:lstStyle/>
                    <a:p>
                      <a:pPr>
                        <a:defRPr sz="1000" b="1">
                          <a:solidFill>
                            <a:srgbClr val="FFFFFF"/>
                          </a:solidFill>
                          <a:latin typeface="Calibri"/>
                        </a:defRPr>
                      </a:pPr>
                      <a:r>
                        <a:t>Proposed Target</a:t>
                      </a:r>
                    </a:p>
                  </a:txBody>
                  <a:tcPr>
                    <a:solidFill>
                      <a:srgbClr val="1A237E"/>
                    </a:solidFill>
                  </a:tcPr>
                </a:tc>
                <a:tc>
                  <a:txBody>
                    <a:bodyPr/>
                    <a:lstStyle/>
                    <a:p>
                      <a:pPr>
                        <a:defRPr sz="1000" b="1">
                          <a:solidFill>
                            <a:srgbClr val="FFFFFF"/>
                          </a:solidFill>
                          <a:latin typeface="Calibri"/>
                        </a:defRPr>
                      </a:pPr>
                      <a:r>
                        <a:t>Basis</a:t>
                      </a:r>
                    </a:p>
                  </a:txBody>
                  <a:tcPr>
                    <a:solidFill>
                      <a:srgbClr val="1A237E"/>
                    </a:solidFill>
                  </a:tcPr>
                </a:tc>
              </a:tr>
              <a:tr h="365760">
                <a:tc>
                  <a:txBody>
                    <a:bodyPr/>
                    <a:lstStyle/>
                    <a:p>
                      <a:pPr>
                        <a:defRPr sz="1000">
                          <a:solidFill>
                            <a:srgbClr val="1A1A1A"/>
                          </a:solidFill>
                          <a:latin typeface="Calibri"/>
                        </a:defRPr>
                      </a:pPr>
                      <a:r>
                        <a:t>Non-brand CPA</a:t>
                      </a:r>
                    </a:p>
                  </a:txBody>
                  <a:tcPr>
                    <a:solidFill>
                      <a:srgbClr val="F5F6FA"/>
                    </a:solidFill>
                  </a:tcPr>
                </a:tc>
                <a:tc>
                  <a:txBody>
                    <a:bodyPr/>
                    <a:lstStyle/>
                    <a:p>
                      <a:pPr>
                        <a:defRPr sz="1000">
                          <a:solidFill>
                            <a:srgbClr val="1A1A1A"/>
                          </a:solidFill>
                          <a:latin typeface="Calibri"/>
                        </a:defRPr>
                      </a:pPr>
                      <a:r>
                        <a:t>£64</a:t>
                      </a:r>
                    </a:p>
                  </a:txBody>
                  <a:tcPr>
                    <a:solidFill>
                      <a:srgbClr val="F5F6FA"/>
                    </a:solidFill>
                  </a:tcPr>
                </a:tc>
                <a:tc>
                  <a:txBody>
                    <a:bodyPr/>
                    <a:lstStyle/>
                    <a:p>
                      <a:pPr>
                        <a:defRPr sz="1000">
                          <a:solidFill>
                            <a:srgbClr val="1A1A1A"/>
                          </a:solidFill>
                          <a:latin typeface="Calibri"/>
                        </a:defRPr>
                      </a:pPr>
                      <a:r>
                        <a:t>£50</a:t>
                      </a:r>
                    </a:p>
                  </a:txBody>
                  <a:tcPr>
                    <a:solidFill>
                      <a:srgbClr val="F5F6FA"/>
                    </a:solidFill>
                  </a:tcPr>
                </a:tc>
                <a:tc>
                  <a:txBody>
                    <a:bodyPr/>
                    <a:lstStyle/>
                    <a:p>
                      <a:pPr>
                        <a:defRPr sz="1000">
                          <a:solidFill>
                            <a:srgbClr val="1A1A1A"/>
                          </a:solidFill>
                          <a:latin typeface="Calibri"/>
                        </a:defRPr>
                      </a:pPr>
                      <a:r>
                        <a:t>Report 3 projection</a:t>
                      </a:r>
                    </a:p>
                  </a:txBody>
                  <a:tcPr>
                    <a:solidFill>
                      <a:srgbClr val="F5F6FA"/>
                    </a:solidFill>
                  </a:tcPr>
                </a:tc>
              </a:tr>
              <a:tr h="365760">
                <a:tc>
                  <a:txBody>
                    <a:bodyPr/>
                    <a:lstStyle/>
                    <a:p>
                      <a:pPr>
                        <a:defRPr sz="1000">
                          <a:solidFill>
                            <a:srgbClr val="1A1A1A"/>
                          </a:solidFill>
                          <a:latin typeface="Calibri"/>
                        </a:defRPr>
                      </a:pPr>
                      <a:r>
                        <a:t>Monthly spend</a:t>
                      </a:r>
                    </a:p>
                  </a:txBody>
                  <a:tcPr>
                    <a:solidFill>
                      <a:srgbClr val="FFFFFF"/>
                    </a:solidFill>
                  </a:tcPr>
                </a:tc>
                <a:tc>
                  <a:txBody>
                    <a:bodyPr/>
                    <a:lstStyle/>
                    <a:p>
                      <a:pPr>
                        <a:defRPr sz="1000">
                          <a:solidFill>
                            <a:srgbClr val="1A1A1A"/>
                          </a:solidFill>
                          <a:latin typeface="Calibri"/>
                        </a:defRPr>
                      </a:pPr>
                      <a:r>
                        <a:t>~£54,000</a:t>
                      </a:r>
                    </a:p>
                  </a:txBody>
                  <a:tcPr>
                    <a:solidFill>
                      <a:srgbClr val="FFFFFF"/>
                    </a:solidFill>
                  </a:tcPr>
                </a:tc>
                <a:tc>
                  <a:txBody>
                    <a:bodyPr/>
                    <a:lstStyle/>
                    <a:p>
                      <a:pPr>
                        <a:defRPr sz="1000">
                          <a:solidFill>
                            <a:srgbClr val="1A1A1A"/>
                          </a:solidFill>
                          <a:latin typeface="Calibri"/>
                        </a:defRPr>
                      </a:pPr>
                      <a:r>
                        <a:t>Maintain</a:t>
                      </a:r>
                    </a:p>
                  </a:txBody>
                  <a:tcPr>
                    <a:solidFill>
                      <a:srgbClr val="FFFFFF"/>
                    </a:solidFill>
                  </a:tcPr>
                </a:tc>
                <a:tc>
                  <a:txBody>
                    <a:bodyPr/>
                    <a:lstStyle/>
                    <a:p>
                      <a:pPr>
                        <a:defRPr sz="1000">
                          <a:solidFill>
                            <a:srgbClr val="1A1A1A"/>
                          </a:solidFill>
                          <a:latin typeface="Calibri"/>
                        </a:defRPr>
                      </a:pPr>
                      <a:r>
                        <a:t>—</a:t>
                      </a:r>
                    </a:p>
                  </a:txBody>
                  <a:tcPr>
                    <a:solidFill>
                      <a:srgbClr val="FFFFFF"/>
                    </a:solidFill>
                  </a:tcPr>
                </a:tc>
              </a:tr>
              <a:tr h="365760">
                <a:tc>
                  <a:txBody>
                    <a:bodyPr/>
                    <a:lstStyle/>
                    <a:p>
                      <a:pPr>
                        <a:defRPr sz="1000">
                          <a:solidFill>
                            <a:srgbClr val="1A1A1A"/>
                          </a:solidFill>
                          <a:latin typeface="Calibri"/>
                        </a:defRPr>
                      </a:pPr>
                      <a:r>
                        <a:t>Monthly non-brand leads</a:t>
                      </a:r>
                    </a:p>
                  </a:txBody>
                  <a:tcPr>
                    <a:solidFill>
                      <a:srgbClr val="F5F6FA"/>
                    </a:solidFill>
                  </a:tcPr>
                </a:tc>
                <a:tc>
                  <a:txBody>
                    <a:bodyPr/>
                    <a:lstStyle/>
                    <a:p>
                      <a:pPr>
                        <a:defRPr sz="1000">
                          <a:solidFill>
                            <a:srgbClr val="1A1A1A"/>
                          </a:solidFill>
                          <a:latin typeface="Calibri"/>
                        </a:defRPr>
                      </a:pPr>
                      <a:r>
                        <a:t>~820</a:t>
                      </a:r>
                    </a:p>
                  </a:txBody>
                  <a:tcPr>
                    <a:solidFill>
                      <a:srgbClr val="F5F6FA"/>
                    </a:solidFill>
                  </a:tcPr>
                </a:tc>
                <a:tc>
                  <a:txBody>
                    <a:bodyPr/>
                    <a:lstStyle/>
                    <a:p>
                      <a:pPr>
                        <a:defRPr sz="1000">
                          <a:solidFill>
                            <a:srgbClr val="1A1A1A"/>
                          </a:solidFill>
                          <a:latin typeface="Calibri"/>
                        </a:defRPr>
                      </a:pPr>
                      <a:r>
                        <a:t>~1,050 (+29%)</a:t>
                      </a:r>
                    </a:p>
                  </a:txBody>
                  <a:tcPr>
                    <a:solidFill>
                      <a:srgbClr val="F5F6FA"/>
                    </a:solidFill>
                  </a:tcPr>
                </a:tc>
                <a:tc>
                  <a:txBody>
                    <a:bodyPr/>
                    <a:lstStyle/>
                    <a:p>
                      <a:pPr>
                        <a:defRPr sz="1000">
                          <a:solidFill>
                            <a:srgbClr val="1A1A1A"/>
                          </a:solidFill>
                          <a:latin typeface="Calibri"/>
                        </a:defRPr>
                      </a:pPr>
                      <a:r>
                        <a:t>Same spend, lower CPA</a:t>
                      </a:r>
                    </a:p>
                  </a:txBody>
                  <a:tcPr>
                    <a:solidFill>
                      <a:srgbClr val="F5F6FA"/>
                    </a:solidFill>
                  </a:tcPr>
                </a:tc>
              </a:tr>
              <a:tr h="365760">
                <a:tc>
                  <a:txBody>
                    <a:bodyPr/>
                    <a:lstStyle/>
                    <a:p>
                      <a:pPr>
                        <a:defRPr sz="1000">
                          <a:solidFill>
                            <a:srgbClr val="1A1A1A"/>
                          </a:solidFill>
                          <a:latin typeface="Calibri"/>
                        </a:defRPr>
                      </a:pPr>
                      <a:r>
                        <a:t>Cost per booked patient</a:t>
                      </a:r>
                    </a:p>
                  </a:txBody>
                  <a:tcPr>
                    <a:solidFill>
                      <a:srgbClr val="FFFFFF"/>
                    </a:solidFill>
                  </a:tcPr>
                </a:tc>
                <a:tc>
                  <a:txBody>
                    <a:bodyPr/>
                    <a:lstStyle/>
                    <a:p>
                      <a:pPr>
                        <a:defRPr sz="1000">
                          <a:solidFill>
                            <a:srgbClr val="1A1A1A"/>
                          </a:solidFill>
                          <a:latin typeface="Calibri"/>
                        </a:defRPr>
                      </a:pPr>
                      <a:r>
                        <a:t>£418 (PMax)</a:t>
                      </a:r>
                    </a:p>
                  </a:txBody>
                  <a:tcPr>
                    <a:solidFill>
                      <a:srgbClr val="FFFFFF"/>
                    </a:solidFill>
                  </a:tcPr>
                </a:tc>
                <a:tc>
                  <a:txBody>
                    <a:bodyPr/>
                    <a:lstStyle/>
                    <a:p>
                      <a:pPr>
                        <a:defRPr sz="1000">
                          <a:solidFill>
                            <a:srgbClr val="1A1A1A"/>
                          </a:solidFill>
                          <a:latin typeface="Calibri"/>
                        </a:defRPr>
                      </a:pPr>
                      <a:r>
                        <a:t>£200 target</a:t>
                      </a:r>
                    </a:p>
                  </a:txBody>
                  <a:tcPr>
                    <a:solidFill>
                      <a:srgbClr val="FFFFFF"/>
                    </a:solidFill>
                  </a:tcPr>
                </a:tc>
                <a:tc>
                  <a:txBody>
                    <a:bodyPr/>
                    <a:lstStyle/>
                    <a:p>
                      <a:pPr>
                        <a:defRPr sz="1000">
                          <a:solidFill>
                            <a:srgbClr val="1A1A1A"/>
                          </a:solidFill>
                          <a:latin typeface="Calibri"/>
                        </a:defRPr>
                      </a:pPr>
                      <a:r>
                        <a:t>Search migration</a:t>
                      </a:r>
                    </a:p>
                  </a:txBody>
                  <a:tcPr>
                    <a:solidFill>
                      <a:srgbClr val="FFFFFF"/>
                    </a:solidFill>
                  </a:tcPr>
                </a:tc>
              </a:tr>
              <a:tr h="365760">
                <a:tc>
                  <a:txBody>
                    <a:bodyPr/>
                    <a:lstStyle/>
                    <a:p>
                      <a:pPr>
                        <a:defRPr sz="1000">
                          <a:solidFill>
                            <a:srgbClr val="1A1A1A"/>
                          </a:solidFill>
                          <a:latin typeface="Calibri"/>
                        </a:defRPr>
                      </a:pPr>
                      <a:r>
                        <a:t>Lead-to-booking rate</a:t>
                      </a:r>
                    </a:p>
                  </a:txBody>
                  <a:tcPr>
                    <a:solidFill>
                      <a:srgbClr val="F5F6FA"/>
                    </a:solidFill>
                  </a:tcPr>
                </a:tc>
                <a:tc>
                  <a:txBody>
                    <a:bodyPr/>
                    <a:lstStyle/>
                    <a:p>
                      <a:pPr>
                        <a:defRPr sz="1000">
                          <a:solidFill>
                            <a:srgbClr val="1A1A1A"/>
                          </a:solidFill>
                          <a:latin typeface="Calibri"/>
                        </a:defRPr>
                      </a:pPr>
                      <a:r>
                        <a:t>13.3%</a:t>
                      </a:r>
                    </a:p>
                  </a:txBody>
                  <a:tcPr>
                    <a:solidFill>
                      <a:srgbClr val="F5F6FA"/>
                    </a:solidFill>
                  </a:tcPr>
                </a:tc>
                <a:tc>
                  <a:txBody>
                    <a:bodyPr/>
                    <a:lstStyle/>
                    <a:p>
                      <a:pPr>
                        <a:defRPr sz="1000">
                          <a:solidFill>
                            <a:srgbClr val="1A1A1A"/>
                          </a:solidFill>
                          <a:latin typeface="Calibri"/>
                        </a:defRPr>
                      </a:pPr>
                      <a:r>
                        <a:t>20%+ target</a:t>
                      </a:r>
                    </a:p>
                  </a:txBody>
                  <a:tcPr>
                    <a:solidFill>
                      <a:srgbClr val="F5F6FA"/>
                    </a:solidFill>
                  </a:tcPr>
                </a:tc>
                <a:tc>
                  <a:txBody>
                    <a:bodyPr/>
                    <a:lstStyle/>
                    <a:p>
                      <a:pPr>
                        <a:defRPr sz="1000">
                          <a:solidFill>
                            <a:srgbClr val="1A1A1A"/>
                          </a:solidFill>
                          <a:latin typeface="Calibri"/>
                        </a:defRPr>
                      </a:pPr>
                      <a:r>
                        <a:t>Better lead quality</a:t>
                      </a:r>
                    </a:p>
                  </a:txBody>
                  <a:tcPr>
                    <a:solidFill>
                      <a:srgbClr val="F5F6FA"/>
                    </a:solidFill>
                  </a:tcPr>
                </a:tc>
              </a:tr>
              <a:tr h="365760">
                <a:tc>
                  <a:txBody>
                    <a:bodyPr/>
                    <a:lstStyle/>
                    <a:p>
                      <a:pPr>
                        <a:defRPr sz="1000">
                          <a:solidFill>
                            <a:srgbClr val="1A1A1A"/>
                          </a:solidFill>
                          <a:latin typeface="Calibri"/>
                        </a:defRPr>
                      </a:pPr>
                      <a:r>
                        <a:t>Quality Score (weighted)</a:t>
                      </a:r>
                    </a:p>
                  </a:txBody>
                  <a:tcPr>
                    <a:solidFill>
                      <a:srgbClr val="FFFFFF"/>
                    </a:solidFill>
                  </a:tcPr>
                </a:tc>
                <a:tc>
                  <a:txBody>
                    <a:bodyPr/>
                    <a:lstStyle/>
                    <a:p>
                      <a:pPr>
                        <a:defRPr sz="1000">
                          <a:solidFill>
                            <a:srgbClr val="1A1A1A"/>
                          </a:solidFill>
                          <a:latin typeface="Calibri"/>
                        </a:defRPr>
                      </a:pPr>
                      <a:r>
                        <a:t>6.4</a:t>
                      </a:r>
                    </a:p>
                  </a:txBody>
                  <a:tcPr>
                    <a:solidFill>
                      <a:srgbClr val="FFFFFF"/>
                    </a:solidFill>
                  </a:tcPr>
                </a:tc>
                <a:tc>
                  <a:txBody>
                    <a:bodyPr/>
                    <a:lstStyle/>
                    <a:p>
                      <a:pPr>
                        <a:defRPr sz="1000">
                          <a:solidFill>
                            <a:srgbClr val="1A1A1A"/>
                          </a:solidFill>
                          <a:latin typeface="Calibri"/>
                        </a:defRPr>
                      </a:pPr>
                      <a:r>
                        <a:t>7.5+</a:t>
                      </a:r>
                    </a:p>
                  </a:txBody>
                  <a:tcPr>
                    <a:solidFill>
                      <a:srgbClr val="FFFFFF"/>
                    </a:solidFill>
                  </a:tcPr>
                </a:tc>
                <a:tc>
                  <a:txBody>
                    <a:bodyPr/>
                    <a:lstStyle/>
                    <a:p>
                      <a:pPr>
                        <a:defRPr sz="1000">
                          <a:solidFill>
                            <a:srgbClr val="1A1A1A"/>
                          </a:solidFill>
                          <a:latin typeface="Calibri"/>
                        </a:defRPr>
                      </a:pPr>
                      <a:r>
                        <a:t>Ad rewrites</a:t>
                      </a:r>
                    </a:p>
                  </a:txBody>
                  <a:tcPr>
                    <a:solidFill>
                      <a:srgbClr val="FFFFFF"/>
                    </a:solidFill>
                  </a:tcPr>
                </a:tc>
              </a:tr>
            </a:tbl>
          </a:graphicData>
        </a:graphic>
      </p:graphicFrame>
      <p:sp>
        <p:nvSpPr>
          <p:cNvPr id="11" name="Rectangle 10"/>
          <p:cNvSpPr/>
          <p:nvPr/>
        </p:nvSpPr>
        <p:spPr>
          <a:xfrm>
            <a:off x="7680960" y="1097280"/>
            <a:ext cx="3931920" cy="256032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1097280"/>
            <a:ext cx="54864" cy="25603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188720"/>
            <a:ext cx="3566160" cy="274320"/>
          </a:xfrm>
          <a:prstGeom prst="rect">
            <a:avLst/>
          </a:prstGeom>
          <a:noFill/>
        </p:spPr>
        <p:txBody>
          <a:bodyPr wrap="square">
            <a:spAutoFit/>
          </a:bodyPr>
          <a:lstStyle/>
          <a:p>
            <a:pPr algn="l"/>
            <a:r>
              <a:rPr sz="1400" b="1">
                <a:solidFill>
                  <a:srgbClr val="1A237E"/>
                </a:solidFill>
                <a:latin typeface="Calibri"/>
              </a:rPr>
              <a:t>Questions for the Call</a:t>
            </a:r>
          </a:p>
        </p:txBody>
      </p:sp>
      <p:sp>
        <p:nvSpPr>
          <p:cNvPr id="14" name="TextBox 13"/>
          <p:cNvSpPr txBox="1"/>
          <p:nvPr/>
        </p:nvSpPr>
        <p:spPr>
          <a:xfrm>
            <a:off x="7909560" y="1463040"/>
            <a:ext cx="3566160" cy="2103120"/>
          </a:xfrm>
          <a:prstGeom prst="rect">
            <a:avLst/>
          </a:prstGeom>
          <a:noFill/>
        </p:spPr>
        <p:txBody>
          <a:bodyPr wrap="square">
            <a:spAutoFit/>
          </a:bodyPr>
          <a:lstStyle/>
          <a:p>
            <a:pPr algn="l"/>
            <a:r>
              <a:rPr sz="1100" b="0">
                <a:solidFill>
                  <a:srgbClr val="1A1A1A"/>
                </a:solidFill>
                <a:latin typeface="Calibri"/>
              </a:rPr>
              <a:t>1. Do these targets feel right? Too aggressive or too conservative?
2. Is there a hard CPA ceiling where a lead stops being profitable?
3. What's an acceptable cost per BOOKED patient?
4. How do you currently measure Google Ads success? (Dengro? Manual? Gut feel?)</a:t>
            </a:r>
          </a:p>
        </p:txBody>
      </p:sp>
      <p:sp>
        <p:nvSpPr>
          <p:cNvPr id="15" name="Rectangle 14"/>
          <p:cNvSpPr/>
          <p:nvPr/>
        </p:nvSpPr>
        <p:spPr>
          <a:xfrm>
            <a:off x="548640" y="3840480"/>
            <a:ext cx="1106424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840480"/>
            <a:ext cx="54864" cy="201168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931920"/>
            <a:ext cx="10698480" cy="274320"/>
          </a:xfrm>
          <a:prstGeom prst="rect">
            <a:avLst/>
          </a:prstGeom>
          <a:noFill/>
        </p:spPr>
        <p:txBody>
          <a:bodyPr wrap="square">
            <a:spAutoFit/>
          </a:bodyPr>
          <a:lstStyle/>
          <a:p>
            <a:pPr algn="l"/>
            <a:r>
              <a:rPr sz="1400" b="1">
                <a:solidFill>
                  <a:srgbClr val="1A237E"/>
                </a:solidFill>
                <a:latin typeface="Calibri"/>
              </a:rPr>
              <a:t>Answers (To Complete on Call)</a:t>
            </a:r>
          </a:p>
        </p:txBody>
      </p:sp>
      <p:sp>
        <p:nvSpPr>
          <p:cNvPr id="18" name="TextBox 17"/>
          <p:cNvSpPr txBox="1"/>
          <p:nvPr/>
        </p:nvSpPr>
        <p:spPr>
          <a:xfrm>
            <a:off x="777240" y="4206240"/>
            <a:ext cx="10698480" cy="1554480"/>
          </a:xfrm>
          <a:prstGeom prst="rect">
            <a:avLst/>
          </a:prstGeom>
          <a:noFill/>
        </p:spPr>
        <p:txBody>
          <a:bodyPr wrap="square">
            <a:spAutoFit/>
          </a:bodyPr>
          <a:lstStyle/>
          <a:p>
            <a:pPr algn="l"/>
            <a:r>
              <a:rPr sz="1100" b="0">
                <a:solidFill>
                  <a:srgbClr val="1A1A1A"/>
                </a:solidFill>
                <a:latin typeface="Calibri"/>
              </a:rPr>
              <a:t>
</a:t>
            </a:r>
          </a:p>
        </p:txBody>
      </p:sp>
      <p:sp>
        <p:nvSpPr>
          <p:cNvPr id="19" name="Rectangle 18"/>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4" name="TextBox 23"/>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5" name="TextBox 24"/>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Competitors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Who are you competing against for patients?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7 of 10</a:t>
            </a:r>
          </a:p>
        </p:txBody>
      </p:sp>
      <p:sp>
        <p:nvSpPr>
          <p:cNvPr id="10" name="Rectangle 9"/>
          <p:cNvSpPr/>
          <p:nvPr/>
        </p:nvSpPr>
        <p:spPr>
          <a:xfrm>
            <a:off x="548640" y="1097280"/>
            <a:ext cx="5303520" cy="22860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22860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188720"/>
            <a:ext cx="4937760" cy="274320"/>
          </a:xfrm>
          <a:prstGeom prst="rect">
            <a:avLst/>
          </a:prstGeom>
          <a:noFill/>
        </p:spPr>
        <p:txBody>
          <a:bodyPr wrap="square">
            <a:spAutoFit/>
          </a:bodyPr>
          <a:lstStyle/>
          <a:p>
            <a:pPr algn="l"/>
            <a:r>
              <a:rPr sz="1400" b="1">
                <a:solidFill>
                  <a:srgbClr val="1A237E"/>
                </a:solidFill>
                <a:latin typeface="Calibri"/>
              </a:rPr>
              <a:t>Competitors Seen in Search Terms</a:t>
            </a:r>
          </a:p>
        </p:txBody>
      </p:sp>
      <p:sp>
        <p:nvSpPr>
          <p:cNvPr id="13" name="TextBox 12"/>
          <p:cNvSpPr txBox="1"/>
          <p:nvPr/>
        </p:nvSpPr>
        <p:spPr>
          <a:xfrm>
            <a:off x="777240" y="1463040"/>
            <a:ext cx="4937760" cy="1828800"/>
          </a:xfrm>
          <a:prstGeom prst="rect">
            <a:avLst/>
          </a:prstGeom>
          <a:noFill/>
        </p:spPr>
        <p:txBody>
          <a:bodyPr wrap="square">
            <a:spAutoFit/>
          </a:bodyPr>
          <a:lstStyle/>
          <a:p>
            <a:pPr algn="l"/>
            <a:r>
              <a:rPr sz="1100" b="0">
                <a:solidFill>
                  <a:srgbClr val="1A1A1A"/>
                </a:solidFill>
                <a:latin typeface="Calibri"/>
              </a:rPr>
              <a:t>These competitor names appeared in the search term data:
• Brighton Implant Clinic (£139 spent on this term, 0 conversions)
• Harley Street Dental Studio (£47 spent)
• Dental Prime Stratford (£123 spent)
• Marylebone Implant Centre (£40 spent)
• Evodental (£39 spent)
All zero conversions — people searching for competitors and clicking your ads.</a:t>
            </a:r>
          </a:p>
        </p:txBody>
      </p:sp>
      <p:sp>
        <p:nvSpPr>
          <p:cNvPr id="14" name="Rectangle 13"/>
          <p:cNvSpPr/>
          <p:nvPr/>
        </p:nvSpPr>
        <p:spPr>
          <a:xfrm>
            <a:off x="6217920" y="1097280"/>
            <a:ext cx="530352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097280"/>
            <a:ext cx="54864" cy="2286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188720"/>
            <a:ext cx="4937760" cy="274320"/>
          </a:xfrm>
          <a:prstGeom prst="rect">
            <a:avLst/>
          </a:prstGeom>
          <a:noFill/>
        </p:spPr>
        <p:txBody>
          <a:bodyPr wrap="square">
            <a:spAutoFit/>
          </a:bodyPr>
          <a:lstStyle/>
          <a:p>
            <a:pPr algn="l"/>
            <a:r>
              <a:rPr sz="1400" b="1">
                <a:solidFill>
                  <a:srgbClr val="1A237E"/>
                </a:solidFill>
                <a:latin typeface="Calibri"/>
              </a:rPr>
              <a:t>Questions for the Call</a:t>
            </a:r>
          </a:p>
        </p:txBody>
      </p:sp>
      <p:sp>
        <p:nvSpPr>
          <p:cNvPr id="17" name="TextBox 16"/>
          <p:cNvSpPr txBox="1"/>
          <p:nvPr/>
        </p:nvSpPr>
        <p:spPr>
          <a:xfrm>
            <a:off x="6446520" y="1463040"/>
            <a:ext cx="4937760" cy="1828800"/>
          </a:xfrm>
          <a:prstGeom prst="rect">
            <a:avLst/>
          </a:prstGeom>
          <a:noFill/>
        </p:spPr>
        <p:txBody>
          <a:bodyPr wrap="square">
            <a:spAutoFit/>
          </a:bodyPr>
          <a:lstStyle/>
          <a:p>
            <a:pPr algn="l"/>
            <a:r>
              <a:rPr sz="1100" b="0">
                <a:solidFill>
                  <a:srgbClr val="1A1A1A"/>
                </a:solidFill>
                <a:latin typeface="Calibri"/>
              </a:rPr>
              <a:t>1. Who are your top 3 competitors for dental implants in London?
2. Are there competitors specifically in the Hammersmith area?
3. Do any competitors offer a “teeth in a day” type USP? Is Vivo Bridge unique?
4. Are you losing patients to dental tourism (Turkey etc.)?
5. Any competitors you'd want to conquest-target (bid on their brand terms)?</a:t>
            </a:r>
          </a:p>
        </p:txBody>
      </p:sp>
      <p:sp>
        <p:nvSpPr>
          <p:cNvPr id="18" name="Rectangle 17"/>
          <p:cNvSpPr/>
          <p:nvPr/>
        </p:nvSpPr>
        <p:spPr>
          <a:xfrm>
            <a:off x="548640" y="3566160"/>
            <a:ext cx="1106424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66160"/>
            <a:ext cx="54864" cy="228600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657600"/>
            <a:ext cx="10698480" cy="274320"/>
          </a:xfrm>
          <a:prstGeom prst="rect">
            <a:avLst/>
          </a:prstGeom>
          <a:noFill/>
        </p:spPr>
        <p:txBody>
          <a:bodyPr wrap="square">
            <a:spAutoFit/>
          </a:bodyPr>
          <a:lstStyle/>
          <a:p>
            <a:pPr algn="l"/>
            <a:r>
              <a:rPr sz="1400" b="1">
                <a:solidFill>
                  <a:srgbClr val="1A237E"/>
                </a:solidFill>
                <a:latin typeface="Calibri"/>
              </a:rPr>
              <a:t>Answers (To Complete on Call)</a:t>
            </a:r>
          </a:p>
        </p:txBody>
      </p:sp>
      <p:sp>
        <p:nvSpPr>
          <p:cNvPr id="21" name="TextBox 20"/>
          <p:cNvSpPr txBox="1"/>
          <p:nvPr/>
        </p:nvSpPr>
        <p:spPr>
          <a:xfrm>
            <a:off x="777240" y="3931920"/>
            <a:ext cx="10698480" cy="1828800"/>
          </a:xfrm>
          <a:prstGeom prst="rect">
            <a:avLst/>
          </a:prstGeom>
          <a:noFill/>
        </p:spPr>
        <p:txBody>
          <a:bodyPr wrap="square">
            <a:spAutoFit/>
          </a:bodyPr>
          <a:lstStyle/>
          <a:p>
            <a:pPr algn="l"/>
            <a:r>
              <a:rPr sz="1100" b="0">
                <a:solidFill>
                  <a:srgbClr val="1A1A1A"/>
                </a:solidFill>
                <a:latin typeface="Calibri"/>
              </a:rPr>
              <a:t>
</a:t>
            </a:r>
          </a:p>
        </p:txBody>
      </p:sp>
      <p:sp>
        <p:nvSpPr>
          <p:cNvPr id="22" name="Rectangle 2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7" name="TextBox 2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8" name="TextBox 2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Geographic Targeting</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Understanding where your patients come from</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8 of 10</a:t>
            </a:r>
          </a:p>
        </p:txBody>
      </p:sp>
      <p:sp>
        <p:nvSpPr>
          <p:cNvPr id="10" name="Rectangle 9"/>
          <p:cNvSpPr/>
          <p:nvPr/>
        </p:nvSpPr>
        <p:spPr>
          <a:xfrm>
            <a:off x="548640" y="1097280"/>
            <a:ext cx="5303520" cy="2286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188720"/>
            <a:ext cx="4937760" cy="274320"/>
          </a:xfrm>
          <a:prstGeom prst="rect">
            <a:avLst/>
          </a:prstGeom>
          <a:noFill/>
        </p:spPr>
        <p:txBody>
          <a:bodyPr wrap="square">
            <a:spAutoFit/>
          </a:bodyPr>
          <a:lstStyle/>
          <a:p>
            <a:pPr algn="l"/>
            <a:r>
              <a:rPr sz="1400" b="1">
                <a:solidFill>
                  <a:srgbClr val="1A237E"/>
                </a:solidFill>
                <a:latin typeface="Calibri"/>
              </a:rPr>
              <a:t>What We Already Know</a:t>
            </a:r>
          </a:p>
        </p:txBody>
      </p:sp>
      <p:sp>
        <p:nvSpPr>
          <p:cNvPr id="13" name="TextBox 12"/>
          <p:cNvSpPr txBox="1"/>
          <p:nvPr/>
        </p:nvSpPr>
        <p:spPr>
          <a:xfrm>
            <a:off x="777240" y="1463040"/>
            <a:ext cx="4937760" cy="1828800"/>
          </a:xfrm>
          <a:prstGeom prst="rect">
            <a:avLst/>
          </a:prstGeom>
          <a:noFill/>
        </p:spPr>
        <p:txBody>
          <a:bodyPr wrap="square">
            <a:spAutoFit/>
          </a:bodyPr>
          <a:lstStyle/>
          <a:p>
            <a:pPr algn="l"/>
            <a:r>
              <a:rPr sz="1100" b="0">
                <a:solidFill>
                  <a:srgbClr val="1A1A1A"/>
                </a:solidFill>
                <a:latin typeface="Calibri"/>
              </a:rPr>
              <a:t>Current setup: Radius targeting (30km, 35km around Hammersmith)
CPA by radius (2026):
• 30km ring: £59 CPA
• 35km ring: £93 CPA
Best postcodes: SM4 £14, EN4 £14, WD7 £18
Worst postcodes: N13 £169, TW2 £137, WD23 £123
Recommendation: Switch from radius to postcode targeting for bid control.</a:t>
            </a:r>
          </a:p>
        </p:txBody>
      </p:sp>
      <p:sp>
        <p:nvSpPr>
          <p:cNvPr id="14" name="Rectangle 13"/>
          <p:cNvSpPr/>
          <p:nvPr/>
        </p:nvSpPr>
        <p:spPr>
          <a:xfrm>
            <a:off x="6217920" y="1097280"/>
            <a:ext cx="530352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097280"/>
            <a:ext cx="54864" cy="2286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188720"/>
            <a:ext cx="4937760" cy="274320"/>
          </a:xfrm>
          <a:prstGeom prst="rect">
            <a:avLst/>
          </a:prstGeom>
          <a:noFill/>
        </p:spPr>
        <p:txBody>
          <a:bodyPr wrap="square">
            <a:spAutoFit/>
          </a:bodyPr>
          <a:lstStyle/>
          <a:p>
            <a:pPr algn="l"/>
            <a:r>
              <a:rPr sz="1400" b="1">
                <a:solidFill>
                  <a:srgbClr val="1A237E"/>
                </a:solidFill>
                <a:latin typeface="Calibri"/>
              </a:rPr>
              <a:t>Questions for the Call</a:t>
            </a:r>
          </a:p>
        </p:txBody>
      </p:sp>
      <p:sp>
        <p:nvSpPr>
          <p:cNvPr id="17" name="TextBox 16"/>
          <p:cNvSpPr txBox="1"/>
          <p:nvPr/>
        </p:nvSpPr>
        <p:spPr>
          <a:xfrm>
            <a:off x="6446520" y="1463040"/>
            <a:ext cx="4937760" cy="1828800"/>
          </a:xfrm>
          <a:prstGeom prst="rect">
            <a:avLst/>
          </a:prstGeom>
          <a:noFill/>
        </p:spPr>
        <p:txBody>
          <a:bodyPr wrap="square">
            <a:spAutoFit/>
          </a:bodyPr>
          <a:lstStyle/>
          <a:p>
            <a:pPr algn="l"/>
            <a:r>
              <a:rPr sz="1100" b="0">
                <a:solidFill>
                  <a:srgbClr val="1A1A1A"/>
                </a:solidFill>
                <a:latin typeface="Calibri"/>
              </a:rPr>
              <a:t>1. How far do patients actually travel to the clinic? Is 35km realistic?
2. Are there specific areas you know your patients come from?
3. Can you provide a full download of patient postcodes from Dengro? (We'll create a heatmap.)
4. Are there areas you explicitly DON'T want to target?
5. Are there areas with high no-show rates?</a:t>
            </a:r>
          </a:p>
        </p:txBody>
      </p:sp>
      <p:sp>
        <p:nvSpPr>
          <p:cNvPr id="18" name="Rectangle 17"/>
          <p:cNvSpPr/>
          <p:nvPr/>
        </p:nvSpPr>
        <p:spPr>
          <a:xfrm>
            <a:off x="548640" y="3566160"/>
            <a:ext cx="1106424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66160"/>
            <a:ext cx="54864" cy="228600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657600"/>
            <a:ext cx="10698480" cy="274320"/>
          </a:xfrm>
          <a:prstGeom prst="rect">
            <a:avLst/>
          </a:prstGeom>
          <a:noFill/>
        </p:spPr>
        <p:txBody>
          <a:bodyPr wrap="square">
            <a:spAutoFit/>
          </a:bodyPr>
          <a:lstStyle/>
          <a:p>
            <a:pPr algn="l"/>
            <a:r>
              <a:rPr sz="1400" b="1">
                <a:solidFill>
                  <a:srgbClr val="1A237E"/>
                </a:solidFill>
                <a:latin typeface="Calibri"/>
              </a:rPr>
              <a:t>Answers (To Complete on Call)</a:t>
            </a:r>
          </a:p>
        </p:txBody>
      </p:sp>
      <p:sp>
        <p:nvSpPr>
          <p:cNvPr id="21" name="TextBox 20"/>
          <p:cNvSpPr txBox="1"/>
          <p:nvPr/>
        </p:nvSpPr>
        <p:spPr>
          <a:xfrm>
            <a:off x="777240" y="3931920"/>
            <a:ext cx="10698480" cy="1828800"/>
          </a:xfrm>
          <a:prstGeom prst="rect">
            <a:avLst/>
          </a:prstGeom>
          <a:noFill/>
        </p:spPr>
        <p:txBody>
          <a:bodyPr wrap="square">
            <a:spAutoFit/>
          </a:bodyPr>
          <a:lstStyle/>
          <a:p>
            <a:pPr algn="l"/>
            <a:r>
              <a:rPr sz="1100" b="0">
                <a:solidFill>
                  <a:srgbClr val="1A1A1A"/>
                </a:solidFill>
                <a:latin typeface="Calibri"/>
              </a:rPr>
              <a:t>
</a:t>
            </a:r>
          </a:p>
        </p:txBody>
      </p:sp>
      <p:sp>
        <p:nvSpPr>
          <p:cNvPr id="22" name="Rectangle 2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7" name="TextBox 2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8" name="TextBox 2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Decision Makers &amp; Communication</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Who approves what, and how do we stay in touch?</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9 of 10</a:t>
            </a:r>
          </a:p>
        </p:txBody>
      </p:sp>
      <p:sp>
        <p:nvSpPr>
          <p:cNvPr id="10" name="Rectangle 9"/>
          <p:cNvSpPr/>
          <p:nvPr/>
        </p:nvSpPr>
        <p:spPr>
          <a:xfrm>
            <a:off x="548640" y="1097280"/>
            <a:ext cx="5303520" cy="2286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2286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188720"/>
            <a:ext cx="4937760" cy="274320"/>
          </a:xfrm>
          <a:prstGeom prst="rect">
            <a:avLst/>
          </a:prstGeom>
          <a:noFill/>
        </p:spPr>
        <p:txBody>
          <a:bodyPr wrap="square">
            <a:spAutoFit/>
          </a:bodyPr>
          <a:lstStyle/>
          <a:p>
            <a:pPr algn="l"/>
            <a:r>
              <a:rPr sz="1400" b="1">
                <a:solidFill>
                  <a:srgbClr val="1A237E"/>
                </a:solidFill>
                <a:latin typeface="Calibri"/>
              </a:rPr>
              <a:t>Questions for the Call</a:t>
            </a:r>
          </a:p>
        </p:txBody>
      </p:sp>
      <p:sp>
        <p:nvSpPr>
          <p:cNvPr id="13" name="TextBox 12"/>
          <p:cNvSpPr txBox="1"/>
          <p:nvPr/>
        </p:nvSpPr>
        <p:spPr>
          <a:xfrm>
            <a:off x="777240" y="1463040"/>
            <a:ext cx="4937760" cy="1828800"/>
          </a:xfrm>
          <a:prstGeom prst="rect">
            <a:avLst/>
          </a:prstGeom>
          <a:noFill/>
        </p:spPr>
        <p:txBody>
          <a:bodyPr wrap="square">
            <a:spAutoFit/>
          </a:bodyPr>
          <a:lstStyle/>
          <a:p>
            <a:pPr algn="l"/>
            <a:r>
              <a:rPr sz="1100" b="0">
                <a:solidFill>
                  <a:srgbClr val="1A1A1A"/>
                </a:solidFill>
                <a:latin typeface="Calibri"/>
              </a:rPr>
              <a:t>1. Who approves ad copy changes? (Can I change ads without sign-off?)
2. Who approves budget changes? (If I want to shift budget between campaigns.)
3. Who's my day-to-day contact? (Giulio for technical, Tommaso for strategic?)
4. Preferred communication channel? (Email? WhatsApp? Slack?)
5. How quickly do you expect responses to questions?</a:t>
            </a:r>
          </a:p>
        </p:txBody>
      </p:sp>
      <p:sp>
        <p:nvSpPr>
          <p:cNvPr id="14" name="Rectangle 13"/>
          <p:cNvSpPr/>
          <p:nvPr/>
        </p:nvSpPr>
        <p:spPr>
          <a:xfrm>
            <a:off x="6217920" y="1097280"/>
            <a:ext cx="5303520" cy="2286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097280"/>
            <a:ext cx="54864"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188720"/>
            <a:ext cx="4937760" cy="274320"/>
          </a:xfrm>
          <a:prstGeom prst="rect">
            <a:avLst/>
          </a:prstGeom>
          <a:noFill/>
        </p:spPr>
        <p:txBody>
          <a:bodyPr wrap="square">
            <a:spAutoFit/>
          </a:bodyPr>
          <a:lstStyle/>
          <a:p>
            <a:pPr algn="l"/>
            <a:r>
              <a:rPr sz="1400" b="1">
                <a:solidFill>
                  <a:srgbClr val="1A237E"/>
                </a:solidFill>
                <a:latin typeface="Calibri"/>
              </a:rPr>
              <a:t>What We Know So Far</a:t>
            </a:r>
          </a:p>
        </p:txBody>
      </p:sp>
      <p:sp>
        <p:nvSpPr>
          <p:cNvPr id="17" name="TextBox 16"/>
          <p:cNvSpPr txBox="1"/>
          <p:nvPr/>
        </p:nvSpPr>
        <p:spPr>
          <a:xfrm>
            <a:off x="6446520" y="1463040"/>
            <a:ext cx="4937760" cy="1828800"/>
          </a:xfrm>
          <a:prstGeom prst="rect">
            <a:avLst/>
          </a:prstGeom>
          <a:noFill/>
        </p:spPr>
        <p:txBody>
          <a:bodyPr wrap="square">
            <a:spAutoFit/>
          </a:bodyPr>
          <a:lstStyle/>
          <a:p>
            <a:pPr algn="l"/>
            <a:r>
              <a:rPr sz="1100" b="0">
                <a:solidFill>
                  <a:srgbClr val="1A1A1A"/>
                </a:solidFill>
                <a:latin typeface="Calibri"/>
              </a:rPr>
              <a:t>• Tommaso Grassi: Commercial Director — strategic decisions
• Giulio Zanchetta: Marketing / Technical — manages the Google Ads account (89% of change history)
• Giulio's email: giulio.zanchetta@majestico.it — is Majestico a separate entity or part of Prodent Group?
• Ellie Carvell: Recruitment Specialist (Inserta Dental)
Questions to clarify:
• What is Giulio's role exactly? Full-time DBD or shared with Majestico?
• Who else needs to be kept in the loop on reporting?</a:t>
            </a:r>
          </a:p>
        </p:txBody>
      </p:sp>
      <p:sp>
        <p:nvSpPr>
          <p:cNvPr id="18" name="Rectangle 17"/>
          <p:cNvSpPr/>
          <p:nvPr/>
        </p:nvSpPr>
        <p:spPr>
          <a:xfrm>
            <a:off x="548640" y="3566160"/>
            <a:ext cx="1106424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66160"/>
            <a:ext cx="54864" cy="228600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657600"/>
            <a:ext cx="10698480" cy="274320"/>
          </a:xfrm>
          <a:prstGeom prst="rect">
            <a:avLst/>
          </a:prstGeom>
          <a:noFill/>
        </p:spPr>
        <p:txBody>
          <a:bodyPr wrap="square">
            <a:spAutoFit/>
          </a:bodyPr>
          <a:lstStyle/>
          <a:p>
            <a:pPr algn="l"/>
            <a:r>
              <a:rPr sz="1400" b="1">
                <a:solidFill>
                  <a:srgbClr val="1A237E"/>
                </a:solidFill>
                <a:latin typeface="Calibri"/>
              </a:rPr>
              <a:t>Answers (To Complete on Call)</a:t>
            </a:r>
          </a:p>
        </p:txBody>
      </p:sp>
      <p:sp>
        <p:nvSpPr>
          <p:cNvPr id="21" name="TextBox 20"/>
          <p:cNvSpPr txBox="1"/>
          <p:nvPr/>
        </p:nvSpPr>
        <p:spPr>
          <a:xfrm>
            <a:off x="777240" y="3931920"/>
            <a:ext cx="10698480" cy="1828800"/>
          </a:xfrm>
          <a:prstGeom prst="rect">
            <a:avLst/>
          </a:prstGeom>
          <a:noFill/>
        </p:spPr>
        <p:txBody>
          <a:bodyPr wrap="square">
            <a:spAutoFit/>
          </a:bodyPr>
          <a:lstStyle/>
          <a:p>
            <a:pPr algn="l"/>
            <a:r>
              <a:rPr sz="1100" b="0">
                <a:solidFill>
                  <a:srgbClr val="1A1A1A"/>
                </a:solidFill>
                <a:latin typeface="Calibri"/>
              </a:rPr>
              <a:t>
</a:t>
            </a:r>
          </a:p>
        </p:txBody>
      </p:sp>
      <p:sp>
        <p:nvSpPr>
          <p:cNvPr id="22" name="Rectangle 2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7" name="TextBox 2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8" name="TextBox 2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Reporting Expectations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CBD5E1"/>
                </a:solidFill>
                <a:latin typeface="Calibri"/>
              </a:rPr>
              <a:t>Proposed reporting cadence — validate on the call</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Section 10 of 10</a:t>
            </a:r>
          </a:p>
        </p:txBody>
      </p:sp>
      <p:sp>
        <p:nvSpPr>
          <p:cNvPr id="10" name="Rectangle 9"/>
          <p:cNvSpPr/>
          <p:nvPr/>
        </p:nvSpPr>
        <p:spPr>
          <a:xfrm>
            <a:off x="548640" y="1097280"/>
            <a:ext cx="5303520" cy="27432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27432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188720"/>
            <a:ext cx="4937760" cy="274320"/>
          </a:xfrm>
          <a:prstGeom prst="rect">
            <a:avLst/>
          </a:prstGeom>
          <a:noFill/>
        </p:spPr>
        <p:txBody>
          <a:bodyPr wrap="square">
            <a:spAutoFit/>
          </a:bodyPr>
          <a:lstStyle/>
          <a:p>
            <a:pPr algn="l"/>
            <a:r>
              <a:rPr sz="1400" b="1">
                <a:solidFill>
                  <a:srgbClr val="1A237E"/>
                </a:solidFill>
                <a:latin typeface="Calibri"/>
              </a:rPr>
              <a:t>Proposed: Weekly Report (Every Friday)</a:t>
            </a:r>
          </a:p>
        </p:txBody>
      </p:sp>
      <p:sp>
        <p:nvSpPr>
          <p:cNvPr id="13" name="TextBox 12"/>
          <p:cNvSpPr txBox="1"/>
          <p:nvPr/>
        </p:nvSpPr>
        <p:spPr>
          <a:xfrm>
            <a:off x="777240" y="1463040"/>
            <a:ext cx="4937760" cy="2286000"/>
          </a:xfrm>
          <a:prstGeom prst="rect">
            <a:avLst/>
          </a:prstGeom>
          <a:noFill/>
        </p:spPr>
        <p:txBody>
          <a:bodyPr wrap="square">
            <a:spAutoFit/>
          </a:bodyPr>
          <a:lstStyle/>
          <a:p>
            <a:pPr algn="l"/>
            <a:r>
              <a:rPr sz="1100" b="0">
                <a:solidFill>
                  <a:srgbClr val="1A1A1A"/>
                </a:solidFill>
                <a:latin typeface="Calibri"/>
              </a:rPr>
              <a:t>• What I worked on each morning and afternoon throughout the week
• Key metrics: spend, leads, CPA, conversion rate
• Last 8 weeks week-on-week comparison table
• Changes made and rationale
• Issues flagged and actions planned for next week</a:t>
            </a:r>
          </a:p>
        </p:txBody>
      </p:sp>
      <p:sp>
        <p:nvSpPr>
          <p:cNvPr id="14" name="Rectangle 13"/>
          <p:cNvSpPr/>
          <p:nvPr/>
        </p:nvSpPr>
        <p:spPr>
          <a:xfrm>
            <a:off x="6217920" y="1097280"/>
            <a:ext cx="5303520" cy="27432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097280"/>
            <a:ext cx="54864" cy="27432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188720"/>
            <a:ext cx="4937760" cy="274320"/>
          </a:xfrm>
          <a:prstGeom prst="rect">
            <a:avLst/>
          </a:prstGeom>
          <a:noFill/>
        </p:spPr>
        <p:txBody>
          <a:bodyPr wrap="square">
            <a:spAutoFit/>
          </a:bodyPr>
          <a:lstStyle/>
          <a:p>
            <a:pPr algn="l"/>
            <a:r>
              <a:rPr sz="1400" b="1">
                <a:solidFill>
                  <a:srgbClr val="1A237E"/>
                </a:solidFill>
                <a:latin typeface="Calibri"/>
              </a:rPr>
              <a:t>Proposed: Monthly Report (First Week of Month)</a:t>
            </a:r>
          </a:p>
        </p:txBody>
      </p:sp>
      <p:sp>
        <p:nvSpPr>
          <p:cNvPr id="17" name="TextBox 16"/>
          <p:cNvSpPr txBox="1"/>
          <p:nvPr/>
        </p:nvSpPr>
        <p:spPr>
          <a:xfrm>
            <a:off x="6446520" y="1463040"/>
            <a:ext cx="4937760" cy="2286000"/>
          </a:xfrm>
          <a:prstGeom prst="rect">
            <a:avLst/>
          </a:prstGeom>
          <a:noFill/>
        </p:spPr>
        <p:txBody>
          <a:bodyPr wrap="square">
            <a:spAutoFit/>
          </a:bodyPr>
          <a:lstStyle/>
          <a:p>
            <a:pPr algn="l"/>
            <a:r>
              <a:rPr sz="1100" b="0">
                <a:solidFill>
                  <a:srgbClr val="1A1A1A"/>
                </a:solidFill>
                <a:latin typeface="Calibri"/>
              </a:rPr>
              <a:t>• Full month performance vs KPI targets
• Month-on-month and year-on-year comparisons
• Campaign-level and treatment-level breakdown
• Search term audit findings
• Recommendations and strategic plan for next month
• Budget utilisation and pacing review</a:t>
            </a:r>
          </a:p>
        </p:txBody>
      </p:sp>
      <p:sp>
        <p:nvSpPr>
          <p:cNvPr id="18" name="Rectangle 17"/>
          <p:cNvSpPr/>
          <p:nvPr/>
        </p:nvSpPr>
        <p:spPr>
          <a:xfrm>
            <a:off x="548640" y="4023360"/>
            <a:ext cx="11064240" cy="18288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023360"/>
            <a:ext cx="54864" cy="18288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114800"/>
            <a:ext cx="10698480" cy="274320"/>
          </a:xfrm>
          <a:prstGeom prst="rect">
            <a:avLst/>
          </a:prstGeom>
          <a:noFill/>
        </p:spPr>
        <p:txBody>
          <a:bodyPr wrap="square">
            <a:spAutoFit/>
          </a:bodyPr>
          <a:lstStyle/>
          <a:p>
            <a:pPr algn="l"/>
            <a:r>
              <a:rPr sz="1400" b="1">
                <a:solidFill>
                  <a:srgbClr val="1A237E"/>
                </a:solidFill>
                <a:latin typeface="Calibri"/>
              </a:rPr>
              <a:t>Questions for the Call</a:t>
            </a:r>
          </a:p>
        </p:txBody>
      </p:sp>
      <p:sp>
        <p:nvSpPr>
          <p:cNvPr id="21" name="TextBox 20"/>
          <p:cNvSpPr txBox="1"/>
          <p:nvPr/>
        </p:nvSpPr>
        <p:spPr>
          <a:xfrm>
            <a:off x="777240" y="4389120"/>
            <a:ext cx="10698480" cy="1371600"/>
          </a:xfrm>
          <a:prstGeom prst="rect">
            <a:avLst/>
          </a:prstGeom>
          <a:noFill/>
        </p:spPr>
        <p:txBody>
          <a:bodyPr wrap="square">
            <a:spAutoFit/>
          </a:bodyPr>
          <a:lstStyle/>
          <a:p>
            <a:pPr algn="l"/>
            <a:r>
              <a:rPr sz="1100" b="0">
                <a:solidFill>
                  <a:srgbClr val="1A1A1A"/>
                </a:solidFill>
                <a:latin typeface="Calibri"/>
              </a:rPr>
              <a:t>1. Does this weekly + monthly cadence work?  2. Who should receive the reports? (Tommaso, Giulio, anyone else?)  3. Do you want a call to walk through the monthly report?  4. Is there a specific dashboard or format you currently use? (Looker Studio? Dengro?)  5. Are there specific metrics Tommaso watches most closely?</a:t>
            </a:r>
          </a:p>
        </p:txBody>
      </p:sp>
      <p:sp>
        <p:nvSpPr>
          <p:cNvPr id="22" name="Rectangle 2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7" name="TextBox 2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8" name="TextBox 2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