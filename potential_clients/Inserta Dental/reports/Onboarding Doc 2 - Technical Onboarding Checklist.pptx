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6FA"/>
        </a:solidFill>
        <a:effectLst/>
      </p:bgPr>
    </p:bg>
    <p:spTree>
      <p:nvGrpSpPr>
        <p:cNvPr id="1" name=""/>
        <p:cNvGrpSpPr/>
        <p:nvPr/>
      </p:nvGrpSpPr>
      <p:grpSpPr/>
      <p:sp>
        <p:nvSpPr>
          <p:cNvPr id="2" name="Rectangle 1"/>
          <p:cNvSpPr/>
          <p:nvPr/>
        </p:nvSpPr>
        <p:spPr>
          <a:xfrm>
            <a:off x="0" y="0"/>
            <a:ext cx="3047695" cy="64008"/>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64008"/>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64008"/>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64008"/>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008"/>
            <a:ext cx="109728" cy="679399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_logo_official.png"/>
          <p:cNvPicPr>
            <a:picLocks noChangeAspect="1"/>
          </p:cNvPicPr>
          <p:nvPr/>
        </p:nvPicPr>
        <p:blipFill>
          <a:blip r:embed="rId2"/>
          <a:stretch>
            <a:fillRect/>
          </a:stretch>
        </p:blipFill>
        <p:spPr>
          <a:xfrm>
            <a:off x="548640" y="457200"/>
            <a:ext cx="594360" cy="594360"/>
          </a:xfrm>
          <a:prstGeom prst="rect">
            <a:avLst/>
          </a:prstGeom>
        </p:spPr>
      </p:pic>
      <p:sp>
        <p:nvSpPr>
          <p:cNvPr id="8" name="TextBox 7"/>
          <p:cNvSpPr txBox="1"/>
          <p:nvPr/>
        </p:nvSpPr>
        <p:spPr>
          <a:xfrm>
            <a:off x="548640" y="1280160"/>
            <a:ext cx="5248656" cy="1645920"/>
          </a:xfrm>
          <a:prstGeom prst="rect">
            <a:avLst/>
          </a:prstGeom>
          <a:noFill/>
        </p:spPr>
        <p:txBody>
          <a:bodyPr wrap="square">
            <a:spAutoFit/>
          </a:bodyPr>
          <a:lstStyle/>
          <a:p>
            <a:pPr algn="l"/>
            <a:r>
              <a:rPr sz="4400" b="1">
                <a:solidFill>
                  <a:srgbClr val="1A237E"/>
                </a:solidFill>
                <a:latin typeface="Calibri"/>
              </a:rPr>
              <a:t>Technical Onboarding
Checklist</a:t>
            </a:r>
          </a:p>
        </p:txBody>
      </p:sp>
      <p:sp>
        <p:nvSpPr>
          <p:cNvPr id="9" name="Rectangle 8"/>
          <p:cNvSpPr/>
          <p:nvPr/>
        </p:nvSpPr>
        <p:spPr>
          <a:xfrm>
            <a:off x="548640" y="3017520"/>
            <a:ext cx="2286000" cy="457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246120"/>
            <a:ext cx="5029200" cy="457200"/>
          </a:xfrm>
          <a:prstGeom prst="rect">
            <a:avLst/>
          </a:prstGeom>
          <a:noFill/>
        </p:spPr>
        <p:txBody>
          <a:bodyPr wrap="square">
            <a:spAutoFit/>
          </a:bodyPr>
          <a:lstStyle/>
          <a:p>
            <a:pPr algn="l"/>
            <a:r>
              <a:rPr sz="2200" b="0">
                <a:solidFill>
                  <a:srgbClr val="4285F4"/>
                </a:solidFill>
                <a:latin typeface="Calibri"/>
              </a:rPr>
              <a:t>Dental by Design  |  Prodent Group</a:t>
            </a:r>
          </a:p>
        </p:txBody>
      </p:sp>
      <p:sp>
        <p:nvSpPr>
          <p:cNvPr id="11" name="TextBox 10"/>
          <p:cNvSpPr txBox="1"/>
          <p:nvPr/>
        </p:nvSpPr>
        <p:spPr>
          <a:xfrm>
            <a:off x="548640" y="3931920"/>
            <a:ext cx="5029200" cy="914400"/>
          </a:xfrm>
          <a:prstGeom prst="rect">
            <a:avLst/>
          </a:prstGeom>
          <a:noFill/>
        </p:spPr>
        <p:txBody>
          <a:bodyPr wrap="square">
            <a:spAutoFit/>
          </a:bodyPr>
          <a:lstStyle/>
          <a:p>
            <a:pPr>
              <a:spcAft>
                <a:spcPts val="200"/>
              </a:spcAft>
            </a:pPr>
            <a:r>
              <a:rPr sz="1100" b="1">
                <a:solidFill>
                  <a:srgbClr val="1A1A1A"/>
                </a:solidFill>
                <a:latin typeface="Calibri"/>
              </a:rPr>
              <a:t>Christopher Hoole</a:t>
            </a:r>
          </a:p>
          <a:p>
            <a:pPr>
              <a:spcAft>
                <a:spcPts val="200"/>
              </a:spcAft>
            </a:pPr>
            <a:r>
              <a:rPr sz="1100" b="0">
                <a:solidFill>
                  <a:srgbClr val="1A1A1A"/>
                </a:solidFill>
                <a:latin typeface="Calibri"/>
              </a:rPr>
              <a:t>Google Ads Specialist  |  April 2026</a:t>
            </a:r>
          </a:p>
          <a:p>
            <a:r>
              <a:rPr sz="1100" b="0">
                <a:solidFill>
                  <a:srgbClr val="4285F4"/>
                </a:solidFill>
                <a:latin typeface="Calibri"/>
              </a:rPr>
              <a:t>christopherhoole.com</a:t>
            </a:r>
          </a:p>
        </p:txBody>
      </p:sp>
      <p:sp>
        <p:nvSpPr>
          <p:cNvPr id="12" name="Rectangle 11"/>
          <p:cNvSpPr/>
          <p:nvPr/>
        </p:nvSpPr>
        <p:spPr>
          <a:xfrm>
            <a:off x="548640" y="5029200"/>
            <a:ext cx="4114800" cy="45720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5047488"/>
            <a:ext cx="3931920" cy="411480"/>
          </a:xfrm>
          <a:prstGeom prst="rect">
            <a:avLst/>
          </a:prstGeom>
          <a:noFill/>
        </p:spPr>
        <p:txBody>
          <a:bodyPr wrap="square">
            <a:spAutoFit/>
          </a:bodyPr>
          <a:lstStyle/>
          <a:p>
            <a:pPr algn="l"/>
            <a:r>
              <a:rPr sz="1100" b="1">
                <a:solidFill>
                  <a:srgbClr val="4285F4"/>
                </a:solidFill>
                <a:latin typeface="Calibri"/>
              </a:rPr>
              <a:t>Onboarding  |  Document 2 of 2</a:t>
            </a:r>
          </a:p>
        </p:txBody>
      </p:sp>
      <p:sp>
        <p:nvSpPr>
          <p:cNvPr id="14" name="Rectangle 13"/>
          <p:cNvSpPr/>
          <p:nvPr/>
        </p:nvSpPr>
        <p:spPr>
          <a:xfrm>
            <a:off x="6217920" y="457200"/>
            <a:ext cx="539496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457200"/>
            <a:ext cx="73152" cy="228600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548640"/>
            <a:ext cx="4937760" cy="320040"/>
          </a:xfrm>
          <a:prstGeom prst="rect">
            <a:avLst/>
          </a:prstGeom>
          <a:noFill/>
        </p:spPr>
        <p:txBody>
          <a:bodyPr wrap="square">
            <a:spAutoFit/>
          </a:bodyPr>
          <a:lstStyle/>
          <a:p>
            <a:pPr algn="l"/>
            <a:r>
              <a:rPr sz="1400" b="0">
                <a:solidFill>
                  <a:srgbClr val="1A237E"/>
                </a:solidFill>
                <a:latin typeface="Calibri"/>
              </a:rPr>
              <a:t>Purpose</a:t>
            </a:r>
          </a:p>
        </p:txBody>
      </p:sp>
      <p:sp>
        <p:nvSpPr>
          <p:cNvPr id="17" name="TextBox 16"/>
          <p:cNvSpPr txBox="1"/>
          <p:nvPr/>
        </p:nvSpPr>
        <p:spPr>
          <a:xfrm>
            <a:off x="6492240" y="914400"/>
            <a:ext cx="4937760" cy="1645920"/>
          </a:xfrm>
          <a:prstGeom prst="rect">
            <a:avLst/>
          </a:prstGeom>
          <a:noFill/>
        </p:spPr>
        <p:txBody>
          <a:bodyPr wrap="square">
            <a:spAutoFit/>
          </a:bodyPr>
          <a:lstStyle/>
          <a:p>
            <a:pPr algn="l"/>
            <a:r>
              <a:rPr sz="1200" b="0">
                <a:solidFill>
                  <a:srgbClr val="1A1A1A"/>
                </a:solidFill>
                <a:latin typeface="Calibri"/>
              </a:rPr>
              <a:t>This checklist covers all the technical access, tracking, and platform setup needed to begin implementation.
Some items are quick confirmations. Others will require a separate technical session with Giulio.
Each item has a status column — we'll update these as access is granted and audits are completed.</a:t>
            </a:r>
          </a:p>
        </p:txBody>
      </p:sp>
      <p:sp>
        <p:nvSpPr>
          <p:cNvPr id="18" name="Rectangle 17"/>
          <p:cNvSpPr/>
          <p:nvPr/>
        </p:nvSpPr>
        <p:spPr>
          <a:xfrm>
            <a:off x="6217920"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2926080"/>
            <a:ext cx="54864" cy="10515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3035808"/>
            <a:ext cx="1444752" cy="411480"/>
          </a:xfrm>
          <a:prstGeom prst="rect">
            <a:avLst/>
          </a:prstGeom>
          <a:noFill/>
        </p:spPr>
        <p:txBody>
          <a:bodyPr wrap="square">
            <a:spAutoFit/>
          </a:bodyPr>
          <a:lstStyle/>
          <a:p>
            <a:pPr algn="l"/>
            <a:r>
              <a:rPr sz="2200" b="1">
                <a:solidFill>
                  <a:srgbClr val="4285F4"/>
                </a:solidFill>
                <a:latin typeface="Calibri"/>
              </a:rPr>
              <a:t>7</a:t>
            </a:r>
          </a:p>
        </p:txBody>
      </p:sp>
      <p:sp>
        <p:nvSpPr>
          <p:cNvPr id="21" name="TextBox 20"/>
          <p:cNvSpPr txBox="1"/>
          <p:nvPr/>
        </p:nvSpPr>
        <p:spPr>
          <a:xfrm>
            <a:off x="6355080" y="3474720"/>
            <a:ext cx="1444752" cy="274320"/>
          </a:xfrm>
          <a:prstGeom prst="rect">
            <a:avLst/>
          </a:prstGeom>
          <a:noFill/>
        </p:spPr>
        <p:txBody>
          <a:bodyPr wrap="square">
            <a:spAutoFit/>
          </a:bodyPr>
          <a:lstStyle/>
          <a:p>
            <a:pPr algn="l"/>
            <a:r>
              <a:rPr sz="1100" b="0">
                <a:solidFill>
                  <a:srgbClr val="1A1A1A"/>
                </a:solidFill>
                <a:latin typeface="Calibri"/>
              </a:rPr>
              <a:t>Sections</a:t>
            </a:r>
          </a:p>
        </p:txBody>
      </p:sp>
      <p:sp>
        <p:nvSpPr>
          <p:cNvPr id="22" name="Rectangle 21"/>
          <p:cNvSpPr/>
          <p:nvPr/>
        </p:nvSpPr>
        <p:spPr>
          <a:xfrm>
            <a:off x="8074152"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74152" y="2926080"/>
            <a:ext cx="54864" cy="10515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11312" y="3035808"/>
            <a:ext cx="1444752" cy="411480"/>
          </a:xfrm>
          <a:prstGeom prst="rect">
            <a:avLst/>
          </a:prstGeom>
          <a:noFill/>
        </p:spPr>
        <p:txBody>
          <a:bodyPr wrap="square">
            <a:spAutoFit/>
          </a:bodyPr>
          <a:lstStyle/>
          <a:p>
            <a:pPr algn="l"/>
            <a:r>
              <a:rPr sz="2200" b="1">
                <a:solidFill>
                  <a:srgbClr val="EA4335"/>
                </a:solidFill>
                <a:latin typeface="Calibri"/>
              </a:rPr>
              <a:t>Access</a:t>
            </a:r>
          </a:p>
        </p:txBody>
      </p:sp>
      <p:sp>
        <p:nvSpPr>
          <p:cNvPr id="25" name="TextBox 24"/>
          <p:cNvSpPr txBox="1"/>
          <p:nvPr/>
        </p:nvSpPr>
        <p:spPr>
          <a:xfrm>
            <a:off x="8211312" y="3474720"/>
            <a:ext cx="1444752" cy="274320"/>
          </a:xfrm>
          <a:prstGeom prst="rect">
            <a:avLst/>
          </a:prstGeom>
          <a:noFill/>
        </p:spPr>
        <p:txBody>
          <a:bodyPr wrap="square">
            <a:spAutoFit/>
          </a:bodyPr>
          <a:lstStyle/>
          <a:p>
            <a:pPr algn="l"/>
            <a:r>
              <a:rPr sz="1100" b="0">
                <a:solidFill>
                  <a:srgbClr val="1A1A1A"/>
                </a:solidFill>
                <a:latin typeface="Calibri"/>
              </a:rPr>
              <a:t>Requests</a:t>
            </a:r>
          </a:p>
        </p:txBody>
      </p:sp>
      <p:sp>
        <p:nvSpPr>
          <p:cNvPr id="26" name="Rectangle 25"/>
          <p:cNvSpPr/>
          <p:nvPr/>
        </p:nvSpPr>
        <p:spPr>
          <a:xfrm>
            <a:off x="9930384"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930384" y="2926080"/>
            <a:ext cx="54864" cy="10515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67544" y="3035808"/>
            <a:ext cx="1444752" cy="411480"/>
          </a:xfrm>
          <a:prstGeom prst="rect">
            <a:avLst/>
          </a:prstGeom>
          <a:noFill/>
        </p:spPr>
        <p:txBody>
          <a:bodyPr wrap="square">
            <a:spAutoFit/>
          </a:bodyPr>
          <a:lstStyle/>
          <a:p>
            <a:pPr algn="l"/>
            <a:r>
              <a:rPr sz="2200" b="1">
                <a:solidFill>
                  <a:srgbClr val="34A853"/>
                </a:solidFill>
                <a:latin typeface="Calibri"/>
              </a:rPr>
              <a:t>Audits</a:t>
            </a:r>
          </a:p>
        </p:txBody>
      </p:sp>
      <p:sp>
        <p:nvSpPr>
          <p:cNvPr id="29" name="TextBox 28"/>
          <p:cNvSpPr txBox="1"/>
          <p:nvPr/>
        </p:nvSpPr>
        <p:spPr>
          <a:xfrm>
            <a:off x="10067544" y="3474720"/>
            <a:ext cx="1444752" cy="274320"/>
          </a:xfrm>
          <a:prstGeom prst="rect">
            <a:avLst/>
          </a:prstGeom>
          <a:noFill/>
        </p:spPr>
        <p:txBody>
          <a:bodyPr wrap="square">
            <a:spAutoFit/>
          </a:bodyPr>
          <a:lstStyle/>
          <a:p>
            <a:pPr algn="l"/>
            <a:r>
              <a:rPr sz="1100" b="0">
                <a:solidFill>
                  <a:srgbClr val="1A1A1A"/>
                </a:solidFill>
                <a:latin typeface="Calibri"/>
              </a:rPr>
              <a:t>To Complete</a:t>
            </a:r>
          </a:p>
        </p:txBody>
      </p:sp>
      <p:sp>
        <p:nvSpPr>
          <p:cNvPr id="30" name="Rectangle 29"/>
          <p:cNvSpPr/>
          <p:nvPr/>
        </p:nvSpPr>
        <p:spPr>
          <a:xfrm>
            <a:off x="0" y="6400800"/>
            <a:ext cx="3047695" cy="36576"/>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047695" y="6400800"/>
            <a:ext cx="3047695" cy="36576"/>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095390" y="6400800"/>
            <a:ext cx="3047695" cy="36576"/>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143085" y="6400800"/>
            <a:ext cx="3047695" cy="36576"/>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Google Ads Account Access</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CBD5E1"/>
                </a:solidFill>
                <a:latin typeface="Calibri"/>
              </a:rPr>
              <a:t>Already linked to MCC — need to confirm access level</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Section 1 of 7</a:t>
            </a:r>
          </a:p>
        </p:txBody>
      </p:sp>
      <p:graphicFrame>
        <p:nvGraphicFramePr>
          <p:cNvPr id="10" name="Table 9"/>
          <p:cNvGraphicFramePr>
            <a:graphicFrameLocks noGrp="1"/>
          </p:cNvGraphicFramePr>
          <p:nvPr/>
        </p:nvGraphicFramePr>
        <p:xfrm>
          <a:off x="548640" y="1097280"/>
          <a:ext cx="8686800" cy="2011680"/>
        </p:xfrm>
        <a:graphic>
          <a:graphicData uri="http://schemas.openxmlformats.org/drawingml/2006/table">
            <a:tbl>
              <a:tblPr firstRow="1" bandRow="1">
                <a:tableStyleId>{5C22544A-7EE6-4342-B048-85BDC9FD1C3A}</a:tableStyleId>
              </a:tblPr>
              <a:tblGrid>
                <a:gridCol w="1828800"/>
                <a:gridCol w="2286000"/>
                <a:gridCol w="2743200"/>
                <a:gridCol w="914400"/>
                <a:gridCol w="914400"/>
              </a:tblGrid>
              <a:tr h="335280">
                <a:tc>
                  <a:txBody>
                    <a:bodyPr/>
                    <a:lstStyle/>
                    <a:p>
                      <a:pPr>
                        <a:defRPr sz="1000" b="1">
                          <a:solidFill>
                            <a:srgbClr val="FFFFFF"/>
                          </a:solidFill>
                          <a:latin typeface="Calibri"/>
                        </a:defRPr>
                      </a:pPr>
                      <a:r>
                        <a:t>Item</a:t>
                      </a:r>
                    </a:p>
                  </a:txBody>
                  <a:tcPr>
                    <a:solidFill>
                      <a:srgbClr val="1A237E"/>
                    </a:solidFill>
                  </a:tcPr>
                </a:tc>
                <a:tc>
                  <a:txBody>
                    <a:bodyPr/>
                    <a:lstStyle/>
                    <a:p>
                      <a:pPr>
                        <a:defRPr sz="1000" b="1">
                          <a:solidFill>
                            <a:srgbClr val="FFFFFF"/>
                          </a:solidFill>
                          <a:latin typeface="Calibri"/>
                        </a:defRPr>
                      </a:pPr>
                      <a:r>
                        <a:t>Current Status</a:t>
                      </a:r>
                    </a:p>
                  </a:txBody>
                  <a:tcPr>
                    <a:solidFill>
                      <a:srgbClr val="1A237E"/>
                    </a:solidFill>
                  </a:tcPr>
                </a:tc>
                <a:tc>
                  <a:txBody>
                    <a:bodyPr/>
                    <a:lstStyle/>
                    <a:p>
                      <a:pPr>
                        <a:defRPr sz="1000" b="1">
                          <a:solidFill>
                            <a:srgbClr val="FFFFFF"/>
                          </a:solidFill>
                          <a:latin typeface="Calibri"/>
                        </a:defRPr>
                      </a:pPr>
                      <a:r>
                        <a:t>Action Required</a:t>
                      </a:r>
                    </a:p>
                  </a:txBody>
                  <a:tcPr>
                    <a:solidFill>
                      <a:srgbClr val="1A237E"/>
                    </a:solidFill>
                  </a:tcPr>
                </a:tc>
                <a:tc>
                  <a:txBody>
                    <a:bodyPr/>
                    <a:lstStyle/>
                    <a:p>
                      <a:pPr>
                        <a:defRPr sz="1000" b="1">
                          <a:solidFill>
                            <a:srgbClr val="FFFFFF"/>
                          </a:solidFill>
                          <a:latin typeface="Calibri"/>
                        </a:defRPr>
                      </a:pPr>
                      <a:r>
                        <a:t>Owner</a:t>
                      </a:r>
                    </a:p>
                  </a:txBody>
                  <a:tcPr>
                    <a:solidFill>
                      <a:srgbClr val="1A237E"/>
                    </a:solidFill>
                  </a:tcPr>
                </a:tc>
                <a:tc>
                  <a:txBody>
                    <a:bodyPr/>
                    <a:lstStyle/>
                    <a:p>
                      <a:pPr>
                        <a:defRPr sz="1000" b="1">
                          <a:solidFill>
                            <a:srgbClr val="FFFFFF"/>
                          </a:solidFill>
                          <a:latin typeface="Calibri"/>
                        </a:defRPr>
                      </a:pPr>
                      <a:r>
                        <a:t>Status</a:t>
                      </a:r>
                    </a:p>
                  </a:txBody>
                  <a:tcPr>
                    <a:solidFill>
                      <a:srgbClr val="1A237E"/>
                    </a:solidFill>
                  </a:tcPr>
                </a:tc>
              </a:tr>
              <a:tr h="335280">
                <a:tc>
                  <a:txBody>
                    <a:bodyPr/>
                    <a:lstStyle/>
                    <a:p>
                      <a:pPr>
                        <a:defRPr sz="1000">
                          <a:solidFill>
                            <a:srgbClr val="1A1A1A"/>
                          </a:solidFill>
                          <a:latin typeface="Calibri"/>
                        </a:defRPr>
                      </a:pPr>
                      <a:r>
                        <a:t>MCC Link</a:t>
                      </a:r>
                    </a:p>
                  </a:txBody>
                  <a:tcPr>
                    <a:solidFill>
                      <a:srgbClr val="F5F6FA"/>
                    </a:solidFill>
                  </a:tcPr>
                </a:tc>
                <a:tc>
                  <a:txBody>
                    <a:bodyPr/>
                    <a:lstStyle/>
                    <a:p>
                      <a:pPr>
                        <a:defRPr sz="1000">
                          <a:solidFill>
                            <a:srgbClr val="1A1A1A"/>
                          </a:solidFill>
                          <a:latin typeface="Calibri"/>
                        </a:defRPr>
                      </a:pPr>
                      <a:r>
                        <a:t>Linked to Christopher Hoole MCC (152-796-4125)</a:t>
                      </a:r>
                    </a:p>
                  </a:txBody>
                  <a:tcPr>
                    <a:solidFill>
                      <a:srgbClr val="F5F6FA"/>
                    </a:solidFill>
                  </a:tcPr>
                </a:tc>
                <a:tc>
                  <a:txBody>
                    <a:bodyPr/>
                    <a:lstStyle/>
                    <a:p>
                      <a:pPr>
                        <a:defRPr sz="1000">
                          <a:solidFill>
                            <a:srgbClr val="1A1A1A"/>
                          </a:solidFill>
                          <a:latin typeface="Calibri"/>
                        </a:defRPr>
                      </a:pPr>
                      <a:r>
                        <a:t>Confirm link is active</a:t>
                      </a:r>
                    </a:p>
                  </a:txBody>
                  <a:tcPr>
                    <a:solidFill>
                      <a:srgbClr val="F5F6FA"/>
                    </a:solidFill>
                  </a:tcPr>
                </a:tc>
                <a:tc>
                  <a:txBody>
                    <a:bodyPr/>
                    <a:lstStyle/>
                    <a:p>
                      <a:pPr>
                        <a:defRPr sz="1000">
                          <a:solidFill>
                            <a:srgbClr val="1A1A1A"/>
                          </a:solidFill>
                          <a:latin typeface="Calibri"/>
                        </a:defRPr>
                      </a:pPr>
                      <a:r>
                        <a:t>Giulio</a:t>
                      </a:r>
                    </a:p>
                  </a:txBody>
                  <a:tcPr>
                    <a:solidFill>
                      <a:srgbClr val="F5F6FA"/>
                    </a:solidFill>
                  </a:tcPr>
                </a:tc>
                <a:tc>
                  <a:txBody>
                    <a:bodyPr/>
                    <a:lstStyle/>
                    <a:p>
                      <a:pPr>
                        <a:defRPr sz="1000">
                          <a:solidFill>
                            <a:srgbClr val="1A1A1A"/>
                          </a:solidFill>
                          <a:latin typeface="Calibri"/>
                        </a:defRPr>
                      </a:pPr>
                      <a:r>
                        <a:t>✅ Done</a:t>
                      </a:r>
                    </a:p>
                  </a:txBody>
                  <a:tcPr>
                    <a:solidFill>
                      <a:srgbClr val="F5F6FA"/>
                    </a:solidFill>
                  </a:tcPr>
                </a:tc>
              </a:tr>
              <a:tr h="335280">
                <a:tc>
                  <a:txBody>
                    <a:bodyPr/>
                    <a:lstStyle/>
                    <a:p>
                      <a:pPr>
                        <a:defRPr sz="1000">
                          <a:solidFill>
                            <a:srgbClr val="1A1A1A"/>
                          </a:solidFill>
                          <a:latin typeface="Calibri"/>
                        </a:defRPr>
                      </a:pPr>
                      <a:r>
                        <a:t>Access Level</a:t>
                      </a:r>
                    </a:p>
                  </a:txBody>
                  <a:tcPr>
                    <a:solidFill>
                      <a:srgbClr val="FFFFFF"/>
                    </a:solidFill>
                  </a:tcPr>
                </a:tc>
                <a:tc>
                  <a:txBody>
                    <a:bodyPr/>
                    <a:lstStyle/>
                    <a:p>
                      <a:pPr>
                        <a:defRPr sz="1000">
                          <a:solidFill>
                            <a:srgbClr val="1A1A1A"/>
                          </a:solidFill>
                          <a:latin typeface="Calibri"/>
                        </a:defRPr>
                      </a:pPr>
                      <a:r>
                        <a:t>Read-only (granted for audit)</a:t>
                      </a:r>
                    </a:p>
                  </a:txBody>
                  <a:tcPr>
                    <a:solidFill>
                      <a:srgbClr val="FFFFFF"/>
                    </a:solidFill>
                  </a:tcPr>
                </a:tc>
                <a:tc>
                  <a:txBody>
                    <a:bodyPr/>
                    <a:lstStyle/>
                    <a:p>
                      <a:pPr>
                        <a:defRPr sz="1000">
                          <a:solidFill>
                            <a:srgbClr val="1A1A1A"/>
                          </a:solidFill>
                          <a:latin typeface="Calibri"/>
                        </a:defRPr>
                      </a:pPr>
                      <a:r>
                        <a:t>Upgrade to Admin access</a:t>
                      </a:r>
                    </a:p>
                  </a:txBody>
                  <a:tcPr>
                    <a:solidFill>
                      <a:srgbClr val="FFFFFF"/>
                    </a:solidFill>
                  </a:tcPr>
                </a:tc>
                <a:tc>
                  <a:txBody>
                    <a:bodyPr/>
                    <a:lstStyle/>
                    <a:p>
                      <a:pPr>
                        <a:defRPr sz="1000">
                          <a:solidFill>
                            <a:srgbClr val="1A1A1A"/>
                          </a:solidFill>
                          <a:latin typeface="Calibri"/>
                        </a:defRPr>
                      </a:pPr>
                      <a:r>
                        <a:t>Giulio</a:t>
                      </a:r>
                    </a:p>
                  </a:txBody>
                  <a:tcPr>
                    <a:solidFill>
                      <a:srgbClr val="FFFFFF"/>
                    </a:solidFill>
                  </a:tcPr>
                </a:tc>
                <a:tc>
                  <a:txBody>
                    <a:bodyPr/>
                    <a:lstStyle/>
                    <a:p>
                      <a:pPr>
                        <a:defRPr sz="1000">
                          <a:solidFill>
                            <a:srgbClr val="1A1A1A"/>
                          </a:solidFill>
                          <a:latin typeface="Calibri"/>
                        </a:defRPr>
                      </a:pPr>
                      <a:r>
                        <a:t>⏳ Pending</a:t>
                      </a:r>
                    </a:p>
                  </a:txBody>
                  <a:tcPr>
                    <a:solidFill>
                      <a:srgbClr val="FFFFFF"/>
                    </a:solidFill>
                  </a:tcPr>
                </a:tc>
              </a:tr>
              <a:tr h="335280">
                <a:tc>
                  <a:txBody>
                    <a:bodyPr/>
                    <a:lstStyle/>
                    <a:p>
                      <a:pPr>
                        <a:defRPr sz="1000">
                          <a:solidFill>
                            <a:srgbClr val="1A1A1A"/>
                          </a:solidFill>
                          <a:latin typeface="Calibri"/>
                        </a:defRPr>
                      </a:pPr>
                      <a:r>
                        <a:t>Conversion Actions</a:t>
                      </a:r>
                    </a:p>
                  </a:txBody>
                  <a:tcPr>
                    <a:solidFill>
                      <a:srgbClr val="F5F6FA"/>
                    </a:solidFill>
                  </a:tcPr>
                </a:tc>
                <a:tc>
                  <a:txBody>
                    <a:bodyPr/>
                    <a:lstStyle/>
                    <a:p>
                      <a:pPr>
                        <a:defRPr sz="1000">
                          <a:solidFill>
                            <a:srgbClr val="1A1A1A"/>
                          </a:solidFill>
                          <a:latin typeface="Calibri"/>
                        </a:defRPr>
                      </a:pPr>
                      <a:r>
                        <a:t>1,511 KMG ghosts + 445 soft signals identified</a:t>
                      </a:r>
                    </a:p>
                  </a:txBody>
                  <a:tcPr>
                    <a:solidFill>
                      <a:srgbClr val="F5F6FA"/>
                    </a:solidFill>
                  </a:tcPr>
                </a:tc>
                <a:tc>
                  <a:txBody>
                    <a:bodyPr/>
                    <a:lstStyle/>
                    <a:p>
                      <a:pPr>
                        <a:defRPr sz="1000">
                          <a:solidFill>
                            <a:srgbClr val="1A1A1A"/>
                          </a:solidFill>
                          <a:latin typeface="Calibri"/>
                        </a:defRPr>
                      </a:pPr>
                      <a:r>
                        <a:t>Remove ghosts, move soft signals to Secondary</a:t>
                      </a:r>
                    </a:p>
                  </a:txBody>
                  <a:tcPr>
                    <a:solidFill>
                      <a:srgbClr val="F5F6FA"/>
                    </a:solidFill>
                  </a:tcPr>
                </a:tc>
                <a:tc>
                  <a:txBody>
                    <a:bodyPr/>
                    <a:lstStyle/>
                    <a:p>
                      <a:pPr>
                        <a:defRPr sz="1000">
                          <a:solidFill>
                            <a:srgbClr val="1A1A1A"/>
                          </a:solidFill>
                          <a:latin typeface="Calibri"/>
                        </a:defRPr>
                      </a:pPr>
                      <a:r>
                        <a:t>Christopher</a:t>
                      </a:r>
                    </a:p>
                  </a:txBody>
                  <a:tcPr>
                    <a:solidFill>
                      <a:srgbClr val="F5F6FA"/>
                    </a:solidFill>
                  </a:tcPr>
                </a:tc>
                <a:tc>
                  <a:txBody>
                    <a:bodyPr/>
                    <a:lstStyle/>
                    <a:p>
                      <a:pPr>
                        <a:defRPr sz="1000">
                          <a:solidFill>
                            <a:srgbClr val="1A1A1A"/>
                          </a:solidFill>
                          <a:latin typeface="Calibri"/>
                        </a:defRPr>
                      </a:pPr>
                      <a:r>
                        <a:t>Week 1</a:t>
                      </a:r>
                    </a:p>
                  </a:txBody>
                  <a:tcPr>
                    <a:solidFill>
                      <a:srgbClr val="F5F6FA"/>
                    </a:solidFill>
                  </a:tcPr>
                </a:tc>
              </a:tr>
              <a:tr h="335280">
                <a:tc>
                  <a:txBody>
                    <a:bodyPr/>
                    <a:lstStyle/>
                    <a:p>
                      <a:pPr>
                        <a:defRPr sz="1000">
                          <a:solidFill>
                            <a:srgbClr val="1A1A1A"/>
                          </a:solidFill>
                          <a:latin typeface="Calibri"/>
                        </a:defRPr>
                      </a:pPr>
                      <a:r>
                        <a:t>Auto-Apply</a:t>
                      </a:r>
                    </a:p>
                  </a:txBody>
                  <a:tcPr>
                    <a:solidFill>
                      <a:srgbClr val="FFFFFF"/>
                    </a:solidFill>
                  </a:tcPr>
                </a:tc>
                <a:tc>
                  <a:txBody>
                    <a:bodyPr/>
                    <a:lstStyle/>
                    <a:p>
                      <a:pPr>
                        <a:defRPr sz="1000">
                          <a:solidFill>
                            <a:srgbClr val="1A1A1A"/>
                          </a:solidFill>
                          <a:latin typeface="Calibri"/>
                        </a:defRPr>
                      </a:pPr>
                      <a:r>
                        <a:t>5 recommendations enabled (last fired Feb 2026)</a:t>
                      </a:r>
                    </a:p>
                  </a:txBody>
                  <a:tcPr>
                    <a:solidFill>
                      <a:srgbClr val="FFFFFF"/>
                    </a:solidFill>
                  </a:tcPr>
                </a:tc>
                <a:tc>
                  <a:txBody>
                    <a:bodyPr/>
                    <a:lstStyle/>
                    <a:p>
                      <a:pPr>
                        <a:defRPr sz="1000">
                          <a:solidFill>
                            <a:srgbClr val="1A1A1A"/>
                          </a:solidFill>
                          <a:latin typeface="Calibri"/>
                        </a:defRPr>
                      </a:pPr>
                      <a:r>
                        <a:t>Disable all except ad rotation</a:t>
                      </a:r>
                    </a:p>
                  </a:txBody>
                  <a:tcPr>
                    <a:solidFill>
                      <a:srgbClr val="FFFFFF"/>
                    </a:solidFill>
                  </a:tcPr>
                </a:tc>
                <a:tc>
                  <a:txBody>
                    <a:bodyPr/>
                    <a:lstStyle/>
                    <a:p>
                      <a:pPr>
                        <a:defRPr sz="1000">
                          <a:solidFill>
                            <a:srgbClr val="1A1A1A"/>
                          </a:solidFill>
                          <a:latin typeface="Calibri"/>
                        </a:defRPr>
                      </a:pPr>
                      <a:r>
                        <a:t>Christopher</a:t>
                      </a:r>
                    </a:p>
                  </a:txBody>
                  <a:tcPr>
                    <a:solidFill>
                      <a:srgbClr val="FFFFFF"/>
                    </a:solidFill>
                  </a:tcPr>
                </a:tc>
                <a:tc>
                  <a:txBody>
                    <a:bodyPr/>
                    <a:lstStyle/>
                    <a:p>
                      <a:pPr>
                        <a:defRPr sz="1000">
                          <a:solidFill>
                            <a:srgbClr val="1A1A1A"/>
                          </a:solidFill>
                          <a:latin typeface="Calibri"/>
                        </a:defRPr>
                      </a:pPr>
                      <a:r>
                        <a:t>Week 1</a:t>
                      </a:r>
                    </a:p>
                  </a:txBody>
                  <a:tcPr>
                    <a:solidFill>
                      <a:srgbClr val="FFFFFF"/>
                    </a:solidFill>
                  </a:tcPr>
                </a:tc>
              </a:tr>
              <a:tr h="335280">
                <a:tc>
                  <a:txBody>
                    <a:bodyPr/>
                    <a:lstStyle/>
                    <a:p>
                      <a:pPr>
                        <a:defRPr sz="1000">
                          <a:solidFill>
                            <a:srgbClr val="1A1A1A"/>
                          </a:solidFill>
                          <a:latin typeface="Calibri"/>
                        </a:defRPr>
                      </a:pPr>
                      <a:r>
                        <a:t>Bid Strategy</a:t>
                      </a:r>
                    </a:p>
                  </a:txBody>
                  <a:tcPr>
                    <a:solidFill>
                      <a:srgbClr val="F5F6FA"/>
                    </a:solidFill>
                  </a:tcPr>
                </a:tc>
                <a:tc>
                  <a:txBody>
                    <a:bodyPr/>
                    <a:lstStyle/>
                    <a:p>
                      <a:pPr>
                        <a:defRPr sz="1000">
                          <a:solidFill>
                            <a:srgbClr val="1A1A1A"/>
                          </a:solidFill>
                          <a:latin typeface="Calibri"/>
                        </a:defRPr>
                      </a:pPr>
                      <a:r>
                        <a:t>tROAS with arbitrary £300 values</a:t>
                      </a:r>
                    </a:p>
                  </a:txBody>
                  <a:tcPr>
                    <a:solidFill>
                      <a:srgbClr val="F5F6FA"/>
                    </a:solidFill>
                  </a:tcPr>
                </a:tc>
                <a:tc>
                  <a:txBody>
                    <a:bodyPr/>
                    <a:lstStyle/>
                    <a:p>
                      <a:pPr>
                        <a:defRPr sz="1000">
                          <a:solidFill>
                            <a:srgbClr val="1A1A1A"/>
                          </a:solidFill>
                          <a:latin typeface="Calibri"/>
                        </a:defRPr>
                      </a:pPr>
                      <a:r>
                        <a:t>Phased migration to tCPA</a:t>
                      </a:r>
                    </a:p>
                  </a:txBody>
                  <a:tcPr>
                    <a:solidFill>
                      <a:srgbClr val="F5F6FA"/>
                    </a:solidFill>
                  </a:tcPr>
                </a:tc>
                <a:tc>
                  <a:txBody>
                    <a:bodyPr/>
                    <a:lstStyle/>
                    <a:p>
                      <a:pPr>
                        <a:defRPr sz="1000">
                          <a:solidFill>
                            <a:srgbClr val="1A1A1A"/>
                          </a:solidFill>
                          <a:latin typeface="Calibri"/>
                        </a:defRPr>
                      </a:pPr>
                      <a:r>
                        <a:t>Christopher</a:t>
                      </a:r>
                    </a:p>
                  </a:txBody>
                  <a:tcPr>
                    <a:solidFill>
                      <a:srgbClr val="F5F6FA"/>
                    </a:solidFill>
                  </a:tcPr>
                </a:tc>
                <a:tc>
                  <a:txBody>
                    <a:bodyPr/>
                    <a:lstStyle/>
                    <a:p>
                      <a:pPr>
                        <a:defRPr sz="1000">
                          <a:solidFill>
                            <a:srgbClr val="1A1A1A"/>
                          </a:solidFill>
                          <a:latin typeface="Calibri"/>
                        </a:defRPr>
                      </a:pPr>
                      <a:r>
                        <a:t>Weeks 2-4</a:t>
                      </a:r>
                    </a:p>
                  </a:txBody>
                  <a:tcPr>
                    <a:solidFill>
                      <a:srgbClr val="F5F6FA"/>
                    </a:solidFill>
                  </a:tcPr>
                </a:tc>
              </a:tr>
            </a:tbl>
          </a:graphicData>
        </a:graphic>
      </p:graphicFrame>
      <p:sp>
        <p:nvSpPr>
          <p:cNvPr id="11" name="Rectangle 10"/>
          <p:cNvSpPr/>
          <p:nvPr/>
        </p:nvSpPr>
        <p:spPr>
          <a:xfrm>
            <a:off x="548640" y="3291840"/>
            <a:ext cx="5303520" cy="2560320"/>
          </a:xfrm>
          <a:prstGeom prst="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291840"/>
            <a:ext cx="54864" cy="25603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383280"/>
            <a:ext cx="4937760" cy="274320"/>
          </a:xfrm>
          <a:prstGeom prst="rect">
            <a:avLst/>
          </a:prstGeom>
          <a:noFill/>
        </p:spPr>
        <p:txBody>
          <a:bodyPr wrap="square">
            <a:spAutoFit/>
          </a:bodyPr>
          <a:lstStyle/>
          <a:p>
            <a:pPr algn="l"/>
            <a:r>
              <a:rPr sz="1400" b="1">
                <a:solidFill>
                  <a:srgbClr val="1A237E"/>
                </a:solidFill>
                <a:latin typeface="Calibri"/>
              </a:rPr>
              <a:t>Why Admin Access?</a:t>
            </a:r>
          </a:p>
        </p:txBody>
      </p:sp>
      <p:sp>
        <p:nvSpPr>
          <p:cNvPr id="14" name="TextBox 13"/>
          <p:cNvSpPr txBox="1"/>
          <p:nvPr/>
        </p:nvSpPr>
        <p:spPr>
          <a:xfrm>
            <a:off x="777240" y="3657600"/>
            <a:ext cx="4937760" cy="2103120"/>
          </a:xfrm>
          <a:prstGeom prst="rect">
            <a:avLst/>
          </a:prstGeom>
          <a:noFill/>
        </p:spPr>
        <p:txBody>
          <a:bodyPr wrap="square">
            <a:spAutoFit/>
          </a:bodyPr>
          <a:lstStyle/>
          <a:p>
            <a:pPr algn="l"/>
            <a:r>
              <a:rPr sz="1100" b="0">
                <a:solidFill>
                  <a:srgbClr val="1A1A1A"/>
                </a:solidFill>
                <a:latin typeface="Calibri"/>
              </a:rPr>
              <a:t>Admin (not just Editor) is needed to:
• Manage conversion actions (remove KMG ghosts)
• Link/unlink GA4 and other properties
• Manage audience lists
• Access account-level settings
• Manage negative keyword lists at account level
This is essential for the Week 1 fixes identified in the audit reports.</a:t>
            </a:r>
          </a:p>
        </p:txBody>
      </p:sp>
      <p:sp>
        <p:nvSpPr>
          <p:cNvPr id="15" name="Rectangle 14"/>
          <p:cNvSpPr/>
          <p:nvPr/>
        </p:nvSpPr>
        <p:spPr>
          <a:xfrm>
            <a:off x="6217920" y="3291840"/>
            <a:ext cx="5303520" cy="256032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291840"/>
            <a:ext cx="54864" cy="25603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383280"/>
            <a:ext cx="4937760" cy="274320"/>
          </a:xfrm>
          <a:prstGeom prst="rect">
            <a:avLst/>
          </a:prstGeom>
          <a:noFill/>
        </p:spPr>
        <p:txBody>
          <a:bodyPr wrap="square">
            <a:spAutoFit/>
          </a:bodyPr>
          <a:lstStyle/>
          <a:p>
            <a:pPr algn="l"/>
            <a:r>
              <a:rPr sz="1400" b="1">
                <a:solidFill>
                  <a:srgbClr val="1A237E"/>
                </a:solidFill>
                <a:latin typeface="Calibri"/>
              </a:rPr>
              <a:t>Questions for Giulio</a:t>
            </a:r>
          </a:p>
        </p:txBody>
      </p:sp>
      <p:sp>
        <p:nvSpPr>
          <p:cNvPr id="18" name="TextBox 17"/>
          <p:cNvSpPr txBox="1"/>
          <p:nvPr/>
        </p:nvSpPr>
        <p:spPr>
          <a:xfrm>
            <a:off x="6446520" y="3657600"/>
            <a:ext cx="4937760" cy="2103120"/>
          </a:xfrm>
          <a:prstGeom prst="rect">
            <a:avLst/>
          </a:prstGeom>
          <a:noFill/>
        </p:spPr>
        <p:txBody>
          <a:bodyPr wrap="square">
            <a:spAutoFit/>
          </a:bodyPr>
          <a:lstStyle/>
          <a:p>
            <a:pPr algn="l"/>
            <a:r>
              <a:rPr sz="1100" b="0">
                <a:solidFill>
                  <a:srgbClr val="1A1A1A"/>
                </a:solidFill>
                <a:latin typeface="Calibri"/>
              </a:rPr>
              <a:t>1. Can you upgrade my access from Read-only to Admin?
2. Is the Google Ads account managed through a Majestico MCC, or directly? What is the relationship between Majestico and Prodent Group?
3. Are there any other Google Ads accounts in the Prodent Group I should be aware of?</a:t>
            </a:r>
          </a:p>
        </p:txBody>
      </p:sp>
      <p:sp>
        <p:nvSpPr>
          <p:cNvPr id="19" name="Rectangle 18"/>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24" name="TextBox 23"/>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5" name="TextBox 24"/>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GA4 &amp; Search Console Access</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CBD5E1"/>
                </a:solidFill>
                <a:latin typeface="Calibri"/>
              </a:rPr>
              <a:t>Need Editor access to both properties</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Section 2 of 7</a:t>
            </a:r>
          </a:p>
        </p:txBody>
      </p:sp>
      <p:graphicFrame>
        <p:nvGraphicFramePr>
          <p:cNvPr id="10" name="Table 9"/>
          <p:cNvGraphicFramePr>
            <a:graphicFrameLocks noGrp="1"/>
          </p:cNvGraphicFramePr>
          <p:nvPr/>
        </p:nvGraphicFramePr>
        <p:xfrm>
          <a:off x="548640" y="1097280"/>
          <a:ext cx="8229600" cy="1645920"/>
        </p:xfrm>
        <a:graphic>
          <a:graphicData uri="http://schemas.openxmlformats.org/drawingml/2006/table">
            <a:tbl>
              <a:tblPr firstRow="1" bandRow="1">
                <a:tableStyleId>{5C22544A-7EE6-4342-B048-85BDC9FD1C3A}</a:tableStyleId>
              </a:tblPr>
              <a:tblGrid>
                <a:gridCol w="1371600"/>
                <a:gridCol w="2286000"/>
                <a:gridCol w="1371600"/>
                <a:gridCol w="2286000"/>
                <a:gridCol w="914400"/>
              </a:tblGrid>
              <a:tr h="548640">
                <a:tc>
                  <a:txBody>
                    <a:bodyPr/>
                    <a:lstStyle/>
                    <a:p>
                      <a:pPr>
                        <a:defRPr sz="1000" b="1">
                          <a:solidFill>
                            <a:srgbClr val="FFFFFF"/>
                          </a:solidFill>
                          <a:latin typeface="Calibri"/>
                        </a:defRPr>
                      </a:pPr>
                      <a:r>
                        <a:t>Platform</a:t>
                      </a:r>
                    </a:p>
                  </a:txBody>
                  <a:tcPr>
                    <a:solidFill>
                      <a:srgbClr val="1A237E"/>
                    </a:solidFill>
                  </a:tcPr>
                </a:tc>
                <a:tc>
                  <a:txBody>
                    <a:bodyPr/>
                    <a:lstStyle/>
                    <a:p>
                      <a:pPr>
                        <a:defRPr sz="1000" b="1">
                          <a:solidFill>
                            <a:srgbClr val="FFFFFF"/>
                          </a:solidFill>
                          <a:latin typeface="Calibri"/>
                        </a:defRPr>
                      </a:pPr>
                      <a:r>
                        <a:t>Property</a:t>
                      </a:r>
                    </a:p>
                  </a:txBody>
                  <a:tcPr>
                    <a:solidFill>
                      <a:srgbClr val="1A237E"/>
                    </a:solidFill>
                  </a:tcPr>
                </a:tc>
                <a:tc>
                  <a:txBody>
                    <a:bodyPr/>
                    <a:lstStyle/>
                    <a:p>
                      <a:pPr>
                        <a:defRPr sz="1000" b="1">
                          <a:solidFill>
                            <a:srgbClr val="FFFFFF"/>
                          </a:solidFill>
                          <a:latin typeface="Calibri"/>
                        </a:defRPr>
                      </a:pPr>
                      <a:r>
                        <a:t>Access Required</a:t>
                      </a:r>
                    </a:p>
                  </a:txBody>
                  <a:tcPr>
                    <a:solidFill>
                      <a:srgbClr val="1A237E"/>
                    </a:solidFill>
                  </a:tcPr>
                </a:tc>
                <a:tc>
                  <a:txBody>
                    <a:bodyPr/>
                    <a:lstStyle/>
                    <a:p>
                      <a:pPr>
                        <a:defRPr sz="1000" b="1">
                          <a:solidFill>
                            <a:srgbClr val="FFFFFF"/>
                          </a:solidFill>
                          <a:latin typeface="Calibri"/>
                        </a:defRPr>
                      </a:pPr>
                      <a:r>
                        <a:t>Grant To</a:t>
                      </a:r>
                    </a:p>
                  </a:txBody>
                  <a:tcPr>
                    <a:solidFill>
                      <a:srgbClr val="1A237E"/>
                    </a:solidFill>
                  </a:tcPr>
                </a:tc>
                <a:tc>
                  <a:txBody>
                    <a:bodyPr/>
                    <a:lstStyle/>
                    <a:p>
                      <a:pPr>
                        <a:defRPr sz="1000" b="1">
                          <a:solidFill>
                            <a:srgbClr val="FFFFFF"/>
                          </a:solidFill>
                          <a:latin typeface="Calibri"/>
                        </a:defRPr>
                      </a:pPr>
                      <a:r>
                        <a:t>Status</a:t>
                      </a:r>
                    </a:p>
                  </a:txBody>
                  <a:tcPr>
                    <a:solidFill>
                      <a:srgbClr val="1A237E"/>
                    </a:solidFill>
                  </a:tcPr>
                </a:tc>
              </a:tr>
              <a:tr h="548640">
                <a:tc>
                  <a:txBody>
                    <a:bodyPr/>
                    <a:lstStyle/>
                    <a:p>
                      <a:pPr>
                        <a:defRPr sz="1000">
                          <a:solidFill>
                            <a:srgbClr val="1A1A1A"/>
                          </a:solidFill>
                          <a:latin typeface="Calibri"/>
                        </a:defRPr>
                      </a:pPr>
                      <a:r>
                        <a:t>GA4</a:t>
                      </a:r>
                    </a:p>
                  </a:txBody>
                  <a:tcPr>
                    <a:solidFill>
                      <a:srgbClr val="F5F6FA"/>
                    </a:solidFill>
                  </a:tcPr>
                </a:tc>
                <a:tc>
                  <a:txBody>
                    <a:bodyPr/>
                    <a:lstStyle/>
                    <a:p>
                      <a:pPr>
                        <a:defRPr sz="1000">
                          <a:solidFill>
                            <a:srgbClr val="1A1A1A"/>
                          </a:solidFill>
                          <a:latin typeface="Calibri"/>
                        </a:defRPr>
                      </a:pPr>
                      <a:r>
                        <a:t>dentalbydesign.co.uk property</a:t>
                      </a:r>
                    </a:p>
                  </a:txBody>
                  <a:tcPr>
                    <a:solidFill>
                      <a:srgbClr val="F5F6FA"/>
                    </a:solidFill>
                  </a:tcPr>
                </a:tc>
                <a:tc>
                  <a:txBody>
                    <a:bodyPr/>
                    <a:lstStyle/>
                    <a:p>
                      <a:pPr>
                        <a:defRPr sz="1000">
                          <a:solidFill>
                            <a:srgbClr val="1A1A1A"/>
                          </a:solidFill>
                          <a:latin typeface="Calibri"/>
                        </a:defRPr>
                      </a:pPr>
                      <a:r>
                        <a:t>Editor</a:t>
                      </a:r>
                    </a:p>
                  </a:txBody>
                  <a:tcPr>
                    <a:solidFill>
                      <a:srgbClr val="F5F6FA"/>
                    </a:solidFill>
                  </a:tcPr>
                </a:tc>
                <a:tc>
                  <a:txBody>
                    <a:bodyPr/>
                    <a:lstStyle/>
                    <a:p>
                      <a:pPr>
                        <a:defRPr sz="1000">
                          <a:solidFill>
                            <a:srgbClr val="1A1A1A"/>
                          </a:solidFill>
                          <a:latin typeface="Calibri"/>
                        </a:defRPr>
                      </a:pPr>
                      <a:r>
                        <a:t>chris@christopherhoole.com</a:t>
                      </a:r>
                    </a:p>
                  </a:txBody>
                  <a:tcPr>
                    <a:solidFill>
                      <a:srgbClr val="F5F6FA"/>
                    </a:solidFill>
                  </a:tcPr>
                </a:tc>
                <a:tc>
                  <a:txBody>
                    <a:bodyPr/>
                    <a:lstStyle/>
                    <a:p>
                      <a:pPr>
                        <a:defRPr sz="1000">
                          <a:solidFill>
                            <a:srgbClr val="1A1A1A"/>
                          </a:solidFill>
                          <a:latin typeface="Calibri"/>
                        </a:defRPr>
                      </a:pPr>
                      <a:r>
                        <a:t>⏳ Pending</a:t>
                      </a:r>
                    </a:p>
                  </a:txBody>
                  <a:tcPr>
                    <a:solidFill>
                      <a:srgbClr val="F5F6FA"/>
                    </a:solidFill>
                  </a:tcPr>
                </a:tc>
              </a:tr>
              <a:tr h="548640">
                <a:tc>
                  <a:txBody>
                    <a:bodyPr/>
                    <a:lstStyle/>
                    <a:p>
                      <a:pPr>
                        <a:defRPr sz="1000">
                          <a:solidFill>
                            <a:srgbClr val="1A1A1A"/>
                          </a:solidFill>
                          <a:latin typeface="Calibri"/>
                        </a:defRPr>
                      </a:pPr>
                      <a:r>
                        <a:t>Search Console</a:t>
                      </a:r>
                    </a:p>
                  </a:txBody>
                  <a:tcPr>
                    <a:solidFill>
                      <a:srgbClr val="FFFFFF"/>
                    </a:solidFill>
                  </a:tcPr>
                </a:tc>
                <a:tc>
                  <a:txBody>
                    <a:bodyPr/>
                    <a:lstStyle/>
                    <a:p>
                      <a:pPr>
                        <a:defRPr sz="1000">
                          <a:solidFill>
                            <a:srgbClr val="1A1A1A"/>
                          </a:solidFill>
                          <a:latin typeface="Calibri"/>
                        </a:defRPr>
                      </a:pPr>
                      <a:r>
                        <a:t>dentalbydesign.co.uk (Domain)</a:t>
                      </a:r>
                    </a:p>
                  </a:txBody>
                  <a:tcPr>
                    <a:solidFill>
                      <a:srgbClr val="FFFFFF"/>
                    </a:solidFill>
                  </a:tcPr>
                </a:tc>
                <a:tc>
                  <a:txBody>
                    <a:bodyPr/>
                    <a:lstStyle/>
                    <a:p>
                      <a:pPr>
                        <a:defRPr sz="1000">
                          <a:solidFill>
                            <a:srgbClr val="1A1A1A"/>
                          </a:solidFill>
                          <a:latin typeface="Calibri"/>
                        </a:defRPr>
                      </a:pPr>
                      <a:r>
                        <a:t>Full Access</a:t>
                      </a:r>
                    </a:p>
                  </a:txBody>
                  <a:tcPr>
                    <a:solidFill>
                      <a:srgbClr val="FFFFFF"/>
                    </a:solidFill>
                  </a:tcPr>
                </a:tc>
                <a:tc>
                  <a:txBody>
                    <a:bodyPr/>
                    <a:lstStyle/>
                    <a:p>
                      <a:pPr>
                        <a:defRPr sz="1000">
                          <a:solidFill>
                            <a:srgbClr val="1A1A1A"/>
                          </a:solidFill>
                          <a:latin typeface="Calibri"/>
                        </a:defRPr>
                      </a:pPr>
                      <a:r>
                        <a:t>chris@christopherhoole.com</a:t>
                      </a:r>
                    </a:p>
                  </a:txBody>
                  <a:tcPr>
                    <a:solidFill>
                      <a:srgbClr val="FFFFFF"/>
                    </a:solidFill>
                  </a:tcPr>
                </a:tc>
                <a:tc>
                  <a:txBody>
                    <a:bodyPr/>
                    <a:lstStyle/>
                    <a:p>
                      <a:pPr>
                        <a:defRPr sz="1000">
                          <a:solidFill>
                            <a:srgbClr val="1A1A1A"/>
                          </a:solidFill>
                          <a:latin typeface="Calibri"/>
                        </a:defRPr>
                      </a:pPr>
                      <a:r>
                        <a:t>⏳ Pending</a:t>
                      </a:r>
                    </a:p>
                  </a:txBody>
                  <a:tcPr>
                    <a:solidFill>
                      <a:srgbClr val="FFFFFF"/>
                    </a:solidFill>
                  </a:tcPr>
                </a:tc>
              </a:tr>
            </a:tbl>
          </a:graphicData>
        </a:graphic>
      </p:graphicFrame>
      <p:sp>
        <p:nvSpPr>
          <p:cNvPr id="11" name="Rectangle 10"/>
          <p:cNvSpPr/>
          <p:nvPr/>
        </p:nvSpPr>
        <p:spPr>
          <a:xfrm>
            <a:off x="548640" y="2926080"/>
            <a:ext cx="5303520" cy="292608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926080"/>
            <a:ext cx="54864" cy="292608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017520"/>
            <a:ext cx="4937760" cy="274320"/>
          </a:xfrm>
          <a:prstGeom prst="rect">
            <a:avLst/>
          </a:prstGeom>
          <a:noFill/>
        </p:spPr>
        <p:txBody>
          <a:bodyPr wrap="square">
            <a:spAutoFit/>
          </a:bodyPr>
          <a:lstStyle/>
          <a:p>
            <a:pPr algn="l"/>
            <a:r>
              <a:rPr sz="1400" b="1">
                <a:solidFill>
                  <a:srgbClr val="1A237E"/>
                </a:solidFill>
                <a:latin typeface="Calibri"/>
              </a:rPr>
              <a:t>GA4 Audits I Will Complete</a:t>
            </a:r>
          </a:p>
        </p:txBody>
      </p:sp>
      <p:sp>
        <p:nvSpPr>
          <p:cNvPr id="14" name="TextBox 13"/>
          <p:cNvSpPr txBox="1"/>
          <p:nvPr/>
        </p:nvSpPr>
        <p:spPr>
          <a:xfrm>
            <a:off x="777240" y="3291840"/>
            <a:ext cx="4937760" cy="2468880"/>
          </a:xfrm>
          <a:prstGeom prst="rect">
            <a:avLst/>
          </a:prstGeom>
          <a:noFill/>
        </p:spPr>
        <p:txBody>
          <a:bodyPr wrap="square">
            <a:spAutoFit/>
          </a:bodyPr>
          <a:lstStyle/>
          <a:p>
            <a:pPr algn="l"/>
            <a:r>
              <a:rPr sz="1100" b="0">
                <a:solidFill>
                  <a:srgbClr val="1A1A1A"/>
                </a:solidFill>
                <a:latin typeface="Calibri"/>
              </a:rPr>
              <a:t>• Full GA4 ↔ Google Ads linking audit — fix anything not connected
• Full custom events and conversions audit — verify every event is firing correctly
• Audience configuration — set up remarketing audiences for campaign targeting
• Verify GA4 ↔ Search Console link (enables organic data in GA4)
• Check enhanced measurement settings (scroll, outbound clicks, file downloads)</a:t>
            </a:r>
          </a:p>
        </p:txBody>
      </p:sp>
      <p:sp>
        <p:nvSpPr>
          <p:cNvPr id="15" name="Rectangle 14"/>
          <p:cNvSpPr/>
          <p:nvPr/>
        </p:nvSpPr>
        <p:spPr>
          <a:xfrm>
            <a:off x="6217920" y="2926080"/>
            <a:ext cx="5303520" cy="292608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2926080"/>
            <a:ext cx="54864" cy="292608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017520"/>
            <a:ext cx="4937760" cy="274320"/>
          </a:xfrm>
          <a:prstGeom prst="rect">
            <a:avLst/>
          </a:prstGeom>
          <a:noFill/>
        </p:spPr>
        <p:txBody>
          <a:bodyPr wrap="square">
            <a:spAutoFit/>
          </a:bodyPr>
          <a:lstStyle/>
          <a:p>
            <a:pPr algn="l"/>
            <a:r>
              <a:rPr sz="1400" b="1">
                <a:solidFill>
                  <a:srgbClr val="1A237E"/>
                </a:solidFill>
                <a:latin typeface="Calibri"/>
              </a:rPr>
              <a:t>Questions for Giulio</a:t>
            </a:r>
          </a:p>
        </p:txBody>
      </p:sp>
      <p:sp>
        <p:nvSpPr>
          <p:cNvPr id="18" name="TextBox 17"/>
          <p:cNvSpPr txBox="1"/>
          <p:nvPr/>
        </p:nvSpPr>
        <p:spPr>
          <a:xfrm>
            <a:off x="6446520" y="3291840"/>
            <a:ext cx="4937760" cy="2468880"/>
          </a:xfrm>
          <a:prstGeom prst="rect">
            <a:avLst/>
          </a:prstGeom>
          <a:noFill/>
        </p:spPr>
        <p:txBody>
          <a:bodyPr wrap="square">
            <a:spAutoFit/>
          </a:bodyPr>
          <a:lstStyle/>
          <a:p>
            <a:pPr algn="l"/>
            <a:r>
              <a:rPr sz="1100" b="0">
                <a:solidFill>
                  <a:srgbClr val="1A1A1A"/>
                </a:solidFill>
                <a:latin typeface="Calibri"/>
              </a:rPr>
              <a:t>1. What is the GA4 property ID for dentalbydesign.co.uk?
2. Is GA4 currently linked to the Google Ads account?
3. Are there any custom events set up beyond defaults? (e.g. quiz completion steps, scroll depth, form interaction)
4. Is Search Console verified as a Domain property or URL-prefix?
5. Is Search Console linked to GA4?</a:t>
            </a:r>
          </a:p>
        </p:txBody>
      </p:sp>
      <p:sp>
        <p:nvSpPr>
          <p:cNvPr id="19" name="Rectangle 18"/>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24" name="TextBox 23"/>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5" name="TextBox 24"/>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GTM Container Access</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CBD5E1"/>
                </a:solidFill>
                <a:latin typeface="Calibri"/>
              </a:rPr>
              <a:t>Need Publish access to audit and manage tracking tags</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Section 3 of 7</a:t>
            </a:r>
          </a:p>
        </p:txBody>
      </p:sp>
      <p:graphicFrame>
        <p:nvGraphicFramePr>
          <p:cNvPr id="10" name="Table 9"/>
          <p:cNvGraphicFramePr>
            <a:graphicFrameLocks noGrp="1"/>
          </p:cNvGraphicFramePr>
          <p:nvPr/>
        </p:nvGraphicFramePr>
        <p:xfrm>
          <a:off x="548640" y="1097280"/>
          <a:ext cx="8686800" cy="1097280"/>
        </p:xfrm>
        <a:graphic>
          <a:graphicData uri="http://schemas.openxmlformats.org/drawingml/2006/table">
            <a:tbl>
              <a:tblPr firstRow="1" bandRow="1">
                <a:tableStyleId>{5C22544A-7EE6-4342-B048-85BDC9FD1C3A}</a:tableStyleId>
              </a:tblPr>
              <a:tblGrid>
                <a:gridCol w="1828800"/>
                <a:gridCol w="2286000"/>
                <a:gridCol w="1371600"/>
                <a:gridCol w="2286000"/>
                <a:gridCol w="914400"/>
              </a:tblGrid>
              <a:tr h="548640">
                <a:tc>
                  <a:txBody>
                    <a:bodyPr/>
                    <a:lstStyle/>
                    <a:p>
                      <a:pPr>
                        <a:defRPr sz="1000" b="1">
                          <a:solidFill>
                            <a:srgbClr val="FFFFFF"/>
                          </a:solidFill>
                          <a:latin typeface="Calibri"/>
                        </a:defRPr>
                      </a:pPr>
                      <a:r>
                        <a:t>Platform</a:t>
                      </a:r>
                    </a:p>
                  </a:txBody>
                  <a:tcPr>
                    <a:solidFill>
                      <a:srgbClr val="1A237E"/>
                    </a:solidFill>
                  </a:tcPr>
                </a:tc>
                <a:tc>
                  <a:txBody>
                    <a:bodyPr/>
                    <a:lstStyle/>
                    <a:p>
                      <a:pPr>
                        <a:defRPr sz="1000" b="1">
                          <a:solidFill>
                            <a:srgbClr val="FFFFFF"/>
                          </a:solidFill>
                          <a:latin typeface="Calibri"/>
                        </a:defRPr>
                      </a:pPr>
                      <a:r>
                        <a:t>Container</a:t>
                      </a:r>
                    </a:p>
                  </a:txBody>
                  <a:tcPr>
                    <a:solidFill>
                      <a:srgbClr val="1A237E"/>
                    </a:solidFill>
                  </a:tcPr>
                </a:tc>
                <a:tc>
                  <a:txBody>
                    <a:bodyPr/>
                    <a:lstStyle/>
                    <a:p>
                      <a:pPr>
                        <a:defRPr sz="1000" b="1">
                          <a:solidFill>
                            <a:srgbClr val="FFFFFF"/>
                          </a:solidFill>
                          <a:latin typeface="Calibri"/>
                        </a:defRPr>
                      </a:pPr>
                      <a:r>
                        <a:t>Access Required</a:t>
                      </a:r>
                    </a:p>
                  </a:txBody>
                  <a:tcPr>
                    <a:solidFill>
                      <a:srgbClr val="1A237E"/>
                    </a:solidFill>
                  </a:tcPr>
                </a:tc>
                <a:tc>
                  <a:txBody>
                    <a:bodyPr/>
                    <a:lstStyle/>
                    <a:p>
                      <a:pPr>
                        <a:defRPr sz="1000" b="1">
                          <a:solidFill>
                            <a:srgbClr val="FFFFFF"/>
                          </a:solidFill>
                          <a:latin typeface="Calibri"/>
                        </a:defRPr>
                      </a:pPr>
                      <a:r>
                        <a:t>Grant To</a:t>
                      </a:r>
                    </a:p>
                  </a:txBody>
                  <a:tcPr>
                    <a:solidFill>
                      <a:srgbClr val="1A237E"/>
                    </a:solidFill>
                  </a:tcPr>
                </a:tc>
                <a:tc>
                  <a:txBody>
                    <a:bodyPr/>
                    <a:lstStyle/>
                    <a:p>
                      <a:pPr>
                        <a:defRPr sz="1000" b="1">
                          <a:solidFill>
                            <a:srgbClr val="FFFFFF"/>
                          </a:solidFill>
                          <a:latin typeface="Calibri"/>
                        </a:defRPr>
                      </a:pPr>
                      <a:r>
                        <a:t>Status</a:t>
                      </a:r>
                    </a:p>
                  </a:txBody>
                  <a:tcPr>
                    <a:solidFill>
                      <a:srgbClr val="1A237E"/>
                    </a:solidFill>
                  </a:tcPr>
                </a:tc>
              </a:tr>
              <a:tr h="548640">
                <a:tc>
                  <a:txBody>
                    <a:bodyPr/>
                    <a:lstStyle/>
                    <a:p>
                      <a:pPr>
                        <a:defRPr sz="1000">
                          <a:solidFill>
                            <a:srgbClr val="1A1A1A"/>
                          </a:solidFill>
                          <a:latin typeface="Calibri"/>
                        </a:defRPr>
                      </a:pPr>
                      <a:r>
                        <a:t>Google Tag Manager</a:t>
                      </a:r>
                    </a:p>
                  </a:txBody>
                  <a:tcPr>
                    <a:solidFill>
                      <a:srgbClr val="F5F6FA"/>
                    </a:solidFill>
                  </a:tcPr>
                </a:tc>
                <a:tc>
                  <a:txBody>
                    <a:bodyPr/>
                    <a:lstStyle/>
                    <a:p>
                      <a:pPr>
                        <a:defRPr sz="1000">
                          <a:solidFill>
                            <a:srgbClr val="1A1A1A"/>
                          </a:solidFill>
                          <a:latin typeface="Calibri"/>
                        </a:defRPr>
                      </a:pPr>
                      <a:r>
                        <a:t>dentalbydesign.co.uk container</a:t>
                      </a:r>
                    </a:p>
                  </a:txBody>
                  <a:tcPr>
                    <a:solidFill>
                      <a:srgbClr val="F5F6FA"/>
                    </a:solidFill>
                  </a:tcPr>
                </a:tc>
                <a:tc>
                  <a:txBody>
                    <a:bodyPr/>
                    <a:lstStyle/>
                    <a:p>
                      <a:pPr>
                        <a:defRPr sz="1000">
                          <a:solidFill>
                            <a:srgbClr val="1A1A1A"/>
                          </a:solidFill>
                          <a:latin typeface="Calibri"/>
                        </a:defRPr>
                      </a:pPr>
                      <a:r>
                        <a:t>Publish</a:t>
                      </a:r>
                    </a:p>
                  </a:txBody>
                  <a:tcPr>
                    <a:solidFill>
                      <a:srgbClr val="F5F6FA"/>
                    </a:solidFill>
                  </a:tcPr>
                </a:tc>
                <a:tc>
                  <a:txBody>
                    <a:bodyPr/>
                    <a:lstStyle/>
                    <a:p>
                      <a:pPr>
                        <a:defRPr sz="1000">
                          <a:solidFill>
                            <a:srgbClr val="1A1A1A"/>
                          </a:solidFill>
                          <a:latin typeface="Calibri"/>
                        </a:defRPr>
                      </a:pPr>
                      <a:r>
                        <a:t>chris@christopherhoole.com</a:t>
                      </a:r>
                    </a:p>
                  </a:txBody>
                  <a:tcPr>
                    <a:solidFill>
                      <a:srgbClr val="F5F6FA"/>
                    </a:solidFill>
                  </a:tcPr>
                </a:tc>
                <a:tc>
                  <a:txBody>
                    <a:bodyPr/>
                    <a:lstStyle/>
                    <a:p>
                      <a:pPr>
                        <a:defRPr sz="1000">
                          <a:solidFill>
                            <a:srgbClr val="1A1A1A"/>
                          </a:solidFill>
                          <a:latin typeface="Calibri"/>
                        </a:defRPr>
                      </a:pPr>
                      <a:r>
                        <a:t>⏳ Pending</a:t>
                      </a:r>
                    </a:p>
                  </a:txBody>
                  <a:tcPr>
                    <a:solidFill>
                      <a:srgbClr val="F5F6FA"/>
                    </a:solidFill>
                  </a:tcPr>
                </a:tc>
              </a:tr>
            </a:tbl>
          </a:graphicData>
        </a:graphic>
      </p:graphicFrame>
      <p:sp>
        <p:nvSpPr>
          <p:cNvPr id="11" name="Rectangle 10"/>
          <p:cNvSpPr/>
          <p:nvPr/>
        </p:nvSpPr>
        <p:spPr>
          <a:xfrm>
            <a:off x="548640" y="2377440"/>
            <a:ext cx="5303520" cy="228600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377440"/>
            <a:ext cx="54864" cy="228600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468880"/>
            <a:ext cx="4937760" cy="274320"/>
          </a:xfrm>
          <a:prstGeom prst="rect">
            <a:avLst/>
          </a:prstGeom>
          <a:noFill/>
        </p:spPr>
        <p:txBody>
          <a:bodyPr wrap="square">
            <a:spAutoFit/>
          </a:bodyPr>
          <a:lstStyle/>
          <a:p>
            <a:pPr algn="l"/>
            <a:r>
              <a:rPr sz="1400" b="1">
                <a:solidFill>
                  <a:srgbClr val="1A237E"/>
                </a:solidFill>
                <a:latin typeface="Calibri"/>
              </a:rPr>
              <a:t>GTM Audits I Will Complete</a:t>
            </a:r>
          </a:p>
        </p:txBody>
      </p:sp>
      <p:sp>
        <p:nvSpPr>
          <p:cNvPr id="14" name="TextBox 13"/>
          <p:cNvSpPr txBox="1"/>
          <p:nvPr/>
        </p:nvSpPr>
        <p:spPr>
          <a:xfrm>
            <a:off x="777240" y="2743200"/>
            <a:ext cx="4937760" cy="1828800"/>
          </a:xfrm>
          <a:prstGeom prst="rect">
            <a:avLst/>
          </a:prstGeom>
          <a:noFill/>
        </p:spPr>
        <p:txBody>
          <a:bodyPr wrap="square">
            <a:spAutoFit/>
          </a:bodyPr>
          <a:lstStyle/>
          <a:p>
            <a:pPr algn="l"/>
            <a:r>
              <a:rPr sz="1100" b="0">
                <a:solidFill>
                  <a:srgbClr val="1A1A1A"/>
                </a:solidFill>
                <a:latin typeface="Calibri"/>
              </a:rPr>
              <a:t>• Full tag audit — verify every tag is firing on every page type (homepage, promo pages, booking pages, thank you pages)
• Verify Dengro tracking implementation — is it through GTM or hardcoded?
• Check for redundant/orphaned tags from previous agencies
• Validate conversion tracking tags match Google Ads conversion actions
• Check if any other tracking exists (Facebook Pixel, LinkedIn Insight Tag, etc.)</a:t>
            </a:r>
          </a:p>
        </p:txBody>
      </p:sp>
      <p:sp>
        <p:nvSpPr>
          <p:cNvPr id="15" name="Rectangle 14"/>
          <p:cNvSpPr/>
          <p:nvPr/>
        </p:nvSpPr>
        <p:spPr>
          <a:xfrm>
            <a:off x="6217920" y="2377440"/>
            <a:ext cx="5303520" cy="22860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2377440"/>
            <a:ext cx="54864" cy="228600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2468880"/>
            <a:ext cx="4937760" cy="274320"/>
          </a:xfrm>
          <a:prstGeom prst="rect">
            <a:avLst/>
          </a:prstGeom>
          <a:noFill/>
        </p:spPr>
        <p:txBody>
          <a:bodyPr wrap="square">
            <a:spAutoFit/>
          </a:bodyPr>
          <a:lstStyle/>
          <a:p>
            <a:pPr algn="l"/>
            <a:r>
              <a:rPr sz="1400" b="1">
                <a:solidFill>
                  <a:srgbClr val="1A237E"/>
                </a:solidFill>
                <a:latin typeface="Calibri"/>
              </a:rPr>
              <a:t>Questions for Giulio</a:t>
            </a:r>
          </a:p>
        </p:txBody>
      </p:sp>
      <p:sp>
        <p:nvSpPr>
          <p:cNvPr id="18" name="TextBox 17"/>
          <p:cNvSpPr txBox="1"/>
          <p:nvPr/>
        </p:nvSpPr>
        <p:spPr>
          <a:xfrm>
            <a:off x="6446520" y="2743200"/>
            <a:ext cx="4937760" cy="1828800"/>
          </a:xfrm>
          <a:prstGeom prst="rect">
            <a:avLst/>
          </a:prstGeom>
          <a:noFill/>
        </p:spPr>
        <p:txBody>
          <a:bodyPr wrap="square">
            <a:spAutoFit/>
          </a:bodyPr>
          <a:lstStyle/>
          <a:p>
            <a:pPr algn="l"/>
            <a:r>
              <a:rPr sz="1100" b="0">
                <a:solidFill>
                  <a:srgbClr val="1A1A1A"/>
                </a:solidFill>
                <a:latin typeface="Calibri"/>
              </a:rPr>
              <a:t>1. What is the GTM container ID?
2. Who currently manages GTM? (Giulio, a developer, or someone else?)
3. Is GTM installed on ALL pages including promo landing pages and the booking system?
4. Are there any server-side GTM containers?
5. How is Dengro tracking implemented? (GTM tag, hardcoded script, API integration?)</a:t>
            </a:r>
          </a:p>
        </p:txBody>
      </p:sp>
      <p:sp>
        <p:nvSpPr>
          <p:cNvPr id="19" name="Rectangle 18"/>
          <p:cNvSpPr/>
          <p:nvPr/>
        </p:nvSpPr>
        <p:spPr>
          <a:xfrm>
            <a:off x="548640" y="4846320"/>
            <a:ext cx="11064240" cy="457200"/>
          </a:xfrm>
          <a:prstGeom prst="rect">
            <a:avLst/>
          </a:prstGeom>
          <a:solidFill>
            <a:srgbClr val="E8F0FE"/>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892040"/>
            <a:ext cx="10607040" cy="365760"/>
          </a:xfrm>
          <a:prstGeom prst="rect">
            <a:avLst/>
          </a:prstGeom>
          <a:noFill/>
        </p:spPr>
        <p:txBody>
          <a:bodyPr wrap="square">
            <a:spAutoFit/>
          </a:bodyPr>
          <a:lstStyle/>
          <a:p>
            <a:pPr algn="l"/>
            <a:r>
              <a:rPr sz="1100" b="1">
                <a:solidFill>
                  <a:srgbClr val="1A237E"/>
                </a:solidFill>
                <a:latin typeface="Calibri"/>
              </a:rPr>
              <a:t>Publish access (not just Read) is required because I'll be adding, editing, and fixing tracking tags as part of the Week 1 conversion tracking cleanup.</a:t>
            </a:r>
          </a:p>
        </p:txBody>
      </p:sp>
      <p:sp>
        <p:nvSpPr>
          <p:cNvPr id="21" name="Rectangle 20"/>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26" name="TextBox 25"/>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7" name="TextBox 26"/>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Website CMS &amp; Landing Pages</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CBD5E1"/>
                </a:solidFill>
                <a:latin typeface="Calibri"/>
              </a:rPr>
              <a:t>Need to understand the website setup and agree a landing page workflow</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Section 4 of 7</a:t>
            </a:r>
          </a:p>
        </p:txBody>
      </p:sp>
      <p:sp>
        <p:nvSpPr>
          <p:cNvPr id="10" name="Rectangle 9"/>
          <p:cNvSpPr/>
          <p:nvPr/>
        </p:nvSpPr>
        <p:spPr>
          <a:xfrm>
            <a:off x="548640" y="1097280"/>
            <a:ext cx="5303520" cy="22860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097280"/>
            <a:ext cx="54864" cy="228600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1188720"/>
            <a:ext cx="4937760" cy="274320"/>
          </a:xfrm>
          <a:prstGeom prst="rect">
            <a:avLst/>
          </a:prstGeom>
          <a:noFill/>
        </p:spPr>
        <p:txBody>
          <a:bodyPr wrap="square">
            <a:spAutoFit/>
          </a:bodyPr>
          <a:lstStyle/>
          <a:p>
            <a:pPr algn="l"/>
            <a:r>
              <a:rPr sz="1400" b="1">
                <a:solidFill>
                  <a:srgbClr val="1A237E"/>
                </a:solidFill>
                <a:latin typeface="Calibri"/>
              </a:rPr>
              <a:t>What I Need to Know</a:t>
            </a:r>
          </a:p>
        </p:txBody>
      </p:sp>
      <p:sp>
        <p:nvSpPr>
          <p:cNvPr id="13" name="TextBox 12"/>
          <p:cNvSpPr txBox="1"/>
          <p:nvPr/>
        </p:nvSpPr>
        <p:spPr>
          <a:xfrm>
            <a:off x="777240" y="1463040"/>
            <a:ext cx="4937760" cy="1828800"/>
          </a:xfrm>
          <a:prstGeom prst="rect">
            <a:avLst/>
          </a:prstGeom>
          <a:noFill/>
        </p:spPr>
        <p:txBody>
          <a:bodyPr wrap="square">
            <a:spAutoFit/>
          </a:bodyPr>
          <a:lstStyle/>
          <a:p>
            <a:pPr algn="l"/>
            <a:r>
              <a:rPr sz="1100" b="0">
                <a:solidFill>
                  <a:srgbClr val="1A1A1A"/>
                </a:solidFill>
                <a:latin typeface="Calibri"/>
              </a:rPr>
              <a:t>1. What CMS/platform is dentalbydesign.co.uk built on? (WordPress, Webflow, custom?)
2. Can I get read-only CMS access to verify tracking is installed correctly?
3. Who builds and maintains the /promo/google/ landing pages?
4. How quickly can landing page changes be made?
5. Is there a staging/test environment?</a:t>
            </a:r>
          </a:p>
        </p:txBody>
      </p:sp>
      <p:sp>
        <p:nvSpPr>
          <p:cNvPr id="14" name="Rectangle 13"/>
          <p:cNvSpPr/>
          <p:nvPr/>
        </p:nvSpPr>
        <p:spPr>
          <a:xfrm>
            <a:off x="6217920" y="1097280"/>
            <a:ext cx="5303520" cy="228600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097280"/>
            <a:ext cx="54864" cy="228600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1188720"/>
            <a:ext cx="4937760" cy="274320"/>
          </a:xfrm>
          <a:prstGeom prst="rect">
            <a:avLst/>
          </a:prstGeom>
          <a:noFill/>
        </p:spPr>
        <p:txBody>
          <a:bodyPr wrap="square">
            <a:spAutoFit/>
          </a:bodyPr>
          <a:lstStyle/>
          <a:p>
            <a:pPr algn="l"/>
            <a:r>
              <a:rPr sz="1400" b="1">
                <a:solidFill>
                  <a:srgbClr val="1A237E"/>
                </a:solidFill>
                <a:latin typeface="Calibri"/>
              </a:rPr>
              <a:t>Landing Page Workflow — Two Options</a:t>
            </a:r>
          </a:p>
        </p:txBody>
      </p:sp>
      <p:sp>
        <p:nvSpPr>
          <p:cNvPr id="17" name="TextBox 16"/>
          <p:cNvSpPr txBox="1"/>
          <p:nvPr/>
        </p:nvSpPr>
        <p:spPr>
          <a:xfrm>
            <a:off x="6446520" y="1463040"/>
            <a:ext cx="4937760" cy="1828800"/>
          </a:xfrm>
          <a:prstGeom prst="rect">
            <a:avLst/>
          </a:prstGeom>
          <a:noFill/>
        </p:spPr>
        <p:txBody>
          <a:bodyPr wrap="square">
            <a:spAutoFit/>
          </a:bodyPr>
          <a:lstStyle/>
          <a:p>
            <a:pPr algn="l"/>
            <a:r>
              <a:rPr sz="1100" b="0">
                <a:solidFill>
                  <a:srgbClr val="1A1A1A"/>
                </a:solidFill>
                <a:latin typeface="Calibri"/>
              </a:rPr>
              <a:t>Option A: I build HTML/CSS landing pages → hand to Giulio to upload to your server.
Option B: Set up Vercel + GitHub with a CNAME on your domain (e.g. lp.dentalbydesign.co.uk). I build pages, get them signed off, and push live myself. Faster iteration cycle.
Either way, new treatment-specific landing pages are planned for Month 2 of the restructure.</a:t>
            </a:r>
          </a:p>
        </p:txBody>
      </p:sp>
      <p:sp>
        <p:nvSpPr>
          <p:cNvPr id="18" name="Rectangle 17"/>
          <p:cNvSpPr/>
          <p:nvPr/>
        </p:nvSpPr>
        <p:spPr>
          <a:xfrm>
            <a:off x="548640" y="3566160"/>
            <a:ext cx="11064240" cy="2286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566160"/>
            <a:ext cx="54864" cy="228600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657600"/>
            <a:ext cx="10698480" cy="274320"/>
          </a:xfrm>
          <a:prstGeom prst="rect">
            <a:avLst/>
          </a:prstGeom>
          <a:noFill/>
        </p:spPr>
        <p:txBody>
          <a:bodyPr wrap="square">
            <a:spAutoFit/>
          </a:bodyPr>
          <a:lstStyle/>
          <a:p>
            <a:pPr algn="l"/>
            <a:r>
              <a:rPr sz="1400" b="1">
                <a:solidFill>
                  <a:srgbClr val="1A237E"/>
                </a:solidFill>
                <a:latin typeface="Calibri"/>
              </a:rPr>
              <a:t>Landing Pages Identified in Audit (2026 Performance)</a:t>
            </a:r>
          </a:p>
        </p:txBody>
      </p:sp>
      <p:sp>
        <p:nvSpPr>
          <p:cNvPr id="21" name="TextBox 20"/>
          <p:cNvSpPr txBox="1"/>
          <p:nvPr/>
        </p:nvSpPr>
        <p:spPr>
          <a:xfrm>
            <a:off x="777240" y="3931920"/>
            <a:ext cx="10698480" cy="1828800"/>
          </a:xfrm>
          <a:prstGeom prst="rect">
            <a:avLst/>
          </a:prstGeom>
          <a:noFill/>
        </p:spPr>
        <p:txBody>
          <a:bodyPr wrap="square">
            <a:spAutoFit/>
          </a:bodyPr>
          <a:lstStyle/>
          <a:p>
            <a:pPr algn="l"/>
            <a:r>
              <a:rPr sz="1100" b="0">
                <a:solidFill>
                  <a:srgbClr val="1A1A1A"/>
                </a:solidFill>
                <a:latin typeface="Calibri"/>
              </a:rPr>
              <a:t>/teeth-implants: £31K spend, £111 CPA, 8.5% CVR — highest spend, needs improvement
/cheapest-dental-implants: £22K spend, £83 CPA, 7.1% CVR — second highest
/all-on-4-offer: £16K spend, £114 CPA, 6.2% CVR — high CPA for a high-value treatment
/dental-implants-offer: £3K spend, £34 CPA, 24.7% CVR — best performer (Financing traffic)
/invisalign: £4K spend, £45 CPA, 10.1% CVR — strong performer
/dental-implants-hammersmith: £2K spend, £142 CPA, 3.6% CVR — worst performer, needs rebuild</a:t>
            </a:r>
          </a:p>
        </p:txBody>
      </p:sp>
      <p:sp>
        <p:nvSpPr>
          <p:cNvPr id="22" name="Rectangle 21"/>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27" name="TextBox 26"/>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8" name="TextBox 27"/>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Conversion Tracking Audit</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CBD5E1"/>
                </a:solidFill>
                <a:latin typeface="Calibri"/>
              </a:rPr>
              <a:t>Full audit and cleanup — building on the findings from the pitch reports</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Section 5 of 7</a:t>
            </a:r>
          </a:p>
        </p:txBody>
      </p:sp>
      <p:graphicFrame>
        <p:nvGraphicFramePr>
          <p:cNvPr id="10" name="Table 9"/>
          <p:cNvGraphicFramePr>
            <a:graphicFrameLocks noGrp="1"/>
          </p:cNvGraphicFramePr>
          <p:nvPr/>
        </p:nvGraphicFramePr>
        <p:xfrm>
          <a:off x="548640" y="1097280"/>
          <a:ext cx="8229600" cy="3200400"/>
        </p:xfrm>
        <a:graphic>
          <a:graphicData uri="http://schemas.openxmlformats.org/drawingml/2006/table">
            <a:tbl>
              <a:tblPr firstRow="1" bandRow="1">
                <a:tableStyleId>{5C22544A-7EE6-4342-B048-85BDC9FD1C3A}</a:tableStyleId>
              </a:tblPr>
              <a:tblGrid>
                <a:gridCol w="2286000"/>
                <a:gridCol w="1828800"/>
                <a:gridCol w="1828800"/>
                <a:gridCol w="914400"/>
                <a:gridCol w="1371600"/>
              </a:tblGrid>
              <a:tr h="320040">
                <a:tc>
                  <a:txBody>
                    <a:bodyPr/>
                    <a:lstStyle/>
                    <a:p>
                      <a:pPr>
                        <a:defRPr sz="1000" b="1">
                          <a:solidFill>
                            <a:srgbClr val="FFFFFF"/>
                          </a:solidFill>
                          <a:latin typeface="Calibri"/>
                        </a:defRPr>
                      </a:pPr>
                      <a:r>
                        <a:t>Conversion Action</a:t>
                      </a:r>
                    </a:p>
                  </a:txBody>
                  <a:tcPr>
                    <a:solidFill>
                      <a:srgbClr val="1A237E"/>
                    </a:solidFill>
                  </a:tcPr>
                </a:tc>
                <a:tc>
                  <a:txBody>
                    <a:bodyPr/>
                    <a:lstStyle/>
                    <a:p>
                      <a:pPr>
                        <a:defRPr sz="1000" b="1">
                          <a:solidFill>
                            <a:srgbClr val="FFFFFF"/>
                          </a:solidFill>
                          <a:latin typeface="Calibri"/>
                        </a:defRPr>
                      </a:pPr>
                      <a:r>
                        <a:t>Current Status</a:t>
                      </a:r>
                    </a:p>
                  </a:txBody>
                  <a:tcPr>
                    <a:solidFill>
                      <a:srgbClr val="1A237E"/>
                    </a:solidFill>
                  </a:tcPr>
                </a:tc>
                <a:tc>
                  <a:txBody>
                    <a:bodyPr/>
                    <a:lstStyle/>
                    <a:p>
                      <a:pPr>
                        <a:defRPr sz="1000" b="1">
                          <a:solidFill>
                            <a:srgbClr val="FFFFFF"/>
                          </a:solidFill>
                          <a:latin typeface="Calibri"/>
                        </a:defRPr>
                      </a:pPr>
                      <a:r>
                        <a:t>Action</a:t>
                      </a:r>
                    </a:p>
                  </a:txBody>
                  <a:tcPr>
                    <a:solidFill>
                      <a:srgbClr val="1A237E"/>
                    </a:solidFill>
                  </a:tcPr>
                </a:tc>
                <a:tc>
                  <a:txBody>
                    <a:bodyPr/>
                    <a:lstStyle/>
                    <a:p>
                      <a:pPr>
                        <a:defRPr sz="1000" b="1">
                          <a:solidFill>
                            <a:srgbClr val="FFFFFF"/>
                          </a:solidFill>
                          <a:latin typeface="Calibri"/>
                        </a:defRPr>
                      </a:pPr>
                      <a:r>
                        <a:t>Priority</a:t>
                      </a:r>
                    </a:p>
                  </a:txBody>
                  <a:tcPr>
                    <a:solidFill>
                      <a:srgbClr val="1A237E"/>
                    </a:solidFill>
                  </a:tcPr>
                </a:tc>
                <a:tc>
                  <a:txBody>
                    <a:bodyPr/>
                    <a:lstStyle/>
                    <a:p>
                      <a:pPr>
                        <a:defRPr sz="1000" b="1">
                          <a:solidFill>
                            <a:srgbClr val="FFFFFF"/>
                          </a:solidFill>
                          <a:latin typeface="Calibri"/>
                        </a:defRPr>
                      </a:pPr>
                      <a:r>
                        <a:t>Owner</a:t>
                      </a:r>
                    </a:p>
                  </a:txBody>
                  <a:tcPr>
                    <a:solidFill>
                      <a:srgbClr val="1A237E"/>
                    </a:solidFill>
                  </a:tcPr>
                </a:tc>
              </a:tr>
              <a:tr h="320040">
                <a:tc>
                  <a:txBody>
                    <a:bodyPr/>
                    <a:lstStyle/>
                    <a:p>
                      <a:pPr>
                        <a:defRPr sz="1000">
                          <a:solidFill>
                            <a:srgbClr val="1A1A1A"/>
                          </a:solidFill>
                          <a:latin typeface="Calibri"/>
                        </a:defRPr>
                      </a:pPr>
                      <a:r>
                        <a:t>KMG OLD LP | Book A Free Consult</a:t>
                      </a:r>
                    </a:p>
                  </a:txBody>
                  <a:tcPr>
                    <a:solidFill>
                      <a:srgbClr val="F5F6FA"/>
                    </a:solidFill>
                  </a:tcPr>
                </a:tc>
                <a:tc>
                  <a:txBody>
                    <a:bodyPr/>
                    <a:lstStyle/>
                    <a:p>
                      <a:pPr>
                        <a:defRPr sz="1000">
                          <a:solidFill>
                            <a:srgbClr val="1A1A1A"/>
                          </a:solidFill>
                          <a:latin typeface="Calibri"/>
                        </a:defRPr>
                      </a:pPr>
                      <a:r>
                        <a:t>Primary (1,250 ghost cv)</a:t>
                      </a:r>
                    </a:p>
                  </a:txBody>
                  <a:tcPr>
                    <a:solidFill>
                      <a:srgbClr val="F5F6FA"/>
                    </a:solidFill>
                  </a:tcPr>
                </a:tc>
                <a:tc>
                  <a:txBody>
                    <a:bodyPr/>
                    <a:lstStyle/>
                    <a:p>
                      <a:pPr>
                        <a:defRPr sz="1000">
                          <a:solidFill>
                            <a:srgbClr val="1A1A1A"/>
                          </a:solidFill>
                          <a:latin typeface="Calibri"/>
                        </a:defRPr>
                      </a:pPr>
                      <a:r>
                        <a:t>Remove</a:t>
                      </a:r>
                    </a:p>
                  </a:txBody>
                  <a:tcPr>
                    <a:solidFill>
                      <a:srgbClr val="F5F6FA"/>
                    </a:solidFill>
                  </a:tcPr>
                </a:tc>
                <a:tc>
                  <a:txBody>
                    <a:bodyPr/>
                    <a:lstStyle/>
                    <a:p>
                      <a:pPr>
                        <a:defRPr sz="1000">
                          <a:solidFill>
                            <a:srgbClr val="1A1A1A"/>
                          </a:solidFill>
                          <a:latin typeface="Calibri"/>
                        </a:defRPr>
                      </a:pPr>
                      <a:r>
                        <a:t>Week 1</a:t>
                      </a:r>
                    </a:p>
                  </a:txBody>
                  <a:tcPr>
                    <a:solidFill>
                      <a:srgbClr val="F5F6FA"/>
                    </a:solidFill>
                  </a:tcPr>
                </a:tc>
                <a:tc>
                  <a:txBody>
                    <a:bodyPr/>
                    <a:lstStyle/>
                    <a:p>
                      <a:pPr>
                        <a:defRPr sz="1000">
                          <a:solidFill>
                            <a:srgbClr val="1A1A1A"/>
                          </a:solidFill>
                          <a:latin typeface="Calibri"/>
                        </a:defRPr>
                      </a:pPr>
                      <a:r>
                        <a:t>Christopher</a:t>
                      </a:r>
                    </a:p>
                  </a:txBody>
                  <a:tcPr>
                    <a:solidFill>
                      <a:srgbClr val="F5F6FA"/>
                    </a:solidFill>
                  </a:tcPr>
                </a:tc>
              </a:tr>
              <a:tr h="320040">
                <a:tc>
                  <a:txBody>
                    <a:bodyPr/>
                    <a:lstStyle/>
                    <a:p>
                      <a:pPr>
                        <a:defRPr sz="1000">
                          <a:solidFill>
                            <a:srgbClr val="1A1A1A"/>
                          </a:solidFill>
                          <a:latin typeface="Calibri"/>
                        </a:defRPr>
                      </a:pPr>
                      <a:r>
                        <a:t>KMG OLD LP | Website Phone Call</a:t>
                      </a:r>
                    </a:p>
                  </a:txBody>
                  <a:tcPr>
                    <a:solidFill>
                      <a:srgbClr val="FFFFFF"/>
                    </a:solidFill>
                  </a:tcPr>
                </a:tc>
                <a:tc>
                  <a:txBody>
                    <a:bodyPr/>
                    <a:lstStyle/>
                    <a:p>
                      <a:pPr>
                        <a:defRPr sz="1000">
                          <a:solidFill>
                            <a:srgbClr val="1A1A1A"/>
                          </a:solidFill>
                          <a:latin typeface="Calibri"/>
                        </a:defRPr>
                      </a:pPr>
                      <a:r>
                        <a:t>Primary (57 ghost cv)</a:t>
                      </a:r>
                    </a:p>
                  </a:txBody>
                  <a:tcPr>
                    <a:solidFill>
                      <a:srgbClr val="FFFFFF"/>
                    </a:solidFill>
                  </a:tcPr>
                </a:tc>
                <a:tc>
                  <a:txBody>
                    <a:bodyPr/>
                    <a:lstStyle/>
                    <a:p>
                      <a:pPr>
                        <a:defRPr sz="1000">
                          <a:solidFill>
                            <a:srgbClr val="1A1A1A"/>
                          </a:solidFill>
                          <a:latin typeface="Calibri"/>
                        </a:defRPr>
                      </a:pPr>
                      <a:r>
                        <a:t>Remove</a:t>
                      </a:r>
                    </a:p>
                  </a:txBody>
                  <a:tcPr>
                    <a:solidFill>
                      <a:srgbClr val="FFFFFF"/>
                    </a:solidFill>
                  </a:tcPr>
                </a:tc>
                <a:tc>
                  <a:txBody>
                    <a:bodyPr/>
                    <a:lstStyle/>
                    <a:p>
                      <a:pPr>
                        <a:defRPr sz="1000">
                          <a:solidFill>
                            <a:srgbClr val="1A1A1A"/>
                          </a:solidFill>
                          <a:latin typeface="Calibri"/>
                        </a:defRPr>
                      </a:pPr>
                      <a:r>
                        <a:t>Week 1</a:t>
                      </a:r>
                    </a:p>
                  </a:txBody>
                  <a:tcPr>
                    <a:solidFill>
                      <a:srgbClr val="FFFFFF"/>
                    </a:solidFill>
                  </a:tcPr>
                </a:tc>
                <a:tc>
                  <a:txBody>
                    <a:bodyPr/>
                    <a:lstStyle/>
                    <a:p>
                      <a:pPr>
                        <a:defRPr sz="1000">
                          <a:solidFill>
                            <a:srgbClr val="1A1A1A"/>
                          </a:solidFill>
                          <a:latin typeface="Calibri"/>
                        </a:defRPr>
                      </a:pPr>
                      <a:r>
                        <a:t>Christopher</a:t>
                      </a:r>
                    </a:p>
                  </a:txBody>
                  <a:tcPr>
                    <a:solidFill>
                      <a:srgbClr val="FFFFFF"/>
                    </a:solidFill>
                  </a:tcPr>
                </a:tc>
              </a:tr>
              <a:tr h="320040">
                <a:tc>
                  <a:txBody>
                    <a:bodyPr/>
                    <a:lstStyle/>
                    <a:p>
                      <a:pPr>
                        <a:defRPr sz="1000">
                          <a:solidFill>
                            <a:srgbClr val="1A1A1A"/>
                          </a:solidFill>
                          <a:latin typeface="Calibri"/>
                        </a:defRPr>
                      </a:pPr>
                      <a:r>
                        <a:t>KMG | Call Extension</a:t>
                      </a:r>
                    </a:p>
                  </a:txBody>
                  <a:tcPr>
                    <a:solidFill>
                      <a:srgbClr val="F5F6FA"/>
                    </a:solidFill>
                  </a:tcPr>
                </a:tc>
                <a:tc>
                  <a:txBody>
                    <a:bodyPr/>
                    <a:lstStyle/>
                    <a:p>
                      <a:pPr>
                        <a:defRPr sz="1000">
                          <a:solidFill>
                            <a:srgbClr val="1A1A1A"/>
                          </a:solidFill>
                          <a:latin typeface="Calibri"/>
                        </a:defRPr>
                      </a:pPr>
                      <a:r>
                        <a:t>Primary (204 ghost cv)</a:t>
                      </a:r>
                    </a:p>
                  </a:txBody>
                  <a:tcPr>
                    <a:solidFill>
                      <a:srgbClr val="F5F6FA"/>
                    </a:solidFill>
                  </a:tcPr>
                </a:tc>
                <a:tc>
                  <a:txBody>
                    <a:bodyPr/>
                    <a:lstStyle/>
                    <a:p>
                      <a:pPr>
                        <a:defRPr sz="1000">
                          <a:solidFill>
                            <a:srgbClr val="1A1A1A"/>
                          </a:solidFill>
                          <a:latin typeface="Calibri"/>
                        </a:defRPr>
                      </a:pPr>
                      <a:r>
                        <a:t>Remove</a:t>
                      </a:r>
                    </a:p>
                  </a:txBody>
                  <a:tcPr>
                    <a:solidFill>
                      <a:srgbClr val="F5F6FA"/>
                    </a:solidFill>
                  </a:tcPr>
                </a:tc>
                <a:tc>
                  <a:txBody>
                    <a:bodyPr/>
                    <a:lstStyle/>
                    <a:p>
                      <a:pPr>
                        <a:defRPr sz="1000">
                          <a:solidFill>
                            <a:srgbClr val="1A1A1A"/>
                          </a:solidFill>
                          <a:latin typeface="Calibri"/>
                        </a:defRPr>
                      </a:pPr>
                      <a:r>
                        <a:t>Week 1</a:t>
                      </a:r>
                    </a:p>
                  </a:txBody>
                  <a:tcPr>
                    <a:solidFill>
                      <a:srgbClr val="F5F6FA"/>
                    </a:solidFill>
                  </a:tcPr>
                </a:tc>
                <a:tc>
                  <a:txBody>
                    <a:bodyPr/>
                    <a:lstStyle/>
                    <a:p>
                      <a:pPr>
                        <a:defRPr sz="1000">
                          <a:solidFill>
                            <a:srgbClr val="1A1A1A"/>
                          </a:solidFill>
                          <a:latin typeface="Calibri"/>
                        </a:defRPr>
                      </a:pPr>
                      <a:r>
                        <a:t>Christopher</a:t>
                      </a:r>
                    </a:p>
                  </a:txBody>
                  <a:tcPr>
                    <a:solidFill>
                      <a:srgbClr val="F5F6FA"/>
                    </a:solidFill>
                  </a:tcPr>
                </a:tc>
              </a:tr>
              <a:tr h="320040">
                <a:tc>
                  <a:txBody>
                    <a:bodyPr/>
                    <a:lstStyle/>
                    <a:p>
                      <a:pPr>
                        <a:defRPr sz="1000">
                          <a:solidFill>
                            <a:srgbClr val="1A1A1A"/>
                          </a:solidFill>
                          <a:latin typeface="Calibri"/>
                        </a:defRPr>
                      </a:pPr>
                      <a:r>
                        <a:t>Online Booking Click</a:t>
                      </a:r>
                    </a:p>
                  </a:txBody>
                  <a:tcPr>
                    <a:solidFill>
                      <a:srgbClr val="FFFFFF"/>
                    </a:solidFill>
                  </a:tcPr>
                </a:tc>
                <a:tc>
                  <a:txBody>
                    <a:bodyPr/>
                    <a:lstStyle/>
                    <a:p>
                      <a:pPr>
                        <a:defRPr sz="1000">
                          <a:solidFill>
                            <a:srgbClr val="1A1A1A"/>
                          </a:solidFill>
                          <a:latin typeface="Calibri"/>
                        </a:defRPr>
                      </a:pPr>
                      <a:r>
                        <a:t>Primary (264 soft signals)</a:t>
                      </a:r>
                    </a:p>
                  </a:txBody>
                  <a:tcPr>
                    <a:solidFill>
                      <a:srgbClr val="FFFFFF"/>
                    </a:solidFill>
                  </a:tcPr>
                </a:tc>
                <a:tc>
                  <a:txBody>
                    <a:bodyPr/>
                    <a:lstStyle/>
                    <a:p>
                      <a:pPr>
                        <a:defRPr sz="1000">
                          <a:solidFill>
                            <a:srgbClr val="1A1A1A"/>
                          </a:solidFill>
                          <a:latin typeface="Calibri"/>
                        </a:defRPr>
                      </a:pPr>
                      <a:r>
                        <a:t>Move to Secondary</a:t>
                      </a:r>
                    </a:p>
                  </a:txBody>
                  <a:tcPr>
                    <a:solidFill>
                      <a:srgbClr val="FFFFFF"/>
                    </a:solidFill>
                  </a:tcPr>
                </a:tc>
                <a:tc>
                  <a:txBody>
                    <a:bodyPr/>
                    <a:lstStyle/>
                    <a:p>
                      <a:pPr>
                        <a:defRPr sz="1000">
                          <a:solidFill>
                            <a:srgbClr val="1A1A1A"/>
                          </a:solidFill>
                          <a:latin typeface="Calibri"/>
                        </a:defRPr>
                      </a:pPr>
                      <a:r>
                        <a:t>Week 1</a:t>
                      </a:r>
                    </a:p>
                  </a:txBody>
                  <a:tcPr>
                    <a:solidFill>
                      <a:srgbClr val="FFFFFF"/>
                    </a:solidFill>
                  </a:tcPr>
                </a:tc>
                <a:tc>
                  <a:txBody>
                    <a:bodyPr/>
                    <a:lstStyle/>
                    <a:p>
                      <a:pPr>
                        <a:defRPr sz="1000">
                          <a:solidFill>
                            <a:srgbClr val="1A1A1A"/>
                          </a:solidFill>
                          <a:latin typeface="Calibri"/>
                        </a:defRPr>
                      </a:pPr>
                      <a:r>
                        <a:t>Christopher</a:t>
                      </a:r>
                    </a:p>
                  </a:txBody>
                  <a:tcPr>
                    <a:solidFill>
                      <a:srgbClr val="FFFFFF"/>
                    </a:solidFill>
                  </a:tcPr>
                </a:tc>
              </a:tr>
              <a:tr h="320040">
                <a:tc>
                  <a:txBody>
                    <a:bodyPr/>
                    <a:lstStyle/>
                    <a:p>
                      <a:pPr>
                        <a:defRPr sz="1000">
                          <a:solidFill>
                            <a:srgbClr val="1A1A1A"/>
                          </a:solidFill>
                          <a:latin typeface="Calibri"/>
                        </a:defRPr>
                      </a:pPr>
                      <a:r>
                        <a:t>Phone Click / WhatsApp / Chat</a:t>
                      </a:r>
                    </a:p>
                  </a:txBody>
                  <a:tcPr>
                    <a:solidFill>
                      <a:srgbClr val="F5F6FA"/>
                    </a:solidFill>
                  </a:tcPr>
                </a:tc>
                <a:tc>
                  <a:txBody>
                    <a:bodyPr/>
                    <a:lstStyle/>
                    <a:p>
                      <a:pPr>
                        <a:defRPr sz="1000">
                          <a:solidFill>
                            <a:srgbClr val="1A1A1A"/>
                          </a:solidFill>
                          <a:latin typeface="Calibri"/>
                        </a:defRPr>
                      </a:pPr>
                      <a:r>
                        <a:t>Primary (181 soft signals)</a:t>
                      </a:r>
                    </a:p>
                  </a:txBody>
                  <a:tcPr>
                    <a:solidFill>
                      <a:srgbClr val="F5F6FA"/>
                    </a:solidFill>
                  </a:tcPr>
                </a:tc>
                <a:tc>
                  <a:txBody>
                    <a:bodyPr/>
                    <a:lstStyle/>
                    <a:p>
                      <a:pPr>
                        <a:defRPr sz="1000">
                          <a:solidFill>
                            <a:srgbClr val="1A1A1A"/>
                          </a:solidFill>
                          <a:latin typeface="Calibri"/>
                        </a:defRPr>
                      </a:pPr>
                      <a:r>
                        <a:t>Move to Secondary</a:t>
                      </a:r>
                    </a:p>
                  </a:txBody>
                  <a:tcPr>
                    <a:solidFill>
                      <a:srgbClr val="F5F6FA"/>
                    </a:solidFill>
                  </a:tcPr>
                </a:tc>
                <a:tc>
                  <a:txBody>
                    <a:bodyPr/>
                    <a:lstStyle/>
                    <a:p>
                      <a:pPr>
                        <a:defRPr sz="1000">
                          <a:solidFill>
                            <a:srgbClr val="1A1A1A"/>
                          </a:solidFill>
                          <a:latin typeface="Calibri"/>
                        </a:defRPr>
                      </a:pPr>
                      <a:r>
                        <a:t>Week 1</a:t>
                      </a:r>
                    </a:p>
                  </a:txBody>
                  <a:tcPr>
                    <a:solidFill>
                      <a:srgbClr val="F5F6FA"/>
                    </a:solidFill>
                  </a:tcPr>
                </a:tc>
                <a:tc>
                  <a:txBody>
                    <a:bodyPr/>
                    <a:lstStyle/>
                    <a:p>
                      <a:pPr>
                        <a:defRPr sz="1000">
                          <a:solidFill>
                            <a:srgbClr val="1A1A1A"/>
                          </a:solidFill>
                          <a:latin typeface="Calibri"/>
                        </a:defRPr>
                      </a:pPr>
                      <a:r>
                        <a:t>Christopher</a:t>
                      </a:r>
                    </a:p>
                  </a:txBody>
                  <a:tcPr>
                    <a:solidFill>
                      <a:srgbClr val="F5F6FA"/>
                    </a:solidFill>
                  </a:tcPr>
                </a:tc>
              </a:tr>
              <a:tr h="320040">
                <a:tc>
                  <a:txBody>
                    <a:bodyPr/>
                    <a:lstStyle/>
                    <a:p>
                      <a:pPr>
                        <a:defRPr sz="1000">
                          <a:solidFill>
                            <a:srgbClr val="1A1A1A"/>
                          </a:solidFill>
                          <a:latin typeface="Calibri"/>
                        </a:defRPr>
                      </a:pPr>
                      <a:r>
                        <a:t>Dengro Offline Lead</a:t>
                      </a:r>
                    </a:p>
                  </a:txBody>
                  <a:tcPr>
                    <a:solidFill>
                      <a:srgbClr val="FFFFFF"/>
                    </a:solidFill>
                  </a:tcPr>
                </a:tc>
                <a:tc>
                  <a:txBody>
                    <a:bodyPr/>
                    <a:lstStyle/>
                    <a:p>
                      <a:pPr>
                        <a:defRPr sz="1000">
                          <a:solidFill>
                            <a:srgbClr val="1A1A1A"/>
                          </a:solidFill>
                          <a:latin typeface="Calibri"/>
                        </a:defRPr>
                      </a:pPr>
                      <a:r>
                        <a:t>Primary (4,663 cv)</a:t>
                      </a:r>
                    </a:p>
                  </a:txBody>
                  <a:tcPr>
                    <a:solidFill>
                      <a:srgbClr val="FFFFFF"/>
                    </a:solidFill>
                  </a:tcPr>
                </a:tc>
                <a:tc>
                  <a:txBody>
                    <a:bodyPr/>
                    <a:lstStyle/>
                    <a:p>
                      <a:pPr>
                        <a:defRPr sz="1000">
                          <a:solidFill>
                            <a:srgbClr val="1A1A1A"/>
                          </a:solidFill>
                          <a:latin typeface="Calibri"/>
                        </a:defRPr>
                      </a:pPr>
                      <a:r>
                        <a:t>Keep — verify ad-only attribution</a:t>
                      </a:r>
                    </a:p>
                  </a:txBody>
                  <a:tcPr>
                    <a:solidFill>
                      <a:srgbClr val="FFFFFF"/>
                    </a:solidFill>
                  </a:tcPr>
                </a:tc>
                <a:tc>
                  <a:txBody>
                    <a:bodyPr/>
                    <a:lstStyle/>
                    <a:p>
                      <a:pPr>
                        <a:defRPr sz="1000">
                          <a:solidFill>
                            <a:srgbClr val="1A1A1A"/>
                          </a:solidFill>
                          <a:latin typeface="Calibri"/>
                        </a:defRPr>
                      </a:pPr>
                      <a:r>
                        <a:t>Week 1</a:t>
                      </a:r>
                    </a:p>
                  </a:txBody>
                  <a:tcPr>
                    <a:solidFill>
                      <a:srgbClr val="FFFFFF"/>
                    </a:solidFill>
                  </a:tcPr>
                </a:tc>
                <a:tc>
                  <a:txBody>
                    <a:bodyPr/>
                    <a:lstStyle/>
                    <a:p>
                      <a:pPr>
                        <a:defRPr sz="1000">
                          <a:solidFill>
                            <a:srgbClr val="1A1A1A"/>
                          </a:solidFill>
                          <a:latin typeface="Calibri"/>
                        </a:defRPr>
                      </a:pPr>
                      <a:r>
                        <a:t>Giulio to confirm</a:t>
                      </a:r>
                    </a:p>
                  </a:txBody>
                  <a:tcPr>
                    <a:solidFill>
                      <a:srgbClr val="FFFFFF"/>
                    </a:solidFill>
                  </a:tcPr>
                </a:tc>
              </a:tr>
              <a:tr h="320040">
                <a:tc>
                  <a:txBody>
                    <a:bodyPr/>
                    <a:lstStyle/>
                    <a:p>
                      <a:pPr>
                        <a:defRPr sz="1000">
                          <a:solidFill>
                            <a:srgbClr val="1A1A1A"/>
                          </a:solidFill>
                          <a:latin typeface="Calibri"/>
                        </a:defRPr>
                      </a:pPr>
                      <a:r>
                        <a:t>Dengro Offline Booking</a:t>
                      </a:r>
                    </a:p>
                  </a:txBody>
                  <a:tcPr>
                    <a:solidFill>
                      <a:srgbClr val="F5F6FA"/>
                    </a:solidFill>
                  </a:tcPr>
                </a:tc>
                <a:tc>
                  <a:txBody>
                    <a:bodyPr/>
                    <a:lstStyle/>
                    <a:p>
                      <a:pPr>
                        <a:defRPr sz="1000">
                          <a:solidFill>
                            <a:srgbClr val="1A1A1A"/>
                          </a:solidFill>
                          <a:latin typeface="Calibri"/>
                        </a:defRPr>
                      </a:pPr>
                      <a:r>
                        <a:t>Primary (£300 arbitrary)</a:t>
                      </a:r>
                    </a:p>
                  </a:txBody>
                  <a:tcPr>
                    <a:solidFill>
                      <a:srgbClr val="F5F6FA"/>
                    </a:solidFill>
                  </a:tcPr>
                </a:tc>
                <a:tc>
                  <a:txBody>
                    <a:bodyPr/>
                    <a:lstStyle/>
                    <a:p>
                      <a:pPr>
                        <a:defRPr sz="1000">
                          <a:solidFill>
                            <a:srgbClr val="1A1A1A"/>
                          </a:solidFill>
                          <a:latin typeface="Calibri"/>
                        </a:defRPr>
                      </a:pPr>
                      <a:r>
                        <a:t>Keep — discuss value approach</a:t>
                      </a:r>
                    </a:p>
                  </a:txBody>
                  <a:tcPr>
                    <a:solidFill>
                      <a:srgbClr val="F5F6FA"/>
                    </a:solidFill>
                  </a:tcPr>
                </a:tc>
                <a:tc>
                  <a:txBody>
                    <a:bodyPr/>
                    <a:lstStyle/>
                    <a:p>
                      <a:pPr>
                        <a:defRPr sz="1000">
                          <a:solidFill>
                            <a:srgbClr val="1A1A1A"/>
                          </a:solidFill>
                          <a:latin typeface="Calibri"/>
                        </a:defRPr>
                      </a:pPr>
                      <a:r>
                        <a:t>Week 1</a:t>
                      </a:r>
                    </a:p>
                  </a:txBody>
                  <a:tcPr>
                    <a:solidFill>
                      <a:srgbClr val="F5F6FA"/>
                    </a:solidFill>
                  </a:tcPr>
                </a:tc>
                <a:tc>
                  <a:txBody>
                    <a:bodyPr/>
                    <a:lstStyle/>
                    <a:p>
                      <a:pPr>
                        <a:defRPr sz="1000">
                          <a:solidFill>
                            <a:srgbClr val="1A1A1A"/>
                          </a:solidFill>
                          <a:latin typeface="Calibri"/>
                        </a:defRPr>
                      </a:pPr>
                      <a:r>
                        <a:t>Joint</a:t>
                      </a:r>
                    </a:p>
                  </a:txBody>
                  <a:tcPr>
                    <a:solidFill>
                      <a:srgbClr val="F5F6FA"/>
                    </a:solidFill>
                  </a:tcPr>
                </a:tc>
              </a:tr>
              <a:tr h="320040">
                <a:tc>
                  <a:txBody>
                    <a:bodyPr/>
                    <a:lstStyle/>
                    <a:p>
                      <a:pPr>
                        <a:defRPr sz="1000">
                          <a:solidFill>
                            <a:srgbClr val="1A1A1A"/>
                          </a:solidFill>
                          <a:latin typeface="Calibri"/>
                        </a:defRPr>
                      </a:pPr>
                      <a:r>
                        <a:t>Calls from the ads</a:t>
                      </a:r>
                    </a:p>
                  </a:txBody>
                  <a:tcPr>
                    <a:solidFill>
                      <a:srgbClr val="FFFFFF"/>
                    </a:solidFill>
                  </a:tcPr>
                </a:tc>
                <a:tc>
                  <a:txBody>
                    <a:bodyPr/>
                    <a:lstStyle/>
                    <a:p>
                      <a:pPr>
                        <a:defRPr sz="1000">
                          <a:solidFill>
                            <a:srgbClr val="1A1A1A"/>
                          </a:solidFill>
                          <a:latin typeface="Calibri"/>
                        </a:defRPr>
                      </a:pPr>
                      <a:r>
                        <a:t>Primary (965 cv)</a:t>
                      </a:r>
                    </a:p>
                  </a:txBody>
                  <a:tcPr>
                    <a:solidFill>
                      <a:srgbClr val="FFFFFF"/>
                    </a:solidFill>
                  </a:tcPr>
                </a:tc>
                <a:tc>
                  <a:txBody>
                    <a:bodyPr/>
                    <a:lstStyle/>
                    <a:p>
                      <a:pPr>
                        <a:defRPr sz="1000">
                          <a:solidFill>
                            <a:srgbClr val="1A1A1A"/>
                          </a:solidFill>
                          <a:latin typeface="Calibri"/>
                        </a:defRPr>
                      </a:pPr>
                      <a:r>
                        <a:t>Keep — legitimate</a:t>
                      </a:r>
                    </a:p>
                  </a:txBody>
                  <a:tcPr>
                    <a:solidFill>
                      <a:srgbClr val="FFFFFF"/>
                    </a:solidFill>
                  </a:tcPr>
                </a:tc>
                <a:tc>
                  <a:txBody>
                    <a:bodyPr/>
                    <a:lstStyle/>
                    <a:p>
                      <a:pPr>
                        <a:defRPr sz="1000">
                          <a:solidFill>
                            <a:srgbClr val="1A1A1A"/>
                          </a:solidFill>
                          <a:latin typeface="Calibri"/>
                        </a:defRPr>
                      </a:pPr>
                      <a:r>
                        <a:t>No change</a:t>
                      </a:r>
                    </a:p>
                  </a:txBody>
                  <a:tcPr>
                    <a:solidFill>
                      <a:srgbClr val="FFFFFF"/>
                    </a:solidFill>
                  </a:tcPr>
                </a:tc>
                <a:tc>
                  <a:txBody>
                    <a:bodyPr/>
                    <a:lstStyle/>
                    <a:p>
                      <a:pPr>
                        <a:defRPr sz="1000">
                          <a:solidFill>
                            <a:srgbClr val="1A1A1A"/>
                          </a:solidFill>
                          <a:latin typeface="Calibri"/>
                        </a:defRPr>
                      </a:pPr>
                      <a:r>
                        <a:t>—</a:t>
                      </a:r>
                    </a:p>
                  </a:txBody>
                  <a:tcPr>
                    <a:solidFill>
                      <a:srgbClr val="FFFFFF"/>
                    </a:solidFill>
                  </a:tcPr>
                </a:tc>
              </a:tr>
              <a:tr h="320040">
                <a:tc>
                  <a:txBody>
                    <a:bodyPr/>
                    <a:lstStyle/>
                    <a:p>
                      <a:pPr>
                        <a:defRPr sz="1000">
                          <a:solidFill>
                            <a:srgbClr val="1A1A1A"/>
                          </a:solidFill>
                          <a:latin typeface="Calibri"/>
                        </a:defRPr>
                      </a:pPr>
                      <a:r>
                        <a:t>Submit Quiz / Request Callback</a:t>
                      </a:r>
                    </a:p>
                  </a:txBody>
                  <a:tcPr>
                    <a:solidFill>
                      <a:srgbClr val="F5F6FA"/>
                    </a:solidFill>
                  </a:tcPr>
                </a:tc>
                <a:tc>
                  <a:txBody>
                    <a:bodyPr/>
                    <a:lstStyle/>
                    <a:p>
                      <a:pPr>
                        <a:defRPr sz="1000">
                          <a:solidFill>
                            <a:srgbClr val="1A1A1A"/>
                          </a:solidFill>
                          <a:latin typeface="Calibri"/>
                        </a:defRPr>
                      </a:pPr>
                      <a:r>
                        <a:t>Primary</a:t>
                      </a:r>
                    </a:p>
                  </a:txBody>
                  <a:tcPr>
                    <a:solidFill>
                      <a:srgbClr val="F5F6FA"/>
                    </a:solidFill>
                  </a:tcPr>
                </a:tc>
                <a:tc>
                  <a:txBody>
                    <a:bodyPr/>
                    <a:lstStyle/>
                    <a:p>
                      <a:pPr>
                        <a:defRPr sz="1000">
                          <a:solidFill>
                            <a:srgbClr val="1A1A1A"/>
                          </a:solidFill>
                          <a:latin typeface="Calibri"/>
                        </a:defRPr>
                      </a:pPr>
                      <a:r>
                        <a:t>Keep — legitimate</a:t>
                      </a:r>
                    </a:p>
                  </a:txBody>
                  <a:tcPr>
                    <a:solidFill>
                      <a:srgbClr val="F5F6FA"/>
                    </a:solidFill>
                  </a:tcPr>
                </a:tc>
                <a:tc>
                  <a:txBody>
                    <a:bodyPr/>
                    <a:lstStyle/>
                    <a:p>
                      <a:pPr>
                        <a:defRPr sz="1000">
                          <a:solidFill>
                            <a:srgbClr val="1A1A1A"/>
                          </a:solidFill>
                          <a:latin typeface="Calibri"/>
                        </a:defRPr>
                      </a:pPr>
                      <a:r>
                        <a:t>No change</a:t>
                      </a:r>
                    </a:p>
                  </a:txBody>
                  <a:tcPr>
                    <a:solidFill>
                      <a:srgbClr val="F5F6FA"/>
                    </a:solidFill>
                  </a:tcPr>
                </a:tc>
                <a:tc>
                  <a:txBody>
                    <a:bodyPr/>
                    <a:lstStyle/>
                    <a:p>
                      <a:pPr>
                        <a:defRPr sz="1000">
                          <a:solidFill>
                            <a:srgbClr val="1A1A1A"/>
                          </a:solidFill>
                          <a:latin typeface="Calibri"/>
                        </a:defRPr>
                      </a:pPr>
                      <a:r>
                        <a:t>—</a:t>
                      </a:r>
                    </a:p>
                  </a:txBody>
                  <a:tcPr>
                    <a:solidFill>
                      <a:srgbClr val="F5F6FA"/>
                    </a:solidFill>
                  </a:tcPr>
                </a:tc>
              </a:tr>
            </a:tbl>
          </a:graphicData>
        </a:graphic>
      </p:graphicFrame>
      <p:sp>
        <p:nvSpPr>
          <p:cNvPr id="11" name="Rectangle 10"/>
          <p:cNvSpPr/>
          <p:nvPr/>
        </p:nvSpPr>
        <p:spPr>
          <a:xfrm>
            <a:off x="548640" y="4480560"/>
            <a:ext cx="5303520" cy="137160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4480560"/>
            <a:ext cx="54864" cy="137160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572000"/>
            <a:ext cx="4937760" cy="274320"/>
          </a:xfrm>
          <a:prstGeom prst="rect">
            <a:avLst/>
          </a:prstGeom>
          <a:noFill/>
        </p:spPr>
        <p:txBody>
          <a:bodyPr wrap="square">
            <a:spAutoFit/>
          </a:bodyPr>
          <a:lstStyle/>
          <a:p>
            <a:pPr algn="l"/>
            <a:r>
              <a:rPr sz="1400" b="1">
                <a:solidFill>
                  <a:srgbClr val="1A237E"/>
                </a:solidFill>
                <a:latin typeface="Calibri"/>
              </a:rPr>
              <a:t>Bid Strategy Migration</a:t>
            </a:r>
          </a:p>
        </p:txBody>
      </p:sp>
      <p:sp>
        <p:nvSpPr>
          <p:cNvPr id="14" name="TextBox 13"/>
          <p:cNvSpPr txBox="1"/>
          <p:nvPr/>
        </p:nvSpPr>
        <p:spPr>
          <a:xfrm>
            <a:off x="777240" y="4846320"/>
            <a:ext cx="4937760" cy="914400"/>
          </a:xfrm>
          <a:prstGeom prst="rect">
            <a:avLst/>
          </a:prstGeom>
          <a:noFill/>
        </p:spPr>
        <p:txBody>
          <a:bodyPr wrap="square">
            <a:spAutoFit/>
          </a:bodyPr>
          <a:lstStyle/>
          <a:p>
            <a:pPr algn="l"/>
            <a:r>
              <a:rPr sz="1100" b="0">
                <a:solidFill>
                  <a:srgbClr val="1A1A1A"/>
                </a:solidFill>
                <a:latin typeface="Calibri"/>
              </a:rPr>
              <a:t>Phased migration from tROAS to tCPA:
• PMax: tCPA £50 (currently tROAS 30%)
• Search campaigns: tCPA £65, reduce to £50 over 8 weeks
• Brand: Max Clicks or low tCPA
tCPA is the right approach for long acquisition cycles where real revenue can't reliably be pushed back into Google Ads months later.</a:t>
            </a:r>
          </a:p>
        </p:txBody>
      </p:sp>
      <p:sp>
        <p:nvSpPr>
          <p:cNvPr id="15" name="Rectangle 14"/>
          <p:cNvSpPr/>
          <p:nvPr/>
        </p:nvSpPr>
        <p:spPr>
          <a:xfrm>
            <a:off x="6217920" y="4480560"/>
            <a:ext cx="5303520" cy="13716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4480560"/>
            <a:ext cx="54864" cy="137160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4572000"/>
            <a:ext cx="4937760" cy="274320"/>
          </a:xfrm>
          <a:prstGeom prst="rect">
            <a:avLst/>
          </a:prstGeom>
          <a:noFill/>
        </p:spPr>
        <p:txBody>
          <a:bodyPr wrap="square">
            <a:spAutoFit/>
          </a:bodyPr>
          <a:lstStyle/>
          <a:p>
            <a:pPr algn="l"/>
            <a:r>
              <a:rPr sz="1400" b="1">
                <a:solidFill>
                  <a:srgbClr val="1A237E"/>
                </a:solidFill>
                <a:latin typeface="Calibri"/>
              </a:rPr>
              <a:t>Questions for Giulio</a:t>
            </a:r>
          </a:p>
        </p:txBody>
      </p:sp>
      <p:sp>
        <p:nvSpPr>
          <p:cNvPr id="18" name="TextBox 17"/>
          <p:cNvSpPr txBox="1"/>
          <p:nvPr/>
        </p:nvSpPr>
        <p:spPr>
          <a:xfrm>
            <a:off x="6446520" y="4846320"/>
            <a:ext cx="4937760" cy="914400"/>
          </a:xfrm>
          <a:prstGeom prst="rect">
            <a:avLst/>
          </a:prstGeom>
          <a:noFill/>
        </p:spPr>
        <p:txBody>
          <a:bodyPr wrap="square">
            <a:spAutoFit/>
          </a:bodyPr>
          <a:lstStyle/>
          <a:p>
            <a:pPr algn="l"/>
            <a:r>
              <a:rPr sz="1100" b="0">
                <a:solidFill>
                  <a:srgbClr val="1A1A1A"/>
                </a:solidFill>
                <a:latin typeface="Calibri"/>
              </a:rPr>
              <a:t>1. Can you confirm Dengro Offline Lead only counts ad-sourced leads? (Still pending from email)
2. What other tracking exists outside Google Ads? (Facebook Pixel? LinkedIn?)
3. Is there a phone tracking number on the website different from Google forwarding numbers?</a:t>
            </a:r>
          </a:p>
        </p:txBody>
      </p:sp>
      <p:sp>
        <p:nvSpPr>
          <p:cNvPr id="19" name="Rectangle 18"/>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24" name="TextBox 23"/>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5" name="TextBox 24"/>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Call Tracking</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CBD5E1"/>
                </a:solidFill>
                <a:latin typeface="Calibri"/>
              </a:rPr>
              <a:t>Understanding how phone calls work within the business</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Section 6 of 7</a:t>
            </a:r>
          </a:p>
        </p:txBody>
      </p:sp>
      <p:sp>
        <p:nvSpPr>
          <p:cNvPr id="10" name="Rectangle 9"/>
          <p:cNvSpPr/>
          <p:nvPr/>
        </p:nvSpPr>
        <p:spPr>
          <a:xfrm>
            <a:off x="548640" y="1097280"/>
            <a:ext cx="5303520" cy="475488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097280"/>
            <a:ext cx="54864" cy="475488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1188720"/>
            <a:ext cx="4937760" cy="274320"/>
          </a:xfrm>
          <a:prstGeom prst="rect">
            <a:avLst/>
          </a:prstGeom>
          <a:noFill/>
        </p:spPr>
        <p:txBody>
          <a:bodyPr wrap="square">
            <a:spAutoFit/>
          </a:bodyPr>
          <a:lstStyle/>
          <a:p>
            <a:pPr algn="l"/>
            <a:r>
              <a:rPr sz="1400" b="1">
                <a:solidFill>
                  <a:srgbClr val="1A237E"/>
                </a:solidFill>
                <a:latin typeface="Calibri"/>
              </a:rPr>
              <a:t>Questions for the Call</a:t>
            </a:r>
          </a:p>
        </p:txBody>
      </p:sp>
      <p:sp>
        <p:nvSpPr>
          <p:cNvPr id="13" name="TextBox 12"/>
          <p:cNvSpPr txBox="1"/>
          <p:nvPr/>
        </p:nvSpPr>
        <p:spPr>
          <a:xfrm>
            <a:off x="777240" y="1463040"/>
            <a:ext cx="4937760" cy="4297680"/>
          </a:xfrm>
          <a:prstGeom prst="rect">
            <a:avLst/>
          </a:prstGeom>
          <a:noFill/>
        </p:spPr>
        <p:txBody>
          <a:bodyPr wrap="square">
            <a:spAutoFit/>
          </a:bodyPr>
          <a:lstStyle/>
          <a:p>
            <a:pPr algn="l"/>
            <a:r>
              <a:rPr sz="1100" b="0">
                <a:solidFill>
                  <a:srgbClr val="1A1A1A"/>
                </a:solidFill>
                <a:latin typeface="Calibri"/>
              </a:rPr>
              <a:t>1. Do you use a call tracking provider? (CallRail, Infinity, Mediahawk, ResponseTap — or just Google's forwarding numbers?)
2. How are inbound calls routed? (Reception? IVR menu? Call centre?)
3. Which phone numbers appear on the website? (One number sitewide, or different per page?)
4. Are calls recorded?
5. Is call quality tracked or scored with AI? (Some providers score calls as “qualified lead”, “spam”, “existing patient”)
6. What happens when a call is missed? (Voicemail? Callback system? Lost?)
7. What are the opening hours for phone enquiries? (If phones aren't answered outside hours but ads run 24/7, we're paying for unanswered calls)
8. Does Dengro track which calls result in bookings?
9. Are Google call extensions using forwarding numbers or your actual number?
10. Giulio mentioned calls tracked only in CRM that don't report back to Google — can we get this data for the last 12 months?</a:t>
            </a:r>
          </a:p>
        </p:txBody>
      </p:sp>
      <p:sp>
        <p:nvSpPr>
          <p:cNvPr id="14" name="Rectangle 13"/>
          <p:cNvSpPr/>
          <p:nvPr/>
        </p:nvSpPr>
        <p:spPr>
          <a:xfrm>
            <a:off x="6217920" y="1097280"/>
            <a:ext cx="5303520" cy="475488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097280"/>
            <a:ext cx="54864" cy="475488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1188720"/>
            <a:ext cx="4937760" cy="274320"/>
          </a:xfrm>
          <a:prstGeom prst="rect">
            <a:avLst/>
          </a:prstGeom>
          <a:noFill/>
        </p:spPr>
        <p:txBody>
          <a:bodyPr wrap="square">
            <a:spAutoFit/>
          </a:bodyPr>
          <a:lstStyle/>
          <a:p>
            <a:pPr algn="l"/>
            <a:r>
              <a:rPr sz="1400" b="1">
                <a:solidFill>
                  <a:srgbClr val="1A237E"/>
                </a:solidFill>
                <a:latin typeface="Calibri"/>
              </a:rPr>
              <a:t>What We Know So Far</a:t>
            </a:r>
          </a:p>
        </p:txBody>
      </p:sp>
      <p:sp>
        <p:nvSpPr>
          <p:cNvPr id="17" name="TextBox 16"/>
          <p:cNvSpPr txBox="1"/>
          <p:nvPr/>
        </p:nvSpPr>
        <p:spPr>
          <a:xfrm>
            <a:off x="6446520" y="1463040"/>
            <a:ext cx="4937760" cy="4297680"/>
          </a:xfrm>
          <a:prstGeom prst="rect">
            <a:avLst/>
          </a:prstGeom>
          <a:noFill/>
        </p:spPr>
        <p:txBody>
          <a:bodyPr wrap="square">
            <a:spAutoFit/>
          </a:bodyPr>
          <a:lstStyle/>
          <a:p>
            <a:pPr algn="l"/>
            <a:r>
              <a:rPr sz="1100" b="0">
                <a:solidFill>
                  <a:srgbClr val="1A1A1A"/>
                </a:solidFill>
                <a:latin typeface="Calibri"/>
              </a:rPr>
              <a:t>From the Google Ads data:
• “Calls from the ads”: 965 conversions (all-time)
• Various call extensions: Brand (115), Implants PMax (24), Implants (21), Invisalign (35)
• Google forwarding numbers are in use
From Giulio's email:
• “Some calls are only tracked inside the CRM where the value does not get reported back to Google”
• He offered to share booking data if we give a timeframe
• This means Google Ads is undercounting actual call conversions
Gap: We don't know if there's a dedicated call tracking provider, whether calls are recorded, or whether call quality is being measured.</a:t>
            </a:r>
          </a:p>
        </p:txBody>
      </p:sp>
      <p:sp>
        <p:nvSpPr>
          <p:cNvPr id="18" name="Rectangle 17"/>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23" name="TextBox 22"/>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4" name="TextBox 23"/>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6FA"/>
        </a:solidFill>
        <a:effectLst/>
      </p:bgPr>
    </p:bg>
    <p:spTree>
      <p:nvGrpSpPr>
        <p:cNvPr id="1" name=""/>
        <p:cNvGrpSpPr/>
        <p:nvPr/>
      </p:nvGrpSpPr>
      <p:grpSpPr/>
      <p:sp>
        <p:nvSpPr>
          <p:cNvPr id="2" name="Rectangle 1"/>
          <p:cNvSpPr/>
          <p:nvPr/>
        </p:nvSpPr>
        <p:spPr>
          <a:xfrm>
            <a:off x="0" y="0"/>
            <a:ext cx="3047695" cy="64008"/>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64008"/>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64008"/>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64008"/>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008"/>
            <a:ext cx="109728" cy="679399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_logo_official.png"/>
          <p:cNvPicPr>
            <a:picLocks noChangeAspect="1"/>
          </p:cNvPicPr>
          <p:nvPr/>
        </p:nvPicPr>
        <p:blipFill>
          <a:blip r:embed="rId2"/>
          <a:stretch>
            <a:fillRect/>
          </a:stretch>
        </p:blipFill>
        <p:spPr>
          <a:xfrm>
            <a:off x="548640" y="457200"/>
            <a:ext cx="594360" cy="594360"/>
          </a:xfrm>
          <a:prstGeom prst="rect">
            <a:avLst/>
          </a:prstGeom>
        </p:spPr>
      </p:pic>
      <p:sp>
        <p:nvSpPr>
          <p:cNvPr id="8" name="TextBox 7"/>
          <p:cNvSpPr txBox="1"/>
          <p:nvPr/>
        </p:nvSpPr>
        <p:spPr>
          <a:xfrm>
            <a:off x="548640" y="1280160"/>
            <a:ext cx="5029200" cy="731520"/>
          </a:xfrm>
          <a:prstGeom prst="rect">
            <a:avLst/>
          </a:prstGeom>
          <a:noFill/>
        </p:spPr>
        <p:txBody>
          <a:bodyPr wrap="square">
            <a:spAutoFit/>
          </a:bodyPr>
          <a:lstStyle/>
          <a:p>
            <a:pPr algn="l"/>
            <a:r>
              <a:rPr sz="4400" b="1">
                <a:solidFill>
                  <a:srgbClr val="1A237E"/>
                </a:solidFill>
                <a:latin typeface="Calibri"/>
              </a:rPr>
              <a:t>Access Summary</a:t>
            </a:r>
          </a:p>
        </p:txBody>
      </p:sp>
      <p:sp>
        <p:nvSpPr>
          <p:cNvPr id="9" name="Rectangle 8"/>
          <p:cNvSpPr/>
          <p:nvPr/>
        </p:nvSpPr>
        <p:spPr>
          <a:xfrm>
            <a:off x="548640" y="2011680"/>
            <a:ext cx="2286000" cy="457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194560"/>
            <a:ext cx="5029200" cy="365760"/>
          </a:xfrm>
          <a:prstGeom prst="rect">
            <a:avLst/>
          </a:prstGeom>
          <a:noFill/>
        </p:spPr>
        <p:txBody>
          <a:bodyPr wrap="square">
            <a:spAutoFit/>
          </a:bodyPr>
          <a:lstStyle/>
          <a:p>
            <a:pPr algn="l"/>
            <a:r>
              <a:rPr sz="1400" b="0">
                <a:solidFill>
                  <a:srgbClr val="1A237E"/>
                </a:solidFill>
                <a:latin typeface="Calibri"/>
              </a:rPr>
              <a:t>All access requests in one place</a:t>
            </a:r>
          </a:p>
        </p:txBody>
      </p:sp>
      <p:graphicFrame>
        <p:nvGraphicFramePr>
          <p:cNvPr id="11" name="Table 10"/>
          <p:cNvGraphicFramePr>
            <a:graphicFrameLocks noGrp="1"/>
          </p:cNvGraphicFramePr>
          <p:nvPr/>
        </p:nvGraphicFramePr>
        <p:xfrm>
          <a:off x="548640" y="2651760"/>
          <a:ext cx="4572000" cy="3017520"/>
        </p:xfrm>
        <a:graphic>
          <a:graphicData uri="http://schemas.openxmlformats.org/drawingml/2006/table">
            <a:tbl>
              <a:tblPr firstRow="1" bandRow="1">
                <a:tableStyleId>{5C22544A-7EE6-4342-B048-85BDC9FD1C3A}</a:tableStyleId>
              </a:tblPr>
              <a:tblGrid>
                <a:gridCol w="1097280"/>
                <a:gridCol w="914400"/>
                <a:gridCol w="2011680"/>
                <a:gridCol w="548640"/>
              </a:tblGrid>
              <a:tr h="431074">
                <a:tc>
                  <a:txBody>
                    <a:bodyPr/>
                    <a:lstStyle/>
                    <a:p>
                      <a:pPr>
                        <a:defRPr sz="1000" b="1">
                          <a:solidFill>
                            <a:srgbClr val="FFFFFF"/>
                          </a:solidFill>
                          <a:latin typeface="Calibri"/>
                        </a:defRPr>
                      </a:pPr>
                      <a:r>
                        <a:t>Platform</a:t>
                      </a:r>
                    </a:p>
                  </a:txBody>
                  <a:tcPr>
                    <a:solidFill>
                      <a:srgbClr val="1A237E"/>
                    </a:solidFill>
                  </a:tcPr>
                </a:tc>
                <a:tc>
                  <a:txBody>
                    <a:bodyPr/>
                    <a:lstStyle/>
                    <a:p>
                      <a:pPr>
                        <a:defRPr sz="1000" b="1">
                          <a:solidFill>
                            <a:srgbClr val="FFFFFF"/>
                          </a:solidFill>
                          <a:latin typeface="Calibri"/>
                        </a:defRPr>
                      </a:pPr>
                      <a:r>
                        <a:t>Access Level</a:t>
                      </a:r>
                    </a:p>
                  </a:txBody>
                  <a:tcPr>
                    <a:solidFill>
                      <a:srgbClr val="1A237E"/>
                    </a:solidFill>
                  </a:tcPr>
                </a:tc>
                <a:tc>
                  <a:txBody>
                    <a:bodyPr/>
                    <a:lstStyle/>
                    <a:p>
                      <a:pPr>
                        <a:defRPr sz="1000" b="1">
                          <a:solidFill>
                            <a:srgbClr val="FFFFFF"/>
                          </a:solidFill>
                          <a:latin typeface="Calibri"/>
                        </a:defRPr>
                      </a:pPr>
                      <a:r>
                        <a:t>Grant To</a:t>
                      </a:r>
                    </a:p>
                  </a:txBody>
                  <a:tcPr>
                    <a:solidFill>
                      <a:srgbClr val="1A237E"/>
                    </a:solidFill>
                  </a:tcPr>
                </a:tc>
                <a:tc>
                  <a:txBody>
                    <a:bodyPr/>
                    <a:lstStyle/>
                    <a:p>
                      <a:pPr>
                        <a:defRPr sz="1000" b="1">
                          <a:solidFill>
                            <a:srgbClr val="FFFFFF"/>
                          </a:solidFill>
                          <a:latin typeface="Calibri"/>
                        </a:defRPr>
                      </a:pPr>
                      <a:r>
                        <a:t>Status</a:t>
                      </a:r>
                    </a:p>
                  </a:txBody>
                  <a:tcPr>
                    <a:solidFill>
                      <a:srgbClr val="1A237E"/>
                    </a:solidFill>
                  </a:tcPr>
                </a:tc>
              </a:tr>
              <a:tr h="431074">
                <a:tc>
                  <a:txBody>
                    <a:bodyPr/>
                    <a:lstStyle/>
                    <a:p>
                      <a:pPr>
                        <a:defRPr sz="1000">
                          <a:solidFill>
                            <a:srgbClr val="1A1A1A"/>
                          </a:solidFill>
                          <a:latin typeface="Calibri"/>
                        </a:defRPr>
                      </a:pPr>
                      <a:r>
                        <a:t>Google Ads</a:t>
                      </a:r>
                    </a:p>
                  </a:txBody>
                  <a:tcPr>
                    <a:solidFill>
                      <a:srgbClr val="F5F6FA"/>
                    </a:solidFill>
                  </a:tcPr>
                </a:tc>
                <a:tc>
                  <a:txBody>
                    <a:bodyPr/>
                    <a:lstStyle/>
                    <a:p>
                      <a:pPr>
                        <a:defRPr sz="1000">
                          <a:solidFill>
                            <a:srgbClr val="1A1A1A"/>
                          </a:solidFill>
                          <a:latin typeface="Calibri"/>
                        </a:defRPr>
                      </a:pPr>
                      <a:r>
                        <a:t>Admin</a:t>
                      </a:r>
                    </a:p>
                  </a:txBody>
                  <a:tcPr>
                    <a:solidFill>
                      <a:srgbClr val="F5F6FA"/>
                    </a:solidFill>
                  </a:tcPr>
                </a:tc>
                <a:tc>
                  <a:txBody>
                    <a:bodyPr/>
                    <a:lstStyle/>
                    <a:p>
                      <a:pPr>
                        <a:defRPr sz="1000">
                          <a:solidFill>
                            <a:srgbClr val="1A1A1A"/>
                          </a:solidFill>
                          <a:latin typeface="Calibri"/>
                        </a:defRPr>
                      </a:pPr>
                      <a:r>
                        <a:t>chris@christopherhoole.com</a:t>
                      </a:r>
                    </a:p>
                  </a:txBody>
                  <a:tcPr>
                    <a:solidFill>
                      <a:srgbClr val="F5F6FA"/>
                    </a:solidFill>
                  </a:tcPr>
                </a:tc>
                <a:tc>
                  <a:txBody>
                    <a:bodyPr/>
                    <a:lstStyle/>
                    <a:p>
                      <a:pPr>
                        <a:defRPr sz="1000">
                          <a:solidFill>
                            <a:srgbClr val="1A1A1A"/>
                          </a:solidFill>
                          <a:latin typeface="Calibri"/>
                        </a:defRPr>
                      </a:pPr>
                      <a:r>
                        <a:t>⏳</a:t>
                      </a:r>
                    </a:p>
                  </a:txBody>
                  <a:tcPr>
                    <a:solidFill>
                      <a:srgbClr val="F5F6FA"/>
                    </a:solidFill>
                  </a:tcPr>
                </a:tc>
              </a:tr>
              <a:tr h="431074">
                <a:tc>
                  <a:txBody>
                    <a:bodyPr/>
                    <a:lstStyle/>
                    <a:p>
                      <a:pPr>
                        <a:defRPr sz="1000">
                          <a:solidFill>
                            <a:srgbClr val="1A1A1A"/>
                          </a:solidFill>
                          <a:latin typeface="Calibri"/>
                        </a:defRPr>
                      </a:pPr>
                      <a:r>
                        <a:t>GA4</a:t>
                      </a:r>
                    </a:p>
                  </a:txBody>
                  <a:tcPr>
                    <a:solidFill>
                      <a:srgbClr val="FFFFFF"/>
                    </a:solidFill>
                  </a:tcPr>
                </a:tc>
                <a:tc>
                  <a:txBody>
                    <a:bodyPr/>
                    <a:lstStyle/>
                    <a:p>
                      <a:pPr>
                        <a:defRPr sz="1000">
                          <a:solidFill>
                            <a:srgbClr val="1A1A1A"/>
                          </a:solidFill>
                          <a:latin typeface="Calibri"/>
                        </a:defRPr>
                      </a:pPr>
                      <a:r>
                        <a:t>Editor</a:t>
                      </a:r>
                    </a:p>
                  </a:txBody>
                  <a:tcPr>
                    <a:solidFill>
                      <a:srgbClr val="FFFFFF"/>
                    </a:solidFill>
                  </a:tcPr>
                </a:tc>
                <a:tc>
                  <a:txBody>
                    <a:bodyPr/>
                    <a:lstStyle/>
                    <a:p>
                      <a:pPr>
                        <a:defRPr sz="1000">
                          <a:solidFill>
                            <a:srgbClr val="1A1A1A"/>
                          </a:solidFill>
                          <a:latin typeface="Calibri"/>
                        </a:defRPr>
                      </a:pPr>
                      <a:r>
                        <a:t>chris@christopherhoole.com</a:t>
                      </a:r>
                    </a:p>
                  </a:txBody>
                  <a:tcPr>
                    <a:solidFill>
                      <a:srgbClr val="FFFFFF"/>
                    </a:solidFill>
                  </a:tcPr>
                </a:tc>
                <a:tc>
                  <a:txBody>
                    <a:bodyPr/>
                    <a:lstStyle/>
                    <a:p>
                      <a:pPr>
                        <a:defRPr sz="1000">
                          <a:solidFill>
                            <a:srgbClr val="1A1A1A"/>
                          </a:solidFill>
                          <a:latin typeface="Calibri"/>
                        </a:defRPr>
                      </a:pPr>
                      <a:r>
                        <a:t>⏳</a:t>
                      </a:r>
                    </a:p>
                  </a:txBody>
                  <a:tcPr>
                    <a:solidFill>
                      <a:srgbClr val="FFFFFF"/>
                    </a:solidFill>
                  </a:tcPr>
                </a:tc>
              </a:tr>
              <a:tr h="431074">
                <a:tc>
                  <a:txBody>
                    <a:bodyPr/>
                    <a:lstStyle/>
                    <a:p>
                      <a:pPr>
                        <a:defRPr sz="1000">
                          <a:solidFill>
                            <a:srgbClr val="1A1A1A"/>
                          </a:solidFill>
                          <a:latin typeface="Calibri"/>
                        </a:defRPr>
                      </a:pPr>
                      <a:r>
                        <a:t>GTM</a:t>
                      </a:r>
                    </a:p>
                  </a:txBody>
                  <a:tcPr>
                    <a:solidFill>
                      <a:srgbClr val="F5F6FA"/>
                    </a:solidFill>
                  </a:tcPr>
                </a:tc>
                <a:tc>
                  <a:txBody>
                    <a:bodyPr/>
                    <a:lstStyle/>
                    <a:p>
                      <a:pPr>
                        <a:defRPr sz="1000">
                          <a:solidFill>
                            <a:srgbClr val="1A1A1A"/>
                          </a:solidFill>
                          <a:latin typeface="Calibri"/>
                        </a:defRPr>
                      </a:pPr>
                      <a:r>
                        <a:t>Publish</a:t>
                      </a:r>
                    </a:p>
                  </a:txBody>
                  <a:tcPr>
                    <a:solidFill>
                      <a:srgbClr val="F5F6FA"/>
                    </a:solidFill>
                  </a:tcPr>
                </a:tc>
                <a:tc>
                  <a:txBody>
                    <a:bodyPr/>
                    <a:lstStyle/>
                    <a:p>
                      <a:pPr>
                        <a:defRPr sz="1000">
                          <a:solidFill>
                            <a:srgbClr val="1A1A1A"/>
                          </a:solidFill>
                          <a:latin typeface="Calibri"/>
                        </a:defRPr>
                      </a:pPr>
                      <a:r>
                        <a:t>chris@christopherhoole.com</a:t>
                      </a:r>
                    </a:p>
                  </a:txBody>
                  <a:tcPr>
                    <a:solidFill>
                      <a:srgbClr val="F5F6FA"/>
                    </a:solidFill>
                  </a:tcPr>
                </a:tc>
                <a:tc>
                  <a:txBody>
                    <a:bodyPr/>
                    <a:lstStyle/>
                    <a:p>
                      <a:pPr>
                        <a:defRPr sz="1000">
                          <a:solidFill>
                            <a:srgbClr val="1A1A1A"/>
                          </a:solidFill>
                          <a:latin typeface="Calibri"/>
                        </a:defRPr>
                      </a:pPr>
                      <a:r>
                        <a:t>⏳</a:t>
                      </a:r>
                    </a:p>
                  </a:txBody>
                  <a:tcPr>
                    <a:solidFill>
                      <a:srgbClr val="F5F6FA"/>
                    </a:solidFill>
                  </a:tcPr>
                </a:tc>
              </a:tr>
              <a:tr h="431074">
                <a:tc>
                  <a:txBody>
                    <a:bodyPr/>
                    <a:lstStyle/>
                    <a:p>
                      <a:pPr>
                        <a:defRPr sz="1000">
                          <a:solidFill>
                            <a:srgbClr val="1A1A1A"/>
                          </a:solidFill>
                          <a:latin typeface="Calibri"/>
                        </a:defRPr>
                      </a:pPr>
                      <a:r>
                        <a:t>Search Console</a:t>
                      </a:r>
                    </a:p>
                  </a:txBody>
                  <a:tcPr>
                    <a:solidFill>
                      <a:srgbClr val="FFFFFF"/>
                    </a:solidFill>
                  </a:tcPr>
                </a:tc>
                <a:tc>
                  <a:txBody>
                    <a:bodyPr/>
                    <a:lstStyle/>
                    <a:p>
                      <a:pPr>
                        <a:defRPr sz="1000">
                          <a:solidFill>
                            <a:srgbClr val="1A1A1A"/>
                          </a:solidFill>
                          <a:latin typeface="Calibri"/>
                        </a:defRPr>
                      </a:pPr>
                      <a:r>
                        <a:t>Full</a:t>
                      </a:r>
                    </a:p>
                  </a:txBody>
                  <a:tcPr>
                    <a:solidFill>
                      <a:srgbClr val="FFFFFF"/>
                    </a:solidFill>
                  </a:tcPr>
                </a:tc>
                <a:tc>
                  <a:txBody>
                    <a:bodyPr/>
                    <a:lstStyle/>
                    <a:p>
                      <a:pPr>
                        <a:defRPr sz="1000">
                          <a:solidFill>
                            <a:srgbClr val="1A1A1A"/>
                          </a:solidFill>
                          <a:latin typeface="Calibri"/>
                        </a:defRPr>
                      </a:pPr>
                      <a:r>
                        <a:t>chris@christopherhoole.com</a:t>
                      </a:r>
                    </a:p>
                  </a:txBody>
                  <a:tcPr>
                    <a:solidFill>
                      <a:srgbClr val="FFFFFF"/>
                    </a:solidFill>
                  </a:tcPr>
                </a:tc>
                <a:tc>
                  <a:txBody>
                    <a:bodyPr/>
                    <a:lstStyle/>
                    <a:p>
                      <a:pPr>
                        <a:defRPr sz="1000">
                          <a:solidFill>
                            <a:srgbClr val="1A1A1A"/>
                          </a:solidFill>
                          <a:latin typeface="Calibri"/>
                        </a:defRPr>
                      </a:pPr>
                      <a:r>
                        <a:t>⏳</a:t>
                      </a:r>
                    </a:p>
                  </a:txBody>
                  <a:tcPr>
                    <a:solidFill>
                      <a:srgbClr val="FFFFFF"/>
                    </a:solidFill>
                  </a:tcPr>
                </a:tc>
              </a:tr>
              <a:tr h="431074">
                <a:tc>
                  <a:txBody>
                    <a:bodyPr/>
                    <a:lstStyle/>
                    <a:p>
                      <a:pPr>
                        <a:defRPr sz="1000">
                          <a:solidFill>
                            <a:srgbClr val="1A1A1A"/>
                          </a:solidFill>
                          <a:latin typeface="Calibri"/>
                        </a:defRPr>
                      </a:pPr>
                      <a:r>
                        <a:t>Website CMS</a:t>
                      </a:r>
                    </a:p>
                  </a:txBody>
                  <a:tcPr>
                    <a:solidFill>
                      <a:srgbClr val="F5F6FA"/>
                    </a:solidFill>
                  </a:tcPr>
                </a:tc>
                <a:tc>
                  <a:txBody>
                    <a:bodyPr/>
                    <a:lstStyle/>
                    <a:p>
                      <a:pPr>
                        <a:defRPr sz="1000">
                          <a:solidFill>
                            <a:srgbClr val="1A1A1A"/>
                          </a:solidFill>
                          <a:latin typeface="Calibri"/>
                        </a:defRPr>
                      </a:pPr>
                      <a:r>
                        <a:t>Read-only</a:t>
                      </a:r>
                    </a:p>
                  </a:txBody>
                  <a:tcPr>
                    <a:solidFill>
                      <a:srgbClr val="F5F6FA"/>
                    </a:solidFill>
                  </a:tcPr>
                </a:tc>
                <a:tc>
                  <a:txBody>
                    <a:bodyPr/>
                    <a:lstStyle/>
                    <a:p>
                      <a:pPr>
                        <a:defRPr sz="1000">
                          <a:solidFill>
                            <a:srgbClr val="1A1A1A"/>
                          </a:solidFill>
                          <a:latin typeface="Calibri"/>
                        </a:defRPr>
                      </a:pPr>
                      <a:r>
                        <a:t>chris@christopherhoole.com</a:t>
                      </a:r>
                    </a:p>
                  </a:txBody>
                  <a:tcPr>
                    <a:solidFill>
                      <a:srgbClr val="F5F6FA"/>
                    </a:solidFill>
                  </a:tcPr>
                </a:tc>
                <a:tc>
                  <a:txBody>
                    <a:bodyPr/>
                    <a:lstStyle/>
                    <a:p>
                      <a:pPr>
                        <a:defRPr sz="1000">
                          <a:solidFill>
                            <a:srgbClr val="1A1A1A"/>
                          </a:solidFill>
                          <a:latin typeface="Calibri"/>
                        </a:defRPr>
                      </a:pPr>
                      <a:r>
                        <a:t>⏳</a:t>
                      </a:r>
                    </a:p>
                  </a:txBody>
                  <a:tcPr>
                    <a:solidFill>
                      <a:srgbClr val="F5F6FA"/>
                    </a:solidFill>
                  </a:tcPr>
                </a:tc>
              </a:tr>
              <a:tr h="431076">
                <a:tc>
                  <a:txBody>
                    <a:bodyPr/>
                    <a:lstStyle/>
                    <a:p>
                      <a:pPr>
                        <a:defRPr sz="1000">
                          <a:solidFill>
                            <a:srgbClr val="1A1A1A"/>
                          </a:solidFill>
                          <a:latin typeface="Calibri"/>
                        </a:defRPr>
                      </a:pPr>
                      <a:r>
                        <a:t>Dengro</a:t>
                      </a:r>
                    </a:p>
                  </a:txBody>
                  <a:tcPr>
                    <a:solidFill>
                      <a:srgbClr val="FFFFFF"/>
                    </a:solidFill>
                  </a:tcPr>
                </a:tc>
                <a:tc>
                  <a:txBody>
                    <a:bodyPr/>
                    <a:lstStyle/>
                    <a:p>
                      <a:pPr>
                        <a:defRPr sz="1000">
                          <a:solidFill>
                            <a:srgbClr val="1A1A1A"/>
                          </a:solidFill>
                          <a:latin typeface="Calibri"/>
                        </a:defRPr>
                      </a:pPr>
                      <a:r>
                        <a:t>Export access (postcode data)</a:t>
                      </a:r>
                    </a:p>
                  </a:txBody>
                  <a:tcPr>
                    <a:solidFill>
                      <a:srgbClr val="FFFFFF"/>
                    </a:solidFill>
                  </a:tcPr>
                </a:tc>
                <a:tc>
                  <a:txBody>
                    <a:bodyPr/>
                    <a:lstStyle/>
                    <a:p>
                      <a:pPr>
                        <a:defRPr sz="1000">
                          <a:solidFill>
                            <a:srgbClr val="1A1A1A"/>
                          </a:solidFill>
                          <a:latin typeface="Calibri"/>
                        </a:defRPr>
                      </a:pPr>
                      <a:r>
                        <a:t>Christopher to receive</a:t>
                      </a:r>
                    </a:p>
                  </a:txBody>
                  <a:tcPr>
                    <a:solidFill>
                      <a:srgbClr val="FFFFFF"/>
                    </a:solidFill>
                  </a:tcPr>
                </a:tc>
                <a:tc>
                  <a:txBody>
                    <a:bodyPr/>
                    <a:lstStyle/>
                    <a:p>
                      <a:pPr>
                        <a:defRPr sz="1000">
                          <a:solidFill>
                            <a:srgbClr val="1A1A1A"/>
                          </a:solidFill>
                          <a:latin typeface="Calibri"/>
                        </a:defRPr>
                      </a:pPr>
                      <a:r>
                        <a:t>⏳</a:t>
                      </a:r>
                    </a:p>
                  </a:txBody>
                  <a:tcPr>
                    <a:solidFill>
                      <a:srgbClr val="FFFFFF"/>
                    </a:solidFill>
                  </a:tcPr>
                </a:tc>
              </a:tr>
            </a:tbl>
          </a:graphicData>
        </a:graphic>
      </p:graphicFrame>
      <p:sp>
        <p:nvSpPr>
          <p:cNvPr id="12" name="Rectangle 11"/>
          <p:cNvSpPr/>
          <p:nvPr/>
        </p:nvSpPr>
        <p:spPr>
          <a:xfrm>
            <a:off x="6217920" y="457200"/>
            <a:ext cx="539496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457200"/>
            <a:ext cx="73152" cy="228600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548640"/>
            <a:ext cx="4937760" cy="320040"/>
          </a:xfrm>
          <a:prstGeom prst="rect">
            <a:avLst/>
          </a:prstGeom>
          <a:noFill/>
        </p:spPr>
        <p:txBody>
          <a:bodyPr wrap="square">
            <a:spAutoFit/>
          </a:bodyPr>
          <a:lstStyle/>
          <a:p>
            <a:pPr algn="l"/>
            <a:r>
              <a:rPr sz="1400" b="0">
                <a:solidFill>
                  <a:srgbClr val="1A237E"/>
                </a:solidFill>
                <a:latin typeface="Calibri"/>
              </a:rPr>
              <a:t>Once Access Is Granted</a:t>
            </a:r>
          </a:p>
        </p:txBody>
      </p:sp>
      <p:sp>
        <p:nvSpPr>
          <p:cNvPr id="15" name="TextBox 14"/>
          <p:cNvSpPr txBox="1"/>
          <p:nvPr/>
        </p:nvSpPr>
        <p:spPr>
          <a:xfrm>
            <a:off x="6492240" y="914400"/>
            <a:ext cx="4937760" cy="1645920"/>
          </a:xfrm>
          <a:prstGeom prst="rect">
            <a:avLst/>
          </a:prstGeom>
          <a:noFill/>
        </p:spPr>
        <p:txBody>
          <a:bodyPr wrap="square">
            <a:spAutoFit/>
          </a:bodyPr>
          <a:lstStyle/>
          <a:p>
            <a:pPr algn="l"/>
            <a:r>
              <a:rPr sz="1200" b="0">
                <a:solidFill>
                  <a:srgbClr val="1A1A1A"/>
                </a:solidFill>
                <a:latin typeface="Calibri"/>
              </a:rPr>
              <a:t>Week 1 implementation can begin immediately:
• Remove KMG ghost conversions
• Move soft signals to Secondary
• Negative keyword 9-list overhaul
• Block NHS/free seekers (account-level)
• Add PMax Display exclusions
• Geo restructure (radius → postcodes)
• Device + schedule bid adjustments
• Disable auto-apply</a:t>
            </a:r>
          </a:p>
        </p:txBody>
      </p:sp>
      <p:sp>
        <p:nvSpPr>
          <p:cNvPr id="16" name="Rectangle 15"/>
          <p:cNvSpPr/>
          <p:nvPr/>
        </p:nvSpPr>
        <p:spPr>
          <a:xfrm>
            <a:off x="6217920" y="2926080"/>
            <a:ext cx="5394960" cy="914400"/>
          </a:xfrm>
          <a:prstGeom prst="rect">
            <a:avLst/>
          </a:prstGeom>
          <a:solidFill>
            <a:srgbClr val="E8F0FE"/>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2971800"/>
            <a:ext cx="4937760" cy="822960"/>
          </a:xfrm>
          <a:prstGeom prst="rect">
            <a:avLst/>
          </a:prstGeom>
          <a:noFill/>
        </p:spPr>
        <p:txBody>
          <a:bodyPr wrap="square">
            <a:spAutoFit/>
          </a:bodyPr>
          <a:lstStyle/>
          <a:p>
            <a:pPr algn="l"/>
            <a:r>
              <a:rPr sz="1200" b="1">
                <a:solidFill>
                  <a:srgbClr val="1A237E"/>
                </a:solidFill>
                <a:latin typeface="Calibri"/>
              </a:rPr>
              <a:t>Contact: chris@christopherhoole.com
christopherhoole.com  |  +44 7999 500 184</a:t>
            </a:r>
          </a:p>
        </p:txBody>
      </p:sp>
      <p:sp>
        <p:nvSpPr>
          <p:cNvPr id="18" name="Rectangle 17"/>
          <p:cNvSpPr/>
          <p:nvPr/>
        </p:nvSpPr>
        <p:spPr>
          <a:xfrm>
            <a:off x="0" y="6400800"/>
            <a:ext cx="3047695" cy="36576"/>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047695" y="6400800"/>
            <a:ext cx="3047695" cy="36576"/>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95390" y="6400800"/>
            <a:ext cx="3047695" cy="36576"/>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43085" y="6400800"/>
            <a:ext cx="3047695" cy="36576"/>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