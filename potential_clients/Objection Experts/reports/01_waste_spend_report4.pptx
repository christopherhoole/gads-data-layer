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your £18,338.25 total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0080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0684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006840" y="2926080"/>
            <a:ext cx="54864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Text 22"/>
          <p:cNvSpPr/>
          <p:nvPr/>
        </p:nvSpPr>
        <p:spPr>
          <a:xfrm>
            <a:off x="918972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£522.44/mo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1897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Savings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6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Shape 27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£18,338.25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Analysed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Identified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Wasted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generated clicks but zero conversions, accounting for £5,694.35 in wasted spend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consumed £1,485.38 with zero conversions — many are irrelevant to planning objections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of £47.39 vs weekday average of £32.61 — a 45% premium with no bid adjustment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"Neighbourhood Objections" ad group spent £79 with zero conversions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keywords use exact match only — slight variations of blocked terms still trigger ads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quick wins identified in this report could save an estimated £522.44/month and significantly reduce cost per conversion.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spent £1,485.38 with zero conversions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858000" cy="4754880"/>
        </p:xfrm>
        <a:graphic>
          <a:graphicData uri="http://schemas.openxmlformats.org/drawingml/2006/table">
            <a:tbl>
              <a:tblPr/>
              <a:tblGrid>
                <a:gridCol w="3474720"/>
                <a:gridCol w="822960"/>
                <a:gridCol w="10972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Search Term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£43.55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£38.32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£33.03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advice on 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£32.03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for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£31.05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to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£30.93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opposing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£25.93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refusal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£24.49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objections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£24.36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objections to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£24.18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 letter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neighbours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£23.09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disputes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£22.63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1188720"/>
            <a:ext cx="384048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258 non-converting search terms represent 8.1% of total spend.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users searching for general planning advice, templates, or services unrelated to planning objections.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should be blocked with negative keywords to prevent further waste.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384048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384048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Non-Converting Search Term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Category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 grouped by intent category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wast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8580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234440"/>
            <a:ext cx="3840480" cy="4572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234440"/>
            <a:ext cx="54864" cy="4572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7373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Non-Converting: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£1246 (768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Service: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£114 (37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Disputes: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(25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/ Template Seekers: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Queries: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 (14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Careers: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 (2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 for each category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'Other' category for additional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weekly search term reviews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that allow irrelevant traffic through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120640" cy="4389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3444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Blocked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total negative keywords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match: 221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match: 383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match: 17 keywords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(exact match):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[town planner]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consultancy]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[retrospective planning permission]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department]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advisors]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 planning advice]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34440"/>
            <a:ext cx="54864" cy="4389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Blocked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 based on search term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negatives for: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permission" (wrong service)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consultant" / "planning advisor"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"template" / "example" / "sample"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write" / "DIY"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"neighbour dispute" / "fence" / "boundary"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"job" / "career" / "salary"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of 431 negatives use exact match only. This means a negative for [planning consultant] won't block "planning consultants" (plural) or "best planning consultant near me".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phrase match for broader protection.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spent on ad groups with zero conversions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188720"/>
                <a:gridCol w="15544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 Group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£17413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6990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527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£33.06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£27.51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228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£46.81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Neighbourhood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£79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WASTE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October 2025 as part of a restructure, but has never generated a single conversion.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£79 spent, the waste is small — but the ad group fragments the campaign's data, making it harder for the algorithm to optimise.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Pause this ad group and consolidate volume.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749040"/>
            <a:ext cx="5394960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74904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Concentration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all spend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the "Planning Objections" ad group.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smaller ad groups account for just 5% of spend combined. This fragmentation means the algorithm never gets enough data to optimise.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during hours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hour_of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6576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zone: 1am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with 0 conversions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hour: 18:00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£24.11 (34 conversions)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9am-6pm business hours show the strongest conversion volume.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off-peak hours (midnight-6am). Increase bids during peak business hours.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zero conversions  |  Amber = low (&lt;10)  |  Blue = active  |  Line = conversions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£47.39 vs £32.61 weekday avg — 45% premium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day_of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13716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73252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£26.74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9.9%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2743200"/>
            <a:ext cx="3108960" cy="13716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03920" y="274320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8732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(Worst)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3252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£47.39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£527 excess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03920" y="4297680"/>
            <a:ext cx="3108960" cy="1005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73252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20-30%. Increase Monday/Wednesday bids where CPA is lowest.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4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31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— performance and current bid adjustments by device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188720"/>
                <a:gridCol w="1188720"/>
                <a:gridCol w="1371600"/>
                <a:gridCol w="137160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Bid Adj.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Mobile phones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£10,398.36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4675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£32.24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Computers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£7,445.04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2415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216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£34.55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Tablets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£489.86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278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£34.99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-20%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C:\Users\User\Desktop\gads-data-layer\potential_clients\objection_experts\charts\device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594360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0" y="3108960"/>
            <a:ext cx="4754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0" y="3108960"/>
            <a:ext cx="54864" cy="2743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32320" y="35204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the best CPA (£32.24) but the highest spend — this is positive.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bid adjustments (+10% mobile, +10% desktop, -20% tablet) are reasonable but could be refined.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have the weakest conversion rate (5.0%) and highest CPA.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Reduce tablet bids to -30% or -40%.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spent £5,694.35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geographic_w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188720"/>
            <a:ext cx="38404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 — 31% of total spend — went to locations that never converted.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individual amounts are small, the cumulative waste across 895+ locations is the largest single waste category.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typical of UK-wide targeting without geographic bid adjustments.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160520"/>
            <a:ext cx="3840480" cy="1554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4160520"/>
            <a:ext cx="54864" cy="1554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0" y="4526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top-converting regions and increase bids there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areas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bid adjustments to focus budget on proven areas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Summary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914400"/>
            <a:ext cx="73152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60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£18,338.25 (42.7%) was spent on non-converting traffic</a:t>
            </a:r>
            <a:endParaRPr lang="en-US" sz="1400" dirty="0"/>
          </a:p>
        </p:txBody>
      </p:sp>
      <p:pic>
        <p:nvPicPr>
          <p:cNvPr id="14" name="Image 0" descr="C:\Users\User\Desktop\gads-data-layer\potential_clients\objection_experts\charts\wast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6400800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498080" y="9144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0" y="91440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960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171907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0" y="1719072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Zero-Conv Ad Groups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£78.91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252374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98080" y="2523744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0" y="2569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Hours (0 Conversions)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£50.8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515600" y="2633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98080" y="332841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498080" y="3328416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3374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515600" y="34381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98080" y="413308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498080" y="4133088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7" name="Text 34"/>
          <p:cNvSpPr/>
          <p:nvPr/>
        </p:nvSpPr>
        <p:spPr>
          <a:xfrm>
            <a:off x="777240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Premium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72400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£527.11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515600" y="42428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49808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overlap exists between categories. The total represents the upper bound of identifiable waste.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3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3" name="Shape 4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4" name="Shape 4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immediate actions to reduce waste and improve performance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0" y="182880"/>
            <a:ext cx="54864" cy="8686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28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Savings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£380-655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966960" y="548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143000"/>
            <a:ext cx="5440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143000"/>
            <a:ext cx="54864" cy="12344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12801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DIY, wrong services, jobs, neighbourhood disputes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2029968"/>
            <a:ext cx="1463040" cy="256032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2029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£100-150/mo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1143000"/>
            <a:ext cx="5440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0488" y="1143000"/>
            <a:ext cx="54864" cy="12344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3368" y="1325880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67728" y="12801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Geographic Targeting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7728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895+ non-converting locations, focus on proven areas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85248" y="2029968"/>
            <a:ext cx="1463040" cy="256032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9" name="Text 27"/>
          <p:cNvSpPr/>
          <p:nvPr/>
        </p:nvSpPr>
        <p:spPr>
          <a:xfrm>
            <a:off x="9985248" y="2029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£200-380/mo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514600"/>
            <a:ext cx="5440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2514600"/>
            <a:ext cx="54864" cy="12344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5880" y="26517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20-30%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25880" y="30175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£47.39 vs £32.61 weekday average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3401568"/>
            <a:ext cx="1463040" cy="256032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7" name="Text 35"/>
          <p:cNvSpPr/>
          <p:nvPr/>
        </p:nvSpPr>
        <p:spPr>
          <a:xfrm>
            <a:off x="4343400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£35-50/mo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0488" y="2514600"/>
            <a:ext cx="5440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90488" y="2514600"/>
            <a:ext cx="54864" cy="12344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0" name="Shape 38"/>
          <p:cNvSpPr/>
          <p:nvPr/>
        </p:nvSpPr>
        <p:spPr>
          <a:xfrm>
            <a:off x="6373368" y="2697480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7728" y="26517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 Bid Adjustments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67728" y="30175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dead hours (1-5am), increase peak hours (9am-5pm)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985248" y="3401568"/>
            <a:ext cx="1463040" cy="256032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9985248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£30-50/mo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3886200"/>
            <a:ext cx="5440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8640" y="3886200"/>
            <a:ext cx="54864" cy="12344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8" name="Shape 46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325880" y="40233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25880" y="4389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conversions — consolidate into main ad group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343400" y="4773168"/>
            <a:ext cx="1463040" cy="256032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53" name="Text 51"/>
          <p:cNvSpPr/>
          <p:nvPr/>
        </p:nvSpPr>
        <p:spPr>
          <a:xfrm>
            <a:off x="4343400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£5-10/mo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90488" y="3886200"/>
            <a:ext cx="5440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90488" y="3886200"/>
            <a:ext cx="54864" cy="12344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6" name="Shape 54"/>
          <p:cNvSpPr/>
          <p:nvPr/>
        </p:nvSpPr>
        <p:spPr>
          <a:xfrm>
            <a:off x="6373368" y="4069080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7" name="Text 55"/>
          <p:cNvSpPr/>
          <p:nvPr/>
        </p:nvSpPr>
        <p:spPr>
          <a:xfrm>
            <a:off x="637336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67728" y="40233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Tablet Bids to -30%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967728" y="4389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CPA, weakest conversion rate of all devices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985248" y="4773168"/>
            <a:ext cx="1463040" cy="256032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61" name="Text 59"/>
          <p:cNvSpPr/>
          <p:nvPr/>
        </p:nvSpPr>
        <p:spPr>
          <a:xfrm>
            <a:off x="9985248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£15-25/mo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8640" y="5349240"/>
            <a:ext cx="11091672" cy="5943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3" name="Text 61"/>
          <p:cNvSpPr/>
          <p:nvPr/>
        </p:nvSpPr>
        <p:spPr>
          <a:xfrm>
            <a:off x="914400" y="534924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optimisation opportunities that any proactive account manager would address. </a:t>
            </a:r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Account Structure &amp; Issues Report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5" name="Shape 6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66" name="Shape 6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67" name="Shape 6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6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Spend Analysis — Objection Experts</dc:title>
  <dc:subject>PptxGenJS Presentation</dc:subject>
  <dc:creator>Christopher Hoole</dc:creator>
  <cp:lastModifiedBy>Christopher Hoole</cp:lastModifiedBy>
  <cp:revision>1</cp:revision>
  <dcterms:created xsi:type="dcterms:W3CDTF">2026-03-29T16:12:01Z</dcterms:created>
  <dcterms:modified xsi:type="dcterms:W3CDTF">2026-03-29T16:12:01Z</dcterms:modified>
</cp:coreProperties>
</file>