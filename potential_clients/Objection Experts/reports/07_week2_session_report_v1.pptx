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64008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64008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64008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64008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/>
        </p:spPr>
      </p:sp>
      <p:pic>
        <p:nvPicPr>
          <p:cNvPr id="7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28016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REPORT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548640" y="2743200"/>
            <a:ext cx="2286000" cy="45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2971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Experts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8640" y="36576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April 2026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Google Ads Specialist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christopherhoole.com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17920" y="457200"/>
            <a:ext cx="16764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17920" y="457200"/>
            <a:ext cx="54864" cy="9144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0" y="548640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400800" y="1005840"/>
            <a:ext cx="140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Excluded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077200" y="457200"/>
            <a:ext cx="16764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077200" y="457200"/>
            <a:ext cx="54864" cy="9144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8" name="Text 15"/>
          <p:cNvSpPr/>
          <p:nvPr/>
        </p:nvSpPr>
        <p:spPr>
          <a:xfrm>
            <a:off x="8260080" y="548640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£19.83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260080" y="1005840"/>
            <a:ext cx="140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RSA CPA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9936480" y="457200"/>
            <a:ext cx="16764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9936480" y="457200"/>
            <a:ext cx="54864" cy="9144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2" name="Text 19"/>
          <p:cNvSpPr/>
          <p:nvPr/>
        </p:nvSpPr>
        <p:spPr>
          <a:xfrm>
            <a:off x="10119360" y="548640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18.75%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10119360" y="1005840"/>
            <a:ext cx="140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RSA Conv Rate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217920" y="1554480"/>
            <a:ext cx="16764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217920" y="1554480"/>
            <a:ext cx="54864" cy="91440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6" name="Text 23"/>
          <p:cNvSpPr/>
          <p:nvPr/>
        </p:nvSpPr>
        <p:spPr>
          <a:xfrm>
            <a:off x="6400800" y="1645920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6400800" y="2103120"/>
            <a:ext cx="140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Paused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077200" y="1554480"/>
            <a:ext cx="16764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8077200" y="1554480"/>
            <a:ext cx="54864" cy="9144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30" name="Text 27"/>
          <p:cNvSpPr/>
          <p:nvPr/>
        </p:nvSpPr>
        <p:spPr>
          <a:xfrm>
            <a:off x="8260080" y="1645920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8260080" y="2103120"/>
            <a:ext cx="140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Changes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9936480" y="1554480"/>
            <a:ext cx="16764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9936480" y="1554480"/>
            <a:ext cx="54864" cy="9144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4" name="Text 31"/>
          <p:cNvSpPr/>
          <p:nvPr/>
        </p:nvSpPr>
        <p:spPr>
          <a:xfrm>
            <a:off x="10119360" y="1645920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10119360" y="2103120"/>
            <a:ext cx="140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Conversions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217920" y="2743200"/>
            <a:ext cx="5394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6217920" y="2743200"/>
            <a:ext cx="54864" cy="16459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8" name="Text 35"/>
          <p:cNvSpPr/>
          <p:nvPr/>
        </p:nvSpPr>
        <p:spPr>
          <a:xfrm>
            <a:off x="6446520" y="2834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6446520" y="32004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Full data analysis (ads, keywords, search terms)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Search term exclusions (53 more added)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Landing page v3 - all Owen's feedback implemented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Paused RSA 2, call-only ads (poor performance)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0" y="6400800"/>
            <a:ext cx="3047238" cy="365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1" name="Shape 38"/>
          <p:cNvSpPr/>
          <p:nvPr/>
        </p:nvSpPr>
        <p:spPr>
          <a:xfrm>
            <a:off x="3047238" y="6400800"/>
            <a:ext cx="3047238" cy="3657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2" name="Shape 39"/>
          <p:cNvSpPr/>
          <p:nvPr/>
        </p:nvSpPr>
        <p:spPr>
          <a:xfrm>
            <a:off x="6094476" y="6400800"/>
            <a:ext cx="3047238" cy="36576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43" name="Shape 40"/>
          <p:cNvSpPr/>
          <p:nvPr/>
        </p:nvSpPr>
        <p:spPr>
          <a:xfrm>
            <a:off x="9141714" y="6400800"/>
            <a:ext cx="3047238" cy="36576"/>
          </a:xfrm>
          <a:prstGeom prst="rect">
            <a:avLst/>
          </a:prstGeom>
          <a:solidFill>
            <a:srgbClr val="34A85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Week-on-Week Performance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354312" y="27432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5752" y="2926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April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 Campaign - 6 week trend (2 Mar - 12 Apr 2026)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2743200"/>
        </p:xfrm>
        <a:graphic>
          <a:graphicData uri="http://schemas.openxmlformats.org/drawingml/2006/table">
            <a:tbl>
              <a:tblPr/>
              <a:tblGrid>
                <a:gridCol w="914400"/>
                <a:gridCol w="822960"/>
                <a:gridCol w="914400"/>
                <a:gridCol w="822960"/>
                <a:gridCol w="822960"/>
                <a:gridCol w="822960"/>
                <a:gridCol w="731520"/>
                <a:gridCol w="822960"/>
                <a:gridCol w="91440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Impr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Clicks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CPC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CTR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Conv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CPA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Conv Rate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Trend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 Mar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£324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1,722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133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£2.44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7.72%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£54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4.51%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Pre-changes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9 Mar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£336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1,759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130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£2.58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7.39%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£48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5.38%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Pre-changes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16 Mar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£383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1,802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134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£2.85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7.44%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£96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2.99%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Easter/Low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23 Mar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£389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1,425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114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£3.41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8.00%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£65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5.26%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Easter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30 Mar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£198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1,092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74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£2.67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6.78%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£66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4.05%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Bank holiday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6 Apr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£408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2,464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155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£2.63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6.29%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£51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5.16%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Post-changes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4206240"/>
            <a:ext cx="11091672" cy="18288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4206240"/>
            <a:ext cx="54864" cy="18288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4297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" y="4617720"/>
            <a:ext cx="106344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week (6 Apr): Best performance in 6 weeks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conversions (£51 CPA) - highest conversion volume and second-lowest CPA in the period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trend: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£54 &gt; £48 &gt; £96 &gt; £65 &gt; £66 &gt; £51. The spike in weeks 3-5 coincided with Easter bank holidays. Post-Easter, CPA dropped to £51 with the highest conversion volume (8).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 share increased 126%: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1,092 (week 5) to 2,464 (week 6) - the algorithm is finding more relevant searches post-optimisation.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is still above the £30 target. The landing page (currently being built) is the main lever for reducing this further through Quality Score improvement.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6" name="Shape 13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7" name="Shape 14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8" name="Shape 15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19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Performance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354312" y="27432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5752" y="2926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April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ads now running - RSA 2 and call-only paused this week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2560320"/>
        </p:xfrm>
        <a:graphic>
          <a:graphicData uri="http://schemas.openxmlformats.org/drawingml/2006/table">
            <a:tbl>
              <a:tblPr/>
              <a:tblGrid>
                <a:gridCol w="2560320"/>
                <a:gridCol w="822960"/>
                <a:gridCol w="914400"/>
                <a:gridCol w="822960"/>
                <a:gridCol w="731520"/>
                <a:gridCol w="731520"/>
                <a:gridCol w="731520"/>
                <a:gridCol w="640080"/>
                <a:gridCol w="914400"/>
                <a:gridCol w="914400"/>
                <a:gridCol w="640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Ad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Strength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Impr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Clicks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CPC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Conv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CPA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Conv Rate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Calls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RSA 1 (Keyword Insertion)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Enabled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Excellent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£1,315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5,768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497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£2.65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24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£54.41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4.86%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Our RSA (Objection Experts)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Enabled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Good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£60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425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16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£3.72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£19.83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18.75%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RSA 2 (Objection Letter)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Paused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Good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£281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1,821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117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£2.41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£140.70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1.71%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RSA 3 (Objection Help)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Paused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Good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£159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845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61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£2.61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£106.10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2.46%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Call-only (Expert Help)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Paused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--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£88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1,248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19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£4.65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£37.89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12.28%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4023360"/>
            <a:ext cx="5303520" cy="1920240"/>
          </a:xfrm>
          <a:prstGeom prst="rect">
            <a:avLst/>
          </a:prstGeom>
          <a:solidFill>
            <a:srgbClr val="E6F4E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4023360"/>
            <a:ext cx="54864" cy="192024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RSA - Best Performer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" y="44348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£19.83 CPA - lowest of any ad in the account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18.75% conversion rate - nearly 4x better than RSA 1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Owen's 4 conversions led to sales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less volume (425 impr vs 5,768) - needs time to build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17920" y="4023360"/>
            <a:ext cx="5394960" cy="1920240"/>
          </a:xfrm>
          <a:prstGeom prst="rect">
            <a:avLst/>
          </a:prstGeom>
          <a:solidFill>
            <a:srgbClr val="FCE8E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17920" y="4023360"/>
            <a:ext cx="54864" cy="192024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Paused This Week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92240" y="44348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2 (Objection Letter): £140.70 CPA, 1.71% CR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 clicks, 2 conversions - worst efficiency of any ad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Call-only ad: Owen confirmed leads are poor quality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CPC (£4.65), low CTR (1.52%), poor lead quality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0" name="Shape 17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1" name="Shape 18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2" name="Shape 19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3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354312" y="27432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5752" y="2926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April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Optimisation, exclusions, and landing page updates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051560"/>
            <a:ext cx="1109167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051560"/>
            <a:ext cx="45720" cy="82296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0972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1097280"/>
            <a:ext cx="10451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Owen's solicitor/legal keyword concerns - added "solicitor", "solicitors", "legal", "law" as phrase-match negatives. Verified auto-created assets are off.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011680"/>
            <a:ext cx="1109167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011680"/>
            <a:ext cx="45720" cy="82296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0574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05840" y="2057400"/>
            <a:ext cx="10451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up 472 account-level + 240 campaign-level negatives from previous agency. Migrated 408 useful ones to structured lists.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971800"/>
            <a:ext cx="1109167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971800"/>
            <a:ext cx="45720" cy="8229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01752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05840" y="3017520"/>
            <a:ext cx="10451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more search terms excluded as exact match - appeals, informational queries, DIY intent, wrong-service searches.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931920"/>
            <a:ext cx="1109167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931920"/>
            <a:ext cx="45720" cy="82296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97764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05840" y="3977640"/>
            <a:ext cx="10451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Paused RSA 2 (Planning Objection Letter) - £140.70 CPA. Paused all call-only ads - Owen confirmed leads are poor.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892040"/>
            <a:ext cx="1109167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4892040"/>
            <a:ext cx="45720" cy="82296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93776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005840" y="4937760"/>
            <a:ext cx="10451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v3 built with all 12 of Owen's feedback items: 21-day urgency, simplified 4-field form, WhatsApp button, floating CTA, 3 new FAQs, and more.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1" name="Shape 29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3" name="Shape 31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34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54864"/>
            <a:ext cx="109728" cy="68031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1005840"/>
            <a:ext cx="11091672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005840"/>
            <a:ext cx="54864" cy="9601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Owen: Set Up Vercel + GitHub Accounts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417320"/>
            <a:ext cx="8805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to push the landing page live. Once set up, share the login details so I can connect the repository and deploy.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994392" y="1097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Owen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148840"/>
            <a:ext cx="11091672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148840"/>
            <a:ext cx="54864" cy="9601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240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Live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2560320"/>
            <a:ext cx="8805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Owen's WordPress form for auto-response. Add DNS record for subdomain (e.g. lp.objectionexperts.com). Push live and update ad URLs.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994392" y="2240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291840"/>
            <a:ext cx="11091672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291840"/>
            <a:ext cx="54864" cy="9601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3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Search Term Review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3703320"/>
            <a:ext cx="8805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refining exclusions. Monitor for any new patterns slipping through.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994392" y="3383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Monday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434840"/>
            <a:ext cx="11091672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4434840"/>
            <a:ext cx="54864" cy="96012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526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Ad Performance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4846320"/>
            <a:ext cx="8805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our RSA vs RSA 1. If our RSA maintains its £20 CPA as volume increases, consider pausing RSA 1 to test.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994392" y="4526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760720"/>
            <a:ext cx="11091672" cy="41148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760720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priority: Get the landing page live to improve Quality Scores and reduce CPA toward £25 target.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1" name="Shape 29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3" name="Shape 31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34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Christopher Hoole</dc:creator>
  <cp:lastModifiedBy>Christopher Hoole</cp:lastModifiedBy>
  <cp:revision>1</cp:revision>
  <dcterms:created xsi:type="dcterms:W3CDTF">2026-04-13T13:24:40Z</dcterms:created>
  <dcterms:modified xsi:type="dcterms:W3CDTF">2026-04-13T13:24:40Z</dcterms:modified>
</cp:coreProperties>
</file>