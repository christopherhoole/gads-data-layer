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/>
        </p:spPr>
      </p:sp>
      <p:pic>
        <p:nvPicPr>
          <p:cNvPr id="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801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SPEND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Experts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Christopher Hoole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Specialist  |  March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christopherhoole.com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 2025 — Mar 2026 (15 months)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640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Waste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 of your £18,338.25 total spend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2926080"/>
            <a:ext cx="1676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1" name="Text 18"/>
          <p:cNvSpPr/>
          <p:nvPr/>
        </p:nvSpPr>
        <p:spPr>
          <a:xfrm>
            <a:off x="6355080" y="3035808"/>
            <a:ext cx="144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355080" y="34747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077200" y="2926080"/>
            <a:ext cx="1676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077200" y="2926080"/>
            <a:ext cx="54864" cy="10515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5" name="Text 22"/>
          <p:cNvSpPr/>
          <p:nvPr/>
        </p:nvSpPr>
        <p:spPr>
          <a:xfrm>
            <a:off x="8214360" y="3035808"/>
            <a:ext cx="144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£380-655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214360" y="34747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Saving/Month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936480" y="2926080"/>
            <a:ext cx="1676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936480" y="2926080"/>
            <a:ext cx="54864" cy="105156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9" name="Text 26"/>
          <p:cNvSpPr/>
          <p:nvPr/>
        </p:nvSpPr>
        <p:spPr>
          <a:xfrm>
            <a:off x="10073640" y="3035808"/>
            <a:ext cx="144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£4.6-7.9k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0073640" y="3474720"/>
            <a:ext cx="144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Saving/Year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2" name="Shape 29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30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4" name="Shape 31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£18,338.25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Analysed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Identified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Budget Wasted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3" name="Text 21"/>
          <p:cNvSpPr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274320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895+ locations generated clicks but zero conversions, accounting for £5,694.35 in wasted spend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search terms consumed £1,485.38 with zero conversions — many are irrelevant to planning objections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of £47.39 vs weekday average of £32.61 — a 45% premium with no bid adjustment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"Neighbourhood Objections" ad group spent £79 with zero conversions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negative keywords use exact match only — slight variations of blocked terms still trigger ads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39496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the quick wins identified in this report could save an estimated £522.44/month and significantly reduce cost per conversion.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Shape 2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32" name="Shape 30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3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Term Waste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 search terms spent £1,485.38 with zero conversions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858000" cy="4754880"/>
        </p:xfrm>
        <a:graphic>
          <a:graphicData uri="http://schemas.openxmlformats.org/drawingml/2006/table">
            <a:tbl>
              <a:tblPr/>
              <a:tblGrid>
                <a:gridCol w="3474720"/>
                <a:gridCol w="822960"/>
                <a:gridCol w="1097280"/>
                <a:gridCol w="822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Search Term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Conv.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letters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£43.55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 to a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£38.32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application objection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£33.03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advice on objecting to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£32.03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 letter for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£31.05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 letter to planning applications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£30.93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opposing planning applications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£25.93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refusal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£24.49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permission objections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£24.36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objections to planning permission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£24.18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application objection letter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£23.63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objecting to neighbours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£23.37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objecting to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£23.32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objection to a planning application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£23.09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permission disputes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£22.63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772400" y="1188720"/>
            <a:ext cx="3840480" cy="2286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188720"/>
            <a:ext cx="54864" cy="2286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1691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258 non-converting search terms represent 8.1% of total spend.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are users searching for general planning advice, templates, or services unrelated to planning objections.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should be blocked with negative keywords to prevent further waste.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3840480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0" y="3840480"/>
            <a:ext cx="54864" cy="9144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4"/>
          <p:cNvSpPr/>
          <p:nvPr/>
        </p:nvSpPr>
        <p:spPr>
          <a:xfrm>
            <a:off x="795528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£1,485.38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955280" y="4389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Non-Converting Search Term Spend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by Category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Non-converting search terms grouped by intent category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waste_by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858000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1234440"/>
            <a:ext cx="3840480" cy="45720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234440"/>
            <a:ext cx="54864" cy="45720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17373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Non-Converting: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£1246 (768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Service: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£114 (37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Disputes: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£42 (25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/ Template Seekers: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£42 (24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Queries: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 (14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/ Careers: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 (2 clicks)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phrase-match negative keywords for each category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'Other' category for additional patterns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weekly search term reviews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6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19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Keyword Gaps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gaps that allow irrelevant traffic through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234440"/>
            <a:ext cx="5120640" cy="43891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34440"/>
            <a:ext cx="54864" cy="43891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Blocked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622 total negative keywords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01168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match: 221 keywords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match: 383 keywords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match: 17 keywords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(exact match):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[town planner]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consultancy]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[retrospective planning permission]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department]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 advisors]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 planning advice]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539496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43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234440"/>
            <a:ext cx="54864" cy="4389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325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Blocked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16916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additions based on search term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0116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 negatives for: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permission" (wrong service)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"planning consultant" / "planning advisor"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"template" / "example" / "sample"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to write" / "DIY"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"neighbour dispute" / "fence" / "boundary"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"job" / "career" / "salary"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of 431 negatives use exact match only. This means a negative for [planning consultant] won't block "planning consultants" (plural) or "best planning consultant near me".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phrase match for broader protection.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3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4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£79 spent on ad groups with zero conversions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201168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1188720"/>
                <a:gridCol w="155448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 Group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Conversions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£17413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6990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527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£33.06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Consultants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£490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127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£27.51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Planning Objection Letters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£351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228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£46.81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Active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Neighbourhood Objections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A4335"/>
                          </a:solidFill>
                        </a:rPr>
                        <a:t>£79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4335"/>
                          </a:solidFill>
                        </a:rPr>
                        <a:t>WASTE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749040"/>
            <a:ext cx="5303520" cy="210312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749040"/>
            <a:ext cx="54864" cy="21031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Objections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1605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October 2025 as part of a restructure, but has never generated a single conversion.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£79 spent, the waste is small — but the ad group fragments the campaign's data, making it harder for the algorithm to optimise.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Pause this ad group and consolidate volume.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3749040"/>
            <a:ext cx="5394960" cy="210312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3749040"/>
            <a:ext cx="54864" cy="21031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Text 14"/>
          <p:cNvSpPr/>
          <p:nvPr/>
        </p:nvSpPr>
        <p:spPr>
          <a:xfrm>
            <a:off x="649224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Concentration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92240" y="41605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all spend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through the "Planning Objections" ad group.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smaller ad groups account for just 5% of spend combined. This fragmentation means the algorithm never gets enough data to optimise.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£51 spent during hours with zero conversions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hour_of_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772400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03920" y="1188720"/>
            <a:ext cx="3108960" cy="36576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3920" y="1188720"/>
            <a:ext cx="54864" cy="36576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3" name="Text 10"/>
          <p:cNvSpPr/>
          <p:nvPr/>
        </p:nvSpPr>
        <p:spPr>
          <a:xfrm>
            <a:off x="87325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32520" y="169164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zone: 1am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£51 spent with 0 conversions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hour: 18:00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£24.11 (34 conversions)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performance: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9am-6pm business hours show the strongest conversion volume.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bids during off-peak hours (midnight-6am). Increase bids during peak business hours.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5029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zero conversions  |  Amber = low (&lt;10)  |  Blue = active  |  Line = conversions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Shape 14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Shape 15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Shape 16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0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£47.39 vs £32.61 weekday avg — 45% premium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day_of_wee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772400" cy="3657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503920" y="1188720"/>
            <a:ext cx="3108960" cy="1371600"/>
          </a:xfrm>
          <a:prstGeom prst="rect">
            <a:avLst/>
          </a:prstGeom>
          <a:solidFill>
            <a:srgbClr val="E6F4E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3920" y="1188720"/>
            <a:ext cx="54864" cy="13716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0"/>
          <p:cNvSpPr/>
          <p:nvPr/>
        </p:nvSpPr>
        <p:spPr>
          <a:xfrm>
            <a:off x="873252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(Best)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732520" y="1554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conversions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£26.74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rate: 9.9%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503920" y="2743200"/>
            <a:ext cx="3108960" cy="1371600"/>
          </a:xfrm>
          <a:prstGeom prst="rect">
            <a:avLst/>
          </a:prstGeom>
          <a:solidFill>
            <a:srgbClr val="FCE8E6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03920" y="2743200"/>
            <a:ext cx="54864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4"/>
          <p:cNvSpPr/>
          <p:nvPr/>
        </p:nvSpPr>
        <p:spPr>
          <a:xfrm>
            <a:off x="873252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(Worst)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73252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conversions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CPA: £47.39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£527 excess spend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503920" y="4297680"/>
            <a:ext cx="3108960" cy="100584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732520" y="4389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Sunday bids by 20-30%. Increase Monday/Wednesday bids where CPA is lowest.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Shape 1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3" name="Shape 2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4" name="Shape 2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5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Performance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31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 Campaign — performance and current bid adjustments by device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188720"/>
                <a:gridCol w="1188720"/>
                <a:gridCol w="1371600"/>
                <a:gridCol w="137160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Device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Spend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Bid Adj.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Mobile phones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£10,398.36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4675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323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4A853"/>
                          </a:solidFill>
                        </a:rPr>
                        <a:t>£32.24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6.9%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+10%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Computers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£7,445.04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2415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216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£34.55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8.9%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+10%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Tablets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£489.86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278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</a:rPr>
                        <a:t>£34.99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</a:rPr>
                        <a:t>5.0%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7E"/>
                          </a:solidFill>
                        </a:rPr>
                        <a:t>-20%</a:t>
                      </a:r>
                      <a:endParaRPr lang="en-US" sz="1100" dirty="0"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C:\Users\User\Desktop\gads-data-layer\potential_clients\objection_experts\charts\device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08960"/>
            <a:ext cx="5943600" cy="2743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58000" y="3108960"/>
            <a:ext cx="4754880" cy="27432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858000" y="3108960"/>
            <a:ext cx="54864" cy="27432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0" y="3200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132320" y="352044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has the best CPA (£32.24) but the highest spend — this is positive.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bid adjustments (+10% mobile, +10% desktop, -20% tablet) are reasonable but could be refined.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 have the weakest conversion rate (5.0%) and highest CPA.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Reduce tablet bids to -30% or -40%.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Shape 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Shape 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9" name="Shape 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0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Waste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895+ locations spent £5,694.35 with zero conversions</a:t>
            </a:r>
            <a:endParaRPr lang="en-US" sz="1100" dirty="0"/>
          </a:p>
        </p:txBody>
      </p:sp>
      <p:pic>
        <p:nvPicPr>
          <p:cNvPr id="10" name="Image 0" descr="C:\Users\User\Desktop\gads-data-layer\potential_clients\objection_experts\charts\geographic_wa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72400" y="1188720"/>
            <a:ext cx="3840480" cy="2743200"/>
          </a:xfrm>
          <a:prstGeom prst="rect">
            <a:avLst/>
          </a:prstGeom>
          <a:solidFill>
            <a:srgbClr val="F5F6FA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0" y="1188720"/>
            <a:ext cx="54864" cy="27432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16916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£5,694.35 — 31% of total spend — went to locations that never converted.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individual amounts are small, the cumulative waste across 895+ locations is the largest single waste category.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typical of UK-wide targeting without geographic bid adjustments.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4160520"/>
            <a:ext cx="3840480" cy="155448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0" y="4160520"/>
            <a:ext cx="54864" cy="15544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0" y="4251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46720" y="45262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top-converting regions and increase bids there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consistently non-converting areas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location bid adjustments to focus budget on proven areas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Shape 1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Shape 1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23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Waste Summary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914400"/>
            <a:ext cx="6400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914400"/>
            <a:ext cx="73152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60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£7,836.55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£18,338.25 (42.7%) was spent on non-converting traffic</a:t>
            </a:r>
            <a:endParaRPr lang="en-US" sz="1400" dirty="0"/>
          </a:p>
        </p:txBody>
      </p:sp>
      <p:pic>
        <p:nvPicPr>
          <p:cNvPr id="14" name="Image 0" descr="C:\Users\User\Desktop\gads-data-layer\potential_clients\objection_experts\charts\waste_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0"/>
            <a:ext cx="6400800" cy="32004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498080" y="914400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0" y="914400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0" y="960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Non-Converting Search Terms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£1,485.38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0" y="10241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98080" y="1719072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98080" y="1719072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0" y="17647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Zero-Conv Ad Groups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£78.91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0515600" y="1828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498080" y="2523744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7498080" y="2523744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0" y="25694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Hours (0 Conversions)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772400" y="28437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£50.8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515600" y="2633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498080" y="3328416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498080" y="3328416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0" y="3374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Waste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772400" y="3648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£5,694.35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0515600" y="343814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498080" y="4133088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498080" y="4133088"/>
            <a:ext cx="54864" cy="6858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7" name="Text 34"/>
          <p:cNvSpPr/>
          <p:nvPr/>
        </p:nvSpPr>
        <p:spPr>
          <a:xfrm>
            <a:off x="7772400" y="41788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Premium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772400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£527.11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0515600" y="424281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498080" y="5074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Some overlap exists between categories. The total represents the upper bound of identifiable waste.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2" name="Shape 3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3" name="Shape 4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44" name="Shape 4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45" name="Image 1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Jan 2025 — Mar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actions to reduce waste and improve performance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1444752"/>
            <a:ext cx="411480" cy="4114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7008" y="1261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Phrase-Match Negative Keywords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1554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DIY/templates, wrong services, jobs, neighbourhood disputes. Switch from exact to phrase match for broader protection.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325880"/>
            <a:ext cx="1371600" cy="68580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325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£100-150/mo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118872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1444752"/>
            <a:ext cx="411480" cy="4114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13448" y="1261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Neighbourhood Objections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13448" y="1554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conversions, fragmenting campaign data. Consolidate volume into the main Planning Objections ad group.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378440" y="1325880"/>
            <a:ext cx="1371600" cy="68580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23" name="Text 21"/>
          <p:cNvSpPr/>
          <p:nvPr/>
        </p:nvSpPr>
        <p:spPr>
          <a:xfrm>
            <a:off x="10378440" y="1325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£5-10/mo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28600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2542032"/>
            <a:ext cx="411480" cy="4114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07008" y="23591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Schedule Bid Adjustments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07008" y="26517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bids during dead hours (1-5am) by 50-80%. Increase bids during peak hours (9am-5pm Mon-Fri).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423160"/>
            <a:ext cx="1371600" cy="68580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2423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£30-50/mo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228600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92240" y="2542032"/>
            <a:ext cx="411480" cy="4114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13448" y="23591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Sunday Bids 20-30%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13448" y="26517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CPA (£47.39) is 45% higher than weekdays. Apply a bid reduction to control costs.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378440" y="2423160"/>
            <a:ext cx="1371600" cy="68580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37" name="Text 35"/>
          <p:cNvSpPr/>
          <p:nvPr/>
        </p:nvSpPr>
        <p:spPr>
          <a:xfrm>
            <a:off x="10378440" y="2423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£35-50/mo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338328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5800" y="3639312"/>
            <a:ext cx="411480" cy="4114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3639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07008" y="3456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Geographic Targeting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207008" y="3749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consistently non-converting regions. Add location bid adjustments to focus budget on proven areas.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0" y="3520440"/>
            <a:ext cx="1371600" cy="68580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0" y="3520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£200-380/mo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3383280"/>
            <a:ext cx="55321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92240" y="3639312"/>
            <a:ext cx="411480" cy="411480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7" name="Text 45"/>
          <p:cNvSpPr/>
          <p:nvPr/>
        </p:nvSpPr>
        <p:spPr>
          <a:xfrm>
            <a:off x="6492240" y="3639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013448" y="3456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Tablet Bids to -30%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013448" y="3749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conversion rate (5.0%) and highest CPA. Increase bid reduction from the current -20%.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378440" y="3520440"/>
            <a:ext cx="1371600" cy="685800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51" name="Text 49"/>
          <p:cNvSpPr/>
          <p:nvPr/>
        </p:nvSpPr>
        <p:spPr>
          <a:xfrm>
            <a:off x="10378440" y="35204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£15-25/mo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4617720"/>
            <a:ext cx="3514344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48640" y="4617720"/>
            <a:ext cx="54864" cy="100584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4690872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Savings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31520" y="4983480"/>
            <a:ext cx="3240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£380-655/month</a:t>
            </a:r>
            <a:endParaRPr lang="en-US" sz="2200" dirty="0"/>
          </a:p>
        </p:txBody>
      </p:sp>
      <p:sp>
        <p:nvSpPr>
          <p:cNvPr id="56" name="Shape 54"/>
          <p:cNvSpPr/>
          <p:nvPr/>
        </p:nvSpPr>
        <p:spPr>
          <a:xfrm>
            <a:off x="4337304" y="4617720"/>
            <a:ext cx="3514344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337304" y="4617720"/>
            <a:ext cx="54864" cy="1005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8" name="Text 56"/>
          <p:cNvSpPr/>
          <p:nvPr/>
        </p:nvSpPr>
        <p:spPr>
          <a:xfrm>
            <a:off x="4520184" y="4690872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Saving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20184" y="4983480"/>
            <a:ext cx="3240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£4,560-7,860/year</a:t>
            </a:r>
            <a:endParaRPr lang="en-US" sz="2200" dirty="0"/>
          </a:p>
        </p:txBody>
      </p:sp>
      <p:sp>
        <p:nvSpPr>
          <p:cNvPr id="60" name="Shape 58"/>
          <p:cNvSpPr/>
          <p:nvPr/>
        </p:nvSpPr>
        <p:spPr>
          <a:xfrm>
            <a:off x="8125968" y="4617720"/>
            <a:ext cx="3514344" cy="10058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61" name="Text 59"/>
          <p:cNvSpPr/>
          <p:nvPr/>
        </p:nvSpPr>
        <p:spPr>
          <a:xfrm>
            <a:off x="8308848" y="4690872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308848" y="4983480"/>
            <a:ext cx="3240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2: Account Structure &amp; Issues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costs increased after October 2025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4" name="Shape 6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65" name="Shape 6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66" name="Shape 6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/>
        </p:spPr>
      </p:sp>
      <p:pic>
        <p:nvPicPr>
          <p:cNvPr id="67" name="Image 0" descr="C:\Users\User\Desktop\gads-data-layer\potential_clients\objection_experts\charts\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68" name="Text 6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Hoole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christopherhoole.com  |  Confidential</a:t>
            </a:r>
            <a:endParaRPr lang="en-US" sz="1100" dirty="0"/>
          </a:p>
        </p:txBody>
      </p:sp>
      <p:sp>
        <p:nvSpPr>
          <p:cNvPr id="69" name="Text 6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 Spend Analysis — Objection Experts</dc:title>
  <dc:subject>PptxGenJS Presentation</dc:subject>
  <dc:creator>Christopher Hoole</dc:creator>
  <cp:lastModifiedBy>Christopher Hoole</cp:lastModifiedBy>
  <cp:revision>1</cp:revision>
  <dcterms:created xsi:type="dcterms:W3CDTF">2026-03-29T16:25:23Z</dcterms:created>
  <dcterms:modified xsi:type="dcterms:W3CDTF">2026-03-29T16:25:23Z</dcterms:modified>
</cp:coreProperties>
</file>