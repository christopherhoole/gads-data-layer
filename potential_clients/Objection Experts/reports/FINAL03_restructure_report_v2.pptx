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801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GROWTH PLAN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  |  March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data: Jan 2025 — Mar 2026 (15 months)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640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1005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£20-25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current £38.63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2926080"/>
            <a:ext cx="1676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8"/>
          <p:cNvSpPr/>
          <p:nvPr/>
        </p:nvSpPr>
        <p:spPr>
          <a:xfrm>
            <a:off x="6355080" y="3035808"/>
            <a:ext cx="144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+30-50%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355080" y="34747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Leads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077200" y="2926080"/>
            <a:ext cx="1676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077200" y="2926080"/>
            <a:ext cx="54864" cy="105156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Text 22"/>
          <p:cNvSpPr/>
          <p:nvPr/>
        </p:nvSpPr>
        <p:spPr>
          <a:xfrm>
            <a:off x="8214360" y="3035808"/>
            <a:ext cx="144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wks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214360" y="34747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Full Impact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936480" y="2926080"/>
            <a:ext cx="1676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936480" y="2926080"/>
            <a:ext cx="54864" cy="10515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9" name="Text 26"/>
          <p:cNvSpPr/>
          <p:nvPr/>
        </p:nvSpPr>
        <p:spPr>
          <a:xfrm>
            <a:off x="10073640" y="3035808"/>
            <a:ext cx="144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£4.6-7.9k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0073640" y="34747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2" name="Shape 29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0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4" name="Shape 31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what's achievable with proper management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£20-25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+30-50%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Leads (same budget)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wks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Full Impact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£1,500/mo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Monthly Budget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Plan Summary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274320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Fix conversion tracking, add negative keywords, set target CPA, pause waste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2-4: New ad copy testing, schedule optimisation, Quality Score improvements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2-3: Ongoing optimisation, landing page testing, keyword expansion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pre-October 2025 baseline when CPA was £30.24, a target CPA of £20-25 is achievable with the optimisations identified in Reports 1 and 2.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5780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CPA from £38.63 to £20-25 within 8-12 weeks, while maintaining or increasing lead volume on the same £1,500/month budget.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1" name="Shape 2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3" name="Shape 3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Campaign Structure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structure designed for a £1,500/month account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4572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Structure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Campaign (Search)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Planning Objections (95% of spend)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Planning Objection Letters (2%)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Planning Objection Consultants (3%)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Neighbourhood Objections (0 conv.)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- Core - PMax (small spend)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 Submissions (dormant)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Objection Letters campaign (dormant)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fragmented across 4 ad groups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 groups have insufficient data to optimise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campaigns add clutter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45720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4572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Structure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 — Search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Planning Objections (core terms, broad/phrase match)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Planning Permission Challenge (related intent)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Brand Campaign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Only if competitor bidding detected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volume into fewer, well-themed ad groups. At £1,500/month, simpler is better — the algorithm needs data density to optimise effectively.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Neighbourhood Objections, Letters, and Consultants ad groups. Merge their best keywords into the main group.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dormant campaigns to keep the account clean.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1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2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Strategy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winners, pause the losers, expand with proven search terms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41148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1097280"/>
                <a:gridCol w="731520"/>
                <a:gridCol w="5029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Keyword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Conv.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99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£34.49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94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£37.01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challenge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68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£38.90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opposing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59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£33.74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consultants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£24.53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 — best CPA + QS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 to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£17.42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 — best CPA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objecting to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£29.72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specialist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31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£24.30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letter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£34.77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neighbour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£77.90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Pause — 0 conv.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394960"/>
            <a:ext cx="11091672" cy="5486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539496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4068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keywords to add from search term data: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objection solicitor" (CPA £18), "object planning permission" (CPA £6), "planning objection advice" (CPA £16)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Shape 1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Shape 1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7" name="Shape 1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8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Strategy Recommendation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uncontrolled spending to a target CPA guardrail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256032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25603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Conversions</a:t>
            </a:r>
            <a:endParaRPr lang="en-US" sz="2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 CPA set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spends whatever it takes to get a conversion. No guardrails = unpredictable costs.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CPA of £38.63 (post-Oct 2025 avg), with monthly peaks reaching £65.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256032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25603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Conversions</a:t>
            </a:r>
            <a:endParaRPr lang="en-US" sz="2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CPA: £25-30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pre-October 2025 baseline of £30.24. Start conservative at £30, then gradually reduce toward £25 as Quality Score improvements take effect.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auto-apply recommendations immediately.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91672" cy="16459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023360"/>
            <a:ext cx="54864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480560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Set target CPA at £30 (conservative start)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3-4: If CPA is stable at £30, reduce target to £27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6-8: With QS improvements taking effect, reduce target to £25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Monitor weekly. Never change target CPA by more than 15-20% at a time — gradual adjustments let the algorithm adapt.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Shape 2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Shape 2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 Fix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tracking = better algorithm decisions = lower CPA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201168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5760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Conversion Action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Proposed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Form Submission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Real lead — keep as-is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Google Forwarding Number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Real call lead — keep as-is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Email Click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Secondary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NOT a lead. Remove from goals. Stops algorithm optimising for email clicks.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Phone Number Click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Secondary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Secondary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Already correct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474720"/>
            <a:ext cx="11091672" cy="2103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474720"/>
            <a:ext cx="54864" cy="2103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This Change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3931920"/>
            <a:ext cx="106344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bidding algorithm currently counts 552 conversions — but 62 of these are micro-conversions (Email Clicks + Phone Number Clicks that don't represent actual leads).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conversions: 490 (Form Submissions + Google Forwarding calls)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marking Email Click as Secondary, the algorithm will only optimise toward genuine form submissions and phone calls. This single change will immediately improve lead quality and CPA accuracy.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5-minute fix with outsized impact.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Framework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exact-match to proactive phrase-match protection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61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Account-Level Negatives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554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blockers applied across all campaigns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82880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careers, salary, courses, university, template, example, sample, DIY, free, how to write, complaint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743200"/>
            <a:ext cx="54864" cy="13716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816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Campaign-Level Negatives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108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Service-specific exclusions for the Search campaign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38328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permission (applying for), planning consultant, architect, surveyor, solicitor, retrospective, neighbour dispute, fence, boundary, tree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29768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70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Process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search term review to catch new irrelevant queries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93776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search terms every Monday. Add phrase-match negatives for any irrelevant patterns. Document in a shared negative keyword list.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8064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shift: Move from exact match negatives (which miss variations) to phrase match negatives (which block the root term and all variations).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9" name="Shape 2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0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Testing Plan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messaging angles to test against the current winner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35204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4389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1: Trust &amp; Credibility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1645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headlines: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1920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Planning Objection Help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Objections Prepared Since 2023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RTPI Qualified Town Planner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60% Success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Emphasises track record and qualifications. Targets risk-averse prospects who want proof.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1188720"/>
            <a:ext cx="35204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1188720"/>
            <a:ext cx="54864" cy="43891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2: Speed &amp; Urgency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1645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headlines: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1920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Objection in 5 Working Days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Consultations Available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Miss Your Objection Deadline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Professional Objection Letters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931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4206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Appeals to time-sensitive prospects. Planning objections often have tight deadlines.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1188720"/>
            <a:ext cx="35204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1188720"/>
            <a:ext cx="54864" cy="4389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3: Value &amp; Accessibility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1645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headlines: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1920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£350+VAT Per Objection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Initial Consultation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Fee — No Hidden Costs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Planning Objection Help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3931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206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with price transparency. Reduces friction for cost-conscious prospects.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8064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plan: Run all 3 RSAs for 4-6 weeks. Keep the winner, replace the worst performer with a new challenger. Continuous improvement.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3" name="Shape 3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5" name="Shape 3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Device Optimisation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bid adjustments based on 15 months of performance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486400" cy="32004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3200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Schedule Adjustments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bids +15-20%: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2-5pm (CPA £24), Wed 2-5pm (CPA £24), Thu 5pm-12am (CPA £24), Sat 5-12pm (CPA £20)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bids -30-50%: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days 12-6am (low volume, zero/low conversions), Sun 12-2pm (CPA £136), Fri 5-12pm (CPA £83)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as-is: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time slots — monitor for 4 weeks, then adjust based on results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5486400" cy="32004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54864" cy="32004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Bid Adjustments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164592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(57% of spend):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+10%. Proposed: Keep at +10%. Best CPA (£32.24) and highest volume.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(41% of spend):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+10%. Proposed: Reduce to +0%. CPA slightly higher than mobile (£34.55).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(3% of spend):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-20%. Proposed: Reduce to -35%. Highest CPA (£34.99) and lowest conv rate (5.0%).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91672" cy="11887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663440"/>
            <a:ext cx="54864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Adjustments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02920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(best CPA £27): +10%  |  Sunday (worst CPA £47): -25%  |  Saturday: -10%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adjustments are starting points based on historical data. Review after 4 weeks and refine.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Shape 2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Shape 2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Improvement Plan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from QS 2-3 to QS 6-7+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1109167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12344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Ad Group Themes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16002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keywords into well-themed groups. When keywords closely match ad copy, Google rates your ad relevance higher.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97112" y="1325880"/>
            <a:ext cx="2560320" cy="27432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17" name="Text 15"/>
          <p:cNvSpPr/>
          <p:nvPr/>
        </p:nvSpPr>
        <p:spPr>
          <a:xfrm>
            <a:off x="8897112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Improves: Expected CTR + Ad Relevance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606040"/>
            <a:ext cx="1109167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606040"/>
            <a:ext cx="54864" cy="12344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Ad Copy Alignment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0175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headlines that closely mirror the keywords in each ad group. Include the core search term in Headline 1 and Description 1.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97112" y="2743200"/>
            <a:ext cx="2560320" cy="27432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25" name="Text 23"/>
          <p:cNvSpPr/>
          <p:nvPr/>
        </p:nvSpPr>
        <p:spPr>
          <a:xfrm>
            <a:off x="8897112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Improves: Expected CTR + Ad Relevance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1109167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023360"/>
            <a:ext cx="54864" cy="12344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BBC05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Optimisation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44348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dedicated landing page for planning objections. Faster load time, clearer match to ad messaging, focused CTA.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97112" y="4160520"/>
            <a:ext cx="2560320" cy="27432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33" name="Text 31"/>
          <p:cNvSpPr/>
          <p:nvPr/>
        </p:nvSpPr>
        <p:spPr>
          <a:xfrm>
            <a:off x="8897112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Improves: Landing Page Experience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4406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1-point QS improvement reduces CPC. Moving from QS 3 to QS 7 could cut click costs by 30-50%.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7" name="Shape 3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9" name="Shape 3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40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Results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projections based on identified optimisation opportunities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Projected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Monthly Spend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£1,500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£1,500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Same budget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Cost Per Conversion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£38.63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£20-25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35-48% reduction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Monthly Conversions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~13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18-25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+38-92% more leads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Conversion Rate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6.42%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9-12%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+40-87% improvement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Quality Score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2-3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6-7+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Within 8-12 weeks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Avg CPC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£2.48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£1.50-2.00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QS improvement effect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389120"/>
            <a:ext cx="11091672" cy="146304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4389120"/>
            <a:ext cx="54864" cy="14630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Caveats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80060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conservative projections based on the pre-October 2025 performance baseline, when CPA was consistently £22-30 without the optimisations proposed here.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 will depend on market conditions, seasonality, and the speed of Quality Score improvements. I've deliberately underpromised so we can overdeliver.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conversions calculated as: £1,500 budget ÷ target CPA.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start immediately — full impact within 8-12 weeks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352044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3520440" cy="64008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1508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196596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conversion tracking (Email Click → Secondary)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target CPA at £30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phrase-match negative keywords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Neighbourhood Objections ad group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auto-apply recommendations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188720"/>
            <a:ext cx="352044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188720"/>
            <a:ext cx="3520440" cy="6400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2-4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1508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196596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3 RSA ad copy variants for A/B testing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 schedule bid adjustments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device bids (tablet to -35%)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day-of-week bid adjustments (Sun -25%)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weekly search term review process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188720"/>
            <a:ext cx="352044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0" y="1188720"/>
            <a:ext cx="3520440" cy="6400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2-3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0" y="1508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83880" y="196596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ad copy test results, keep winner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target CPA toward £25 as QS improves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keyword coverage with proven search terms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dedicated landing page test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refine all bid adjustments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start in Week 1, not in 3 months. The quick wins alone can reduce waste by £380-655/month.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9" name="Shape 2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0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Christopher Hoole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00584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005840"/>
            <a:ext cx="54864" cy="13716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11556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Specialist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4630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junior in a big agency. I personally manage every account — no handoffs, no account managers who don't understand the data. You get direct access to the person making the decisions.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56032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7004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Approach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01752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in these reports is backed by your actual data. No guesswork, no generic playbooks. The analysis you've seen here is how I work on an ongoing basis — finding waste, fixing issues, improving performance.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114800"/>
            <a:ext cx="54864" cy="13716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245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Reporting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showing exactly what changed, what improved, and what we're working on next. No vanity metrics, no hiding behind jargon. You'll always know where your £1,500 is going and what it's producing.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6235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  |  Google Ads Specialist  |  These reports are the proof.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4" name="Shape 2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6" name="Shape 2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667512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05840"/>
            <a:ext cx="54864" cy="47548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1430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me editor access and I'll implement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quick wins in Week 1.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1965960"/>
            <a:ext cx="2743200" cy="365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Fix conversion tracking, set target CPA, disable auto-apply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2-3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Add phrase-match negative keywords, pause waste ad groups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4-5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Implement schedule and device bid adjustments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2+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Launch ad copy tests, begin weekly optimisation cycle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572000"/>
            <a:ext cx="612648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091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CPAs within 2 weeks. Fewer wasted clicks immediately. Monthly reports showing exactly what changed and what improved.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1005840"/>
            <a:ext cx="4023360" cy="2194560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1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234440"/>
            <a:ext cx="502920" cy="5029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59536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9536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955280" y="1920240"/>
            <a:ext cx="3291840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7"/>
          <p:cNvSpPr/>
          <p:nvPr/>
        </p:nvSpPr>
        <p:spPr>
          <a:xfrm>
            <a:off x="795528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start whenever you are.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589520" y="338328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589520" y="3383280"/>
            <a:ext cx="54864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£20-25 CPA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77240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cost per conversion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89520" y="429768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589520" y="4297680"/>
            <a:ext cx="54864" cy="7772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£4,560-7,860/yr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772400" y="4681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saving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589520" y="521208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589520" y="5212080"/>
            <a:ext cx="54864" cy="7772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1" name="Text 28"/>
          <p:cNvSpPr/>
          <p:nvPr/>
        </p:nvSpPr>
        <p:spPr>
          <a:xfrm>
            <a:off x="777240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Start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772400" y="5596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begin immediately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4" name="Shape 3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5" name="Shape 3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6" name="Shape 3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7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Restructure &amp; Growth Plan — Objection Experts</dc:title>
  <dc:subject>PptxGenJS Presentation</dc:subject>
  <dc:creator>Christopher Hoole</dc:creator>
  <cp:lastModifiedBy>Christopher Hoole</cp:lastModifiedBy>
  <cp:revision>1</cp:revision>
  <dcterms:created xsi:type="dcterms:W3CDTF">2026-03-29T17:26:42Z</dcterms:created>
  <dcterms:modified xsi:type="dcterms:W3CDTF">2026-03-29T17:26:42Z</dcterms:modified>
</cp:coreProperties>
</file>