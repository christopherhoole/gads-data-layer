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OXT+C08419BFTCkQVPCDgyPD3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2A940B-EBF1-4E33-8482-3CADCAD73D84}">
  <a:tblStyle styleId="{1C2A940B-EBF1-4E33-8482-3CADCAD73D8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572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548640" y="109728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DAY 1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REPORT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320040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8640" y="34290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Objection Experts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" y="41148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 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Christopher Hoole  |  Google Ads Specialist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christopherhoole.com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217920" y="45720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217920" y="457200"/>
            <a:ext cx="73152" cy="137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11 Changes Implemented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92240" y="9144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Quick wins from audit reports — all live today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492240" y="12344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Expected impact: CPA reduction from £39 toward £25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217920" y="2103120"/>
            <a:ext cx="167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217920" y="210312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6355080" y="2194560"/>
            <a:ext cx="144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Tracking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355080" y="2560320"/>
            <a:ext cx="144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Fixed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8077200" y="2103120"/>
            <a:ext cx="167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8077200" y="2103120"/>
            <a:ext cx="54864" cy="914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8214360" y="2194560"/>
            <a:ext cx="144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255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8214360" y="2560320"/>
            <a:ext cx="144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New Negatives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9936480" y="2103120"/>
            <a:ext cx="167640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9936480" y="2103120"/>
            <a:ext cx="54864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10073640" y="2194560"/>
            <a:ext cx="1447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10073640" y="2560320"/>
            <a:ext cx="1447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Location Targets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What We Did Today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1 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548640" y="914400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548640" y="914400"/>
            <a:ext cx="45720" cy="7772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58368" y="987552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005840" y="98755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Fixed conversion tracking — Email Click moved from Primary to Secondary. The algorithm will no longer optimise for email link clicks.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48640" y="1783080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548640" y="1783080"/>
            <a:ext cx="45720" cy="7772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58368" y="1856232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1005840" y="185623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Set Target CPA to £30 — the algorithm now has a cost guardrail. Previously there was no target, allowing unlimited spend per conversion.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48640" y="2651760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548640" y="2651760"/>
            <a:ext cx="45720" cy="7772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58368" y="2724912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005840" y="272491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Disabled auto-apply recommendations — removed 2 dangerous auto-applies. Google can no longer make unsupervised changes.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548640" y="3520440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548640" y="3520440"/>
            <a:ext cx="45720" cy="777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658368" y="3593592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1005840" y="359359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Rebuilt negative keywords from scratch — 255 keywords across 7 lists organised by word count (phrase + exact match only).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548640" y="4389120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548640" y="4389120"/>
            <a:ext cx="45720" cy="777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658368" y="4462272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1005840" y="446227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Removed 6 dangerous broad-match negatives — keywords like "appeal", "test", "hire" were actively blocking paying customers.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548640" y="5257800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548640" y="5257800"/>
            <a:ext cx="45720" cy="7772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658368" y="5330952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1005840" y="533095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Re-enabled 8 high-performing keywords — 573 lifetime conversions at £24 average CPA. Paused by previous agency in Oct 2025.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217920" y="914400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6217920" y="914400"/>
            <a:ext cx="45720" cy="7772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6327648" y="987552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675120" y="98755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Paused wasteful ad group — Neighbourhood Objections (zero conversions, £79 wasted). Volume consolidated into the main ad group.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217920" y="1783080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217920" y="1783080"/>
            <a:ext cx="45720" cy="77724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6327648" y="1856232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6675120" y="185623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Adjusted device bids — Tablet reduced from -20% to -30%. Mobile and desktop kept at +10%.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6217920" y="2651760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/>
          <p:nvPr/>
        </p:nvSpPr>
        <p:spPr>
          <a:xfrm>
            <a:off x="6217920" y="2651760"/>
            <a:ext cx="45720" cy="77724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327648" y="2724912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675120" y="272491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 schedule bid adjustments — +15% on 8 best-performing slots, -40% on 9 worst-performing slots.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217920" y="3520440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/>
          <p:nvPr/>
        </p:nvSpPr>
        <p:spPr>
          <a:xfrm>
            <a:off x="6217920" y="3520440"/>
            <a:ext cx="45720" cy="77724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6327648" y="3593592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675120" y="359359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Rebuilt geographic targeting — replaced 20 overlapping targets with 52 county-level targets. Tiered bid adjustments.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217920" y="4389120"/>
            <a:ext cx="539496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6217920" y="4389120"/>
            <a:ext cx="45720" cy="7772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327648" y="4462272"/>
            <a:ext cx="320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675120" y="4462272"/>
            <a:ext cx="4754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Cleaned up misconfigured goal — removed Android installs conversion action (not relevant to this business).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07" name="Google Shape;10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Conversion Tracking &amp; Bid Strategy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1 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The two most critical fixes — implemented immediately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48640" y="1188720"/>
            <a:ext cx="5303520" cy="22860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777240" y="1645920"/>
            <a:ext cx="4754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Email Click counted as Primary conversion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Algorithm optimising for email link clicks (not real leads)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target CPA set — unlimited cost per conversion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Auto-apply enabled — Google making bid strategy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Misconfigured Android download goal in account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"/>
          <p:cNvSpPr/>
          <p:nvPr/>
        </p:nvSpPr>
        <p:spPr>
          <a:xfrm>
            <a:off x="6217920" y="1188720"/>
            <a:ext cx="54864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6492240" y="1645920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Email Click moved to Secondary — excluded from bidding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Algorithm now optimises only for form submissions + calls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 CPA set to £30 — clear cost guardrail in place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Dangerous auto-applies disabled (conflicting neg removal + tracking upgrades)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Misconfigured download goal removed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548640" y="3749040"/>
            <a:ext cx="11091672" cy="118872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548640" y="3749040"/>
            <a:ext cx="54864" cy="1188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777240" y="3840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Expected Impact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777240" y="4160520"/>
            <a:ext cx="106344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target CPA gives the algorithm a cost ceiling it didn't have before. Combined with cleaner conversion data, the algorithm can now make better decisions about which clicks to pursue and which to avoid.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Target CPA reduction plan: £30 (now) → £27 (week 4) → £25 (week 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548640" y="512064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Note: "Use optimised ad rotation" auto-apply was kept enabled — this is standard best practice and helps serve the best-performing ad.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40" name="Google Shape;14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Negative Keyword Overhaul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1 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From 191 broad-match keywords to 255 structured phrase/exact 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548640" y="1188720"/>
            <a:ext cx="5303520" cy="18288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548640" y="1188720"/>
            <a:ext cx="54864" cy="1828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777240" y="1645920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191 keywords in a single broad-match list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 were actively blocking converting search terms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("appeal", "appealing", "appeals", "test", "hire", "usa")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structure — impossible to audit or maintain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217920" y="1188720"/>
            <a:ext cx="5394960" cy="182880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6217920" y="1188720"/>
            <a:ext cx="54864" cy="1828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492240" y="164592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255 keywords across 7 organised lists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Phrase match + exact match only (no broad match)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6 dangerous blockers removed — converting terms now free to show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Safety-checked against all converting search terms before applying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4" name="Google Shape;164;p4"/>
          <p:cNvGraphicFramePr/>
          <p:nvPr/>
        </p:nvGraphicFramePr>
        <p:xfrm>
          <a:off x="548640" y="3291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{1C2A940B-EBF1-4E33-8482-3CADCAD73D84}</a:tableStyleId>
              </a:tblPr>
              <a:tblGrid>
                <a:gridCol w="2286000"/>
                <a:gridCol w="1645925"/>
                <a:gridCol w="13716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List Name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Match Type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Keywords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 word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Phrase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183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2 words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Phrase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23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2 words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Exact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23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3 words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Phrase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3 words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Exact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4 words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Exact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5+ words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Exact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65" name="Google Shape;165;p4"/>
          <p:cNvSpPr/>
          <p:nvPr/>
        </p:nvSpPr>
        <p:spPr>
          <a:xfrm>
            <a:off x="6217920" y="3291840"/>
            <a:ext cx="5394960" cy="274320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6217920" y="3291840"/>
            <a:ext cx="54864" cy="27432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6492240" y="33832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Critical Discovery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6492240" y="3749040"/>
            <a:ext cx="493776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old broad-match negative "appeal" was blocking 17 search terms that actually convert — including "appeal planning decision" and "planning permission appeals".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broad-match negative "hire" was blocking "cheshire east planning objections" because broad match sees "hire" inside "cheshire".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broad-match negative "test" was blocking "contest planning application" because broad match sees "test" inside "contest".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These are now removed. Converting traffic is no longer being blocked.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73" name="Google Shape;1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Keyword Audit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1 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8 high-performing paused keywords re-enabled — 573 lifetime conversions at £24 avg CPA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5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{1C2A940B-EBF1-4E33-8482-3CADCAD73D84}</a:tableStyleId>
              </a:tblPr>
              <a:tblGrid>
                <a:gridCol w="4114800"/>
                <a:gridCol w="1828800"/>
                <a:gridCol w="1371600"/>
                <a:gridCol w="1371600"/>
                <a:gridCol w="22860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Keyword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Lifetime Conv.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CPA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Status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"object to planning application"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179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£22.08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6.5%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"opposing planning permission"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126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£28.66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5.9%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"planning objection specialist"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63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£20.97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18.4%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"planning objection consultants"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57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£22.65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16.9%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"planning objection letter"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57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£24.94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6.3%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"contesting planning permission"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44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£29.52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7.2%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"planning permission objections"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37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£27.78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6.0%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"planning objection solicitor"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10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£10.77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22.6%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Re-enabled</a:t>
                      </a:r>
                      <a:endParaRPr sz="1100" u="none" cap="none" strike="noStrike"/>
                    </a:p>
                  </a:txBody>
                  <a:tcPr marT="38100" marB="381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5"/>
          <p:cNvSpPr/>
          <p:nvPr/>
        </p:nvSpPr>
        <p:spPr>
          <a:xfrm>
            <a:off x="548640" y="4663440"/>
            <a:ext cx="11091672" cy="1188720"/>
          </a:xfrm>
          <a:prstGeom prst="rect">
            <a:avLst/>
          </a:prstGeom>
          <a:solidFill>
            <a:srgbClr val="E8F0F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548640" y="4663440"/>
            <a:ext cx="54864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777240" y="4754880"/>
            <a:ext cx="1063447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Combined impact: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These 8 keywords have generated 573 lifetime conversions at an average CPA of £24.30. The previous agency paused them all in October 2025 as part of a restructure.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Also paused: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Neighbourhood Objections ad group (zero conversions, £79 wasted). Volume now consolidated into the main Planning Objections ad group with 12 active keywords.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97" name="Google Shape;19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Bid Adjustments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1 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Device, schedule, and day-of-week optimisations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48640" y="1188720"/>
            <a:ext cx="3474720" cy="22860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548640" y="1188720"/>
            <a:ext cx="54864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777240" y="1280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Device Bids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777240" y="1645920"/>
            <a:ext cx="30175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Mobile: +10% (no change)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CPA (£27), 57% of spend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Desktop: +10% (no change)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conv rate (8.6%), strong CPA (£28)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Char char="•"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Tablet: -20% → -30%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Lowest conv rate (4.9%), volatile CPA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297680" y="1188720"/>
            <a:ext cx="3474720" cy="228600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4297680" y="1188720"/>
            <a:ext cx="54864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4526280" y="1280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Increased (+15%)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526280" y="160020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8 best-performing time slots: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526280" y="1874520"/>
            <a:ext cx="30175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 2-5pm, Mon 5pm-12am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Wed 2-5pm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Thu 12-6am, Thu 5pm-12am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Fri 12-2pm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Sat 5pm-12am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Sun 12-6am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8046720" y="1188720"/>
            <a:ext cx="3566160" cy="22860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8046720" y="1188720"/>
            <a:ext cx="54864" cy="22860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8275320" y="1280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Reduced (-40%)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8275320" y="160020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9 worst-performing time slots: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8275320" y="1874520"/>
            <a:ext cx="31089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Mon 6-9am, Wed 6-9am, Wed 9-12pm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Fri 6-9am, Fri 5pm-12am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Sat 6-9am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2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Sun 9-12pm, Sun 12-2pm, Sun 2-5pm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25 slots left unchanged — will review monthly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48640" y="3749040"/>
            <a:ext cx="11091672" cy="9144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777240" y="3794760"/>
            <a:ext cx="106344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All bid adjustments are based on all-time performance data. They will be reviewed and refined monthly as new data accumulates. The approach is deliberate: increase spend where CPA is strong, reduce where it's weak.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33" name="Google Shape;2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Geographic Targeting Rebuild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9354312" y="274320"/>
            <a:ext cx="2286000" cy="411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4A8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9445752" y="29260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1 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From 20 overlapping targets to 52 clean county-level targets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48640" y="1188720"/>
            <a:ext cx="5303520" cy="1828800"/>
          </a:xfrm>
          <a:prstGeom prst="rect">
            <a:avLst/>
          </a:prstGeom>
          <a:solidFill>
            <a:srgbClr val="FCE8E6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548640" y="1188720"/>
            <a:ext cx="54864" cy="1828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777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Before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777240" y="1645920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 overlapping location targets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"United Kingdom" catch-all (45% of spend, worst CPA)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London targeted 3 times (city + radius + catch-all)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Random radius targets including "Hair Salons within Plymouth"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bid adjustments — every area treated equally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217920" y="1188720"/>
            <a:ext cx="5394960" cy="1828800"/>
          </a:xfrm>
          <a:prstGeom prst="rect">
            <a:avLst/>
          </a:prstGeom>
          <a:solidFill>
            <a:srgbClr val="E6F4E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6217920" y="1188720"/>
            <a:ext cx="54864" cy="1828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649224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After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6492240" y="1645920"/>
            <a:ext cx="49377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52 county-level targets — full UK coverage, zero overlap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49 English counties + Scotland + Wales + Northern Ireland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Tiered bid adjustments: +15% (13 top counties), 0% (20), -20% (7 weak)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Every click now attributable to a specific county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Clean data for monthly optimisation from day 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548640" y="3291840"/>
            <a:ext cx="11091672" cy="256032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548640" y="3291840"/>
            <a:ext cx="54864" cy="25603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777240" y="33832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Top Performing Counties (+15% bid increase)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0" name="Google Shape;260;p7"/>
          <p:cNvGraphicFramePr/>
          <p:nvPr/>
        </p:nvGraphicFramePr>
        <p:xfrm>
          <a:off x="731520" y="3749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{1C2A940B-EBF1-4E33-8482-3CADCAD73D84}</a:tableStyleId>
              </a:tblPr>
              <a:tblGrid>
                <a:gridCol w="3200400"/>
                <a:gridCol w="2286000"/>
                <a:gridCol w="2286000"/>
                <a:gridCol w="2743200"/>
              </a:tblGrid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County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Conversions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CPA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Conv Rate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7E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Greater London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58 conv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£22 CPA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10.6% CR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Kent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30 conv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£20 CPA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10.6% CR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Essex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27 conv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£20 CPA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11.6% CR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Surrey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30 conv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£22 CPA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10.7% CR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Hertfordshire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19 conv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£22 CPA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9.2% CR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Norfolk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14 conv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£15 CPA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13.3% CR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37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1A1A1A"/>
                          </a:solidFill>
                        </a:rPr>
                        <a:t>Staffordshire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13 conv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A853"/>
                          </a:solidFill>
                        </a:rPr>
                        <a:t>£13 CPA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4A853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4A853"/>
                          </a:solidFill>
                        </a:rPr>
                        <a:t>11.9% CR</a:t>
                      </a:r>
                      <a:endParaRPr sz="1100" u="none" cap="none" strike="noStrike"/>
                    </a:p>
                  </a:txBody>
                  <a:tcPr marT="25400" marB="25400" marR="76200" marL="7620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65" name="Google Shape;26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7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8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0" y="54864"/>
            <a:ext cx="109728" cy="680313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What Happens Next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48640" y="1005840"/>
            <a:ext cx="110916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548640" y="100584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777240" y="109728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Tomorrow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(2 April)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2377440" y="1097280"/>
            <a:ext cx="8988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Deep keyword audit, search term exclusions, new ad copy variants for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548640" y="2057400"/>
            <a:ext cx="110916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548640" y="2057400"/>
            <a:ext cx="54864" cy="914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777240" y="214884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(7 April)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2377440" y="2148840"/>
            <a:ext cx="8988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Landing page build begins — dedicated page to improve Quality Score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548640" y="3108960"/>
            <a:ext cx="110916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548640" y="3108960"/>
            <a:ext cx="54864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777240" y="320040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Week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(14 April)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2377440" y="3200400"/>
            <a:ext cx="8988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Landing page live. First performance review of Day 1 changes.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548640" y="4160520"/>
            <a:ext cx="1109167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548640" y="4160520"/>
            <a:ext cx="54864" cy="914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777240" y="4251960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(21 April)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2377440" y="4251960"/>
            <a:ext cx="8988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Full analysis. Reduce target CPA to £27 if data supports it. Month 1 report.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48640" y="5303520"/>
            <a:ext cx="11091672" cy="7315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822960" y="5303520"/>
            <a:ext cx="1054303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Monthly reports showing exactly what changed and what improved. </a:t>
            </a: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No vanity metrics, no jargon. Just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301" name="Google Shape;30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2026-04-01T16:20:54Z</dcterms:created>
  <dc:creator>Christopher Hoole</dc:creator>
</cp:coreProperties>
</file>