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hzNxjXqhToBoLi+CxlK+KpzZpZ0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6F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3047238" cy="6400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3047238" y="0"/>
            <a:ext cx="3047238" cy="64008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094476" y="0"/>
            <a:ext cx="3047238" cy="64008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9141714" y="0"/>
            <a:ext cx="3047238" cy="6400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0" y="64008"/>
            <a:ext cx="109728" cy="679399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\Users\User\Desktop\gads-data-layer\potential_clients\objection_experts\charts\act_logo.png" id="21" name="Google Shape;2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45720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"/>
          <p:cNvSpPr/>
          <p:nvPr/>
        </p:nvSpPr>
        <p:spPr>
          <a:xfrm>
            <a:off x="548640" y="1280160"/>
            <a:ext cx="50292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MONTHLY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OPTIMISATION PLAN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48640" y="3017520"/>
            <a:ext cx="2286000" cy="457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548640" y="324612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Objection Experts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548640" y="3931920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Prepared by Christopher Hoole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Google Ads Specialist  |  April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christopherhoole.com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6217920" y="457200"/>
            <a:ext cx="539496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6217920" y="457200"/>
            <a:ext cx="73152" cy="18288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6492240" y="54864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Target KPI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6492240" y="868680"/>
            <a:ext cx="4937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£25 CPA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6492240" y="155448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Cost per lead target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6217920" y="2560320"/>
            <a:ext cx="260604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6217920" y="2560320"/>
            <a:ext cx="54864" cy="9144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6355080" y="265176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2 hrs/week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6355080" y="306324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Every Monday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9006840" y="2560320"/>
            <a:ext cx="260604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"/>
          <p:cNvSpPr/>
          <p:nvPr/>
        </p:nvSpPr>
        <p:spPr>
          <a:xfrm>
            <a:off x="9006840" y="2560320"/>
            <a:ext cx="54864" cy="91440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"/>
          <p:cNvSpPr/>
          <p:nvPr/>
        </p:nvSpPr>
        <p:spPr>
          <a:xfrm>
            <a:off x="9144000" y="265176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3 months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9144000" y="306324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Initial plan horizon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0" y="6400800"/>
            <a:ext cx="3047238" cy="36576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"/>
          <p:cNvSpPr/>
          <p:nvPr/>
        </p:nvSpPr>
        <p:spPr>
          <a:xfrm>
            <a:off x="3047238" y="6400800"/>
            <a:ext cx="3047238" cy="36576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"/>
          <p:cNvSpPr/>
          <p:nvPr/>
        </p:nvSpPr>
        <p:spPr>
          <a:xfrm>
            <a:off x="6094476" y="6400800"/>
            <a:ext cx="3047238" cy="36576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"/>
          <p:cNvSpPr/>
          <p:nvPr/>
        </p:nvSpPr>
        <p:spPr>
          <a:xfrm>
            <a:off x="9141714" y="6400800"/>
            <a:ext cx="3047238" cy="36576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Optimisation Cadence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2 hours every Monday — consistent, data-driven improvement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548640" y="1188720"/>
            <a:ext cx="11091672" cy="1645920"/>
          </a:xfrm>
          <a:prstGeom prst="rect">
            <a:avLst/>
          </a:prstGeom>
          <a:solidFill>
            <a:srgbClr val="F5F6F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548640" y="1188720"/>
            <a:ext cx="54864" cy="164592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777240" y="128016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Every Monday (recurring tasks)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777240" y="1645920"/>
            <a:ext cx="1063447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Search term review — exclude irrelevant terms, identify new keyword opportunities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Performance check — CPA, conversion rate, spend pacing, Quality Score changes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Bid adjustment review — refine schedule, device, and geographic bids based on latest 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Negative keyword maintenance — add new phrase/exact negatives from search term findings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548640" y="3108960"/>
            <a:ext cx="3520440" cy="2926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548640" y="3108960"/>
            <a:ext cx="54864" cy="292608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731520" y="320040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MONTH 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731520" y="3493008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April 2026 — Foundation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731520" y="3840480"/>
            <a:ext cx="31089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Week 1: Keywords, search terms, new ads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Week 2: Landing page planning + build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Week 3: Landing page live + first data review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Week 4: Performance analysis, CPA adjustment, Month 1 report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4297680" y="3108960"/>
            <a:ext cx="3520440" cy="2926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4297680" y="3108960"/>
            <a:ext cx="54864" cy="292608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4480560" y="320040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C0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BBC05"/>
                </a:solidFill>
                <a:latin typeface="Calibri"/>
                <a:ea typeface="Calibri"/>
                <a:cs typeface="Calibri"/>
                <a:sym typeface="Calibri"/>
              </a:rPr>
              <a:t>MONTH 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4480560" y="3493008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May 2026 — Optimisation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4480560" y="3840480"/>
            <a:ext cx="31089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QS monitoring post landing page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Target CPA reduction (£30 → £27)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Ad copy testing cycle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Geographic bid refinement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Keyword expansion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8046720" y="3108960"/>
            <a:ext cx="3520440" cy="29260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8046720" y="3108960"/>
            <a:ext cx="54864" cy="29260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8229600" y="320040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MONTH 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8229600" y="3493008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June 2026 — Growth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8229600" y="3840480"/>
            <a:ext cx="31089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Target CPA at £25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Full Q2 vs Q1 comparison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Consider PMax campaign retest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Landing page A/B test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Quarterly review with Owen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\Users\User\Desktop\gads-data-layer\potential_clients\objection_experts\charts\act_logo.png" id="77" name="Google Shape;7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6400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2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Christopher Hoole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|  christopherhoole.com  |  Confidential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Month 1 — Week 1 (2 April)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Keywords, Search Terms &amp; Ad Copy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548640" y="1188720"/>
            <a:ext cx="11091672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548640" y="1188720"/>
            <a:ext cx="54864" cy="13716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777240" y="126187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Keyword Audit (45 mins)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777240" y="1572768"/>
            <a:ext cx="1063447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Review all active keywords against search term performance 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Add high-converting search terms as new keywords (e.g., "planning objection solicitor", "object planning permission", "planning objection advice")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Check match types — ensure phrase match is used for core terms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Verify re-enabled keywords are accruing impressions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548640" y="2743200"/>
            <a:ext cx="11091672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548640" y="2743200"/>
            <a:ext cx="54864" cy="13716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777240" y="281635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Search Term Exclusion (45 mins)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777240" y="3127248"/>
            <a:ext cx="1063447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Bulk review all search terms from the past 30 days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Exclude irrelevant terms — add to appropriate negative keyword list by word count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Identify any new waste patterns not covered by existing negatives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Document all exclusions for the monthly report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548640" y="4297680"/>
            <a:ext cx="11091672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548640" y="4297680"/>
            <a:ext cx="54864" cy="13716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777240" y="437083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Ad Copy Review (30 mins)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777240" y="4681728"/>
            <a:ext cx="1063447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Assess performance of current 3 RSAs + 1 call-only 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Build 1-2 new RSA variants for split testing (Trust, Speed, or Value angles)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Review headline and description combinations for relevance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Ensure keyword insertion is working correctly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\Users\User\Desktop\gads-data-layer\potential_clients\objection_experts\charts\act_logo.png" id="107" name="Google Shape;10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6400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3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Christopher Hoole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|  christopherhoole.com  |  Confidential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Month 1 — Week 2 (7 April)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Search Terms + Landing Page Build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548640" y="1188720"/>
            <a:ext cx="11091672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548640" y="1188720"/>
            <a:ext cx="54864" cy="9144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777240" y="126187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Search Term Review (30 mins)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777240" y="1572768"/>
            <a:ext cx="106344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Weekly recurring: review new search terms, exclude irrelevant, add promising ones as keywords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548640" y="2286000"/>
            <a:ext cx="11091672" cy="3200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548640" y="2286000"/>
            <a:ext cx="54864" cy="32004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777240" y="235915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Landing Page Planning &amp; Build (90 mins)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777240" y="2670048"/>
            <a:ext cx="10634472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Get Owen's current site files — map brand assets (colours, fonts, logos, imagery)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Wireframe new dedicated landing page for planning objection keywords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Shorter, more focused than homepage — headline, form, trust signals, 1 CTA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Build in Claude Code (HTML/CSS/JS), matching objectionexperts.com brand perfectly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Owen to set up Vercel + GitHub accounts — connect repo for continuous deployment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Target: LP draft ready for review by end of session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548640" y="5669280"/>
            <a:ext cx="11091672" cy="4572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777240" y="5669280"/>
            <a:ext cx="106344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Landing page goal: Improve "Landing Page Experience" from Below Average to Average/Above Average — the #1 Quality Score lever.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\Users\User\Desktop\gads-data-layer\potential_clients\objection_experts\charts\act_logo.png" id="135" name="Google Shape;13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6400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4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Christopher Hoole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|  christopherhoole.com  |  Confidential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Month 1 — Week 3 (14 April)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Landing Page Live + First Performance Review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548640" y="1188720"/>
            <a:ext cx="11091672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548640" y="1188720"/>
            <a:ext cx="54864" cy="8229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777240" y="126187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Search Term Review (30 mins)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777240" y="1572768"/>
            <a:ext cx="106344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Weekly recurring: review, exclude, add keywords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548640" y="2148840"/>
            <a:ext cx="11091672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"/>
          <p:cNvSpPr/>
          <p:nvPr/>
        </p:nvSpPr>
        <p:spPr>
          <a:xfrm>
            <a:off x="548640" y="2148840"/>
            <a:ext cx="54864" cy="13716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777240" y="222199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Landing Page Launch (30 mins)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777240" y="2532888"/>
            <a:ext cx="1063447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Final review and QA of landing page on Vercel preview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Owen adds DNS records to connect subdomain (e.g., lp.objectionexperts.com)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Push live, verify tracking is firing correctly (form submissions, phone clicks)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Update Google Ads final URLs to point to new landing page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548640" y="3657600"/>
            <a:ext cx="11091672" cy="20116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"/>
          <p:cNvSpPr/>
          <p:nvPr/>
        </p:nvSpPr>
        <p:spPr>
          <a:xfrm>
            <a:off x="548640" y="3657600"/>
            <a:ext cx="54864" cy="201168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777240" y="373075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First Performance Review (60 mins)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777240" y="4041648"/>
            <a:ext cx="10634472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 weeks of data since Day 1 changes — first meaningful comparison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Check: CPA trend (is £30 target holding?), conversion rate, click volume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Check: Are re-enabled keywords getting impressions and converting?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Check: Negative keywords working? Any new irrelevant terms slipping through?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Check: Ad schedule and geographic bid adjustments — any obvious outliers?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Document findings for month-end report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\Users\User\Desktop\gads-data-layer\potential_clients\objection_experts\charts\act_logo.png" id="165" name="Google Shape;16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6400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5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Christopher Hoole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|  christopherhoole.com  |  Confidential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Month 1 — Week 4 (21 April)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Full Analysis + CPA Adjustment + Month 1 Report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548640" y="1188720"/>
            <a:ext cx="11091672" cy="822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548640" y="1188720"/>
            <a:ext cx="54864" cy="8229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777240" y="126187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Search Term Review (20 mins)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777240" y="1572768"/>
            <a:ext cx="106344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Weekly recurring: review, exclude, add keywords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548640" y="2148840"/>
            <a:ext cx="11091672" cy="20116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"/>
          <p:cNvSpPr/>
          <p:nvPr/>
        </p:nvSpPr>
        <p:spPr>
          <a:xfrm>
            <a:off x="548640" y="2148840"/>
            <a:ext cx="54864" cy="201168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"/>
          <p:cNvSpPr/>
          <p:nvPr/>
        </p:nvSpPr>
        <p:spPr>
          <a:xfrm>
            <a:off x="777240" y="222199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Full Month Performance Analysis (60 mins)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777240" y="2532888"/>
            <a:ext cx="10634472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3 weeks of data post Day 1 changes — compare to pre-change baseline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CPA trend: is £30 target achievable? Reduce to £27 if data supports 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Quality Score check: has landing page improved LP Experience score?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Ad copy: which RSAs are winning? Pause worst performer if clear loser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Geographic: first month of county-level data — any clear winners/losers?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Device and schedule: refine any bid adjustments with 3 weeks of clean 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548640" y="4297680"/>
            <a:ext cx="11091672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548640" y="4297680"/>
            <a:ext cx="54864" cy="13716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"/>
          <p:cNvSpPr/>
          <p:nvPr/>
        </p:nvSpPr>
        <p:spPr>
          <a:xfrm>
            <a:off x="777240" y="4370832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Month 1 Report for Owen (40 mins)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777240" y="4681728"/>
            <a:ext cx="1063447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Build monthly report: what changed, performance comparison, next month's focus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Include: CPA before vs after, conversion rate, Quality Score changes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Include: specific actions taken and their measured impact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Schedule call with Owen to walk through findings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6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\Users\User\Desktop\gads-data-layer\potential_clients\objection_experts\charts\act_logo.png" id="195" name="Google Shape;19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6400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6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Christopher Hoole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|  christopherhoole.com  |  Confidential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Month 2 — May 2026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Optimisation phase — refine what's working, fix what isn't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548640" y="1188720"/>
            <a:ext cx="5394960" cy="1280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548640" y="1188720"/>
            <a:ext cx="54864" cy="12801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"/>
          <p:cNvSpPr/>
          <p:nvPr/>
        </p:nvSpPr>
        <p:spPr>
          <a:xfrm>
            <a:off x="777240" y="128016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Quality Score Monitoring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777240" y="1600200"/>
            <a:ext cx="4937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Track QS changes after landing page launch. Target: move core keywords from QS 2-3 to QS 5-6. This directly reduces CPC.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548640" y="2651760"/>
            <a:ext cx="5394960" cy="1280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548640" y="2651760"/>
            <a:ext cx="54864" cy="12801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7"/>
          <p:cNvSpPr/>
          <p:nvPr/>
        </p:nvSpPr>
        <p:spPr>
          <a:xfrm>
            <a:off x="777240" y="274320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Target CPA Reduction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777240" y="3063240"/>
            <a:ext cx="4937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If CPA is stable at £30, reduce to £27. Gradual steps — never more than 15-20% at a time.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548640" y="4114800"/>
            <a:ext cx="5394960" cy="1280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548640" y="4114800"/>
            <a:ext cx="54864" cy="128016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7"/>
          <p:cNvSpPr/>
          <p:nvPr/>
        </p:nvSpPr>
        <p:spPr>
          <a:xfrm>
            <a:off x="777240" y="420624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Ad Copy Testing Cycle 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777240" y="4526280"/>
            <a:ext cx="4937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Review Month 1 ad test results. Replace worst performing RSA with a new challenger. Test different angles.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6217920" y="1188720"/>
            <a:ext cx="5394960" cy="1280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7"/>
          <p:cNvSpPr/>
          <p:nvPr/>
        </p:nvSpPr>
        <p:spPr>
          <a:xfrm>
            <a:off x="6217920" y="1188720"/>
            <a:ext cx="54864" cy="128016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"/>
          <p:cNvSpPr/>
          <p:nvPr/>
        </p:nvSpPr>
        <p:spPr>
          <a:xfrm>
            <a:off x="6446520" y="128016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Geographic Bid Refinement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6446520" y="1600200"/>
            <a:ext cx="4937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Full month of county-level data available. Increase bids on top performers, reduce on underperformers.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6217920" y="2651760"/>
            <a:ext cx="5394960" cy="1280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6217920" y="2651760"/>
            <a:ext cx="54864" cy="12801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7"/>
          <p:cNvSpPr/>
          <p:nvPr/>
        </p:nvSpPr>
        <p:spPr>
          <a:xfrm>
            <a:off x="6446520" y="274320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Keyword Expansion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6446520" y="3063240"/>
            <a:ext cx="4937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Promote best converting search terms to keywords. Review close variants. Consider new ad groups if a theme emerges.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6217920" y="4114800"/>
            <a:ext cx="5394960" cy="12801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7"/>
          <p:cNvSpPr/>
          <p:nvPr/>
        </p:nvSpPr>
        <p:spPr>
          <a:xfrm>
            <a:off x="6217920" y="4114800"/>
            <a:ext cx="54864" cy="12801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7"/>
          <p:cNvSpPr/>
          <p:nvPr/>
        </p:nvSpPr>
        <p:spPr>
          <a:xfrm>
            <a:off x="6446520" y="420624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Weekly Search Term Reviews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6446520" y="4526280"/>
            <a:ext cx="4937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Continue every Monday — this never stops. The negative keyword lists will grow and protection will improve.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7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7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7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\Users\User\Desktop\gads-data-layer\potential_clients\objection_experts\charts\act_logo.png" id="237" name="Google Shape;23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6400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7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Christopher Hoole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|  christopherhoole.com  |  Confidential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8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8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8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8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Month 3 — June 2026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Growth phase — scaling what works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548640" y="1188720"/>
            <a:ext cx="3520440" cy="1828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8"/>
          <p:cNvSpPr/>
          <p:nvPr/>
        </p:nvSpPr>
        <p:spPr>
          <a:xfrm>
            <a:off x="548640" y="1188720"/>
            <a:ext cx="54864" cy="18288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8"/>
          <p:cNvSpPr/>
          <p:nvPr/>
        </p:nvSpPr>
        <p:spPr>
          <a:xfrm>
            <a:off x="731520" y="1280160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Target CPA at £25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731520" y="1645920"/>
            <a:ext cx="31546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If QS improvements have taken effect, push target CPA to £25. This should yield 60+ leads per month at the £1,500 budget.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4297680" y="1188720"/>
            <a:ext cx="3520440" cy="1828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8"/>
          <p:cNvSpPr/>
          <p:nvPr/>
        </p:nvSpPr>
        <p:spPr>
          <a:xfrm>
            <a:off x="4297680" y="1188720"/>
            <a:ext cx="54864" cy="18288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8"/>
          <p:cNvSpPr/>
          <p:nvPr/>
        </p:nvSpPr>
        <p:spPr>
          <a:xfrm>
            <a:off x="4480560" y="1280160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Full Quarter Comparison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4480560" y="1645920"/>
            <a:ext cx="31546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Q2 2026 vs Q1 2026 vs Q4 2025 — demonstrate the trajectory. CPA, conversion rate, lead volume, Quality Score, impression share.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8046720" y="1188720"/>
            <a:ext cx="3520440" cy="1828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8"/>
          <p:cNvSpPr/>
          <p:nvPr/>
        </p:nvSpPr>
        <p:spPr>
          <a:xfrm>
            <a:off x="8046720" y="1188720"/>
            <a:ext cx="54864" cy="182880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8"/>
          <p:cNvSpPr/>
          <p:nvPr/>
        </p:nvSpPr>
        <p:spPr>
          <a:xfrm>
            <a:off x="8229600" y="1280160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PMax Campaign Retest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8229600" y="1645920"/>
            <a:ext cx="31546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old PMax campaign had a £9.73 CPA with 20 conversions. With the account now clean, a PMax retest could unlock additional volume at low CPA.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548640" y="3291840"/>
            <a:ext cx="3520440" cy="1828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8"/>
          <p:cNvSpPr/>
          <p:nvPr/>
        </p:nvSpPr>
        <p:spPr>
          <a:xfrm>
            <a:off x="548640" y="3291840"/>
            <a:ext cx="54864" cy="18288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8"/>
          <p:cNvSpPr/>
          <p:nvPr/>
        </p:nvSpPr>
        <p:spPr>
          <a:xfrm>
            <a:off x="731520" y="3383280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Landing Page A/B Test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731520" y="3749040"/>
            <a:ext cx="31546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If baseline LP is performing, test a variant (different headline, form placement, or social proof). Small improvements compound.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4297680" y="3291840"/>
            <a:ext cx="3520440" cy="1828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8"/>
          <p:cNvSpPr/>
          <p:nvPr/>
        </p:nvSpPr>
        <p:spPr>
          <a:xfrm>
            <a:off x="4297680" y="3291840"/>
            <a:ext cx="54864" cy="18288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8"/>
          <p:cNvSpPr/>
          <p:nvPr/>
        </p:nvSpPr>
        <p:spPr>
          <a:xfrm>
            <a:off x="4480560" y="3383280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Quarterly Strategy Review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4480560" y="3749040"/>
            <a:ext cx="31546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Call with Owen to review 3 months of progress. Discuss budget, goals, and strategy for Q3. Present the data, agree the next quarter's plan.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8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8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8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\Users\User\Desktop\gads-data-layer\potential_clients\objection_experts\charts\act_logo.png" id="275" name="Google Shape;27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6400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8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Christopher Hoole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|  christopherhoole.com  |  Confidential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9"/>
          <p:cNvSpPr/>
          <p:nvPr/>
        </p:nvSpPr>
        <p:spPr>
          <a:xfrm>
            <a:off x="0" y="0"/>
            <a:ext cx="3047238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9"/>
          <p:cNvSpPr/>
          <p:nvPr/>
        </p:nvSpPr>
        <p:spPr>
          <a:xfrm>
            <a:off x="3047238" y="0"/>
            <a:ext cx="3047238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9"/>
          <p:cNvSpPr/>
          <p:nvPr/>
        </p:nvSpPr>
        <p:spPr>
          <a:xfrm>
            <a:off x="6094476" y="0"/>
            <a:ext cx="3047238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9"/>
          <p:cNvSpPr/>
          <p:nvPr/>
        </p:nvSpPr>
        <p:spPr>
          <a:xfrm>
            <a:off x="9141714" y="0"/>
            <a:ext cx="3047238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9"/>
          <p:cNvSpPr/>
          <p:nvPr/>
        </p:nvSpPr>
        <p:spPr>
          <a:xfrm>
            <a:off x="548640" y="274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CPA Reduction Roadmap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285F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285F4"/>
                </a:solidFill>
                <a:latin typeface="Calibri"/>
                <a:ea typeface="Calibri"/>
                <a:cs typeface="Calibri"/>
                <a:sym typeface="Calibri"/>
              </a:rPr>
              <a:t>Target: £38.63 → £25 within 3 months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9"/>
          <p:cNvSpPr/>
          <p:nvPr/>
        </p:nvSpPr>
        <p:spPr>
          <a:xfrm>
            <a:off x="1554480" y="2286000"/>
            <a:ext cx="905256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9"/>
          <p:cNvSpPr/>
          <p:nvPr/>
        </p:nvSpPr>
        <p:spPr>
          <a:xfrm>
            <a:off x="1097280" y="2011680"/>
            <a:ext cx="640080" cy="64008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9"/>
          <p:cNvSpPr/>
          <p:nvPr/>
        </p:nvSpPr>
        <p:spPr>
          <a:xfrm>
            <a:off x="1097280" y="20116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£</a:t>
            </a: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40+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640080" y="1188720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Day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(Today)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640080" y="2880360"/>
            <a:ext cx="1554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Target CPA set.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Quick wins implemented.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4023360" y="2011680"/>
            <a:ext cx="640080" cy="640080"/>
          </a:xfrm>
          <a:prstGeom prst="ellipse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9"/>
          <p:cNvSpPr/>
          <p:nvPr/>
        </p:nvSpPr>
        <p:spPr>
          <a:xfrm>
            <a:off x="4023360" y="20116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£27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9"/>
          <p:cNvSpPr/>
          <p:nvPr/>
        </p:nvSpPr>
        <p:spPr>
          <a:xfrm>
            <a:off x="3566160" y="1188720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Week 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(21 Apr)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9"/>
          <p:cNvSpPr/>
          <p:nvPr/>
        </p:nvSpPr>
        <p:spPr>
          <a:xfrm>
            <a:off x="3566160" y="2880360"/>
            <a:ext cx="1554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First reduction.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If CPA stable at £30.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/>
          <p:nvPr/>
        </p:nvSpPr>
        <p:spPr>
          <a:xfrm>
            <a:off x="6949440" y="2011680"/>
            <a:ext cx="640080" cy="64008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9"/>
          <p:cNvSpPr/>
          <p:nvPr/>
        </p:nvSpPr>
        <p:spPr>
          <a:xfrm>
            <a:off x="6949440" y="20116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£25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9"/>
          <p:cNvSpPr/>
          <p:nvPr/>
        </p:nvSpPr>
        <p:spPr>
          <a:xfrm>
            <a:off x="6492240" y="1188720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Week 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(19 May)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6492240" y="2880360"/>
            <a:ext cx="1554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Target achieved.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QS improvements active.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9875520" y="2011680"/>
            <a:ext cx="640080" cy="64008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9"/>
          <p:cNvSpPr/>
          <p:nvPr/>
        </p:nvSpPr>
        <p:spPr>
          <a:xfrm>
            <a:off x="9875520" y="20116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£20-25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9418320" y="1188720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Month 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(June)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9418320" y="2880360"/>
            <a:ext cx="1554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Sustained performance.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Landing page + QS gains.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548640" y="4114800"/>
            <a:ext cx="11091672" cy="1828800"/>
          </a:xfrm>
          <a:prstGeom prst="rect">
            <a:avLst/>
          </a:prstGeom>
          <a:solidFill>
            <a:srgbClr val="F5F6F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9"/>
          <p:cNvSpPr/>
          <p:nvPr/>
        </p:nvSpPr>
        <p:spPr>
          <a:xfrm>
            <a:off x="548640" y="4114800"/>
            <a:ext cx="54864" cy="18288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9"/>
          <p:cNvSpPr/>
          <p:nvPr/>
        </p:nvSpPr>
        <p:spPr>
          <a:xfrm>
            <a:off x="777240" y="42062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What Drives Each Reduction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777240" y="4572000"/>
            <a:ext cx="10634472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433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A4335"/>
                </a:solidFill>
                <a:latin typeface="Calibri"/>
                <a:ea typeface="Calibri"/>
                <a:cs typeface="Calibri"/>
                <a:sym typeface="Calibri"/>
              </a:rPr>
              <a:t>£38 → £30: 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Conversion tracking fix + target CPA guardrail + negative keywords (already done)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C0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BBC05"/>
                </a:solidFill>
                <a:latin typeface="Calibri"/>
                <a:ea typeface="Calibri"/>
                <a:cs typeface="Calibri"/>
                <a:sym typeface="Calibri"/>
              </a:rPr>
              <a:t>£30 → £27: 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Re-enabled high-performing keywords + schedule/geo bid optimisations reducing wasted spend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£27 → £25: 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Quality Score improvements from dedicated landing page — lower CPCs across all keywords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4A85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4A853"/>
                </a:solidFill>
                <a:latin typeface="Calibri"/>
                <a:ea typeface="Calibri"/>
                <a:cs typeface="Calibri"/>
                <a:sym typeface="Calibri"/>
              </a:rPr>
              <a:t>£25 sustained: 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Ongoing weekly optimisation, ad copy testing, keyword expansion, geographic refinement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548640" y="6327648"/>
            <a:ext cx="2772918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9"/>
          <p:cNvSpPr/>
          <p:nvPr/>
        </p:nvSpPr>
        <p:spPr>
          <a:xfrm>
            <a:off x="3321558" y="6327648"/>
            <a:ext cx="2772918" cy="2743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9"/>
          <p:cNvSpPr/>
          <p:nvPr/>
        </p:nvSpPr>
        <p:spPr>
          <a:xfrm>
            <a:off x="6094476" y="6327648"/>
            <a:ext cx="2772918" cy="27432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9"/>
          <p:cNvSpPr/>
          <p:nvPr/>
        </p:nvSpPr>
        <p:spPr>
          <a:xfrm>
            <a:off x="8867394" y="6327648"/>
            <a:ext cx="2772918" cy="2743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C:\Users\User\Desktop\gads-data-layer\potential_clients\objection_experts\charts\act_logo.png" id="314" name="Google Shape;31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6400800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9"/>
          <p:cNvSpPr/>
          <p:nvPr/>
        </p:nvSpPr>
        <p:spPr>
          <a:xfrm>
            <a:off x="822960" y="64008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Christopher Hoole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|  christopherhoole.com  |  Confidential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11183112" y="6400800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2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37E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2026-04-01T16:26:38Z</dcterms:created>
  <dc:creator>Christopher Hoole</dc:creator>
</cp:coreProperties>
</file>