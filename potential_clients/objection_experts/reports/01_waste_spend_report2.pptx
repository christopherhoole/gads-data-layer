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22960" y="329184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98080" y="731520"/>
            <a:ext cx="4114800" cy="5303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0" y="731520"/>
            <a:ext cx="54864" cy="53035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77724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686800" y="3291840"/>
            <a:ext cx="4572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0" y="3291840"/>
            <a:ext cx="457200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Shape 16"/>
          <p:cNvSpPr/>
          <p:nvPr/>
        </p:nvSpPr>
        <p:spPr>
          <a:xfrm>
            <a:off x="9601200" y="3291840"/>
            <a:ext cx="457200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Shape 17"/>
          <p:cNvSpPr/>
          <p:nvPr/>
        </p:nvSpPr>
        <p:spPr>
          <a:xfrm>
            <a:off x="10058400" y="3291840"/>
            <a:ext cx="457200" cy="365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total spend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£18,338.25 analysed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46720" y="4572000"/>
            <a:ext cx="3108960" cy="9144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conversions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— Mar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£18,338.25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Analysed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Identified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Wasted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generated clicks but zero conversions, accounting for £5,694.35 in wasted spend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consumed £1,485.38 with zero conversions — many are irrelevant to planning objections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of £47.39 vs weekday average of £32.61 — a 45% premium with no bid adjustment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"Neighbourhood Objections" ad group spent £79 with zero conversions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 keywords use exact match only — slight variations of blocked terms still trigger ads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quick wins identified in this report could save an estimated £522.44/month and significantly reduce cost per conversion.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1" name="Shape 2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Waste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spent £1,485.38 with zero conversions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858000" cy="4754880"/>
        </p:xfrm>
        <a:graphic>
          <a:graphicData uri="http://schemas.openxmlformats.org/drawingml/2006/table">
            <a:tbl>
              <a:tblPr/>
              <a:tblGrid>
                <a:gridCol w="3474720"/>
                <a:gridCol w="822960"/>
                <a:gridCol w="10972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Search Term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planning objection letters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£43.55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object to a planning application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£38.32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planning application objection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£33.03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advice on objecting to planning application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£32.03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objection letter for planning permission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£31.05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objection letter to planning applications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£30.93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opposing planning applications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£25.93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planning refusal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£24.49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planning permission objections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£24.36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objections to planning permission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£24.18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planning application objection letter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£23.63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objecting to neighbours planning application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£23.37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objecting to planning application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£23.32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objection to a planning application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£23.09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planning permission disputes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4335"/>
                          </a:solidFill>
                        </a:rPr>
                        <a:t>£22.63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188720"/>
            <a:ext cx="384048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258 non-converting search terms represent 8.1% of total spend.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users searching for general planning advice, templates, or services unrelated to planning objections.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should be blocked with negative keywords to prevent further waste.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384048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0" y="384048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79552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9552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Non-Converting Search Term Spend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Shape 1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Category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 grouped by intent category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pic>
        <p:nvPicPr>
          <p:cNvPr id="9" name="Image 0" descr="C:\Users\User\Desktop\gads-data-layer\potential_clients\objection_experts\charts\waste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858000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0" y="1234440"/>
            <a:ext cx="3840480" cy="4572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0" y="1234440"/>
            <a:ext cx="54864" cy="45720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0" y="17373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Non-Converting: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£1246 (768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Service: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£114 (37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Disputes: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(25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/ Template Seekers: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Queries: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 (14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Careers: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 (2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 for each category to block variations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'Other' category for additional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weekly search term reviews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Shape 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Shape 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Shape 1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8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 that allow irrelevant traffic through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5120640" cy="4389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234440"/>
            <a:ext cx="54864" cy="4389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Blocked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total negative keywords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match: 221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match: 383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match: 17 keywords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(exact match):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[town planner]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consultancy]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[retrospective planning permission]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department]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advisors]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 planning advice]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53949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34440"/>
            <a:ext cx="54864" cy="4389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Blocked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91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additions based on search term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negatives for: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permission" (wrong service)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consultant" / "planning advisor"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"template" / "example" / "sample"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write" / "DIY"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"neighbour dispute" / "fence" / "boundary"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"job" / "career" / "salary"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of 431 negatives use exact match only. This means a negative for [planning consultant] won't block "planning consultants" (plural) or "best planning consultant near me".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phrase match for broader protection.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2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 spent on ad groups with zero conversions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188720"/>
                <a:gridCol w="155448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 Group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Planning Objections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£17413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6990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527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£33.06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Planning Objection Consultants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£490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127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£27.51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Planning Objection Letters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£351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£46.81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Neighbourhood Objections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4335"/>
                          </a:solidFill>
                        </a:rPr>
                        <a:t>£79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4335"/>
                          </a:solidFill>
                        </a:rPr>
                        <a:t>WASTE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749040"/>
            <a:ext cx="54864" cy="2103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 group was created in October 2025 as part of a restructure, but has never generated a single conversion.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£79 spent, the waste is small — but the ad group fragments the campaign's data, making it harder for the algorithm to optimise.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Pause this ad group and consolidate volume.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749040"/>
            <a:ext cx="5394960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374904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Concentration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all spend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 the "Planning Objections" ad group.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smaller ad groups account for just 5% of spend combined. This fragmentation means the algorithm never gets enough data to learn and optimise.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Shape 1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during hours with zero conversions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pic>
        <p:nvPicPr>
          <p:cNvPr id="9" name="Image 0" descr="C:\Users\User\Desktop\gads-data-layer\potential_clients\objection_experts\charts\hour_of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03920" y="1188720"/>
            <a:ext cx="3108960" cy="3657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03920" y="1188720"/>
            <a:ext cx="54864" cy="36576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Text 9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732520" y="16916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zone: 1am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with 0 conversions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hour: 18:00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£24.11 (34 conv.)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9am-6pm business hours show the strongest conversion volume.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off-peak hours (midnight-6am). Increase bids during peak business hours.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5029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zero conversions  |  Amber = low (&lt;10)  |  Blue = active  |  Line = conversions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is £47.39 vs £32.61 weekday average — a 45% premium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pic>
        <p:nvPicPr>
          <p:cNvPr id="9" name="Image 0" descr="C:\Users\User\Desktop\gads-data-layer\potential_clients\objection_experts\charts\day_of_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03920" y="1188720"/>
            <a:ext cx="3108960" cy="13716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03920" y="118872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87325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(Best)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3252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£26.74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9.9%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03920" y="2743200"/>
            <a:ext cx="3108960" cy="13716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03920" y="274320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87325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(Worst)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3252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£47.39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£527 excess spend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03920" y="4297680"/>
            <a:ext cx="3108960" cy="10058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73252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20-30%. Increase Monday/Wednesday bids where CPA is lowest.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1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— performance and current bid adjustments by device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188720"/>
                <a:gridCol w="155448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Bid Adj.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Mobile phones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£10,398.36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4675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323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£32.24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6.9%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Computers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£7,445.04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2415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216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£34.55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8.9%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Tablets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£489.86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278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£34.99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5.0%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-20%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C:\Users\User\Desktop\gads-data-layer\potential_clients\objection_experts\charts\device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5943600" cy="2743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58000" y="3108960"/>
            <a:ext cx="4754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3108960"/>
            <a:ext cx="54864" cy="2743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9"/>
          <p:cNvSpPr/>
          <p:nvPr/>
        </p:nvSpPr>
        <p:spPr>
          <a:xfrm>
            <a:off x="713232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132320" y="35204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the best CPA (£32.24) but the highest spend — this is positive.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bid adjustments (+10% mobile, +10% desktop, -20% tablet) are reasonable but could be refined.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have the weakest conversion rate (5.0%) and highest CPA. The -20% reduction is justified but may need to go further.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Consider reducing tablet bids to -30% or -40% given the CPA premium.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spent £5,694.35 with zero conversions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pic>
        <p:nvPicPr>
          <p:cNvPr id="9" name="Image 0" descr="C:\Users\User\Desktop\gads-data-layer\potential_clients\objection_experts\charts\geographic_w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114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0" y="1188720"/>
            <a:ext cx="38404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0" y="118872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0" y="1691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 — 31% of total spend — went to locations that never converted.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individual amounts are small, the cumulative waste across 895+ locations is the largest single waste category.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typical of UK-wide targeting without geographic bid adjustments.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4160520"/>
            <a:ext cx="3840480" cy="1554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0" y="4160520"/>
            <a:ext cx="54864" cy="1554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0" y="4526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top-converting regions and increase bids there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areas with sufficient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bid adjustments to focus budget on proven areas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Shape 1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2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 Summary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39912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£18,338.25 (42.7%) was spent on non-converting traffic</a:t>
            </a:r>
            <a:endParaRPr lang="en-US" sz="1400" dirty="0"/>
          </a:p>
        </p:txBody>
      </p:sp>
      <p:pic>
        <p:nvPicPr>
          <p:cNvPr id="10" name="Image 0" descr="C:\Users\User\Desktop\gads-data-layer\potential_clients\objection_experts\charts\waste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6858000" cy="3474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914400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0" y="91440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0" y="1024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72400" y="1719072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0" y="1719072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0" y="1764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Zero-Conv Ad Groups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£78.91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772400" y="2523744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0" y="2523744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0" y="25694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Hours (0 Conversions)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4672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£50.8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515600" y="2633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772400" y="3328416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7" name="Shape 24"/>
          <p:cNvSpPr/>
          <p:nvPr/>
        </p:nvSpPr>
        <p:spPr>
          <a:xfrm>
            <a:off x="7772400" y="3328416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Text 25"/>
          <p:cNvSpPr/>
          <p:nvPr/>
        </p:nvSpPr>
        <p:spPr>
          <a:xfrm>
            <a:off x="8046720" y="33741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46720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0515600" y="343814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772400" y="4133088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2" name="Shape 29"/>
          <p:cNvSpPr/>
          <p:nvPr/>
        </p:nvSpPr>
        <p:spPr>
          <a:xfrm>
            <a:off x="7772400" y="4133088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Text 30"/>
          <p:cNvSpPr/>
          <p:nvPr/>
        </p:nvSpPr>
        <p:spPr>
          <a:xfrm>
            <a:off x="8046720" y="4178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Premium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04672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£527.11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515600" y="42428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772400" y="5120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overlap exists between categories (e.g., a non-converting search term from a non-converting location counts in both). The total represents the upper bound of identifiable waste.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8" name="Shape 3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9" name="Shape 3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0" name="Shape 3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1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to reduce waste and improve performance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399032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307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563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waste categories identified: DIY/templates, wrong services, jobs, neighbourhood disputes. Switch from exact to phrase match for broader protection.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1755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£100-150/mo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121408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28600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 Ad Group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conversions, fragmenting campaign data. Consolidate volume into the main Planning Objections ad group.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26426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stop £5-10/mo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008376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172968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 Schedule Bid Adjustments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dead hours (1am-5am) by 50-80%. Increase bids during peak business hours (9am-5pm Mon-Fri).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3529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£30-50/mo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23444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1399032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1307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1563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(£47.39) is 45% higher than weekdays. Apply a bid reduction to control costs.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66960" y="1755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£35-50/mo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2121408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228600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Geographic Targeting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regions. Add location bid adjustments to focus budget on proven areas.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966960" y="26426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£200-380/mo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3008376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3172968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12280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Tablet Bids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1228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tablet bid reduction from -20% to -30% or -40% given the CPA premium over mobile.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966960" y="3529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£15-25/mo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8640" y="4023360"/>
            <a:ext cx="11091672" cy="6400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05840" y="402336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Monthly Savings: </a:t>
            </a:r>
            <a:pPr algn="ctr"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£380-655/month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4892040"/>
            <a:ext cx="11091672" cy="9144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7" name="Text 45"/>
          <p:cNvSpPr/>
          <p:nvPr/>
        </p:nvSpPr>
        <p:spPr>
          <a:xfrm>
            <a:off x="1005840" y="493776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optimisation opportunities that any proactive account manager would address.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report will examine the structural and strategic issues driving the cost increase since October 2025.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9" name="Shape 4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1" name="Shape 4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5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Spend Analysis — Objection Experts</dc:title>
  <dc:subject>PptxGenJS Presentation</dc:subject>
  <dc:creator>Christopher Hoole</dc:creator>
  <cp:lastModifiedBy>Christopher Hoole</cp:lastModifiedBy>
  <cp:revision>1</cp:revision>
  <dcterms:created xsi:type="dcterms:W3CDTF">2026-03-29T15:44:50Z</dcterms:created>
  <dcterms:modified xsi:type="dcterms:W3CDTF">2026-03-29T15:44:50Z</dcterms:modified>
</cp:coreProperties>
</file>