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6400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6400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64008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6400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/>
        </p:spPr>
      </p:sp>
      <p:pic>
        <p:nvPicPr>
          <p:cNvPr id="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2801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SPEND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Experts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8640" y="3931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Christopher Hoole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Specialist  |  March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christopherhoole.com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0292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50474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Jan 2025 — Mar 2026 (15 months)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640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£7,836.55</a:t>
            </a:r>
            <a:endParaRPr lang="en-US" sz="4400" dirty="0"/>
          </a:p>
        </p:txBody>
      </p:sp>
      <p:sp>
        <p:nvSpPr>
          <p:cNvPr id="17" name="Text 14"/>
          <p:cNvSpPr/>
          <p:nvPr/>
        </p:nvSpPr>
        <p:spPr>
          <a:xfrm>
            <a:off x="649224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Waste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 of your £18,338.25 total spend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17920" y="292608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17920" y="2926080"/>
            <a:ext cx="54864" cy="12801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0" y="3063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400800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Conversions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006840" y="292608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006840" y="2926080"/>
            <a:ext cx="54864" cy="12801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5" name="Text 22"/>
          <p:cNvSpPr/>
          <p:nvPr/>
        </p:nvSpPr>
        <p:spPr>
          <a:xfrm>
            <a:off x="9189720" y="3063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£522.44/mo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189720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Monthly Savings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0" y="6400800"/>
            <a:ext cx="3047238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8" name="Shape 25"/>
          <p:cNvSpPr/>
          <p:nvPr/>
        </p:nvSpPr>
        <p:spPr>
          <a:xfrm>
            <a:off x="3047238" y="6400800"/>
            <a:ext cx="3047238" cy="365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9" name="Shape 26"/>
          <p:cNvSpPr/>
          <p:nvPr/>
        </p:nvSpPr>
        <p:spPr>
          <a:xfrm>
            <a:off x="6094476" y="6400800"/>
            <a:ext cx="3047238" cy="36576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0" name="Shape 27"/>
          <p:cNvSpPr/>
          <p:nvPr/>
        </p:nvSpPr>
        <p:spPr>
          <a:xfrm>
            <a:off x="9141714" y="6400800"/>
            <a:ext cx="3047238" cy="36576"/>
          </a:xfrm>
          <a:prstGeom prst="rect">
            <a:avLst/>
          </a:prstGeom>
          <a:solidFill>
            <a:srgbClr val="34A85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£18,338.25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Analysed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097280"/>
            <a:ext cx="54864" cy="9601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£7,836.55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Identified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097280"/>
            <a:ext cx="54864" cy="96012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Budget Wasted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5256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52560" y="1097280"/>
            <a:ext cx="54864" cy="9601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3" name="Text 21"/>
          <p:cNvSpPr/>
          <p:nvPr/>
        </p:nvSpPr>
        <p:spPr>
          <a:xfrm>
            <a:off x="923544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23544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Conversions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274320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895+ locations generated clicks but zero conversions, accounting for £5,694.35 in wasted spend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 search terms consumed £1,485.38 with zero conversions — many are irrelevant to planning objections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CPA of £47.39 vs weekday average of £32.61 — a 45% premium with no bid adjustment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"Neighbourhood Objections" ad group spent £79 with zero conversions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negative keywords use exact match only — slight variations of blocked terms still trigger ads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39496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the quick wins identified in this report could save an estimated £522.44/month and significantly reduce cost per conversion.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0" name="Shape 28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1" name="Shape 29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2" name="Shape 30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3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Term Waste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 search terms spent £1,485.38 with zero conversions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858000" cy="4754880"/>
        </p:xfrm>
        <a:graphic>
          <a:graphicData uri="http://schemas.openxmlformats.org/drawingml/2006/table">
            <a:tbl>
              <a:tblPr/>
              <a:tblGrid>
                <a:gridCol w="3474720"/>
                <a:gridCol w="822960"/>
                <a:gridCol w="1097280"/>
                <a:gridCol w="8229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Search Term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Clicks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Conv.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objection letters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19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£43.55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 to a planning application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£38.32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application objection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£33.03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advice on objecting to planning application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£32.03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objection letter for planning permission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£31.05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objection letter to planning applications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£30.93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opposing planning applications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£25.93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refusal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£24.49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permission objections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£24.36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objections to planning permission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£24.18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application objection letter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£23.63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objecting to neighbours planning application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£23.37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objecting to planning application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£23.32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objection to a planning application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£23.09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permission disputes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£22.63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772400" y="1188720"/>
            <a:ext cx="3840480" cy="22860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0" y="1188720"/>
            <a:ext cx="54864" cy="2286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46720" y="16916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258 non-converting search terms represent 8.1% of total spend.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are users searching for general planning advice, templates, or services unrelated to planning objections.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should be blocked with negative keywords to prevent further waste.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72400" y="3840480"/>
            <a:ext cx="3840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72400" y="3840480"/>
            <a:ext cx="54864" cy="9144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Text 14"/>
          <p:cNvSpPr/>
          <p:nvPr/>
        </p:nvSpPr>
        <p:spPr>
          <a:xfrm>
            <a:off x="7955280" y="3931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£1,485.38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955280" y="4389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Non-Converting Search Term Spend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1" name="Shape 1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2" name="Shape 1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3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by Category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Non-converting search terms grouped by intent category</a:t>
            </a:r>
            <a:endParaRPr lang="en-US" sz="1100" dirty="0"/>
          </a:p>
        </p:txBody>
      </p:sp>
      <p:pic>
        <p:nvPicPr>
          <p:cNvPr id="10" name="Image 0" descr="C:\Users\User\Desktop\gads-data-layer\potential_clients\objection_experts\charts\waste_by_categ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858000" cy="3657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72400" y="1234440"/>
            <a:ext cx="3840480" cy="45720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0" y="1234440"/>
            <a:ext cx="54864" cy="457200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Breakdown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46720" y="173736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Non-Converting: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£1246 (768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Service: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£114 (37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Disputes: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£42 (25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/ Template Seekers: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£42 (24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Queries: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£35 (14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/ Careers: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 (2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Required: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phrase-match negative keywords for each category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'Other' category for additional patterns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weekly search term reviews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Shape 1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8" name="Shape 1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19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Keyword Gaps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gaps that allow irrelevant traffic through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234440"/>
            <a:ext cx="5120640" cy="438912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234440"/>
            <a:ext cx="54864" cy="43891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Blocked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91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622 total negative keywords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01168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match: 221 keywords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match: 383 keywords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match: 17 keywords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(exact match):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[town planner]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[planning consultancy]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[retrospective planning permission]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[planning department]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[planning advisors]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 planning advice]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234440"/>
            <a:ext cx="539496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A43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234440"/>
            <a:ext cx="54864" cy="43891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325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 Blocked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16916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additions based on search term analysis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0116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match negatives for: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"planning permission" (wrong service)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"planning consultant" / "planning advisor"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"template" / "example" / "sample"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to write" / "DIY"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"neighbour dispute" / "fence" / "boundary"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"job" / "career" / "salary"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Issue: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 of 431 negatives use exact match only. This means a negative for [planning consultant] won't block "planning consultants" (plural) or "best planning consultant near me".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phrase match for broader protection.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3" name="Shape 2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4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 Performance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£79 spent on ad groups with zero conversions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2011680"/>
        </p:xfrm>
        <a:graphic>
          <a:graphicData uri="http://schemas.openxmlformats.org/drawingml/2006/table">
            <a:tbl>
              <a:tblPr/>
              <a:tblGrid>
                <a:gridCol w="4114800"/>
                <a:gridCol w="1371600"/>
                <a:gridCol w="1188720"/>
                <a:gridCol w="155448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Ad Group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Spend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Clicks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Conversions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CPA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Objections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£17413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6990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527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£33.06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Active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Objection Consultants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£490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127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£27.51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Active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Objection Letters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£351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228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£46.81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Active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Neighbourhood Objections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£79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WASTE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3749040"/>
            <a:ext cx="5303520" cy="210312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3749040"/>
            <a:ext cx="54864" cy="21031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840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Objections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41605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 October 2025 as part of a restructure, but has never generated a single conversion.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£79 spent, the waste is small — but the ad group fragments the campaign's data, making it harder for the algorithm to optimise.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Pause this ad group and consolidate volume.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3749040"/>
            <a:ext cx="5394960" cy="210312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3749040"/>
            <a:ext cx="54864" cy="21031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840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Concentration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92240" y="41605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of all spend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through the "Planning Objections" ad group.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smaller ad groups account for just 5% of spend combined. This fragmentation means the algorithm never gets enough data to optimise.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1" name="Shape 1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2" name="Shape 1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3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 Performance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£51 spent during hours with zero conversions</a:t>
            </a:r>
            <a:endParaRPr lang="en-US" sz="1100" dirty="0"/>
          </a:p>
        </p:txBody>
      </p:sp>
      <p:pic>
        <p:nvPicPr>
          <p:cNvPr id="10" name="Image 0" descr="C:\Users\User\Desktop\gads-data-layer\potential_clients\objection_experts\charts\hour_of_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772400" cy="3657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503920" y="1188720"/>
            <a:ext cx="3108960" cy="36576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503920" y="1188720"/>
            <a:ext cx="54864" cy="36576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3" name="Text 10"/>
          <p:cNvSpPr/>
          <p:nvPr/>
        </p:nvSpPr>
        <p:spPr>
          <a:xfrm>
            <a:off x="873252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732520" y="169164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zone: 1am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£51 spent with 0 conversions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hour: 18:00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£24.11 (34 conversions)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performance: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9am-6pm business hours show the strongest conversion volume.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bids during off-peak hours (midnight-6am). Increase bids during peak business hours.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5029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zero conversions  |  Amber = low (&lt;10)  |  Blue = active  |  Line = conversions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7" name="Shape 14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8" name="Shape 15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9" name="Shape 16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0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Performance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CPA £47.39 vs £32.61 weekday avg — 45% premium</a:t>
            </a:r>
            <a:endParaRPr lang="en-US" sz="1100" dirty="0"/>
          </a:p>
        </p:txBody>
      </p:sp>
      <p:pic>
        <p:nvPicPr>
          <p:cNvPr id="10" name="Image 0" descr="C:\Users\User\Desktop\gads-data-layer\potential_clients\objection_experts\charts\day_of_wee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772400" cy="3657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503920" y="1188720"/>
            <a:ext cx="3108960" cy="137160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503920" y="1188720"/>
            <a:ext cx="54864" cy="13716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3" name="Text 10"/>
          <p:cNvSpPr/>
          <p:nvPr/>
        </p:nvSpPr>
        <p:spPr>
          <a:xfrm>
            <a:off x="873252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(Best)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732520" y="1554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conversions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CPA: £26.74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rate: 9.9%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03920" y="2743200"/>
            <a:ext cx="3108960" cy="137160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03920" y="2743200"/>
            <a:ext cx="54864" cy="13716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Text 14"/>
          <p:cNvSpPr/>
          <p:nvPr/>
        </p:nvSpPr>
        <p:spPr>
          <a:xfrm>
            <a:off x="873252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(Worst)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732520" y="3108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conversions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CPA: £47.39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Premium: £527 excess spend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503920" y="4297680"/>
            <a:ext cx="3108960" cy="100584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732520" y="4389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Sunday bids by 20-30%. Increase Monday/Wednesday bids where CPA is lowest.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Shape 1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3" name="Shape 2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4" name="Shape 2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5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Performance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31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 Campaign — performance and current bid adjustments by device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188720"/>
                <a:gridCol w="1188720"/>
                <a:gridCol w="1371600"/>
                <a:gridCol w="137160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Device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Spend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Clicks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Conv.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CPA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 Rate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Bid Adj.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Mobile phones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£10,398.36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4675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323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£32.24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6.9%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+10%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Computers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£7,445.04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2415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216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£34.55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8.9%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+10%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Tablets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£489.86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278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£34.99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5.0%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-20%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pic>
        <p:nvPicPr>
          <p:cNvPr id="11" name="Image 0" descr="C:\Users\User\Desktop\gads-data-layer\potential_clients\objection_experts\charts\device_perform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08960"/>
            <a:ext cx="5943600" cy="2743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858000" y="3108960"/>
            <a:ext cx="4754880" cy="27432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858000" y="3108960"/>
            <a:ext cx="54864" cy="27432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4" name="Text 10"/>
          <p:cNvSpPr/>
          <p:nvPr/>
        </p:nvSpPr>
        <p:spPr>
          <a:xfrm>
            <a:off x="7132320" y="3200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132320" y="352044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has the best CPA (£32.24) but the highest spend — this is positive.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bid adjustments (+10% mobile, +10% desktop, -20% tablet) are reasonable but could be refined.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Tablets have the weakest conversion rate (5.0%) and highest CPA.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Reduce tablet bids to -30% or -40%.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7" name="Shape 1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8" name="Shape 1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9" name="Shape 1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0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Waste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895+ locations spent £5,694.35 with zero conversions</a:t>
            </a:r>
            <a:endParaRPr lang="en-US" sz="1100" dirty="0"/>
          </a:p>
        </p:txBody>
      </p:sp>
      <p:pic>
        <p:nvPicPr>
          <p:cNvPr id="10" name="Image 0" descr="C:\Users\User\Desktop\gads-data-layer\potential_clients\objection_experts\charts\geographic_was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858000" cy="4114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72400" y="1188720"/>
            <a:ext cx="3840480" cy="27432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0" y="1188720"/>
            <a:ext cx="54864" cy="27432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46720" y="169164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£5,694.35 — 31% of total spend — went to locations that never converted.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individual amounts are small, the cumulative waste across 895+ locations is the largest single waste category.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typical of UK-wide targeting without geographic bid adjustments.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72400" y="4160520"/>
            <a:ext cx="3840480" cy="155448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72400" y="4160520"/>
            <a:ext cx="54864" cy="15544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0" y="4251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046720" y="45262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top-converting regions and increase bids there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consistently non-converting areas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location bid adjustments to focus budget on proven areas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1" name="Shape 1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2" name="Shape 1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3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4864"/>
            <a:ext cx="109728" cy="68031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Waste Summary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914400"/>
            <a:ext cx="6400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914400"/>
            <a:ext cx="73152" cy="13716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960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£7,836.55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22960" y="1691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your £18,338.25 (42.7%) was spent on non-converting traffic</a:t>
            </a:r>
            <a:endParaRPr lang="en-US" sz="1400" dirty="0"/>
          </a:p>
        </p:txBody>
      </p:sp>
      <p:pic>
        <p:nvPicPr>
          <p:cNvPr id="14" name="Image 0" descr="C:\Users\User\Desktop\gads-data-layer\potential_clients\objection_experts\charts\waste_water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0"/>
            <a:ext cx="6400800" cy="32004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498080" y="91440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98080" y="914400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0" y="960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Non-Converting Search Terms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£1,485.38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515600" y="10241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498080" y="1719072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498080" y="1719072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0" y="17647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Zero-Conv Ad Groups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772400" y="2039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£78.91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0515600" y="1828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498080" y="2523744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498080" y="2523744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7" name="Text 24"/>
          <p:cNvSpPr/>
          <p:nvPr/>
        </p:nvSpPr>
        <p:spPr>
          <a:xfrm>
            <a:off x="7772400" y="25694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Hours (0 Conversions)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772400" y="2843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£50.8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0515600" y="26334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498080" y="3328416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498080" y="3328416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2" name="Text 29"/>
          <p:cNvSpPr/>
          <p:nvPr/>
        </p:nvSpPr>
        <p:spPr>
          <a:xfrm>
            <a:off x="7772400" y="33741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Waste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772400" y="3648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£5,694.35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0515600" y="343814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498080" y="4133088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7498080" y="4133088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7" name="Text 34"/>
          <p:cNvSpPr/>
          <p:nvPr/>
        </p:nvSpPr>
        <p:spPr>
          <a:xfrm>
            <a:off x="7772400" y="41788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Premium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772400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£527.11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10515600" y="424281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7498080" y="5074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Some overlap exists between categories. The total represents the upper bound of identifiable waste.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2" name="Shape 3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3" name="Shape 4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44" name="Shape 4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45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 to reduce waste and improve performance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234440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1399032"/>
            <a:ext cx="384048" cy="38404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1307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Phrase-Match Negative Keywords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15636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DIY/templates, wrong services, jobs, neighbourhood disputes. Switch from exact to phrase match for broader protection.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0" y="17556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saving: £100-150/mo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121408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2286000"/>
            <a:ext cx="384048" cy="38404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2194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Neighbourhood Objections Ad Group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2450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conversions, fragmenting campaign data. Consolidate into the main Planning Objections ad group.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97680" y="26426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Immediate: stop £5-10/mo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008376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" y="3172968"/>
            <a:ext cx="384048" cy="38404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3081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Ad Schedule Bid Adjustments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43000" y="3337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bids during dead hours (1am-5am) by 50-80%. Increase bids during peak hours (9am-5pm Mon-Fri).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0" y="35295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saving: £30-50/mo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1234440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55080" y="1399032"/>
            <a:ext cx="384048" cy="38404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12280" y="1307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Sunday Bids by 20-30%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12280" y="15636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CPA (£47.39) is 45% higher than weekdays. Apply a bid reduction to control costs.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966960" y="17556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saving: £35-50/mo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2121408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55080" y="2286000"/>
            <a:ext cx="384048" cy="38404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12280" y="2194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Geographic Targeting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12280" y="2450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consistently non-converting regions. Add location bid adjustments to focus budget on proven areas.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966960" y="26426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saving: £200-380/mo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3008376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55080" y="3172968"/>
            <a:ext cx="384048" cy="38404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42" name="Text 40"/>
          <p:cNvSpPr/>
          <p:nvPr/>
        </p:nvSpPr>
        <p:spPr>
          <a:xfrm>
            <a:off x="635508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812280" y="3081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Tablet Bids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12280" y="3337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tablet bid reduction from -20% to -30% or -40% given the CPA premium over mobile.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966960" y="35295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saving: £15-25/mo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4023360"/>
            <a:ext cx="11091672" cy="640080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005840" y="4023360"/>
            <a:ext cx="1017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Total Monthly Savings: </a:t>
            </a:r>
            <a:pPr algn="ctr" indent="0" marL="0">
              <a:buNone/>
            </a:pPr>
            <a:r>
              <a:rPr lang="en-US" sz="2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£380-655/month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48640" y="4892040"/>
            <a:ext cx="11091672" cy="9144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49" name="Text 47"/>
          <p:cNvSpPr/>
          <p:nvPr/>
        </p:nvSpPr>
        <p:spPr>
          <a:xfrm>
            <a:off x="1005840" y="4937760"/>
            <a:ext cx="10177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optimisation opportunities that any proactive account manager would address.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report will examine the structural and strategic issues driving the cost increase since October 2025.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51" name="Shape 4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2" name="Shape 5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3" name="Shape 5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54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Waste Spend Analysis — Objection Experts</dc:title>
  <dc:subject>PptxGenJS Presentation</dc:subject>
  <dc:creator>Christopher Hoole</dc:creator>
  <cp:lastModifiedBy>Christopher Hoole</cp:lastModifiedBy>
  <cp:revision>1</cp:revision>
  <dcterms:created xsi:type="dcterms:W3CDTF">2026-03-29T16:01:41Z</dcterms:created>
  <dcterms:modified xsi:type="dcterms:W3CDTF">2026-03-29T16:01:41Z</dcterms:modified>
</cp:coreProperties>
</file>