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3GSvE3bpIUKDOHCs/FU+WNfp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AFDADB-E33E-4178-97EB-8192984ECCD4}">
  <a:tblStyle styleId="{E8AFDADB-E33E-4178-97EB-8192984ECC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RESTRUCTURE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&amp; GROWTH PLAN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ObjectionExperts.com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Prepared by Christopher Hoole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Ads Specialist  | 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Based on data: Jan 2025 — Mar 2026 (15 months)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Target CPA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£20-25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Down from current £38.63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1792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35508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+30-50%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35508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Leads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07720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077200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821436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8-12 wks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21436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 Full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936480" y="2926080"/>
            <a:ext cx="16764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936480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10073640" y="3035808"/>
            <a:ext cx="144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£4.6-7.9k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0073640" y="34747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Annual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The opportunity: what's achievable with proper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£20-25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+30-50%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Leads (same budget)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8-12 wks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Time to Full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£1,500/mo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 Monthly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Restructure Plan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0080" y="2743200"/>
            <a:ext cx="10515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1: Fix conversion tracking, add negative keywords, set target CPA, pause waste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Weeks 2-4: New ad copy testing, schedule optimisation, Quality Score improvements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Months 2-3: Ongoing optimisation, landing page testing, keyword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Based on the pre-October 2025 baseline when CPA was £30.24, a target CPA of £20-25 is achievable with the optimisations identified in Reports 1 and 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Conservative projection: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Reducing CPA from £38.63 to £20-25 within 8-12 weeks, while maintaining or increasing lead volume on the same £1,500/month budget.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Proposed Campaign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Simplified structure designed for a £1,500/month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48640" y="1188720"/>
            <a:ext cx="5303520" cy="45720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48640" y="1188720"/>
            <a:ext cx="54864" cy="4572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Current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77240" y="1645920"/>
            <a:ext cx="475488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GLO Campaign (Search)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Planning Objections (95% of spend)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Planning Objection Letters (2%)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Planning Objection Consultants (3%)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  Neighbourhood Objections (0 conv.)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GLO - Core - PMax (small spend)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Form Submissions (dormant)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 Letters campaign (dormant)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Issues: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Volume fragmented across 4 ad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ad groups have insufficient data to optimise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Dormant campaigns add clutter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217920" y="1188720"/>
            <a:ext cx="5394960" cy="45720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217920" y="1188720"/>
            <a:ext cx="54864" cy="4572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Proposed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92240" y="1645920"/>
            <a:ext cx="49377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Objection Experts —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Planning Objections (core terms, broad/phrase match)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Planning Permission Challenge (related intent)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Optional: Brand Campaign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Only if competitor bidding detected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Rationale: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Consolidate volume into fewer, well-themed ad groups. At £1,500/month, simpler is better — the algorithm needs data density to optimise effectively.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Pause Neighbourhood Objections, Letters, and Consultants ad groups. Merge their best keywords into the main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Remove dormant campaigns to keep the account clean.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Keyword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Keep the winners, pause the losers, expand with proven search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4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{E8AFDADB-E33E-4178-97EB-8192984ECCD4}</a:tableStyleId>
              </a:tblPr>
              <a:tblGrid>
                <a:gridCol w="3200400"/>
                <a:gridCol w="914400"/>
                <a:gridCol w="1097275"/>
                <a:gridCol w="731525"/>
                <a:gridCol w="50292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Keyword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Conv.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CPA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99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£34.49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94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£37.01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challenge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68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£38.90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opposing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59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£33.74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-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48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£24.53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best CPA +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 to planning application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45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£17.42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-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best CPA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objecting to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42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£29.72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specialist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31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£24.30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-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planning objection letter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21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£34.77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Keep — improve QS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neighbour planning permission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£77.90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-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Pause — 0 conv.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4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48640" y="5394960"/>
            <a:ext cx="54864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77240" y="5440680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New keywords to add from search term data: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"planning objection solicitor" (CPA £18), "object planning permission" (CPA £6), "planning objection advice" (CPA £16)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Bid Strategy Recommendation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From uncontrolled spending to a target CPA 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1188720"/>
            <a:ext cx="5303520" cy="256032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48640" y="1188720"/>
            <a:ext cx="54864" cy="2560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77240" y="1645920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Maximise Conversions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No target CPA 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algorithm spends whatever it takes to get a conversion. No guardrails = unpredictable costs.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Result: CPA of £38.63 (post-Oct 2025 avg), with monthly peaks reaching £65.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217920" y="1188720"/>
            <a:ext cx="5394960" cy="256032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217920" y="1188720"/>
            <a:ext cx="54864" cy="2560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492240" y="1645920"/>
            <a:ext cx="49377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Maximise Conversions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Target CPA: £25-30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Based on the pre-October 2025 baseline of £30.24. Start conservative at £30, then gradually reduce toward £25 as Quality Score improvements take effect.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Disable auto-apply recommendations immediately.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8640" y="4023360"/>
            <a:ext cx="11091672" cy="16459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48640" y="402336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Implementation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77240" y="4480560"/>
            <a:ext cx="1063447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1: Set target CPA at £30 (conservative start)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3-4: If CPA is stable at £30, reduce target to £27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6-8: With QS improvements taking effect, reduce target to £25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Ongoing: Monitor weekly. Never change target CPA by more than 15-20% at a time — gradual adjustments let the algorithm adapt.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Tracking Fix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Clean tracking = better algorithm decisions = lower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6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{E8AFDADB-E33E-4178-97EB-8192984ECCD4}</a:tableStyleId>
              </a:tblPr>
              <a:tblGrid>
                <a:gridCol w="2560325"/>
                <a:gridCol w="1371600"/>
                <a:gridCol w="1371600"/>
                <a:gridCol w="5760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Current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Proposed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Why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Real lead — keep as-is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Real call lead — keep as-is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Secondary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NOT a lead. Remove from goals. Stops algorithm optimising for email clicks.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Already correct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6"/>
          <p:cNvSpPr/>
          <p:nvPr/>
        </p:nvSpPr>
        <p:spPr>
          <a:xfrm>
            <a:off x="548640" y="3474720"/>
            <a:ext cx="11091672" cy="21031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48640" y="3474720"/>
            <a:ext cx="54864" cy="2103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Impact of This Change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7240" y="3931920"/>
            <a:ext cx="1063447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bidding algorithm currently counts 552 conversions — but 62 of these are micro-conversions (Email Clicks + Phone Number Clicks that don't represent actual leads).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Real conversions: 490 (Form Submissions + Google Forwarding calls)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By marking Email Click as Secondary, the algorithm will only optimise toward genuine form submissions and phone calls. This single change will immediately improve lead quality and CPA accuracy.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This is a 5-minute fix with outsized impact.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Negative Keyword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From reactive exact-match to proactive phrase-match protection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777240" y="1261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Account-Level Negatives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77240" y="15544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Universal blockers applied across all campaigns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77240" y="1828800"/>
            <a:ext cx="10634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jobs, careers, salary, courses, university, template, example, sample, DIY, free, how to write, complaint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77240" y="281635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Campaign-Level Negatives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77240" y="3108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Service-specific exclusions for the Search campaign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7240" y="3383280"/>
            <a:ext cx="10634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permission (applying for), planning consultant, architect, surveyor, solicitor, retrospective, neighbour dispute, fence, boundary, 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77240" y="4370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Ongoing Process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77240" y="4663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Weekly search term review to catch new irrelevant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77240" y="4937760"/>
            <a:ext cx="10634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search terms every Monday. Add phrase-match negatives for any irrelevant patterns. Document in a shared negative keyword list.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shift: Move from exact match negatives (which miss variations) to phrase match negatives (which block the root term and all variations).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31" name="Google Shape;2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Copy Testing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Three messaging angles to test against the current winner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1188720"/>
            <a:ext cx="352044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48640" y="1188720"/>
            <a:ext cx="54864" cy="4389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31520" y="1280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1: Trust &amp; Credibility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31520" y="1645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Sample headlines: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31520" y="1920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Expert Planning Objection Help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600+ Objections Prepared Since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RTPI Qualified Town Planner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Proven 60% Success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31520" y="3931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Angle: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31520" y="420624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Emphasises track record and qualifications. Targets risk-averse prospects who want proof.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297680" y="1188720"/>
            <a:ext cx="352044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297680" y="1188720"/>
            <a:ext cx="54864" cy="4389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480560" y="1280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2: Speed &amp; Urgency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480560" y="1645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Sample headlines: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480560" y="1920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 in 5 Working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Same-Day Consultations 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Don't Miss Your Objection Deadline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Fast, Professional Objection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480560" y="3931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Angle: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480560" y="420624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Appeals to time-sensitive prospects. Planning objections often have tight deadlines.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046720" y="1188720"/>
            <a:ext cx="352044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8046720" y="1188720"/>
            <a:ext cx="54864" cy="4389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8229600" y="12801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3: Value &amp; Accessibility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229600" y="1645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Sample headlines: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229600" y="1920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£350+VAT Per Objection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Free Initial Consultation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Fixed Fee — No Hidden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Affordable Planning Objection Help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229600" y="39319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Angle: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229600" y="420624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Leads with price transparency. Reduces friction for cost-conscious prospects.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" y="58064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Testing plan: Run all 3 RSAs for 4-6 weeks. Keep the winner, replace the worst performer with a new challenger. Continuous improvement.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73" name="Google Shape;2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Schedule &amp; Device Optimisation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Data-driven bid adjustments based on 15 months of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48640" y="1188720"/>
            <a:ext cx="548640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Schedule Adjustments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777240" y="164592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Increase bids +15-20%: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 2-5pm (CPA £24), Wed 2-5pm (CPA £24), Thu 5pm-12am (CPA £24), Sat 5-12pm (CPA £20)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Reduce bids -30-50%: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days 12-6am (low volume, zero/low conversions), Sun 12-2pm (CPA £136), Fri 5-12pm (CPA £83)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Keep as-is: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other time slots — monitor for 4 weeks, then adjust based on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126480" y="1188720"/>
            <a:ext cx="548640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35508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Device Bid Adjustments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6355080" y="164592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Mobile (57% of spend):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Current: +10%. Proposed: Keep at +10%. Best CPA (£32.24) and highest volume.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Desktop (41% of spend):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Current: +10%. Proposed: Reduce to +0%. CPA slightly higher than mobile (£34.55).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Tablet (3% of spend):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Current: -20%. Proposed: Reduce to -35%. Highest CPA (£34.99) and lowest conv rate (5.0%).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Day-of-Week Adjustments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Monday (best CPA £27): +10%  |  Sunday (worst CPA £47): -25%  |  Saturday: -10%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All adjustments are starting points based on historical data. Review after 4 weeks and refine.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05" name="Google Shape;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Quality Score Improvement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Roadmap from QS 2-3 to QS 6-7+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48640" y="1188720"/>
            <a:ext cx="11091672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48640" y="1188720"/>
            <a:ext cx="54864" cy="1234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371600" y="1280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Tighter Ad Group Themes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371600" y="160020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Consolidate keywords into well-themed groups. When keywords closely match ad copy, Google rates your ad relevance higher.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8897112" y="13258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Improves: Expected CTR + Ad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48640" y="2606040"/>
            <a:ext cx="11091672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548640" y="2606040"/>
            <a:ext cx="54864" cy="1234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1371600" y="2697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Better Ad Copy Alignment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371600" y="301752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Write headlines that closely mirror the keywords in each ad group. Include the core search term in Headline 1 and Description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8897112" y="2743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Improves: Expected CTR + Ad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48640" y="4023360"/>
            <a:ext cx="11091672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548640" y="4023360"/>
            <a:ext cx="54864" cy="12344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1371600" y="4114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Optimisation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371600" y="44348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Consider a dedicated landing page for planning objections. Faster load time, clearer match to ad messaging, focused CTA.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8897112" y="4160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Improves: Landing Page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Every 1-point QS improvement reduces CPC. Moving from QS 3 to QS 7 could cut click costs by 30-50%.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51" name="Google Shape;3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Projected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Conservative projections based on identified optimisation opportunities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11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{E8AFDADB-E33E-4178-97EB-8192984ECCD4}</a:tableStyleId>
              </a:tblPr>
              <a:tblGrid>
                <a:gridCol w="2743200"/>
                <a:gridCol w="2286000"/>
                <a:gridCol w="2286000"/>
                <a:gridCol w="36576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Current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Projected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Change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Monthly Spend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£1,500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£1,500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Same budget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Cost Per Conversion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£38.63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£20-25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35-48% reduction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Monthly Conversions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~13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18-25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+38-92% more leads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Conversion Rate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6.42%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9-12%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+40-87% improvement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Quality Score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2-3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6-7+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Within 8-12 weeks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</a:rPr>
                        <a:t>Avg CPC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A4335"/>
                          </a:solidFill>
                        </a:rPr>
                        <a:t>£2.48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£1.50-2.00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QS improvement effect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11"/>
          <p:cNvSpPr/>
          <p:nvPr/>
        </p:nvSpPr>
        <p:spPr>
          <a:xfrm>
            <a:off x="548640" y="4389120"/>
            <a:ext cx="11091672" cy="146304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48640" y="4389120"/>
            <a:ext cx="54864" cy="1463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77724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Methodology &amp; Caveats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777240" y="4800600"/>
            <a:ext cx="10634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These are conservative projections based on the pre-October 2025 performance baseline, when CPA was consistently £22-30 without the optimisations proposed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Actual results will depend on market conditions, seasonality, and the speed of Quality Score improvements. I've deliberately underpromised so we can overdeliver.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Monthly conversions calculated as: £1,500 budget ÷ target CPA.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76" name="Google Shape;3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Implementation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Quick wins start immediately — full impact within 8-12 weeks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548640" y="1188720"/>
            <a:ext cx="3520440" cy="457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548640" y="1188720"/>
            <a:ext cx="3520440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48640" y="11887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48640" y="15087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Wins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685800" y="1965960"/>
            <a:ext cx="3246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 conversion tracking (Email Click → Secondary)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target CPA at £30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phrase-match negative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Pause Neighbourhood Objections ad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Disable auto-apply recommendations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297680" y="1188720"/>
            <a:ext cx="3520440" cy="457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297680" y="1188720"/>
            <a:ext cx="3520440" cy="640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4297680" y="11887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2-4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297680" y="15087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434840" y="1965960"/>
            <a:ext cx="3246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Launch 3 RSA ad copy variants for A/B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 ad schedule bid adjustments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Adjust device bids (tablet to -35%)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day-of-week bid adjustments (Sun -25%)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Begin weekly search term review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8046720" y="1188720"/>
            <a:ext cx="3520440" cy="457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8046720" y="1188720"/>
            <a:ext cx="352044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8046720" y="11887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MONTHS 2-3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8046720" y="15087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183880" y="1965960"/>
            <a:ext cx="3246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Analyse ad copy test results, keep winner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Reduce target CPA toward £25 as QS improves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Expand keyword coverage with proven search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Consider dedicated landing page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and refine all bid adjustments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Improvements start in Week 1, not in 3 months. The quick wins alone can reduce waste by £380-655/month.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12" name="Google Shape;4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Why Christopher Hoole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Proposed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548640" y="100584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48640" y="100584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822960" y="1115568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Hands-On Specialist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822960" y="1463040"/>
            <a:ext cx="10543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Not a junior in a big agency. I personally manage every account — no handoffs, no account managers who don't understand the data. You get direct access to the person making the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48640" y="256032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548640" y="256032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822960" y="2670048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Data-Driven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822960" y="3017520"/>
            <a:ext cx="10543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recommendation in these reports is backed by your actual data. No guesswork, no generic playbooks. The analysis you've seen here is how I work on an ongoing basis — finding waste, fixing issues, improving performance.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548640" y="411480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548640" y="4114800"/>
            <a:ext cx="54864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822960" y="4224528"/>
            <a:ext cx="10543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Transparent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822960" y="4572000"/>
            <a:ext cx="10543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Monthly reports showing exactly what changed, what improved, and what we're working on next. No vanity metrics, no hiding behind jargon. You'll always know where your £1,500 is going and what it's producing.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christopherhoole.com  |  Google Ads Specialist  |  These reports are the proof.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45" name="Google Shape;4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548640" y="1005840"/>
            <a:ext cx="667512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548640" y="1005840"/>
            <a:ext cx="54864" cy="4754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822960" y="114300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Grant me editor access and I'll implement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quick wins in Week 1.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822960" y="1965960"/>
            <a:ext cx="274320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822960" y="2194560"/>
            <a:ext cx="6126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Fix conversion tracking, set target CPA, disable auto-apply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Day 2-3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Add phrase-match negative keywords, pause waste ad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Day 4-5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Implement schedule and device bid adjustments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Week 2+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Launch ad copy tests, begin weekly optimisation 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822960" y="4572000"/>
            <a:ext cx="612648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822960" y="470916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you'll see: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CPAs within 2 weeks. Fewer wasted clicks immediately. Monthly reports showing exactly what changed and what improved.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7589525" y="3790149"/>
            <a:ext cx="4023300" cy="19707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67" name="Google Shape;4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0" y="4018739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4"/>
          <p:cNvSpPr/>
          <p:nvPr/>
        </p:nvSpPr>
        <p:spPr>
          <a:xfrm>
            <a:off x="8595360" y="4018739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8595360" y="4293059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Ads Specialist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7955280" y="4704539"/>
            <a:ext cx="3291900" cy="2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7955280" y="4830403"/>
            <a:ext cx="3291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Ready to start whenever you are.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7589520" y="1026604"/>
            <a:ext cx="40233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7589520" y="1036106"/>
            <a:ext cx="54900" cy="777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7772400" y="1072324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£20-25 CPA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7772400" y="14106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cost per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7589520" y="1941004"/>
            <a:ext cx="40233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7589520" y="1950506"/>
            <a:ext cx="54900" cy="777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7772400" y="198672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£4,560-7,860/yr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7772400" y="23250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Projected annual saving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7589520" y="2855404"/>
            <a:ext cx="4023300" cy="77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7589520" y="2864906"/>
            <a:ext cx="54900" cy="7773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7772400" y="290112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Week 1 Start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7772400" y="32394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Improvements begin immediately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6094476" y="6327648"/>
            <a:ext cx="2772900" cy="273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8867394" y="6327648"/>
            <a:ext cx="2772900" cy="27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88" name="Google Shape;4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11183112" y="404412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2026-03-29T17:26:42Z</dcterms:created>
  <dc:creator>Christopher Hoole</dc:creator>
</cp:coreProperties>
</file>