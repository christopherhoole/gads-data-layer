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m1tkq8c65o90O+ti4xkh4w1yM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575B4A-3701-469C-BBBB-D99B14650A4F}">
  <a:tblStyle styleId="{19575B4A-3701-469C-BBBB-D99B14650A4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572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WASTE SPEND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ObjectionExperts.com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Prepared by Christopher Hoole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Google Ads Specialist  |  March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christopherhoole.com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 period: Jan 2025 — Mar 2026 (15 months)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492240" y="64008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£7,836.55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Identified Waste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42.7% of your £18,338.25 total 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217920" y="2926080"/>
            <a:ext cx="16764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355080" y="3035808"/>
            <a:ext cx="1447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552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355080" y="3474720"/>
            <a:ext cx="144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077200" y="2926080"/>
            <a:ext cx="16764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8077200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8214360" y="3035808"/>
            <a:ext cx="1447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£380-655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8214360" y="3474720"/>
            <a:ext cx="144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Estimated Monthly Savings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9936480" y="2926080"/>
            <a:ext cx="16764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9936480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10073640" y="3035808"/>
            <a:ext cx="1447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£4.6-7.9k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10073640" y="3474720"/>
            <a:ext cx="144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Annualised Saving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£18,338.25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Spend Analysed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£7,836.55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Waste Identified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42.7%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Of Budget Wasted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552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895+ locations generated clicks but zero conversions, accounting for £5,694.35 in wasted 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258 search terms consumed £1,485.38 with zero conversions — many are irrelevant to planning objections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Sunday CPA of £47.39 vs weekday average of £32.61 — a 45% premium with no bid adjustment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"Neighbourhood Objections" ad group spent £79 with zero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Most negative keywords use exact match only — slight variations of blocked terms still trigger 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Recommendation: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Implementing the quick wins identified in this report could save an estimated £522.44/month and significantly reduce cost per conversion.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85" name="Google Shape;8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Search Term Waste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258 search terms spent £1,485.38 with zero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1" name="Google Shape;101;p3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{19575B4A-3701-469C-BBBB-D99B14650A4F}</a:tableStyleId>
              </a:tblPr>
              <a:tblGrid>
                <a:gridCol w="3474725"/>
                <a:gridCol w="822950"/>
                <a:gridCol w="1097275"/>
                <a:gridCol w="8229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Search Term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Clicks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Cost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Conv.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objection letters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19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£43.55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object to a planning application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14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£38.32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application objection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£33.03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advice on objecting to planning application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£32.03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objection letter for planning permission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£31.05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objection letter to planning applications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17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£30.93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opposing planning applications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£25.93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refusal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5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£24.49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permission objections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£24.36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objections to planning permission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15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£24.18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application objection letter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9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£23.63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objecting to neighbours planning application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£23.37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objecting to planning application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11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£23.32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objection to a planning application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5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£23.09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permission disputes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6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£22.63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3"/>
          <p:cNvSpPr/>
          <p:nvPr/>
        </p:nvSpPr>
        <p:spPr>
          <a:xfrm>
            <a:off x="7772400" y="1188720"/>
            <a:ext cx="3840480" cy="22860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772400" y="1188720"/>
            <a:ext cx="54864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8046720" y="13258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046720" y="1691640"/>
            <a:ext cx="33832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These 258 non-converting search terms represent 8.1% of total spend.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Many are users searching for general planning advice, templates, or services unrelated to planning objections.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These should be blocked with negative keywords to prevent further waste.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772400" y="3840480"/>
            <a:ext cx="384048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7772400" y="384048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7955280" y="39319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£1,485.38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955280" y="43891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Non-Converting Search Term 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Waste by Category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Non-converting search terms grouped by intent category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User\Desktop\gads-data-layer\potential_clients\objection_experts\charts\waste_by_category.png"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34440"/>
            <a:ext cx="68580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7772400" y="1234440"/>
            <a:ext cx="3840480" cy="45720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7772400" y="1234440"/>
            <a:ext cx="54864" cy="45720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8046720" y="13716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Category Breakdown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8046720" y="1737360"/>
            <a:ext cx="33832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Other Non-Converting: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£1246 (768 clicks)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Wrong Service: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£114 (37 clicks)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Neighbourhood Disputes: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£42 (25 clicks)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DIY / Template Seekers: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£42 (24 clicks)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Informational Queries: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£35 (14 clicks)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Jobs / Careers: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£6 (2 clicks)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Action Required: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 phrase-match negative keywords for each category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Review 'Other' category for additional patterns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Set up weekly search term reviews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39" name="Google Shape;1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Negative Keyword Gaps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Protection gaps that allow irrelevant traffic through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48640" y="1234440"/>
            <a:ext cx="5120640" cy="438912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548640" y="1234440"/>
            <a:ext cx="54864" cy="4389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777240" y="13258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Currently Blocked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777240" y="16916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622 total negative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77240" y="201168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Exact match: 221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Broad match: 383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Phrase match: 17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Examples (exact match):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[town planner]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[planning consultancy]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[retrospective planning permission]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[planning department]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[planning advisors]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[pre planning advice]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217920" y="1234440"/>
            <a:ext cx="5394960" cy="4389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6217920" y="1234440"/>
            <a:ext cx="54864" cy="4389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492240" y="13258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Should Be Blocked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492240" y="169164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Recommended additions based on search term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492240" y="2011680"/>
            <a:ext cx="48463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Phrase match negatives for: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"planning permission" (wrong service)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"planning consultant" / "planning advisor"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"template" / "example" / "sample"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"how to write" / "DIY"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"neighbour dispute" / "fence" / "boundary"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"job" / "career" / "salary"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Critical Issue: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221 of 431 negatives use exact match only. This means a negative for [planning consultant] won't block "planning consultants" (plural) or "best planning consultant near me".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Switch to phrase match for broader protection.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69" name="Google Shape;1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 Group Performance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£79 spent on ad groups with zero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" name="Google Shape;185;p6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{19575B4A-3701-469C-BBBB-D99B14650A4F}</a:tableStyleId>
              </a:tblPr>
              <a:tblGrid>
                <a:gridCol w="4114800"/>
                <a:gridCol w="1371600"/>
                <a:gridCol w="1188725"/>
                <a:gridCol w="1554475"/>
                <a:gridCol w="1371600"/>
                <a:gridCol w="13716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Ad Group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Spend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Clicks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CPA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Status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Objections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£17413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6990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527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£33.06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Active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Objection Consultants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£490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127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18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£27.51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Active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Objection Letters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£351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228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8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£46.81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Active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Neighbourhood Objections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£79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23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N/A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WASTE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6"/>
          <p:cNvSpPr/>
          <p:nvPr/>
        </p:nvSpPr>
        <p:spPr>
          <a:xfrm>
            <a:off x="548640" y="3749040"/>
            <a:ext cx="5303520" cy="210312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548640" y="3749040"/>
            <a:ext cx="54864" cy="2103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777240" y="38404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Neighbourhood Objections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77240" y="4160520"/>
            <a:ext cx="4754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Created in October 2025 as part of a restructure, but has never generated a single conversion.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With only £79 spent, the waste is small — but the ad group fragments the campaign's data, making it harder for the algorithm to optimise.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Recommendation: Pause this ad group and consolidate volume.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217920" y="3749040"/>
            <a:ext cx="5394960" cy="210312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6217920" y="3749040"/>
            <a:ext cx="54864" cy="2103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492240" y="38404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Volume Concentration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492240" y="4160520"/>
            <a:ext cx="4846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95% of all spend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goes through the "Planning Objections" ad group.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three smaller ad groups account for just 5% of spend combined. This fragmentation means the algorithm never gets enough data to optimise.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98" name="Google Shape;1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Time-of-Day Performance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£51 spent during hours with zero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User\Desktop\gads-data-layer\potential_clients\objection_experts\charts\hour_of_day.png" id="214" name="Google Shape;2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7772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/>
          <p:nvPr/>
        </p:nvSpPr>
        <p:spPr>
          <a:xfrm>
            <a:off x="8503920" y="1188720"/>
            <a:ext cx="3108960" cy="36576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8503920" y="1188720"/>
            <a:ext cx="54864" cy="3657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8732520" y="1691640"/>
            <a:ext cx="27432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Dead zone: 1am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£51 spent with 0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Best hour: 18:00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CPA £24.11 (34 conversions)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Peak performance: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9am-6pm business hours show the strongest conversion volume.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Recommendation: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Reduce bids during off-peak hours (midnight-6am). Increase bids during peak business hours.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48640" y="5029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Red = zero conversions  |  Amber = low (&lt;10)  |  Blue = active  |  Line =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24" name="Google Shape;22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7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Day-of-Week Performance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Sunday CPA £47.39 vs £32.61 weekday avg — 45% premium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User\Desktop\gads-data-layer\potential_clients\objection_experts\charts\day_of_week.png" id="240" name="Google Shape;2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7772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/>
          <p:nvPr/>
        </p:nvSpPr>
        <p:spPr>
          <a:xfrm>
            <a:off x="8503920" y="1188720"/>
            <a:ext cx="3108960" cy="137160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8503920" y="1188720"/>
            <a:ext cx="54864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8732520" y="12801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Monday (Best)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8732520" y="155448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122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CPA: £26.74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 rate: 9.9%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8503920" y="2743200"/>
            <a:ext cx="3108960" cy="13716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8503920" y="2743200"/>
            <a:ext cx="54864" cy="1371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8732520" y="28346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Sunday (Worst)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8732520" y="310896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36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CPA: £47.39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Premium: £527 excess 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8503920" y="4297680"/>
            <a:ext cx="3108960" cy="100584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8732520" y="43891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Reduce Sunday bids by 20-30%. Increase Monday/Wednesday bids where CPA is lowest.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55" name="Google Shape;25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Device Performance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48640" y="73152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GLO Campaign — performance and current bid adjustments by device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9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{19575B4A-3701-469C-BBBB-D99B14650A4F}</a:tableStyleId>
              </a:tblPr>
              <a:tblGrid>
                <a:gridCol w="2286000"/>
                <a:gridCol w="1554475"/>
                <a:gridCol w="1188725"/>
                <a:gridCol w="1188725"/>
                <a:gridCol w="1371600"/>
                <a:gridCol w="1371600"/>
                <a:gridCol w="17373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Device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Spend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Clicks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Conv.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CPA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Bid Adj.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Mobile phones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£10,398.36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4675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323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£32.24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6.9%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37E"/>
                          </a:solidFill>
                        </a:rPr>
                        <a:t>+10%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Computers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£7,445.04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2415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216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£34.55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8.9%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37E"/>
                          </a:solidFill>
                        </a:rPr>
                        <a:t>+10%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Tablets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£489.86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278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14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£34.99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5.0%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37E"/>
                          </a:solidFill>
                        </a:rPr>
                        <a:t>-20%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pic>
        <p:nvPicPr>
          <p:cNvPr descr="C:\Users\User\Desktop\gads-data-layer\potential_clients\objection_experts\charts\device_performance.png" id="272" name="Google Shape;2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108960"/>
            <a:ext cx="59436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/>
          <p:nvPr/>
        </p:nvSpPr>
        <p:spPr>
          <a:xfrm>
            <a:off x="6858000" y="3108960"/>
            <a:ext cx="4754880" cy="27432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6858000" y="3108960"/>
            <a:ext cx="54864" cy="2743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7132320" y="32004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7132320" y="3520440"/>
            <a:ext cx="4297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Mobile has the best CPA (£32.24) but the highest spend — this is positive.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Current bid adjustments (+10% mobile, +10% desktop, -20% tablet) are reasonable but could be refined.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Tablets have the weakest conversion rate (5.0%) and highest CPA.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Recommendation: Reduce tablet bids to -30% or -40%.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81" name="Google Shape;28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9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Geographic Waste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895+ locations spent £5,694.35 with zero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User\Desktop\gads-data-layer\potential_clients\objection_experts\charts\geographic_waste.png" id="297" name="Google Shape;2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68580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0"/>
          <p:cNvSpPr/>
          <p:nvPr/>
        </p:nvSpPr>
        <p:spPr>
          <a:xfrm>
            <a:off x="7772400" y="1188720"/>
            <a:ext cx="3840480" cy="27432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7772400" y="1188720"/>
            <a:ext cx="54864" cy="2743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8046720" y="13258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8046720" y="1691640"/>
            <a:ext cx="33832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£5,694.35 — 31% of total spend — went to locations that never converted.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While individual amounts are small, the cumulative waste across 895+ locations is the largest single waste category.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is typical of UK-wide targeting without geographic bid adjustments.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7772400" y="4160520"/>
            <a:ext cx="3840480" cy="155448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7772400" y="4160520"/>
            <a:ext cx="54864" cy="15544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8046720" y="425196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8046720" y="4526280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Identify top-converting regions and increase bids there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Exclude consistently non-converting areas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 location bid adjustments to focus budget on proven areas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310" name="Google Shape;3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Total Waste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548640" y="914400"/>
            <a:ext cx="73152" cy="1371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822960" y="96012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£7,836.55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822960" y="169164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of your £18,338.25 (42.7%) was spent on non-converting traffic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User\Desktop\gads-data-layer\potential_clients\objection_experts\charts\waste_waterfall.png" id="330" name="Google Shape;3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560320"/>
            <a:ext cx="6400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/>
          <p:nvPr/>
        </p:nvSpPr>
        <p:spPr>
          <a:xfrm>
            <a:off x="7498080" y="91440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7498080" y="914400"/>
            <a:ext cx="54864" cy="685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7772400" y="9601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Non-Converting Search Terms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7772400" y="1234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£1,485.38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10515600" y="1024128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19%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7498080" y="1719072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7498080" y="1719072"/>
            <a:ext cx="54864" cy="685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7772400" y="176479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Zero-Conv Ad Groups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7772400" y="20391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£78.91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10515600" y="18288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7498080" y="2523744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7498080" y="2523744"/>
            <a:ext cx="54864" cy="685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7772400" y="2569464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Dead Hours (0 Conversions)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7772400" y="28437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£50.8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10515600" y="263347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7498080" y="3328416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7498080" y="3328416"/>
            <a:ext cx="54864" cy="685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7772400" y="337413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Geographic Waste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7772400" y="36484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£5,694.35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10515600" y="3438144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73%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7498080" y="4133088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7498080" y="4133088"/>
            <a:ext cx="54864" cy="685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7772400" y="417880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Sunday Premium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7772400" y="44531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£527.11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10515600" y="4242816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7%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7498080" y="50749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Note: Some overlap exists between categories. The total represents the upper bound of identifiable waste.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361" name="Google Shape;36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Quick Wins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Immediate actions to reduce waste and improve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548640" y="1188720"/>
            <a:ext cx="55321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685800" y="144475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685800" y="144475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1207008" y="126187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 Phrase-Match Negative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1207008" y="155448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Block DIY/templates, wrong services, jobs, neighbourhood disputes. Switch from exact to phrase match for broader protection.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572000" y="1325880"/>
            <a:ext cx="1371600" cy="6858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4572000" y="132588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£100-150/mo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6355080" y="1188720"/>
            <a:ext cx="55321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6492240" y="144475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6492240" y="144475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7013448" y="126187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Pause Neighbourhood Objections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7013448" y="155448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Zero conversions, fragmenting campaign data. Consolidate volume into the main Planning Objections ad group.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10378440" y="1325880"/>
            <a:ext cx="1371600" cy="6858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10378440" y="132588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£5-10/mo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548640" y="2286000"/>
            <a:ext cx="55321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685800" y="254203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685800" y="25420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1207008" y="235915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 Schedule Bid Adjustments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1207008" y="265176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Reduce bids during dead hours (1-5am) by 50-80%. Increase bids during peak hours (9am-5pm Mon-Fri).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4572000" y="2423160"/>
            <a:ext cx="1371600" cy="6858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4572000" y="242316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£30-50/mo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6355080" y="2286000"/>
            <a:ext cx="55321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6492240" y="254203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6492240" y="25420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7013448" y="235915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Reduce Sunday Bids 20-30%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7013448" y="265176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Sunday CPA (£47.39) is 45% higher than weekdays. Apply a bid reduction to control costs.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10378440" y="2423160"/>
            <a:ext cx="1371600" cy="6858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10378440" y="242316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£35-50/mo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548640" y="3383280"/>
            <a:ext cx="55321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685800" y="363931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685800" y="363931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1207008" y="345643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Tighten Geographic Targeting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1207008" y="374904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Exclude consistently non-converting regions. Add location bid adjustments to focus budget on proven areas.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4572000" y="3520440"/>
            <a:ext cx="1371600" cy="6858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4572000" y="352044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£200-380/mo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6355080" y="3383280"/>
            <a:ext cx="55321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6492240" y="363931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6492240" y="363931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7013448" y="345643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Adjust Tablet Bids to -30%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7013448" y="374904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Weakest conversion rate (5.0%) and highest CPA. Increase bid reduction from the current -20%.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10378440" y="3520440"/>
            <a:ext cx="1371600" cy="6858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10378440" y="352044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£15-25/mo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548640" y="4617720"/>
            <a:ext cx="3514344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548640" y="4617720"/>
            <a:ext cx="54864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731520" y="4690872"/>
            <a:ext cx="3240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Estimated Monthly Savings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731520" y="4983480"/>
            <a:ext cx="3240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£380-655/month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4337304" y="4617720"/>
            <a:ext cx="3514344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4337304" y="4617720"/>
            <a:ext cx="54864" cy="10058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4520184" y="4690872"/>
            <a:ext cx="3240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Annualised Saving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4520184" y="4983480"/>
            <a:ext cx="3240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£4,560-7,860/year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8125968" y="4617720"/>
            <a:ext cx="3514344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8308848" y="4690872"/>
            <a:ext cx="3240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What's Next?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8308848" y="4983480"/>
            <a:ext cx="3240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 2: Account Structure &amp; Issues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Why costs increased after October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434" name="Google Shape;4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2026-03-29T16:25:23Z</dcterms:created>
  <dc:creator>Christopher Hoole</dc:creator>
</cp:coreProperties>
</file>